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8" r:id="rId19"/>
    <p:sldId id="269" r:id="rId20"/>
    <p:sldId id="270" r:id="rId21"/>
    <p:sldId id="271" r:id="rId22"/>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9485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turns the descriptive statistics of three variables of the Credit dataset, Income, Age and Balance, into business implications for a retail bank. The dataset contains 400 customers.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univariate analysis looks at one variable at a time. It describes the shape of each variable, but it cannot tell us how two variables move together. To study relationships we need bivariate tools such as a scatter plot or the correlation coefficient, which we propose at the end of the deck.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deviation is the typical distance of the values from the mean. Skewness measures asymmetry: a positive value means a long tail to the right, which is the typical shape of income data. Incomes range from a minimum of 12 dollars to a maximum of 186,634 dollars.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our customers earn less than about 30,000 dollars. A product or credit offer sized for a customer earning 40,000 dollars would not fit the majority of the 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means dividing customers into groups with similar characteristics and serving each group differently. The standard deviation of income is almost as large as the mean (coefficient of variation about 0.87), so a single uniform offer cannot suit everyone. Income is not the same as profitability: the revenue-concentration hypothesis must be verified with account-level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log transformation replaces each value with its logarithm: it compresses the long right tail and reduces the influence of the highest incomes on a model. The 12-dollar minimum is not a realistic annual income; it is probably a data-entry error or a value recorded in thousands. Data validation rules, for example flagging incomes below a plausible threshold, catch such values at the source.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Skewness is 0.01, practically zero, so the distribution is symmetric. Excel reports excess kurtosis, where a normal distribution scores 0; a uniform distribution, where every value is equally likely, scores -1.2. Our -1.07 is close to uniform: ages are spread evenly rather than clustered around the mean. The standard deviation is 17.2 years.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age distribution is flat and symmetric, no single generation dominates. The product portfolio must therefore cover every stage of the customer life cycle.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and median age are both about 56. In many jurisdictions regulators expect banks to identify and support potentially vulnerable customers, which includes attention to the oldest part of the base.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z-score measures the distance of a value from the mean in standard deviations. The maximum age of 98 has a z-score of about +2.5 and the minimum of 23 about -1.9; a common rule of thumb flags as outliers only values beyond plus or minus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margin of error is the value Excel labels Confidence Level (95.0%). Adding and subtracting it from the mean gives the 95% confidence interval: 53.97 to 57.36 years for age, 37,180 to 44,164 dollars for income, and 474.83 to 565.21 dollars for balance. Dividing the margin by the mean lets us compare the precision of variables measured in different units: about 3% for age, 8.6% for income and 8.7% for balance.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scatter plot shows one point per customer, with one variable on each axis. The correlation coefficient is a number between -1 and +1 measuring how strongly two variables move together. Useful pairs to study include Income and Age, Balance and Income, and Balance and Limit. Young high earners are a valuable group to acquire early; older low-income customers may need particular care.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Balance is each customer's average credit card balance, the amount of card debt outstanding, in dollars. The mode is the most frequent value: here it is zero, so the most common situation is a customer with no outstanding balance. Skewness of 0.58 indicates a mild right tail; kurtosis is -0.53, a somewhat flat shape. The standard deviation is 460 dollars, almost as large as the mean (coefficient of variation about 0.88). Because of the spike at zero, a histogram describes the shape better than these summary numbers.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Zero-balance customers are sometimes called transactors: they use the card for payments and pay in full. Customers who carry a balance from month to month are sometimes called revolvers: they generate interest income but also carry credit risk. We can measure the size of the zero group with COUNTIF(range, 0). The hypothesis in the box is bivariate and must be verified by studying Balance together with Income and Limit.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z-score measures the distance of a value from the mean in standard deviations: (1,999 - 520) / 460 is about 3.2, just beyond the usual threshold of plus or minus 3. The value, one dollar short of 2,000, may be linked to the credit limit; the Limit column of the dataset lets us check it. The minimum of 0 is legitimate and frequent, but we should confirm that zeros are true zeros and not missing values recorded as 0.</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AVERAGEIF(range, "&gt;0") computes the mean balance of the customers who carry a balance. In ISLR, Balance is often the target variable of regression examples. A two-part model first estimates the probability that a customer carries a balance (for example with logistic regression), then estimates the amount for those who do.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812726" y="2943438"/>
            <a:ext cx="10883545" cy="274315"/>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0A060"/>
                </a:solidFill>
                <a:latin typeface="Inter" pitchFamily="34" charset="0"/>
                <a:ea typeface="Inter" pitchFamily="34" charset="-122"/>
                <a:cs typeface="Inter" pitchFamily="34" charset="-120"/>
              </a:rPr>
              <a:t>CREDIT DATASET (ISLR) · 400 CUSTOMERS</a:t>
            </a:r>
            <a:endParaRPr lang="en-US" sz="1400" dirty="0"/>
          </a:p>
        </p:txBody>
      </p:sp>
      <p:sp>
        <p:nvSpPr>
          <p:cNvPr id="3" name="Text 1"/>
          <p:cNvSpPr/>
          <p:nvPr/>
        </p:nvSpPr>
        <p:spPr>
          <a:xfrm>
            <a:off x="812726" y="3446353"/>
            <a:ext cx="10883545" cy="205034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F"/>
                </a:solidFill>
                <a:latin typeface="Source Serif 4" pitchFamily="34" charset="0"/>
                <a:ea typeface="Source Serif 4" pitchFamily="34" charset="-122"/>
                <a:cs typeface="Source Serif 4" pitchFamily="34" charset="-120"/>
              </a:rPr>
              <a:t>What income, age and balance tell us about our customers</a:t>
            </a:r>
            <a:endParaRPr lang="en-US" sz="4800" dirty="0"/>
          </a:p>
        </p:txBody>
      </p:sp>
      <p:sp>
        <p:nvSpPr>
          <p:cNvPr id="4" name="Text 2"/>
          <p:cNvSpPr/>
          <p:nvPr/>
        </p:nvSpPr>
        <p:spPr>
          <a:xfrm>
            <a:off x="812726" y="5725294"/>
            <a:ext cx="10883545"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4D8E0"/>
                </a:solidFill>
                <a:latin typeface="Inter" pitchFamily="34" charset="0"/>
                <a:ea typeface="Inter" pitchFamily="34" charset="-122"/>
                <a:cs typeface="Inter" pitchFamily="34" charset="-120"/>
              </a:rPr>
              <a:t>Business implications of three descriptive analyses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21A"/>
                </a:solidFill>
                <a:latin typeface="Inter" pitchFamily="34" charset="0"/>
                <a:ea typeface="Inter" pitchFamily="34" charset="-122"/>
                <a:cs typeface="Inter" pitchFamily="34" charset="-120"/>
              </a:rPr>
              <a:t>SCOPE</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What these statistics can and cannot tell us</a:t>
            </a:r>
            <a:endParaRPr lang="en-US" sz="3200" dirty="0"/>
          </a:p>
        </p:txBody>
      </p:sp>
      <p:sp>
        <p:nvSpPr>
          <p:cNvPr id="4" name="Text 2"/>
          <p:cNvSpPr/>
          <p:nvPr/>
        </p:nvSpPr>
        <p:spPr>
          <a:xfrm>
            <a:off x="812726" y="1930177"/>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Inter" pitchFamily="34" charset="0"/>
                <a:ea typeface="Inter" pitchFamily="34" charset="-122"/>
                <a:cs typeface="Inter" pitchFamily="34" charset="-120"/>
              </a:rPr>
              <a:t>All three analyses are </a:t>
            </a:r>
            <a:r>
              <a:rPr lang="en-US" sz="1600" b="1" dirty="0">
                <a:solidFill>
                  <a:srgbClr val="1F2A44"/>
                </a:solidFill>
                <a:latin typeface="Inter" pitchFamily="34" charset="0"/>
                <a:ea typeface="Inter" pitchFamily="34" charset="-122"/>
                <a:cs typeface="Inter" pitchFamily="34" charset="-120"/>
              </a:rPr>
              <a:t>univariate</a:t>
            </a:r>
            <a:r>
              <a:rPr lang="en-US" sz="1600" dirty="0">
                <a:solidFill>
                  <a:srgbClr val="1F2A44"/>
                </a:solidFill>
                <a:latin typeface="Inter" pitchFamily="34" charset="0"/>
                <a:ea typeface="Inter" pitchFamily="34" charset="-122"/>
                <a:cs typeface="Inter" pitchFamily="34" charset="-120"/>
              </a:rPr>
              <a:t>: each one describes a single variable on its own.</a:t>
            </a:r>
            <a:endParaRPr lang="en-US" sz="1600" dirty="0"/>
          </a:p>
        </p:txBody>
      </p:sp>
      <p:sp>
        <p:nvSpPr>
          <p:cNvPr id="5" name="Shape 3"/>
          <p:cNvSpPr/>
          <p:nvPr/>
        </p:nvSpPr>
        <p:spPr>
          <a:xfrm>
            <a:off x="815901" y="2573313"/>
            <a:ext cx="5175349" cy="1528068"/>
          </a:xfrm>
          <a:prstGeom prst="roundRect">
            <a:avLst>
              <a:gd name="adj" fmla="val 6441"/>
            </a:avLst>
          </a:prstGeom>
          <a:solidFill>
            <a:srgbClr val="FFFDF9"/>
          </a:solidFill>
          <a:ln w="6350">
            <a:solidFill>
              <a:srgbClr val="E4DFD4"/>
            </a:solidFill>
            <a:prstDash val="solid"/>
          </a:ln>
        </p:spPr>
      </p:sp>
      <p:sp>
        <p:nvSpPr>
          <p:cNvPr id="6" name="Text 4"/>
          <p:cNvSpPr/>
          <p:nvPr/>
        </p:nvSpPr>
        <p:spPr>
          <a:xfrm>
            <a:off x="1125389" y="2882801"/>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They tell us</a:t>
            </a:r>
            <a:endParaRPr lang="en-US" sz="1800" dirty="0"/>
          </a:p>
        </p:txBody>
      </p:sp>
      <p:sp>
        <p:nvSpPr>
          <p:cNvPr id="7" name="Text 5"/>
          <p:cNvSpPr/>
          <p:nvPr/>
        </p:nvSpPr>
        <p:spPr>
          <a:xfrm>
            <a:off x="1125389" y="3258592"/>
            <a:ext cx="4693064"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2A44"/>
                </a:solidFill>
                <a:latin typeface="Inter" pitchFamily="34" charset="0"/>
                <a:ea typeface="Inter" pitchFamily="34" charset="-122"/>
                <a:cs typeface="Inter" pitchFamily="34" charset="-120"/>
              </a:rPr>
              <a:t>What our customer base looks like in terms of income, age and balance, each taken separately.</a:t>
            </a:r>
            <a:endParaRPr lang="en-US" sz="1500" dirty="0"/>
          </a:p>
        </p:txBody>
      </p:sp>
      <p:sp>
        <p:nvSpPr>
          <p:cNvPr id="8" name="Shape 6"/>
          <p:cNvSpPr/>
          <p:nvPr/>
        </p:nvSpPr>
        <p:spPr>
          <a:xfrm>
            <a:off x="6200750" y="2573313"/>
            <a:ext cx="5175349" cy="1528068"/>
          </a:xfrm>
          <a:prstGeom prst="roundRect">
            <a:avLst>
              <a:gd name="adj" fmla="val 6441"/>
            </a:avLst>
          </a:prstGeom>
          <a:solidFill>
            <a:srgbClr val="FFFDF9"/>
          </a:solidFill>
          <a:ln w="6350">
            <a:solidFill>
              <a:srgbClr val="E4DFD4"/>
            </a:solidFill>
            <a:prstDash val="solid"/>
          </a:ln>
        </p:spPr>
      </p:sp>
      <p:sp>
        <p:nvSpPr>
          <p:cNvPr id="9" name="Text 7"/>
          <p:cNvSpPr/>
          <p:nvPr/>
        </p:nvSpPr>
        <p:spPr>
          <a:xfrm>
            <a:off x="6510238" y="2882801"/>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1A"/>
                </a:solidFill>
                <a:latin typeface="Inter" pitchFamily="34" charset="0"/>
                <a:ea typeface="Inter" pitchFamily="34" charset="-122"/>
                <a:cs typeface="Inter" pitchFamily="34" charset="-120"/>
              </a:rPr>
              <a:t>They do not tell us</a:t>
            </a:r>
            <a:endParaRPr lang="en-US" sz="1800" dirty="0"/>
          </a:p>
        </p:txBody>
      </p:sp>
      <p:sp>
        <p:nvSpPr>
          <p:cNvPr id="10" name="Text 8"/>
          <p:cNvSpPr/>
          <p:nvPr/>
        </p:nvSpPr>
        <p:spPr>
          <a:xfrm>
            <a:off x="6510238" y="3258592"/>
            <a:ext cx="4693064"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2A44"/>
                </a:solidFill>
                <a:latin typeface="Inter" pitchFamily="34" charset="0"/>
                <a:ea typeface="Inter" pitchFamily="34" charset="-122"/>
                <a:cs typeface="Inter" pitchFamily="34" charset="-120"/>
              </a:rPr>
              <a:t>How the variables are related, for example whether higher earners carry larger balances.</a:t>
            </a:r>
            <a:endParaRPr lang="en-US" sz="1500" dirty="0"/>
          </a:p>
        </p:txBody>
      </p:sp>
      <p:sp>
        <p:nvSpPr>
          <p:cNvPr id="11" name="Text 9"/>
          <p:cNvSpPr/>
          <p:nvPr/>
        </p:nvSpPr>
        <p:spPr>
          <a:xfrm>
            <a:off x="812726" y="4460131"/>
            <a:ext cx="10883545"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C68"/>
                </a:solidFill>
                <a:latin typeface="Inter" pitchFamily="34" charset="0"/>
                <a:ea typeface="Inter" pitchFamily="34" charset="-122"/>
                <a:cs typeface="Inter" pitchFamily="34" charset="-120"/>
              </a:rPr>
              <a:t>The implications that follow are observations and hypotheses to guide decisions, not proven cause-and-effect relationships.</a:t>
            </a:r>
            <a:endParaRPr lang="en-US" sz="1400" dirty="0"/>
          </a:p>
        </p:txBody>
      </p:sp>
      <p:sp>
        <p:nvSpPr>
          <p:cNvPr id="12" name="Text 10"/>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21A"/>
                </a:solidFill>
                <a:latin typeface="Inter" pitchFamily="34" charset="0"/>
                <a:ea typeface="Inter" pitchFamily="34" charset="-122"/>
                <a:cs typeface="Inter" pitchFamily="34" charset="-120"/>
              </a:rPr>
              <a:t>INCOME</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Income: a long tail of high earners</a:t>
            </a:r>
            <a:endParaRPr lang="en-US" sz="3200" dirty="0"/>
          </a:p>
        </p:txBody>
      </p:sp>
      <p:sp>
        <p:nvSpPr>
          <p:cNvPr id="4" name="Shape 2"/>
          <p:cNvSpPr/>
          <p:nvPr/>
        </p:nvSpPr>
        <p:spPr>
          <a:xfrm>
            <a:off x="815901" y="1933352"/>
            <a:ext cx="2482924" cy="2003078"/>
          </a:xfrm>
          <a:prstGeom prst="roundRect">
            <a:avLst>
              <a:gd name="adj" fmla="val 4914"/>
            </a:avLst>
          </a:prstGeom>
          <a:solidFill>
            <a:srgbClr val="FFFDF9"/>
          </a:solidFill>
          <a:ln w="6350">
            <a:solidFill>
              <a:srgbClr val="E4DFD4"/>
            </a:solidFill>
            <a:prstDash val="solid"/>
          </a:ln>
        </p:spPr>
      </p:sp>
      <p:sp>
        <p:nvSpPr>
          <p:cNvPr id="5" name="Text 3"/>
          <p:cNvSpPr/>
          <p:nvPr/>
        </p:nvSpPr>
        <p:spPr>
          <a:xfrm>
            <a:off x="107466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9521A"/>
                </a:solidFill>
                <a:latin typeface="Inter" pitchFamily="34" charset="0"/>
                <a:ea typeface="Inter" pitchFamily="34" charset="-122"/>
                <a:cs typeface="Inter" pitchFamily="34" charset="-120"/>
              </a:rPr>
              <a:t>$40,672</a:t>
            </a:r>
            <a:endParaRPr lang="en-US" sz="3600" dirty="0"/>
          </a:p>
        </p:txBody>
      </p:sp>
      <p:sp>
        <p:nvSpPr>
          <p:cNvPr id="6" name="Text 4"/>
          <p:cNvSpPr/>
          <p:nvPr/>
        </p:nvSpPr>
        <p:spPr>
          <a:xfrm>
            <a:off x="107466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Mean</a:t>
            </a:r>
            <a:endParaRPr lang="en-US" sz="1500" dirty="0"/>
          </a:p>
        </p:txBody>
      </p:sp>
      <p:sp>
        <p:nvSpPr>
          <p:cNvPr id="7" name="Text 5"/>
          <p:cNvSpPr/>
          <p:nvPr/>
        </p:nvSpPr>
        <p:spPr>
          <a:xfrm>
            <a:off x="1074663"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the arithmetic average</a:t>
            </a:r>
            <a:endParaRPr lang="en-US" sz="1200" dirty="0"/>
          </a:p>
        </p:txBody>
      </p:sp>
      <p:sp>
        <p:nvSpPr>
          <p:cNvPr id="8" name="Shape 6"/>
          <p:cNvSpPr/>
          <p:nvPr/>
        </p:nvSpPr>
        <p:spPr>
          <a:xfrm>
            <a:off x="3508325" y="1933352"/>
            <a:ext cx="2482924" cy="2003078"/>
          </a:xfrm>
          <a:prstGeom prst="roundRect">
            <a:avLst>
              <a:gd name="adj" fmla="val 4914"/>
            </a:avLst>
          </a:prstGeom>
          <a:solidFill>
            <a:srgbClr val="FFFDF9"/>
          </a:solidFill>
          <a:ln w="6350">
            <a:solidFill>
              <a:srgbClr val="E4DFD4"/>
            </a:solidFill>
            <a:prstDash val="solid"/>
          </a:ln>
        </p:spPr>
      </p:sp>
      <p:sp>
        <p:nvSpPr>
          <p:cNvPr id="9" name="Text 7"/>
          <p:cNvSpPr/>
          <p:nvPr/>
        </p:nvSpPr>
        <p:spPr>
          <a:xfrm>
            <a:off x="376708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9521A"/>
                </a:solidFill>
                <a:latin typeface="Inter" pitchFamily="34" charset="0"/>
                <a:ea typeface="Inter" pitchFamily="34" charset="-122"/>
                <a:cs typeface="Inter" pitchFamily="34" charset="-120"/>
              </a:rPr>
              <a:t>$29,715</a:t>
            </a:r>
            <a:endParaRPr lang="en-US" sz="3600" dirty="0"/>
          </a:p>
        </p:txBody>
      </p:sp>
      <p:sp>
        <p:nvSpPr>
          <p:cNvPr id="10" name="Text 8"/>
          <p:cNvSpPr/>
          <p:nvPr/>
        </p:nvSpPr>
        <p:spPr>
          <a:xfrm>
            <a:off x="376708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Median</a:t>
            </a:r>
            <a:endParaRPr lang="en-US" sz="1500" dirty="0"/>
          </a:p>
        </p:txBody>
      </p:sp>
      <p:sp>
        <p:nvSpPr>
          <p:cNvPr id="11" name="Text 9"/>
          <p:cNvSpPr/>
          <p:nvPr/>
        </p:nvSpPr>
        <p:spPr>
          <a:xfrm>
            <a:off x="3767088"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half earn less, half earn more</a:t>
            </a:r>
            <a:endParaRPr lang="en-US" sz="1200" dirty="0"/>
          </a:p>
        </p:txBody>
      </p:sp>
      <p:sp>
        <p:nvSpPr>
          <p:cNvPr id="12" name="Shape 10"/>
          <p:cNvSpPr/>
          <p:nvPr/>
        </p:nvSpPr>
        <p:spPr>
          <a:xfrm>
            <a:off x="6200750" y="1933352"/>
            <a:ext cx="2482924" cy="2003078"/>
          </a:xfrm>
          <a:prstGeom prst="roundRect">
            <a:avLst>
              <a:gd name="adj" fmla="val 4914"/>
            </a:avLst>
          </a:prstGeom>
          <a:solidFill>
            <a:srgbClr val="FFFDF9"/>
          </a:solidFill>
          <a:ln w="6350">
            <a:solidFill>
              <a:srgbClr val="E4DFD4"/>
            </a:solidFill>
            <a:prstDash val="solid"/>
          </a:ln>
        </p:spPr>
      </p:sp>
      <p:sp>
        <p:nvSpPr>
          <p:cNvPr id="13" name="Text 11"/>
          <p:cNvSpPr/>
          <p:nvPr/>
        </p:nvSpPr>
        <p:spPr>
          <a:xfrm>
            <a:off x="645951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9521A"/>
                </a:solidFill>
                <a:latin typeface="Inter" pitchFamily="34" charset="0"/>
                <a:ea typeface="Inter" pitchFamily="34" charset="-122"/>
                <a:cs typeface="Inter" pitchFamily="34" charset="-120"/>
              </a:rPr>
              <a:t>$35,524</a:t>
            </a:r>
            <a:endParaRPr lang="en-US" sz="3600" dirty="0"/>
          </a:p>
        </p:txBody>
      </p:sp>
      <p:sp>
        <p:nvSpPr>
          <p:cNvPr id="14" name="Text 12"/>
          <p:cNvSpPr/>
          <p:nvPr/>
        </p:nvSpPr>
        <p:spPr>
          <a:xfrm>
            <a:off x="645951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Standard deviation</a:t>
            </a:r>
            <a:endParaRPr lang="en-US" sz="1500" dirty="0"/>
          </a:p>
        </p:txBody>
      </p:sp>
      <p:sp>
        <p:nvSpPr>
          <p:cNvPr id="15" name="Text 13"/>
          <p:cNvSpPr/>
          <p:nvPr/>
        </p:nvSpPr>
        <p:spPr>
          <a:xfrm>
            <a:off x="6459513"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almost as large as the mean</a:t>
            </a:r>
            <a:endParaRPr lang="en-US" sz="1200" dirty="0"/>
          </a:p>
        </p:txBody>
      </p:sp>
      <p:sp>
        <p:nvSpPr>
          <p:cNvPr id="16" name="Shape 14"/>
          <p:cNvSpPr/>
          <p:nvPr/>
        </p:nvSpPr>
        <p:spPr>
          <a:xfrm>
            <a:off x="8893175" y="1933352"/>
            <a:ext cx="2482924" cy="2003078"/>
          </a:xfrm>
          <a:prstGeom prst="roundRect">
            <a:avLst>
              <a:gd name="adj" fmla="val 4914"/>
            </a:avLst>
          </a:prstGeom>
          <a:solidFill>
            <a:srgbClr val="FFFDF9"/>
          </a:solidFill>
          <a:ln w="6350">
            <a:solidFill>
              <a:srgbClr val="E4DFD4"/>
            </a:solidFill>
            <a:prstDash val="solid"/>
          </a:ln>
        </p:spPr>
      </p:sp>
      <p:sp>
        <p:nvSpPr>
          <p:cNvPr id="17" name="Text 15"/>
          <p:cNvSpPr/>
          <p:nvPr/>
        </p:nvSpPr>
        <p:spPr>
          <a:xfrm>
            <a:off x="915193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9521A"/>
                </a:solidFill>
                <a:latin typeface="Inter" pitchFamily="34" charset="0"/>
                <a:ea typeface="Inter" pitchFamily="34" charset="-122"/>
                <a:cs typeface="Inter" pitchFamily="34" charset="-120"/>
              </a:rPr>
              <a:t>1.76</a:t>
            </a:r>
            <a:endParaRPr lang="en-US" sz="3600" dirty="0"/>
          </a:p>
        </p:txBody>
      </p:sp>
      <p:sp>
        <p:nvSpPr>
          <p:cNvPr id="18" name="Text 16"/>
          <p:cNvSpPr/>
          <p:nvPr/>
        </p:nvSpPr>
        <p:spPr>
          <a:xfrm>
            <a:off x="915193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Skewness</a:t>
            </a:r>
            <a:endParaRPr lang="en-US" sz="1500" dirty="0"/>
          </a:p>
        </p:txBody>
      </p:sp>
      <p:sp>
        <p:nvSpPr>
          <p:cNvPr id="19" name="Text 17"/>
          <p:cNvSpPr/>
          <p:nvPr/>
        </p:nvSpPr>
        <p:spPr>
          <a:xfrm>
            <a:off x="9151938"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positive: a long right tail</a:t>
            </a:r>
            <a:endParaRPr lang="en-US" sz="1200" dirty="0"/>
          </a:p>
        </p:txBody>
      </p:sp>
      <p:sp>
        <p:nvSpPr>
          <p:cNvPr id="20" name="Text 18"/>
          <p:cNvSpPr/>
          <p:nvPr/>
        </p:nvSpPr>
        <p:spPr>
          <a:xfrm>
            <a:off x="812726" y="4295180"/>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Inter" pitchFamily="34" charset="0"/>
                <a:ea typeface="Inter" pitchFamily="34" charset="-122"/>
                <a:cs typeface="Inter" pitchFamily="34" charset="-120"/>
              </a:rPr>
              <a:t>The mean sits about </a:t>
            </a:r>
            <a:r>
              <a:rPr lang="en-US" sz="1600" b="1" dirty="0">
                <a:solidFill>
                  <a:srgbClr val="1F2A44"/>
                </a:solidFill>
                <a:latin typeface="Inter" pitchFamily="34" charset="0"/>
                <a:ea typeface="Inter" pitchFamily="34" charset="-122"/>
                <a:cs typeface="Inter" pitchFamily="34" charset="-120"/>
              </a:rPr>
              <a:t>$11,000 above the median</a:t>
            </a:r>
            <a:r>
              <a:rPr lang="en-US" sz="1600" dirty="0">
                <a:solidFill>
                  <a:srgbClr val="1F2A44"/>
                </a:solidFill>
                <a:latin typeface="Inter" pitchFamily="34" charset="0"/>
                <a:ea typeface="Inter" pitchFamily="34" charset="-122"/>
                <a:cs typeface="Inter" pitchFamily="34" charset="-120"/>
              </a:rPr>
              <a:t>: a small group of high earners pulls the average up.</a:t>
            </a:r>
            <a:endParaRPr lang="en-US" sz="1600" dirty="0"/>
          </a:p>
        </p:txBody>
      </p:sp>
      <p:sp>
        <p:nvSpPr>
          <p:cNvPr id="21" name="Text 19"/>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nter" pitchFamily="34" charset="0"/>
                <a:ea typeface="Inter" pitchFamily="34" charset="-122"/>
                <a:cs typeface="Inter" pitchFamily="34" charset="-120"/>
              </a:rPr>
              <a:t>INCOME · IMPLICATION 1</a:t>
            </a:r>
            <a:endParaRPr lang="en-US" sz="1200" dirty="0"/>
          </a:p>
        </p:txBody>
      </p:sp>
      <p:sp>
        <p:nvSpPr>
          <p:cNvPr id="3" name="Text 1"/>
          <p:cNvSpPr/>
          <p:nvPr/>
        </p:nvSpPr>
        <p:spPr>
          <a:xfrm>
            <a:off x="812726" y="1127621"/>
            <a:ext cx="10883545" cy="52819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4EF"/>
                </a:solidFill>
                <a:latin typeface="Source Serif 4" pitchFamily="34" charset="0"/>
                <a:ea typeface="Source Serif 4" pitchFamily="34" charset="-122"/>
                <a:cs typeface="Source Serif 4" pitchFamily="34" charset="-120"/>
              </a:rPr>
              <a:t>The “average customer” does not really exist</a:t>
            </a:r>
            <a:endParaRPr lang="en-US" sz="3600" dirty="0"/>
          </a:p>
        </p:txBody>
      </p:sp>
      <p:sp>
        <p:nvSpPr>
          <p:cNvPr id="4" name="Text 2"/>
          <p:cNvSpPr/>
          <p:nvPr/>
        </p:nvSpPr>
        <p:spPr>
          <a:xfrm>
            <a:off x="812726" y="1985987"/>
            <a:ext cx="2691569" cy="878805"/>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0A060"/>
                </a:solidFill>
                <a:latin typeface="Inter" pitchFamily="34" charset="0"/>
                <a:ea typeface="Inter" pitchFamily="34" charset="-122"/>
                <a:cs typeface="Inter" pitchFamily="34" charset="-120"/>
              </a:rPr>
              <a:t>$29,715</a:t>
            </a:r>
            <a:endParaRPr lang="en-US" sz="4800" dirty="0"/>
          </a:p>
        </p:txBody>
      </p:sp>
      <p:sp>
        <p:nvSpPr>
          <p:cNvPr id="5" name="Text 3"/>
          <p:cNvSpPr/>
          <p:nvPr/>
        </p:nvSpPr>
        <p:spPr>
          <a:xfrm>
            <a:off x="812726" y="2915543"/>
            <a:ext cx="2691569" cy="29205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4D8E0"/>
                </a:solidFill>
                <a:latin typeface="Inter" pitchFamily="34" charset="0"/>
                <a:ea typeface="Inter" pitchFamily="34" charset="-122"/>
                <a:cs typeface="Inter" pitchFamily="34" charset="-120"/>
              </a:rPr>
              <a:t>Median: the typical customer</a:t>
            </a:r>
            <a:endParaRPr lang="en-US" sz="1500" dirty="0"/>
          </a:p>
        </p:txBody>
      </p:sp>
      <p:sp>
        <p:nvSpPr>
          <p:cNvPr id="6" name="Text 4"/>
          <p:cNvSpPr/>
          <p:nvPr/>
        </p:nvSpPr>
        <p:spPr>
          <a:xfrm>
            <a:off x="4035475" y="1985987"/>
            <a:ext cx="3384070" cy="878805"/>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A94A8"/>
                </a:solidFill>
                <a:latin typeface="Inter" pitchFamily="34" charset="0"/>
                <a:ea typeface="Inter" pitchFamily="34" charset="-122"/>
                <a:cs typeface="Inter" pitchFamily="34" charset="-120"/>
              </a:rPr>
              <a:t>$40,672</a:t>
            </a:r>
            <a:endParaRPr lang="en-US" sz="4800" dirty="0"/>
          </a:p>
        </p:txBody>
      </p:sp>
      <p:sp>
        <p:nvSpPr>
          <p:cNvPr id="7" name="Text 5"/>
          <p:cNvSpPr/>
          <p:nvPr/>
        </p:nvSpPr>
        <p:spPr>
          <a:xfrm>
            <a:off x="4035475" y="2915543"/>
            <a:ext cx="3384070" cy="29205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4D8E0"/>
                </a:solidFill>
                <a:latin typeface="Inter" pitchFamily="34" charset="0"/>
                <a:ea typeface="Inter" pitchFamily="34" charset="-122"/>
                <a:cs typeface="Inter" pitchFamily="34" charset="-120"/>
              </a:rPr>
              <a:t>Mean: inflated by a few high earners</a:t>
            </a:r>
            <a:endParaRPr lang="en-US" sz="1500" dirty="0"/>
          </a:p>
        </p:txBody>
      </p:sp>
      <p:sp>
        <p:nvSpPr>
          <p:cNvPr id="8" name="Text 6"/>
          <p:cNvSpPr/>
          <p:nvPr/>
        </p:nvSpPr>
        <p:spPr>
          <a:xfrm>
            <a:off x="812726" y="3537769"/>
            <a:ext cx="9156700" cy="87855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F"/>
                </a:solidFill>
                <a:latin typeface="Inter" pitchFamily="34" charset="0"/>
                <a:ea typeface="Inter" pitchFamily="34" charset="-122"/>
                <a:cs typeface="Inter" pitchFamily="34" charset="-120"/>
              </a:rPr>
              <a:t>Planning around the mean would overshoot the financial capacity of most customers. For targets, pricing and product design aimed at the mass market, we use the </a:t>
            </a:r>
            <a:r>
              <a:rPr lang="en-US" sz="1600" b="1" dirty="0">
                <a:solidFill>
                  <a:srgbClr val="F6F4EF"/>
                </a:solidFill>
                <a:latin typeface="Inter" pitchFamily="34" charset="0"/>
                <a:ea typeface="Inter" pitchFamily="34" charset="-122"/>
                <a:cs typeface="Inter" pitchFamily="34" charset="-120"/>
              </a:rPr>
              <a:t>median</a:t>
            </a:r>
            <a:r>
              <a:rPr lang="en-US" sz="1600" dirty="0">
                <a:solidFill>
                  <a:srgbClr val="F6F4EF"/>
                </a:solidFill>
                <a:latin typeface="Inter" pitchFamily="34" charset="0"/>
                <a:ea typeface="Inter" pitchFamily="34" charset="-122"/>
                <a:cs typeface="Inter" pitchFamily="34" charset="-120"/>
              </a:rPr>
              <a:t> as the reference point.</a:t>
            </a:r>
            <a:endParaRPr lang="en-US" sz="1600" dirty="0"/>
          </a:p>
        </p:txBody>
      </p:sp>
      <p:sp>
        <p:nvSpPr>
          <p:cNvPr id="9" name="Text 7"/>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1C2"/>
                </a:solidFill>
                <a:latin typeface="Inter" pitchFamily="34" charset="0"/>
                <a:ea typeface="Inter" pitchFamily="34" charset="-122"/>
                <a:cs typeface="Inter" pitchFamily="34" charset="-120"/>
              </a:rPr>
              <a:t>Credit dataset (ISLR) · 400 customers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21A"/>
                </a:solidFill>
                <a:latin typeface="Inter" pitchFamily="34" charset="0"/>
                <a:ea typeface="Inter" pitchFamily="34" charset="-122"/>
                <a:cs typeface="Inter" pitchFamily="34" charset="-120"/>
              </a:rPr>
              <a:t>INCOME · IMPLICATION 2</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A heterogeneous base calls for segmentation</a:t>
            </a:r>
            <a:endParaRPr lang="en-US" sz="3200" dirty="0"/>
          </a:p>
        </p:txBody>
      </p:sp>
      <p:sp>
        <p:nvSpPr>
          <p:cNvPr id="4" name="Shape 2"/>
          <p:cNvSpPr/>
          <p:nvPr/>
        </p:nvSpPr>
        <p:spPr>
          <a:xfrm>
            <a:off x="815901" y="1882502"/>
            <a:ext cx="5175349" cy="1843088"/>
          </a:xfrm>
          <a:prstGeom prst="roundRect">
            <a:avLst>
              <a:gd name="adj" fmla="val 5340"/>
            </a:avLst>
          </a:prstGeom>
          <a:solidFill>
            <a:srgbClr val="FFFDF9"/>
          </a:solidFill>
          <a:ln w="6350">
            <a:solidFill>
              <a:srgbClr val="E4DFD4"/>
            </a:solidFill>
            <a:prstDash val="solid"/>
          </a:ln>
        </p:spPr>
      </p:sp>
      <p:sp>
        <p:nvSpPr>
          <p:cNvPr id="5" name="Text 3"/>
          <p:cNvSpPr/>
          <p:nvPr/>
        </p:nvSpPr>
        <p:spPr>
          <a:xfrm>
            <a:off x="1125389" y="219199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Mass-market segment</a:t>
            </a:r>
            <a:endParaRPr lang="en-US" sz="1800" dirty="0"/>
          </a:p>
        </p:txBody>
      </p:sp>
      <p:sp>
        <p:nvSpPr>
          <p:cNvPr id="6" name="Text 4"/>
          <p:cNvSpPr/>
          <p:nvPr/>
        </p:nvSpPr>
        <p:spPr>
          <a:xfrm>
            <a:off x="1125389" y="2567781"/>
            <a:ext cx="4693064"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C68"/>
                </a:solidFill>
                <a:latin typeface="Inter" pitchFamily="34" charset="0"/>
                <a:ea typeface="Inter" pitchFamily="34" charset="-122"/>
                <a:cs typeface="Inter" pitchFamily="34" charset="-120"/>
              </a:rPr>
              <a:t>The large majority, with low-to-medium incomes</a:t>
            </a:r>
            <a:endParaRPr lang="en-US" sz="1400" dirty="0"/>
          </a:p>
        </p:txBody>
      </p:sp>
      <p:sp>
        <p:nvSpPr>
          <p:cNvPr id="7" name="Text 5"/>
          <p:cNvSpPr/>
          <p:nvPr/>
        </p:nvSpPr>
        <p:spPr>
          <a:xfrm>
            <a:off x="1125389"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Simple, low-cost, standardised products and efficient digital channels.</a:t>
            </a:r>
            <a:endParaRPr lang="en-US" sz="1400" dirty="0"/>
          </a:p>
        </p:txBody>
      </p:sp>
      <p:sp>
        <p:nvSpPr>
          <p:cNvPr id="8" name="Shape 6"/>
          <p:cNvSpPr/>
          <p:nvPr/>
        </p:nvSpPr>
        <p:spPr>
          <a:xfrm>
            <a:off x="6200750" y="1882502"/>
            <a:ext cx="5175349" cy="1843088"/>
          </a:xfrm>
          <a:prstGeom prst="roundRect">
            <a:avLst>
              <a:gd name="adj" fmla="val 5340"/>
            </a:avLst>
          </a:prstGeom>
          <a:solidFill>
            <a:srgbClr val="FFFDF9"/>
          </a:solidFill>
          <a:ln w="6350">
            <a:solidFill>
              <a:srgbClr val="E4DFD4"/>
            </a:solidFill>
            <a:prstDash val="solid"/>
          </a:ln>
        </p:spPr>
      </p:sp>
      <p:sp>
        <p:nvSpPr>
          <p:cNvPr id="9" name="Text 7"/>
          <p:cNvSpPr/>
          <p:nvPr/>
        </p:nvSpPr>
        <p:spPr>
          <a:xfrm>
            <a:off x="6510238" y="219199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1A"/>
                </a:solidFill>
                <a:latin typeface="Inter" pitchFamily="34" charset="0"/>
                <a:ea typeface="Inter" pitchFamily="34" charset="-122"/>
                <a:cs typeface="Inter" pitchFamily="34" charset="-120"/>
              </a:rPr>
              <a:t>Affluent segment</a:t>
            </a:r>
            <a:endParaRPr lang="en-US" sz="1800" dirty="0"/>
          </a:p>
        </p:txBody>
      </p:sp>
      <p:sp>
        <p:nvSpPr>
          <p:cNvPr id="10" name="Text 8"/>
          <p:cNvSpPr/>
          <p:nvPr/>
        </p:nvSpPr>
        <p:spPr>
          <a:xfrm>
            <a:off x="6510238" y="2567781"/>
            <a:ext cx="4693064"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C68"/>
                </a:solidFill>
                <a:latin typeface="Inter" pitchFamily="34" charset="0"/>
                <a:ea typeface="Inter" pitchFamily="34" charset="-122"/>
                <a:cs typeface="Inter" pitchFamily="34" charset="-120"/>
              </a:rPr>
              <a:t>A small group of high earners in the long right tail</a:t>
            </a:r>
            <a:endParaRPr lang="en-US" sz="1400" dirty="0"/>
          </a:p>
        </p:txBody>
      </p:sp>
      <p:sp>
        <p:nvSpPr>
          <p:cNvPr id="11" name="Text 9"/>
          <p:cNvSpPr/>
          <p:nvPr/>
        </p:nvSpPr>
        <p:spPr>
          <a:xfrm>
            <a:off x="6510238"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Dedicated relationship managers, premium products and wealth-management services.</a:t>
            </a:r>
            <a:endParaRPr lang="en-US" sz="1400" dirty="0"/>
          </a:p>
        </p:txBody>
      </p:sp>
      <p:sp>
        <p:nvSpPr>
          <p:cNvPr id="12" name="Shape 10"/>
          <p:cNvSpPr/>
          <p:nvPr/>
        </p:nvSpPr>
        <p:spPr>
          <a:xfrm>
            <a:off x="812726" y="4033490"/>
            <a:ext cx="10566549" cy="1325687"/>
          </a:xfrm>
          <a:prstGeom prst="roundRect">
            <a:avLst>
              <a:gd name="adj" fmla="val 3832"/>
            </a:avLst>
          </a:prstGeom>
          <a:solidFill>
            <a:srgbClr val="ECE7DC"/>
          </a:solidFill>
          <a:ln/>
        </p:spPr>
      </p:sp>
      <p:sp>
        <p:nvSpPr>
          <p:cNvPr id="13" name="Shape 11"/>
          <p:cNvSpPr/>
          <p:nvPr/>
        </p:nvSpPr>
        <p:spPr>
          <a:xfrm>
            <a:off x="812726" y="4033490"/>
            <a:ext cx="10566549" cy="1325687"/>
          </a:xfrm>
          <a:custGeom>
            <a:avLst/>
            <a:gdLst/>
            <a:ahLst/>
            <a:cxnLst/>
            <a:rect l="l" t="t" r="r" b="b"/>
            <a:pathLst>
              <a:path w="10566549" h="1325687">
                <a:moveTo>
                  <a:pt x="50800" y="1325687"/>
                </a:moveTo>
                <a:lnTo>
                  <a:pt x="50800" y="1325687"/>
                </a:lnTo>
                <a:arcTo wR="50800" hR="50800" stAng="5400000" swAng="5400000"/>
                <a:lnTo>
                  <a:pt x="0" y="50800"/>
                </a:lnTo>
                <a:arcTo wR="50800" hR="50800" stAng="10800000" swAng="5400000"/>
                <a:lnTo>
                  <a:pt x="50800" y="0"/>
                </a:lnTo>
                <a:lnTo>
                  <a:pt x="50800" y="1325687"/>
                </a:lnTo>
                <a:close/>
              </a:path>
            </a:pathLst>
          </a:custGeom>
          <a:solidFill>
            <a:srgbClr val="A9521A"/>
          </a:solidFill>
          <a:ln/>
        </p:spPr>
      </p:sp>
      <p:sp>
        <p:nvSpPr>
          <p:cNvPr id="14" name="Text 12"/>
          <p:cNvSpPr/>
          <p:nvPr/>
        </p:nvSpPr>
        <p:spPr>
          <a:xfrm>
            <a:off x="1165076" y="4287490"/>
            <a:ext cx="10206757"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44"/>
                </a:solidFill>
                <a:latin typeface="Inter" pitchFamily="34" charset="0"/>
                <a:ea typeface="Inter" pitchFamily="34" charset="-122"/>
                <a:cs typeface="Inter" pitchFamily="34" charset="-120"/>
              </a:rPr>
              <a:t>Hypothesis to test</a:t>
            </a:r>
            <a:endParaRPr lang="en-US" sz="1600" dirty="0"/>
          </a:p>
        </p:txBody>
      </p:sp>
      <p:sp>
        <p:nvSpPr>
          <p:cNvPr id="15" name="Text 13"/>
          <p:cNvSpPr/>
          <p:nvPr/>
        </p:nvSpPr>
        <p:spPr>
          <a:xfrm>
            <a:off x="1165076" y="4607347"/>
            <a:ext cx="10206757"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small share of customers may generate a large share of balances or revenue. If account-level data confirm it, retaining the high-income minority becomes a priority.</a:t>
            </a:r>
            <a:endParaRPr lang="en-US" sz="1400" dirty="0"/>
          </a:p>
        </p:txBody>
      </p:sp>
      <p:sp>
        <p:nvSpPr>
          <p:cNvPr id="16" name="Text 14"/>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21A"/>
                </a:solidFill>
                <a:latin typeface="Inter" pitchFamily="34" charset="0"/>
                <a:ea typeface="Inter" pitchFamily="34" charset="-122"/>
                <a:cs typeface="Inter" pitchFamily="34" charset="-120"/>
              </a:rPr>
              <a:t>INCOME · IMPLICATIONS 3 AND 4</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Credit policy and data quality</a:t>
            </a:r>
            <a:endParaRPr lang="en-US" sz="3200" dirty="0"/>
          </a:p>
        </p:txBody>
      </p:sp>
      <p:sp>
        <p:nvSpPr>
          <p:cNvPr id="4" name="Shape 2"/>
          <p:cNvSpPr/>
          <p:nvPr/>
        </p:nvSpPr>
        <p:spPr>
          <a:xfrm>
            <a:off x="815901" y="1933352"/>
            <a:ext cx="5175349" cy="3057029"/>
          </a:xfrm>
          <a:prstGeom prst="roundRect">
            <a:avLst>
              <a:gd name="adj" fmla="val 3220"/>
            </a:avLst>
          </a:prstGeom>
          <a:solidFill>
            <a:srgbClr val="FFFDF9"/>
          </a:solidFill>
          <a:ln w="6350">
            <a:solidFill>
              <a:srgbClr val="E4DFD4"/>
            </a:solidFill>
            <a:prstDash val="solid"/>
          </a:ln>
        </p:spPr>
      </p:sp>
      <p:sp>
        <p:nvSpPr>
          <p:cNvPr id="5" name="Text 3"/>
          <p:cNvSpPr/>
          <p:nvPr/>
        </p:nvSpPr>
        <p:spPr>
          <a:xfrm>
            <a:off x="1125389" y="2242840"/>
            <a:ext cx="4693064" cy="57383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Decide on individual income, not averages</a:t>
            </a:r>
            <a:endParaRPr lang="en-US" sz="1800" dirty="0"/>
          </a:p>
        </p:txBody>
      </p:sp>
      <p:sp>
        <p:nvSpPr>
          <p:cNvPr id="6" name="Text 4"/>
          <p:cNvSpPr/>
          <p:nvPr/>
        </p:nvSpPr>
        <p:spPr>
          <a:xfrm>
            <a:off x="1125389"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limit that is prudent at $30,000 is needlessly restrictive at $150,000, and vice versa.</a:t>
            </a:r>
            <a:endParaRPr lang="en-US" sz="1400" dirty="0"/>
          </a:p>
        </p:txBody>
      </p:sp>
      <p:sp>
        <p:nvSpPr>
          <p:cNvPr id="7" name="Text 5"/>
          <p:cNvSpPr/>
          <p:nvPr/>
        </p:nvSpPr>
        <p:spPr>
          <a:xfrm>
            <a:off x="1125389" y="3543102"/>
            <a:ext cx="4693064" cy="10210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Affordability checks and credit limits should use each customer’s own income; risk models should account for the skewed shape, for example with a log transformation.</a:t>
            </a:r>
            <a:endParaRPr lang="en-US" sz="1400" dirty="0"/>
          </a:p>
        </p:txBody>
      </p:sp>
      <p:sp>
        <p:nvSpPr>
          <p:cNvPr id="8" name="Shape 6"/>
          <p:cNvSpPr/>
          <p:nvPr/>
        </p:nvSpPr>
        <p:spPr>
          <a:xfrm>
            <a:off x="6200750" y="1933352"/>
            <a:ext cx="5175349" cy="3057029"/>
          </a:xfrm>
          <a:prstGeom prst="roundRect">
            <a:avLst>
              <a:gd name="adj" fmla="val 3220"/>
            </a:avLst>
          </a:prstGeom>
          <a:solidFill>
            <a:srgbClr val="FFFDF9"/>
          </a:solidFill>
          <a:ln w="6350">
            <a:solidFill>
              <a:srgbClr val="E4DFD4"/>
            </a:solidFill>
            <a:prstDash val="solid"/>
          </a:ln>
        </p:spPr>
      </p:sp>
      <p:sp>
        <p:nvSpPr>
          <p:cNvPr id="9" name="Text 7"/>
          <p:cNvSpPr/>
          <p:nvPr/>
        </p:nvSpPr>
        <p:spPr>
          <a:xfrm>
            <a:off x="6510238" y="2242840"/>
            <a:ext cx="4693064"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A9521A"/>
                </a:solidFill>
                <a:latin typeface="Inter" pitchFamily="34" charset="0"/>
                <a:ea typeface="Inter" pitchFamily="34" charset="-122"/>
                <a:cs typeface="Inter" pitchFamily="34" charset="-120"/>
              </a:rPr>
              <a:t>$12</a:t>
            </a:r>
            <a:endParaRPr lang="en-US" sz="3600" dirty="0"/>
          </a:p>
        </p:txBody>
      </p:sp>
      <p:sp>
        <p:nvSpPr>
          <p:cNvPr id="10" name="Text 8"/>
          <p:cNvSpPr/>
          <p:nvPr/>
        </p:nvSpPr>
        <p:spPr>
          <a:xfrm>
            <a:off x="6510238" y="3009801"/>
            <a:ext cx="4693064" cy="57383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1A"/>
                </a:solidFill>
                <a:latin typeface="Inter" pitchFamily="34" charset="0"/>
                <a:ea typeface="Inter" pitchFamily="34" charset="-122"/>
                <a:cs typeface="Inter" pitchFamily="34" charset="-120"/>
              </a:rPr>
              <a:t>A minimum income that is almost certainly an error</a:t>
            </a:r>
            <a:endParaRPr lang="en-US" sz="1800" dirty="0"/>
          </a:p>
        </p:txBody>
      </p:sp>
      <p:sp>
        <p:nvSpPr>
          <p:cNvPr id="11" name="Text 9"/>
          <p:cNvSpPr/>
          <p:nvPr/>
        </p:nvSpPr>
        <p:spPr>
          <a:xfrm>
            <a:off x="6510238" y="3685232"/>
            <a:ext cx="4693064" cy="10210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wrong income can decline a creditworthy customer or pass an affordability check on false grounds. Validation rules at data entry protect customers and the bank.</a:t>
            </a:r>
            <a:endParaRPr lang="en-US" sz="1400" dirty="0"/>
          </a:p>
        </p:txBody>
      </p:sp>
      <p:sp>
        <p:nvSpPr>
          <p:cNvPr id="12" name="Text 10"/>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9E"/>
                </a:solidFill>
                <a:latin typeface="Inter" pitchFamily="34" charset="0"/>
                <a:ea typeface="Inter" pitchFamily="34" charset="-122"/>
                <a:cs typeface="Inter" pitchFamily="34" charset="-120"/>
              </a:rPr>
              <a:t>AGE</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Age: symmetric and evenly spread</a:t>
            </a:r>
            <a:endParaRPr lang="en-US" sz="3200" dirty="0"/>
          </a:p>
        </p:txBody>
      </p:sp>
      <p:sp>
        <p:nvSpPr>
          <p:cNvPr id="4" name="Shape 2"/>
          <p:cNvSpPr/>
          <p:nvPr/>
        </p:nvSpPr>
        <p:spPr>
          <a:xfrm>
            <a:off x="815901" y="1933352"/>
            <a:ext cx="2482924" cy="2003078"/>
          </a:xfrm>
          <a:prstGeom prst="roundRect">
            <a:avLst>
              <a:gd name="adj" fmla="val 4914"/>
            </a:avLst>
          </a:prstGeom>
          <a:solidFill>
            <a:srgbClr val="FFFDF9"/>
          </a:solidFill>
          <a:ln w="6350">
            <a:solidFill>
              <a:srgbClr val="E4DFD4"/>
            </a:solidFill>
            <a:prstDash val="solid"/>
          </a:ln>
        </p:spPr>
      </p:sp>
      <p:sp>
        <p:nvSpPr>
          <p:cNvPr id="5" name="Text 3"/>
          <p:cNvSpPr/>
          <p:nvPr/>
        </p:nvSpPr>
        <p:spPr>
          <a:xfrm>
            <a:off x="107466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5F9E"/>
                </a:solidFill>
                <a:latin typeface="Inter" pitchFamily="34" charset="0"/>
                <a:ea typeface="Inter" pitchFamily="34" charset="-122"/>
                <a:cs typeface="Inter" pitchFamily="34" charset="-120"/>
              </a:rPr>
              <a:t>55.7</a:t>
            </a:r>
            <a:endParaRPr lang="en-US" sz="3600" dirty="0"/>
          </a:p>
        </p:txBody>
      </p:sp>
      <p:sp>
        <p:nvSpPr>
          <p:cNvPr id="6" name="Text 4"/>
          <p:cNvSpPr/>
          <p:nvPr/>
        </p:nvSpPr>
        <p:spPr>
          <a:xfrm>
            <a:off x="107466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Mean age</a:t>
            </a:r>
            <a:endParaRPr lang="en-US" sz="1500" dirty="0"/>
          </a:p>
        </p:txBody>
      </p:sp>
      <p:sp>
        <p:nvSpPr>
          <p:cNvPr id="7" name="Text 5"/>
          <p:cNvSpPr/>
          <p:nvPr/>
        </p:nvSpPr>
        <p:spPr>
          <a:xfrm>
            <a:off x="1074663"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in years</a:t>
            </a:r>
            <a:endParaRPr lang="en-US" sz="1200" dirty="0"/>
          </a:p>
        </p:txBody>
      </p:sp>
      <p:sp>
        <p:nvSpPr>
          <p:cNvPr id="8" name="Shape 6"/>
          <p:cNvSpPr/>
          <p:nvPr/>
        </p:nvSpPr>
        <p:spPr>
          <a:xfrm>
            <a:off x="3508325" y="1933352"/>
            <a:ext cx="2482924" cy="2003078"/>
          </a:xfrm>
          <a:prstGeom prst="roundRect">
            <a:avLst>
              <a:gd name="adj" fmla="val 4914"/>
            </a:avLst>
          </a:prstGeom>
          <a:solidFill>
            <a:srgbClr val="FFFDF9"/>
          </a:solidFill>
          <a:ln w="6350">
            <a:solidFill>
              <a:srgbClr val="E4DFD4"/>
            </a:solidFill>
            <a:prstDash val="solid"/>
          </a:ln>
        </p:spPr>
      </p:sp>
      <p:sp>
        <p:nvSpPr>
          <p:cNvPr id="9" name="Text 7"/>
          <p:cNvSpPr/>
          <p:nvPr/>
        </p:nvSpPr>
        <p:spPr>
          <a:xfrm>
            <a:off x="376708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5F9E"/>
                </a:solidFill>
                <a:latin typeface="Inter" pitchFamily="34" charset="0"/>
                <a:ea typeface="Inter" pitchFamily="34" charset="-122"/>
                <a:cs typeface="Inter" pitchFamily="34" charset="-120"/>
              </a:rPr>
              <a:t>56</a:t>
            </a:r>
            <a:endParaRPr lang="en-US" sz="3600" dirty="0"/>
          </a:p>
        </p:txBody>
      </p:sp>
      <p:sp>
        <p:nvSpPr>
          <p:cNvPr id="10" name="Text 8"/>
          <p:cNvSpPr/>
          <p:nvPr/>
        </p:nvSpPr>
        <p:spPr>
          <a:xfrm>
            <a:off x="376708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Median</a:t>
            </a:r>
            <a:endParaRPr lang="en-US" sz="1500" dirty="0"/>
          </a:p>
        </p:txBody>
      </p:sp>
      <p:sp>
        <p:nvSpPr>
          <p:cNvPr id="11" name="Text 9"/>
          <p:cNvSpPr/>
          <p:nvPr/>
        </p:nvSpPr>
        <p:spPr>
          <a:xfrm>
            <a:off x="3767088"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practically equal to the mean</a:t>
            </a:r>
            <a:endParaRPr lang="en-US" sz="1200" dirty="0"/>
          </a:p>
        </p:txBody>
      </p:sp>
      <p:sp>
        <p:nvSpPr>
          <p:cNvPr id="12" name="Shape 10"/>
          <p:cNvSpPr/>
          <p:nvPr/>
        </p:nvSpPr>
        <p:spPr>
          <a:xfrm>
            <a:off x="6200750" y="1933352"/>
            <a:ext cx="2482924" cy="2003078"/>
          </a:xfrm>
          <a:prstGeom prst="roundRect">
            <a:avLst>
              <a:gd name="adj" fmla="val 4914"/>
            </a:avLst>
          </a:prstGeom>
          <a:solidFill>
            <a:srgbClr val="FFFDF9"/>
          </a:solidFill>
          <a:ln w="6350">
            <a:solidFill>
              <a:srgbClr val="E4DFD4"/>
            </a:solidFill>
            <a:prstDash val="solid"/>
          </a:ln>
        </p:spPr>
      </p:sp>
      <p:sp>
        <p:nvSpPr>
          <p:cNvPr id="13" name="Text 11"/>
          <p:cNvSpPr/>
          <p:nvPr/>
        </p:nvSpPr>
        <p:spPr>
          <a:xfrm>
            <a:off x="645951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5F9E"/>
                </a:solidFill>
                <a:latin typeface="Inter" pitchFamily="34" charset="0"/>
                <a:ea typeface="Inter" pitchFamily="34" charset="-122"/>
                <a:cs typeface="Inter" pitchFamily="34" charset="-120"/>
              </a:rPr>
              <a:t>23–98</a:t>
            </a:r>
            <a:endParaRPr lang="en-US" sz="3600" dirty="0"/>
          </a:p>
        </p:txBody>
      </p:sp>
      <p:sp>
        <p:nvSpPr>
          <p:cNvPr id="14" name="Text 12"/>
          <p:cNvSpPr/>
          <p:nvPr/>
        </p:nvSpPr>
        <p:spPr>
          <a:xfrm>
            <a:off x="645951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Range</a:t>
            </a:r>
            <a:endParaRPr lang="en-US" sz="1500" dirty="0"/>
          </a:p>
        </p:txBody>
      </p:sp>
      <p:sp>
        <p:nvSpPr>
          <p:cNvPr id="15" name="Text 13"/>
          <p:cNvSpPr/>
          <p:nvPr/>
        </p:nvSpPr>
        <p:spPr>
          <a:xfrm>
            <a:off x="6459513"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75 years between youngest and oldest</a:t>
            </a:r>
            <a:endParaRPr lang="en-US" sz="1200" dirty="0"/>
          </a:p>
        </p:txBody>
      </p:sp>
      <p:sp>
        <p:nvSpPr>
          <p:cNvPr id="16" name="Shape 14"/>
          <p:cNvSpPr/>
          <p:nvPr/>
        </p:nvSpPr>
        <p:spPr>
          <a:xfrm>
            <a:off x="8893175" y="1933352"/>
            <a:ext cx="2482924" cy="2003078"/>
          </a:xfrm>
          <a:prstGeom prst="roundRect">
            <a:avLst>
              <a:gd name="adj" fmla="val 4914"/>
            </a:avLst>
          </a:prstGeom>
          <a:solidFill>
            <a:srgbClr val="FFFDF9"/>
          </a:solidFill>
          <a:ln w="6350">
            <a:solidFill>
              <a:srgbClr val="E4DFD4"/>
            </a:solidFill>
            <a:prstDash val="solid"/>
          </a:ln>
        </p:spPr>
      </p:sp>
      <p:sp>
        <p:nvSpPr>
          <p:cNvPr id="17" name="Text 15"/>
          <p:cNvSpPr/>
          <p:nvPr/>
        </p:nvSpPr>
        <p:spPr>
          <a:xfrm>
            <a:off x="915193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5F9E"/>
                </a:solidFill>
                <a:latin typeface="Inter" pitchFamily="34" charset="0"/>
                <a:ea typeface="Inter" pitchFamily="34" charset="-122"/>
                <a:cs typeface="Inter" pitchFamily="34" charset="-120"/>
              </a:rPr>
              <a:t>−1.07</a:t>
            </a:r>
            <a:endParaRPr lang="en-US" sz="3600" dirty="0"/>
          </a:p>
        </p:txBody>
      </p:sp>
      <p:sp>
        <p:nvSpPr>
          <p:cNvPr id="18" name="Text 16"/>
          <p:cNvSpPr/>
          <p:nvPr/>
        </p:nvSpPr>
        <p:spPr>
          <a:xfrm>
            <a:off x="915193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Kurtosis</a:t>
            </a:r>
            <a:endParaRPr lang="en-US" sz="1500" dirty="0"/>
          </a:p>
        </p:txBody>
      </p:sp>
      <p:sp>
        <p:nvSpPr>
          <p:cNvPr id="19" name="Text 17"/>
          <p:cNvSpPr/>
          <p:nvPr/>
        </p:nvSpPr>
        <p:spPr>
          <a:xfrm>
            <a:off x="9151938"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flat shape, light tails</a:t>
            </a:r>
            <a:endParaRPr lang="en-US" sz="1200" dirty="0"/>
          </a:p>
        </p:txBody>
      </p:sp>
      <p:sp>
        <p:nvSpPr>
          <p:cNvPr id="20" name="Text 18"/>
          <p:cNvSpPr/>
          <p:nvPr/>
        </p:nvSpPr>
        <p:spPr>
          <a:xfrm>
            <a:off x="812726" y="4295180"/>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Inter" pitchFamily="34" charset="0"/>
                <a:ea typeface="Inter" pitchFamily="34" charset="-122"/>
                <a:cs typeface="Inter" pitchFamily="34" charset="-120"/>
              </a:rPr>
              <a:t>Customers are spread </a:t>
            </a:r>
            <a:r>
              <a:rPr lang="en-US" sz="1600" b="1" dirty="0">
                <a:solidFill>
                  <a:srgbClr val="1F2A44"/>
                </a:solidFill>
                <a:latin typeface="Inter" pitchFamily="34" charset="0"/>
                <a:ea typeface="Inter" pitchFamily="34" charset="-122"/>
                <a:cs typeface="Inter" pitchFamily="34" charset="-120"/>
              </a:rPr>
              <a:t>fairly evenly across all adult ages</a:t>
            </a:r>
            <a:r>
              <a:rPr lang="en-US" sz="1600" dirty="0">
                <a:solidFill>
                  <a:srgbClr val="1F2A44"/>
                </a:solidFill>
                <a:latin typeface="Inter" pitchFamily="34" charset="0"/>
                <a:ea typeface="Inter" pitchFamily="34" charset="-122"/>
                <a:cs typeface="Inter" pitchFamily="34" charset="-120"/>
              </a:rPr>
              <a:t>, with no dominant generation.</a:t>
            </a:r>
            <a:endParaRPr lang="en-US" sz="1600" dirty="0"/>
          </a:p>
        </p:txBody>
      </p:sp>
      <p:sp>
        <p:nvSpPr>
          <p:cNvPr id="21" name="Text 19"/>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9E"/>
                </a:solidFill>
                <a:latin typeface="Inter" pitchFamily="34" charset="0"/>
                <a:ea typeface="Inter" pitchFamily="34" charset="-122"/>
                <a:cs typeface="Inter" pitchFamily="34" charset="-120"/>
              </a:rPr>
              <a:t>AGE · IMPLICATION 5</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Our customers span the whole life cycle</a:t>
            </a:r>
            <a:endParaRPr lang="en-US" sz="3200" dirty="0"/>
          </a:p>
        </p:txBody>
      </p:sp>
      <p:sp>
        <p:nvSpPr>
          <p:cNvPr id="4" name="Shape 2"/>
          <p:cNvSpPr/>
          <p:nvPr/>
        </p:nvSpPr>
        <p:spPr>
          <a:xfrm>
            <a:off x="815901" y="1882502"/>
            <a:ext cx="3380358" cy="2087290"/>
          </a:xfrm>
          <a:prstGeom prst="roundRect">
            <a:avLst>
              <a:gd name="adj" fmla="val 4715"/>
            </a:avLst>
          </a:prstGeom>
          <a:solidFill>
            <a:srgbClr val="FFFDF9"/>
          </a:solidFill>
          <a:ln w="6350">
            <a:solidFill>
              <a:srgbClr val="E4DFD4"/>
            </a:solidFill>
            <a:prstDash val="solid"/>
          </a:ln>
        </p:spPr>
      </p:sp>
      <p:sp>
        <p:nvSpPr>
          <p:cNvPr id="5" name="Text 3"/>
          <p:cNvSpPr/>
          <p:nvPr/>
        </p:nvSpPr>
        <p:spPr>
          <a:xfrm>
            <a:off x="1125389" y="2191990"/>
            <a:ext cx="2844223"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Young adults</a:t>
            </a:r>
            <a:endParaRPr lang="en-US" sz="1800" dirty="0"/>
          </a:p>
        </p:txBody>
      </p:sp>
      <p:sp>
        <p:nvSpPr>
          <p:cNvPr id="6" name="Text 4"/>
          <p:cNvSpPr/>
          <p:nvPr/>
        </p:nvSpPr>
        <p:spPr>
          <a:xfrm>
            <a:off x="1328589" y="2593206"/>
            <a:ext cx="2634927" cy="1092498"/>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First current accounts</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Credit cards and personal loans</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Digital-first services</a:t>
            </a:r>
            <a:endParaRPr lang="en-US" sz="1400" dirty="0"/>
          </a:p>
        </p:txBody>
      </p:sp>
      <p:sp>
        <p:nvSpPr>
          <p:cNvPr id="7" name="Shape 5"/>
          <p:cNvSpPr/>
          <p:nvPr/>
        </p:nvSpPr>
        <p:spPr>
          <a:xfrm>
            <a:off x="4405759" y="1882502"/>
            <a:ext cx="3380482" cy="2087290"/>
          </a:xfrm>
          <a:prstGeom prst="roundRect">
            <a:avLst>
              <a:gd name="adj" fmla="val 4715"/>
            </a:avLst>
          </a:prstGeom>
          <a:solidFill>
            <a:srgbClr val="FFFDF9"/>
          </a:solidFill>
          <a:ln w="6350">
            <a:solidFill>
              <a:srgbClr val="E4DFD4"/>
            </a:solidFill>
            <a:prstDash val="solid"/>
          </a:ln>
        </p:spPr>
      </p:sp>
      <p:sp>
        <p:nvSpPr>
          <p:cNvPr id="8" name="Text 6"/>
          <p:cNvSpPr/>
          <p:nvPr/>
        </p:nvSpPr>
        <p:spPr>
          <a:xfrm>
            <a:off x="4715247" y="2191990"/>
            <a:ext cx="2844351"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Middle age</a:t>
            </a:r>
            <a:endParaRPr lang="en-US" sz="1800" dirty="0"/>
          </a:p>
        </p:txBody>
      </p:sp>
      <p:sp>
        <p:nvSpPr>
          <p:cNvPr id="9" name="Text 7"/>
          <p:cNvSpPr/>
          <p:nvPr/>
        </p:nvSpPr>
        <p:spPr>
          <a:xfrm>
            <a:off x="4918447" y="2593206"/>
            <a:ext cx="2635055" cy="1092498"/>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Mortgages</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Family protection</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Savings and investment plans</a:t>
            </a:r>
            <a:endParaRPr lang="en-US" sz="1400" dirty="0"/>
          </a:p>
        </p:txBody>
      </p:sp>
      <p:sp>
        <p:nvSpPr>
          <p:cNvPr id="10" name="Shape 8"/>
          <p:cNvSpPr/>
          <p:nvPr/>
        </p:nvSpPr>
        <p:spPr>
          <a:xfrm>
            <a:off x="7995741" y="1882502"/>
            <a:ext cx="3380358" cy="2087290"/>
          </a:xfrm>
          <a:prstGeom prst="roundRect">
            <a:avLst>
              <a:gd name="adj" fmla="val 4715"/>
            </a:avLst>
          </a:prstGeom>
          <a:solidFill>
            <a:srgbClr val="FFFDF9"/>
          </a:solidFill>
          <a:ln w="6350">
            <a:solidFill>
              <a:srgbClr val="E4DFD4"/>
            </a:solidFill>
            <a:prstDash val="solid"/>
          </a:ln>
        </p:spPr>
      </p:sp>
      <p:sp>
        <p:nvSpPr>
          <p:cNvPr id="11" name="Text 9"/>
          <p:cNvSpPr/>
          <p:nvPr/>
        </p:nvSpPr>
        <p:spPr>
          <a:xfrm>
            <a:off x="8305229" y="2191990"/>
            <a:ext cx="2844223"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Older customers</a:t>
            </a:r>
            <a:endParaRPr lang="en-US" sz="1800" dirty="0"/>
          </a:p>
        </p:txBody>
      </p:sp>
      <p:sp>
        <p:nvSpPr>
          <p:cNvPr id="12" name="Text 10"/>
          <p:cNvSpPr/>
          <p:nvPr/>
        </p:nvSpPr>
        <p:spPr>
          <a:xfrm>
            <a:off x="8508429" y="2593206"/>
            <a:ext cx="2634927" cy="1092498"/>
          </a:xfrm>
          <a:prstGeom prst="rect">
            <a:avLst/>
          </a:prstGeom>
          <a:noFill/>
          <a:ln/>
        </p:spPr>
        <p:txBody>
          <a:bodyPr wrap="square" lIns="0" tIns="0" rIns="0" bIns="0" rtlCol="0" anchor="t">
            <a:normAutofit/>
          </a:bodyPr>
          <a:lstStyle/>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Retirement income</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Wealth preservation</a:t>
            </a:r>
            <a:endParaRPr lang="en-US" sz="1400" dirty="0"/>
          </a:p>
          <a:p>
            <a:pPr marL="213360" indent="-169418" algn="l">
              <a:lnSpc>
                <a:spcPts val="2100"/>
              </a:lnSpc>
              <a:buSzPct val="100000"/>
              <a:buChar char="•"/>
            </a:pPr>
            <a:r>
              <a:rPr lang="en-US" sz="1400" dirty="0">
                <a:solidFill>
                  <a:srgbClr val="1F2A44"/>
                </a:solidFill>
                <a:latin typeface="Inter" pitchFamily="34" charset="0"/>
                <a:ea typeface="Inter" pitchFamily="34" charset="-122"/>
                <a:cs typeface="Inter" pitchFamily="34" charset="-120"/>
              </a:rPr>
              <a:t>Estate and succession planning</a:t>
            </a:r>
            <a:endParaRPr lang="en-US" sz="1400" dirty="0"/>
          </a:p>
        </p:txBody>
      </p:sp>
      <p:sp>
        <p:nvSpPr>
          <p:cNvPr id="13" name="Text 11"/>
          <p:cNvSpPr/>
          <p:nvPr/>
        </p:nvSpPr>
        <p:spPr>
          <a:xfrm>
            <a:off x="812726" y="4277692"/>
            <a:ext cx="10883545"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2A44"/>
                </a:solidFill>
                <a:latin typeface="Inter" pitchFamily="34" charset="0"/>
                <a:ea typeface="Inter" pitchFamily="34" charset="-122"/>
                <a:cs typeface="Inter" pitchFamily="34" charset="-120"/>
              </a:rPr>
              <a:t>Every life stage is represented in meaningful numbers: a strategy focused on one age group would leave large parts of the base underserved.</a:t>
            </a:r>
            <a:endParaRPr lang="en-US" sz="1500" dirty="0"/>
          </a:p>
        </p:txBody>
      </p:sp>
      <p:sp>
        <p:nvSpPr>
          <p:cNvPr id="14" name="Text 12"/>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9E"/>
                </a:solidFill>
                <a:latin typeface="Inter" pitchFamily="34" charset="0"/>
                <a:ea typeface="Inter" pitchFamily="34" charset="-122"/>
                <a:cs typeface="Inter" pitchFamily="34" charset="-120"/>
              </a:rPr>
              <a:t>AGE · IMPLICATION 6</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A relatively mature customer base</a:t>
            </a:r>
            <a:endParaRPr lang="en-US" sz="3200" dirty="0"/>
          </a:p>
        </p:txBody>
      </p:sp>
      <p:sp>
        <p:nvSpPr>
          <p:cNvPr id="4" name="Text 2"/>
          <p:cNvSpPr/>
          <p:nvPr/>
        </p:nvSpPr>
        <p:spPr>
          <a:xfrm>
            <a:off x="812726" y="1879327"/>
            <a:ext cx="10883545" cy="35555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2F5F9E"/>
                </a:solidFill>
                <a:latin typeface="Inter" pitchFamily="34" charset="0"/>
                <a:ea typeface="Inter" pitchFamily="34" charset="-122"/>
                <a:cs typeface="Inter" pitchFamily="34" charset="-120"/>
              </a:rPr>
              <a:t>Half of our customers are over 56.</a:t>
            </a:r>
            <a:endParaRPr lang="en-US" sz="2000" dirty="0"/>
          </a:p>
        </p:txBody>
      </p:sp>
      <p:sp>
        <p:nvSpPr>
          <p:cNvPr id="5" name="Shape 3"/>
          <p:cNvSpPr/>
          <p:nvPr/>
        </p:nvSpPr>
        <p:spPr>
          <a:xfrm>
            <a:off x="815901" y="2517378"/>
            <a:ext cx="3380358" cy="1787029"/>
          </a:xfrm>
          <a:prstGeom prst="roundRect">
            <a:avLst>
              <a:gd name="adj" fmla="val 5508"/>
            </a:avLst>
          </a:prstGeom>
          <a:solidFill>
            <a:srgbClr val="FFFDF9"/>
          </a:solidFill>
          <a:ln w="6350">
            <a:solidFill>
              <a:srgbClr val="E4DFD4"/>
            </a:solidFill>
            <a:prstDash val="solid"/>
          </a:ln>
        </p:spPr>
      </p:sp>
      <p:sp>
        <p:nvSpPr>
          <p:cNvPr id="6" name="Text 4"/>
          <p:cNvSpPr/>
          <p:nvPr/>
        </p:nvSpPr>
        <p:spPr>
          <a:xfrm>
            <a:off x="1074663" y="2776141"/>
            <a:ext cx="2948718"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44"/>
                </a:solidFill>
                <a:latin typeface="Inter" pitchFamily="34" charset="0"/>
                <a:ea typeface="Inter" pitchFamily="34" charset="-122"/>
                <a:cs typeface="Inter" pitchFamily="34" charset="-120"/>
              </a:rPr>
              <a:t>Wealth transfer</a:t>
            </a:r>
            <a:endParaRPr lang="en-US" sz="1600" dirty="0"/>
          </a:p>
        </p:txBody>
      </p:sp>
      <p:sp>
        <p:nvSpPr>
          <p:cNvPr id="7" name="Text 5"/>
          <p:cNvSpPr/>
          <p:nvPr/>
        </p:nvSpPr>
        <p:spPr>
          <a:xfrm>
            <a:off x="1074663" y="3121422"/>
            <a:ext cx="2948718"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44"/>
                </a:solidFill>
                <a:latin typeface="Inter" pitchFamily="34" charset="0"/>
                <a:ea typeface="Inter" pitchFamily="34" charset="-122"/>
                <a:cs typeface="Inter" pitchFamily="34" charset="-120"/>
              </a:rPr>
              <a:t>Assets may pass to heirs in the coming years: a risk of outflows and a chance to engage the next generation.</a:t>
            </a:r>
            <a:endParaRPr lang="en-US" sz="1300" dirty="0"/>
          </a:p>
        </p:txBody>
      </p:sp>
      <p:sp>
        <p:nvSpPr>
          <p:cNvPr id="8" name="Shape 6"/>
          <p:cNvSpPr/>
          <p:nvPr/>
        </p:nvSpPr>
        <p:spPr>
          <a:xfrm>
            <a:off x="4405759" y="2517378"/>
            <a:ext cx="3380482" cy="1787029"/>
          </a:xfrm>
          <a:prstGeom prst="roundRect">
            <a:avLst>
              <a:gd name="adj" fmla="val 5508"/>
            </a:avLst>
          </a:prstGeom>
          <a:solidFill>
            <a:srgbClr val="FFFDF9"/>
          </a:solidFill>
          <a:ln w="6350">
            <a:solidFill>
              <a:srgbClr val="E4DFD4"/>
            </a:solidFill>
            <a:prstDash val="solid"/>
          </a:ln>
        </p:spPr>
      </p:sp>
      <p:sp>
        <p:nvSpPr>
          <p:cNvPr id="9" name="Text 7"/>
          <p:cNvSpPr/>
          <p:nvPr/>
        </p:nvSpPr>
        <p:spPr>
          <a:xfrm>
            <a:off x="4664521" y="2776141"/>
            <a:ext cx="2948846"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44"/>
                </a:solidFill>
                <a:latin typeface="Inter" pitchFamily="34" charset="0"/>
                <a:ea typeface="Inter" pitchFamily="34" charset="-122"/>
                <a:cs typeface="Inter" pitchFamily="34" charset="-120"/>
              </a:rPr>
              <a:t>Balanced channels</a:t>
            </a:r>
            <a:endParaRPr lang="en-US" sz="1600" dirty="0"/>
          </a:p>
        </p:txBody>
      </p:sp>
      <p:sp>
        <p:nvSpPr>
          <p:cNvPr id="10" name="Text 8"/>
          <p:cNvSpPr/>
          <p:nvPr/>
        </p:nvSpPr>
        <p:spPr>
          <a:xfrm>
            <a:off x="4664521" y="3121422"/>
            <a:ext cx="2948846"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44"/>
                </a:solidFill>
                <a:latin typeface="Inter" pitchFamily="34" charset="0"/>
                <a:ea typeface="Inter" pitchFamily="34" charset="-122"/>
                <a:cs typeface="Inter" pitchFamily="34" charset="-120"/>
              </a:rPr>
              <a:t>Older customers may prefer branches or phone support; younger ones expect digital. Neither can be neglected.</a:t>
            </a:r>
            <a:endParaRPr lang="en-US" sz="1300" dirty="0"/>
          </a:p>
        </p:txBody>
      </p:sp>
      <p:sp>
        <p:nvSpPr>
          <p:cNvPr id="11" name="Shape 9"/>
          <p:cNvSpPr/>
          <p:nvPr/>
        </p:nvSpPr>
        <p:spPr>
          <a:xfrm>
            <a:off x="7995741" y="2517378"/>
            <a:ext cx="3380358" cy="1787029"/>
          </a:xfrm>
          <a:prstGeom prst="roundRect">
            <a:avLst>
              <a:gd name="adj" fmla="val 5508"/>
            </a:avLst>
          </a:prstGeom>
          <a:solidFill>
            <a:srgbClr val="FFFDF9"/>
          </a:solidFill>
          <a:ln w="6350">
            <a:solidFill>
              <a:srgbClr val="E4DFD4"/>
            </a:solidFill>
            <a:prstDash val="solid"/>
          </a:ln>
        </p:spPr>
      </p:sp>
      <p:sp>
        <p:nvSpPr>
          <p:cNvPr id="12" name="Text 10"/>
          <p:cNvSpPr/>
          <p:nvPr/>
        </p:nvSpPr>
        <p:spPr>
          <a:xfrm>
            <a:off x="8254504" y="2776141"/>
            <a:ext cx="2948718"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44"/>
                </a:solidFill>
                <a:latin typeface="Inter" pitchFamily="34" charset="0"/>
                <a:ea typeface="Inter" pitchFamily="34" charset="-122"/>
                <a:cs typeface="Inter" pitchFamily="34" charset="-120"/>
              </a:rPr>
              <a:t>Vulnerable customers</a:t>
            </a:r>
            <a:endParaRPr lang="en-US" sz="1600" dirty="0"/>
          </a:p>
        </p:txBody>
      </p:sp>
      <p:sp>
        <p:nvSpPr>
          <p:cNvPr id="13" name="Text 11"/>
          <p:cNvSpPr/>
          <p:nvPr/>
        </p:nvSpPr>
        <p:spPr>
          <a:xfrm>
            <a:off x="8254504" y="3121422"/>
            <a:ext cx="2948718"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2A44"/>
                </a:solidFill>
                <a:latin typeface="Inter" pitchFamily="34" charset="0"/>
                <a:ea typeface="Inter" pitchFamily="34" charset="-122"/>
                <a:cs typeface="Inter" pitchFamily="34" charset="-120"/>
              </a:rPr>
              <a:t>Customers in their late 80s and 90s may need clear communication, accessible services and stronger fraud protection.</a:t>
            </a:r>
            <a:endParaRPr lang="en-US" sz="1300" dirty="0"/>
          </a:p>
        </p:txBody>
      </p:sp>
      <p:sp>
        <p:nvSpPr>
          <p:cNvPr id="14" name="Text 12"/>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9E"/>
                </a:solidFill>
                <a:latin typeface="Inter" pitchFamily="34" charset="0"/>
                <a:ea typeface="Inter" pitchFamily="34" charset="-122"/>
                <a:cs typeface="Inter" pitchFamily="34" charset="-120"/>
              </a:rPr>
              <a:t>AGE · IMPLICATIONS 7 AND 8</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A gap at the young end, and a clean variable</a:t>
            </a:r>
            <a:endParaRPr lang="en-US" sz="3200" dirty="0"/>
          </a:p>
        </p:txBody>
      </p:sp>
      <p:sp>
        <p:nvSpPr>
          <p:cNvPr id="4" name="Shape 2"/>
          <p:cNvSpPr/>
          <p:nvPr/>
        </p:nvSpPr>
        <p:spPr>
          <a:xfrm>
            <a:off x="815901" y="1933352"/>
            <a:ext cx="5175349" cy="2391767"/>
          </a:xfrm>
          <a:prstGeom prst="roundRect">
            <a:avLst>
              <a:gd name="adj" fmla="val 4115"/>
            </a:avLst>
          </a:prstGeom>
          <a:solidFill>
            <a:srgbClr val="FFFDF9"/>
          </a:solidFill>
          <a:ln w="6350">
            <a:solidFill>
              <a:srgbClr val="E4DFD4"/>
            </a:solidFill>
            <a:prstDash val="solid"/>
          </a:ln>
        </p:spPr>
      </p:sp>
      <p:sp>
        <p:nvSpPr>
          <p:cNvPr id="5" name="Text 3"/>
          <p:cNvSpPr/>
          <p:nvPr/>
        </p:nvSpPr>
        <p:spPr>
          <a:xfrm>
            <a:off x="1125389" y="224284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21A"/>
                </a:solidFill>
                <a:latin typeface="Inter" pitchFamily="34" charset="0"/>
                <a:ea typeface="Inter" pitchFamily="34" charset="-122"/>
                <a:cs typeface="Inter" pitchFamily="34" charset="-120"/>
              </a:rPr>
              <a:t>No customers under 23</a:t>
            </a:r>
            <a:endParaRPr lang="en-US" sz="1800" dirty="0"/>
          </a:p>
        </p:txBody>
      </p:sp>
      <p:sp>
        <p:nvSpPr>
          <p:cNvPr id="6" name="Text 4"/>
          <p:cNvSpPr/>
          <p:nvPr/>
        </p:nvSpPr>
        <p:spPr>
          <a:xfrm>
            <a:off x="1125389" y="2644056"/>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It may reflect eligibility rules, how the data were collected, or a genuine acquisition gap.</a:t>
            </a:r>
            <a:endParaRPr lang="en-US" sz="1400" dirty="0"/>
          </a:p>
        </p:txBody>
      </p:sp>
      <p:sp>
        <p:nvSpPr>
          <p:cNvPr id="7" name="Text 5"/>
          <p:cNvSpPr/>
          <p:nvPr/>
        </p:nvSpPr>
        <p:spPr>
          <a:xfrm>
            <a:off x="1125389" y="3268886"/>
            <a:ext cx="4693064" cy="77214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Customers acquired young tend to stay for years: student and first-job offers could help renew an ageing base.</a:t>
            </a:r>
            <a:endParaRPr lang="en-US" sz="1400" dirty="0"/>
          </a:p>
        </p:txBody>
      </p:sp>
      <p:sp>
        <p:nvSpPr>
          <p:cNvPr id="8" name="Shape 6"/>
          <p:cNvSpPr/>
          <p:nvPr/>
        </p:nvSpPr>
        <p:spPr>
          <a:xfrm>
            <a:off x="6200750" y="1933352"/>
            <a:ext cx="5175349" cy="2391767"/>
          </a:xfrm>
          <a:prstGeom prst="roundRect">
            <a:avLst>
              <a:gd name="adj" fmla="val 4115"/>
            </a:avLst>
          </a:prstGeom>
          <a:solidFill>
            <a:srgbClr val="FFFDF9"/>
          </a:solidFill>
          <a:ln w="6350">
            <a:solidFill>
              <a:srgbClr val="E4DFD4"/>
            </a:solidFill>
            <a:prstDash val="solid"/>
          </a:ln>
        </p:spPr>
      </p:sp>
      <p:sp>
        <p:nvSpPr>
          <p:cNvPr id="9" name="Text 7"/>
          <p:cNvSpPr/>
          <p:nvPr/>
        </p:nvSpPr>
        <p:spPr>
          <a:xfrm>
            <a:off x="6510238" y="224284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Age is clean and reliable</a:t>
            </a:r>
            <a:endParaRPr lang="en-US" sz="1800" dirty="0"/>
          </a:p>
        </p:txBody>
      </p:sp>
      <p:sp>
        <p:nvSpPr>
          <p:cNvPr id="10" name="Text 8"/>
          <p:cNvSpPr/>
          <p:nvPr/>
        </p:nvSpPr>
        <p:spPr>
          <a:xfrm>
            <a:off x="6510238" y="2644056"/>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No outliers: both extremes lie within about 2.5 standard deviations of the mean.</a:t>
            </a:r>
            <a:endParaRPr lang="en-US" sz="1400" dirty="0"/>
          </a:p>
        </p:txBody>
      </p:sp>
      <p:sp>
        <p:nvSpPr>
          <p:cNvPr id="11" name="Text 9"/>
          <p:cNvSpPr/>
          <p:nvPr/>
        </p:nvSpPr>
        <p:spPr>
          <a:xfrm>
            <a:off x="6510238" y="3268886"/>
            <a:ext cx="4693064" cy="77214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Symmetric shape: usable in reports and models without transformation, and a dependable basis for segmentation.</a:t>
            </a:r>
            <a:endParaRPr lang="en-US" sz="1400" dirty="0"/>
          </a:p>
        </p:txBody>
      </p:sp>
      <p:sp>
        <p:nvSpPr>
          <p:cNvPr id="12" name="Text 10"/>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E7560"/>
                </a:solidFill>
                <a:latin typeface="Inter" pitchFamily="34" charset="0"/>
                <a:ea typeface="Inter" pitchFamily="34" charset="-122"/>
                <a:cs typeface="Inter" pitchFamily="34" charset="-120"/>
              </a:rPr>
              <a:t>BALANCE</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Balance: many customers owe nothing</a:t>
            </a:r>
            <a:endParaRPr lang="en-US" sz="3200" dirty="0"/>
          </a:p>
        </p:txBody>
      </p:sp>
      <p:sp>
        <p:nvSpPr>
          <p:cNvPr id="4" name="Shape 2"/>
          <p:cNvSpPr/>
          <p:nvPr/>
        </p:nvSpPr>
        <p:spPr>
          <a:xfrm>
            <a:off x="815901" y="1933352"/>
            <a:ext cx="2482924" cy="2003078"/>
          </a:xfrm>
          <a:prstGeom prst="roundRect">
            <a:avLst>
              <a:gd name="adj" fmla="val 4914"/>
            </a:avLst>
          </a:prstGeom>
          <a:solidFill>
            <a:srgbClr val="FFFDF9"/>
          </a:solidFill>
          <a:ln w="6350">
            <a:solidFill>
              <a:srgbClr val="E4DFD4"/>
            </a:solidFill>
            <a:prstDash val="solid"/>
          </a:ln>
        </p:spPr>
      </p:sp>
      <p:sp>
        <p:nvSpPr>
          <p:cNvPr id="5" name="Text 3"/>
          <p:cNvSpPr/>
          <p:nvPr/>
        </p:nvSpPr>
        <p:spPr>
          <a:xfrm>
            <a:off x="107466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E7560"/>
                </a:solidFill>
                <a:latin typeface="Inter" pitchFamily="34" charset="0"/>
                <a:ea typeface="Inter" pitchFamily="34" charset="-122"/>
                <a:cs typeface="Inter" pitchFamily="34" charset="-120"/>
              </a:rPr>
              <a:t>$520</a:t>
            </a:r>
            <a:endParaRPr lang="en-US" sz="3600" dirty="0"/>
          </a:p>
        </p:txBody>
      </p:sp>
      <p:sp>
        <p:nvSpPr>
          <p:cNvPr id="6" name="Text 4"/>
          <p:cNvSpPr/>
          <p:nvPr/>
        </p:nvSpPr>
        <p:spPr>
          <a:xfrm>
            <a:off x="107466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Mean</a:t>
            </a:r>
            <a:endParaRPr lang="en-US" sz="1500" dirty="0"/>
          </a:p>
        </p:txBody>
      </p:sp>
      <p:sp>
        <p:nvSpPr>
          <p:cNvPr id="7" name="Text 5"/>
          <p:cNvSpPr/>
          <p:nvPr/>
        </p:nvSpPr>
        <p:spPr>
          <a:xfrm>
            <a:off x="1074663"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average card balance</a:t>
            </a:r>
            <a:endParaRPr lang="en-US" sz="1200" dirty="0"/>
          </a:p>
        </p:txBody>
      </p:sp>
      <p:sp>
        <p:nvSpPr>
          <p:cNvPr id="8" name="Shape 6"/>
          <p:cNvSpPr/>
          <p:nvPr/>
        </p:nvSpPr>
        <p:spPr>
          <a:xfrm>
            <a:off x="3508325" y="1933352"/>
            <a:ext cx="2482924" cy="2003078"/>
          </a:xfrm>
          <a:prstGeom prst="roundRect">
            <a:avLst>
              <a:gd name="adj" fmla="val 4914"/>
            </a:avLst>
          </a:prstGeom>
          <a:solidFill>
            <a:srgbClr val="FFFDF9"/>
          </a:solidFill>
          <a:ln w="6350">
            <a:solidFill>
              <a:srgbClr val="E4DFD4"/>
            </a:solidFill>
            <a:prstDash val="solid"/>
          </a:ln>
        </p:spPr>
      </p:sp>
      <p:sp>
        <p:nvSpPr>
          <p:cNvPr id="9" name="Text 7"/>
          <p:cNvSpPr/>
          <p:nvPr/>
        </p:nvSpPr>
        <p:spPr>
          <a:xfrm>
            <a:off x="376708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E7560"/>
                </a:solidFill>
                <a:latin typeface="Inter" pitchFamily="34" charset="0"/>
                <a:ea typeface="Inter" pitchFamily="34" charset="-122"/>
                <a:cs typeface="Inter" pitchFamily="34" charset="-120"/>
              </a:rPr>
              <a:t>$460</a:t>
            </a:r>
            <a:endParaRPr lang="en-US" sz="3600" dirty="0"/>
          </a:p>
        </p:txBody>
      </p:sp>
      <p:sp>
        <p:nvSpPr>
          <p:cNvPr id="10" name="Text 8"/>
          <p:cNvSpPr/>
          <p:nvPr/>
        </p:nvSpPr>
        <p:spPr>
          <a:xfrm>
            <a:off x="376708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Median</a:t>
            </a:r>
            <a:endParaRPr lang="en-US" sz="1500" dirty="0"/>
          </a:p>
        </p:txBody>
      </p:sp>
      <p:sp>
        <p:nvSpPr>
          <p:cNvPr id="11" name="Text 9"/>
          <p:cNvSpPr/>
          <p:nvPr/>
        </p:nvSpPr>
        <p:spPr>
          <a:xfrm>
            <a:off x="3767088"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slightly below the mean</a:t>
            </a:r>
            <a:endParaRPr lang="en-US" sz="1200" dirty="0"/>
          </a:p>
        </p:txBody>
      </p:sp>
      <p:sp>
        <p:nvSpPr>
          <p:cNvPr id="12" name="Shape 10"/>
          <p:cNvSpPr/>
          <p:nvPr/>
        </p:nvSpPr>
        <p:spPr>
          <a:xfrm>
            <a:off x="6200750" y="1933352"/>
            <a:ext cx="2482924" cy="2003078"/>
          </a:xfrm>
          <a:prstGeom prst="roundRect">
            <a:avLst>
              <a:gd name="adj" fmla="val 4914"/>
            </a:avLst>
          </a:prstGeom>
          <a:solidFill>
            <a:srgbClr val="FFFDF9"/>
          </a:solidFill>
          <a:ln w="6350">
            <a:solidFill>
              <a:srgbClr val="E4DFD4"/>
            </a:solidFill>
            <a:prstDash val="solid"/>
          </a:ln>
        </p:spPr>
      </p:sp>
      <p:sp>
        <p:nvSpPr>
          <p:cNvPr id="13" name="Text 11"/>
          <p:cNvSpPr/>
          <p:nvPr/>
        </p:nvSpPr>
        <p:spPr>
          <a:xfrm>
            <a:off x="6459513"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E7560"/>
                </a:solidFill>
                <a:latin typeface="Inter" pitchFamily="34" charset="0"/>
                <a:ea typeface="Inter" pitchFamily="34" charset="-122"/>
                <a:cs typeface="Inter" pitchFamily="34" charset="-120"/>
              </a:rPr>
              <a:t>$0</a:t>
            </a:r>
            <a:endParaRPr lang="en-US" sz="3600" dirty="0"/>
          </a:p>
        </p:txBody>
      </p:sp>
      <p:sp>
        <p:nvSpPr>
          <p:cNvPr id="14" name="Text 12"/>
          <p:cNvSpPr/>
          <p:nvPr/>
        </p:nvSpPr>
        <p:spPr>
          <a:xfrm>
            <a:off x="6459513"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Mode</a:t>
            </a:r>
            <a:endParaRPr lang="en-US" sz="1500" dirty="0"/>
          </a:p>
        </p:txBody>
      </p:sp>
      <p:sp>
        <p:nvSpPr>
          <p:cNvPr id="15" name="Text 13"/>
          <p:cNvSpPr/>
          <p:nvPr/>
        </p:nvSpPr>
        <p:spPr>
          <a:xfrm>
            <a:off x="6459513" y="3251026"/>
            <a:ext cx="20243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the most common value</a:t>
            </a:r>
            <a:endParaRPr lang="en-US" sz="1200" dirty="0"/>
          </a:p>
        </p:txBody>
      </p:sp>
      <p:sp>
        <p:nvSpPr>
          <p:cNvPr id="16" name="Shape 14"/>
          <p:cNvSpPr/>
          <p:nvPr/>
        </p:nvSpPr>
        <p:spPr>
          <a:xfrm>
            <a:off x="8893175" y="1933352"/>
            <a:ext cx="2482924" cy="2003078"/>
          </a:xfrm>
          <a:prstGeom prst="roundRect">
            <a:avLst>
              <a:gd name="adj" fmla="val 4914"/>
            </a:avLst>
          </a:prstGeom>
          <a:solidFill>
            <a:srgbClr val="FFFDF9"/>
          </a:solidFill>
          <a:ln w="6350">
            <a:solidFill>
              <a:srgbClr val="E4DFD4"/>
            </a:solidFill>
            <a:prstDash val="solid"/>
          </a:ln>
        </p:spPr>
      </p:sp>
      <p:sp>
        <p:nvSpPr>
          <p:cNvPr id="17" name="Text 15"/>
          <p:cNvSpPr/>
          <p:nvPr/>
        </p:nvSpPr>
        <p:spPr>
          <a:xfrm>
            <a:off x="9151938" y="2192114"/>
            <a:ext cx="2024361"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E7560"/>
                </a:solidFill>
                <a:latin typeface="Inter" pitchFamily="34" charset="0"/>
                <a:ea typeface="Inter" pitchFamily="34" charset="-122"/>
                <a:cs typeface="Inter" pitchFamily="34" charset="-120"/>
              </a:rPr>
              <a:t>0.58</a:t>
            </a:r>
            <a:endParaRPr lang="en-US" sz="3600" dirty="0"/>
          </a:p>
        </p:txBody>
      </p:sp>
      <p:sp>
        <p:nvSpPr>
          <p:cNvPr id="18" name="Text 16"/>
          <p:cNvSpPr/>
          <p:nvPr/>
        </p:nvSpPr>
        <p:spPr>
          <a:xfrm>
            <a:off x="9151938" y="2908226"/>
            <a:ext cx="2024361"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2A44"/>
                </a:solidFill>
                <a:latin typeface="Inter" pitchFamily="34" charset="0"/>
                <a:ea typeface="Inter" pitchFamily="34" charset="-122"/>
                <a:cs typeface="Inter" pitchFamily="34" charset="-120"/>
              </a:rPr>
              <a:t>Skewness</a:t>
            </a:r>
            <a:endParaRPr lang="en-US" sz="1500" dirty="0"/>
          </a:p>
        </p:txBody>
      </p:sp>
      <p:sp>
        <p:nvSpPr>
          <p:cNvPr id="19" name="Text 17"/>
          <p:cNvSpPr/>
          <p:nvPr/>
        </p:nvSpPr>
        <p:spPr>
          <a:xfrm>
            <a:off x="9151938" y="3251026"/>
            <a:ext cx="20243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a mild right tail</a:t>
            </a:r>
            <a:endParaRPr lang="en-US" sz="1200" dirty="0"/>
          </a:p>
        </p:txBody>
      </p:sp>
      <p:sp>
        <p:nvSpPr>
          <p:cNvPr id="20" name="Text 18"/>
          <p:cNvSpPr/>
          <p:nvPr/>
        </p:nvSpPr>
        <p:spPr>
          <a:xfrm>
            <a:off x="812726" y="4295180"/>
            <a:ext cx="10883545" cy="30978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44"/>
                </a:solidFill>
                <a:latin typeface="Inter" pitchFamily="34" charset="0"/>
                <a:ea typeface="Inter" pitchFamily="34" charset="-122"/>
                <a:cs typeface="Inter" pitchFamily="34" charset="-120"/>
              </a:rPr>
              <a:t>Two groups: </a:t>
            </a:r>
            <a:r>
              <a:rPr lang="en-US" sz="1600" b="1" dirty="0">
                <a:solidFill>
                  <a:srgbClr val="1F2A44"/>
                </a:solidFill>
                <a:latin typeface="Inter" pitchFamily="34" charset="0"/>
                <a:ea typeface="Inter" pitchFamily="34" charset="-122"/>
                <a:cs typeface="Inter" pitchFamily="34" charset="-120"/>
              </a:rPr>
              <a:t>a cluster of customers at zero</a:t>
            </a:r>
            <a:r>
              <a:rPr lang="en-US" sz="1600" dirty="0">
                <a:solidFill>
                  <a:srgbClr val="1F2A44"/>
                </a:solidFill>
                <a:latin typeface="Inter" pitchFamily="34" charset="0"/>
                <a:ea typeface="Inter" pitchFamily="34" charset="-122"/>
                <a:cs typeface="Inter" pitchFamily="34" charset="-120"/>
              </a:rPr>
              <a:t> and a wide spread of balances up to $1,999.</a:t>
            </a:r>
            <a:endParaRPr lang="en-US" sz="1600" dirty="0"/>
          </a:p>
        </p:txBody>
      </p:sp>
      <p:sp>
        <p:nvSpPr>
          <p:cNvPr id="21" name="Text 19"/>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E7560"/>
                </a:solidFill>
                <a:latin typeface="Inter" pitchFamily="34" charset="0"/>
                <a:ea typeface="Inter" pitchFamily="34" charset="-122"/>
                <a:cs typeface="Inter" pitchFamily="34" charset="-120"/>
              </a:rPr>
              <a:t>BALANCE · IMPLICATION 9</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Two groups call for different strategies</a:t>
            </a:r>
            <a:endParaRPr lang="en-US" sz="3200" dirty="0"/>
          </a:p>
        </p:txBody>
      </p:sp>
      <p:sp>
        <p:nvSpPr>
          <p:cNvPr id="4" name="Shape 2"/>
          <p:cNvSpPr/>
          <p:nvPr/>
        </p:nvSpPr>
        <p:spPr>
          <a:xfrm>
            <a:off x="815901" y="1882502"/>
            <a:ext cx="5175349" cy="1843088"/>
          </a:xfrm>
          <a:prstGeom prst="roundRect">
            <a:avLst>
              <a:gd name="adj" fmla="val 5340"/>
            </a:avLst>
          </a:prstGeom>
          <a:solidFill>
            <a:srgbClr val="FFFDF9"/>
          </a:solidFill>
          <a:ln w="6350">
            <a:solidFill>
              <a:srgbClr val="E4DFD4"/>
            </a:solidFill>
            <a:prstDash val="solid"/>
          </a:ln>
        </p:spPr>
      </p:sp>
      <p:sp>
        <p:nvSpPr>
          <p:cNvPr id="5" name="Text 3"/>
          <p:cNvSpPr/>
          <p:nvPr/>
        </p:nvSpPr>
        <p:spPr>
          <a:xfrm>
            <a:off x="1125389" y="219199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Zero-balance customers</a:t>
            </a:r>
            <a:endParaRPr lang="en-US" sz="1800" dirty="0"/>
          </a:p>
        </p:txBody>
      </p:sp>
      <p:sp>
        <p:nvSpPr>
          <p:cNvPr id="6" name="Text 4"/>
          <p:cNvSpPr/>
          <p:nvPr/>
        </p:nvSpPr>
        <p:spPr>
          <a:xfrm>
            <a:off x="1125389" y="2567781"/>
            <a:ext cx="4693064"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C68"/>
                </a:solidFill>
                <a:latin typeface="Inter" pitchFamily="34" charset="0"/>
                <a:ea typeface="Inter" pitchFamily="34" charset="-122"/>
                <a:cs typeface="Inter" pitchFamily="34" charset="-120"/>
              </a:rPr>
              <a:t>Pay in full each month or rarely use the card</a:t>
            </a:r>
            <a:endParaRPr lang="en-US" sz="1400" dirty="0"/>
          </a:p>
        </p:txBody>
      </p:sp>
      <p:sp>
        <p:nvSpPr>
          <p:cNvPr id="7" name="Text 5"/>
          <p:cNvSpPr/>
          <p:nvPr/>
        </p:nvSpPr>
        <p:spPr>
          <a:xfrm>
            <a:off x="1125389"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Little interest revenue: usage incentives and fee-based services fit them.</a:t>
            </a:r>
            <a:endParaRPr lang="en-US" sz="1400" dirty="0"/>
          </a:p>
        </p:txBody>
      </p:sp>
      <p:sp>
        <p:nvSpPr>
          <p:cNvPr id="8" name="Shape 6"/>
          <p:cNvSpPr/>
          <p:nvPr/>
        </p:nvSpPr>
        <p:spPr>
          <a:xfrm>
            <a:off x="6200750" y="1882502"/>
            <a:ext cx="5175349" cy="1843088"/>
          </a:xfrm>
          <a:prstGeom prst="roundRect">
            <a:avLst>
              <a:gd name="adj" fmla="val 5340"/>
            </a:avLst>
          </a:prstGeom>
          <a:solidFill>
            <a:srgbClr val="FFFDF9"/>
          </a:solidFill>
          <a:ln w="6350">
            <a:solidFill>
              <a:srgbClr val="E4DFD4"/>
            </a:solidFill>
            <a:prstDash val="solid"/>
          </a:ln>
        </p:spPr>
      </p:sp>
      <p:sp>
        <p:nvSpPr>
          <p:cNvPr id="9" name="Text 7"/>
          <p:cNvSpPr/>
          <p:nvPr/>
        </p:nvSpPr>
        <p:spPr>
          <a:xfrm>
            <a:off x="6510238" y="219199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7560"/>
                </a:solidFill>
                <a:latin typeface="Inter" pitchFamily="34" charset="0"/>
                <a:ea typeface="Inter" pitchFamily="34" charset="-122"/>
                <a:cs typeface="Inter" pitchFamily="34" charset="-120"/>
              </a:rPr>
              <a:t>Customers carrying a balance</a:t>
            </a:r>
            <a:endParaRPr lang="en-US" sz="1800" dirty="0"/>
          </a:p>
        </p:txBody>
      </p:sp>
      <p:sp>
        <p:nvSpPr>
          <p:cNvPr id="10" name="Text 8"/>
          <p:cNvSpPr/>
          <p:nvPr/>
        </p:nvSpPr>
        <p:spPr>
          <a:xfrm>
            <a:off x="6510238" y="2567781"/>
            <a:ext cx="4693064"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C68"/>
                </a:solidFill>
                <a:latin typeface="Inter" pitchFamily="34" charset="0"/>
                <a:ea typeface="Inter" pitchFamily="34" charset="-122"/>
                <a:cs typeface="Inter" pitchFamily="34" charset="-120"/>
              </a:rPr>
              <a:t>The source of interest income and credit risk</a:t>
            </a:r>
            <a:endParaRPr lang="en-US" sz="1400" dirty="0"/>
          </a:p>
        </p:txBody>
      </p:sp>
      <p:sp>
        <p:nvSpPr>
          <p:cNvPr id="11" name="Text 9"/>
          <p:cNvSpPr/>
          <p:nvPr/>
        </p:nvSpPr>
        <p:spPr>
          <a:xfrm>
            <a:off x="6510238"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Credit monitoring, instalment plans and responsible-lending checks.</a:t>
            </a:r>
            <a:endParaRPr lang="en-US" sz="1400" dirty="0"/>
          </a:p>
        </p:txBody>
      </p:sp>
      <p:sp>
        <p:nvSpPr>
          <p:cNvPr id="12" name="Shape 10"/>
          <p:cNvSpPr/>
          <p:nvPr/>
        </p:nvSpPr>
        <p:spPr>
          <a:xfrm>
            <a:off x="812726" y="4033490"/>
            <a:ext cx="10566549" cy="1325687"/>
          </a:xfrm>
          <a:prstGeom prst="roundRect">
            <a:avLst>
              <a:gd name="adj" fmla="val 3832"/>
            </a:avLst>
          </a:prstGeom>
          <a:solidFill>
            <a:srgbClr val="ECE7DC"/>
          </a:solidFill>
          <a:ln/>
        </p:spPr>
      </p:sp>
      <p:sp>
        <p:nvSpPr>
          <p:cNvPr id="13" name="Shape 11"/>
          <p:cNvSpPr/>
          <p:nvPr/>
        </p:nvSpPr>
        <p:spPr>
          <a:xfrm>
            <a:off x="812726" y="4033490"/>
            <a:ext cx="10566549" cy="1325687"/>
          </a:xfrm>
          <a:custGeom>
            <a:avLst/>
            <a:gdLst/>
            <a:ahLst/>
            <a:cxnLst/>
            <a:rect l="l" t="t" r="r" b="b"/>
            <a:pathLst>
              <a:path w="10566549" h="1325687">
                <a:moveTo>
                  <a:pt x="50800" y="1325687"/>
                </a:moveTo>
                <a:lnTo>
                  <a:pt x="50800" y="1325687"/>
                </a:lnTo>
                <a:arcTo wR="50800" hR="50800" stAng="5400000" swAng="5400000"/>
                <a:lnTo>
                  <a:pt x="0" y="50800"/>
                </a:lnTo>
                <a:arcTo wR="50800" hR="50800" stAng="10800000" swAng="5400000"/>
                <a:lnTo>
                  <a:pt x="50800" y="0"/>
                </a:lnTo>
                <a:lnTo>
                  <a:pt x="50800" y="1325687"/>
                </a:lnTo>
                <a:close/>
              </a:path>
            </a:pathLst>
          </a:custGeom>
          <a:solidFill>
            <a:srgbClr val="2E7560"/>
          </a:solidFill>
          <a:ln/>
        </p:spPr>
      </p:sp>
      <p:sp>
        <p:nvSpPr>
          <p:cNvPr id="14" name="Text 12"/>
          <p:cNvSpPr/>
          <p:nvPr/>
        </p:nvSpPr>
        <p:spPr>
          <a:xfrm>
            <a:off x="1165076" y="4287490"/>
            <a:ext cx="10206757"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44"/>
                </a:solidFill>
                <a:latin typeface="Inter" pitchFamily="34" charset="0"/>
                <a:ea typeface="Inter" pitchFamily="34" charset="-122"/>
                <a:cs typeface="Inter" pitchFamily="34" charset="-120"/>
              </a:rPr>
              <a:t>Hypothesis to test</a:t>
            </a:r>
            <a:endParaRPr lang="en-US" sz="1600" dirty="0"/>
          </a:p>
        </p:txBody>
      </p:sp>
      <p:sp>
        <p:nvSpPr>
          <p:cNvPr id="15" name="Text 13"/>
          <p:cNvSpPr/>
          <p:nvPr/>
        </p:nvSpPr>
        <p:spPr>
          <a:xfrm>
            <a:off x="1165076" y="4607347"/>
            <a:ext cx="10206757"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Balance may depend on income and credit limit. If high balances concentrate among low-income customers, affordability risk rises and needs closer monitoring.</a:t>
            </a:r>
            <a:endParaRPr lang="en-US" sz="1400" dirty="0"/>
          </a:p>
        </p:txBody>
      </p:sp>
      <p:sp>
        <p:nvSpPr>
          <p:cNvPr id="16" name="Text 14"/>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E7560"/>
                </a:solidFill>
                <a:latin typeface="Inter" pitchFamily="34" charset="0"/>
                <a:ea typeface="Inter" pitchFamily="34" charset="-122"/>
                <a:cs typeface="Inter" pitchFamily="34" charset="-120"/>
              </a:rPr>
              <a:t>BALANCE · IMPLICATIONS 10 AND 11</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Credit risk and data quality</a:t>
            </a:r>
            <a:endParaRPr lang="en-US" sz="3200" dirty="0"/>
          </a:p>
        </p:txBody>
      </p:sp>
      <p:sp>
        <p:nvSpPr>
          <p:cNvPr id="4" name="Shape 2"/>
          <p:cNvSpPr/>
          <p:nvPr/>
        </p:nvSpPr>
        <p:spPr>
          <a:xfrm>
            <a:off x="815901" y="1933352"/>
            <a:ext cx="5175349" cy="3057029"/>
          </a:xfrm>
          <a:prstGeom prst="roundRect">
            <a:avLst>
              <a:gd name="adj" fmla="val 3220"/>
            </a:avLst>
          </a:prstGeom>
          <a:solidFill>
            <a:srgbClr val="FFFDF9"/>
          </a:solidFill>
          <a:ln w="6350">
            <a:solidFill>
              <a:srgbClr val="E4DFD4"/>
            </a:solidFill>
            <a:prstDash val="solid"/>
          </a:ln>
        </p:spPr>
      </p:sp>
      <p:sp>
        <p:nvSpPr>
          <p:cNvPr id="5" name="Text 3"/>
          <p:cNvSpPr/>
          <p:nvPr/>
        </p:nvSpPr>
        <p:spPr>
          <a:xfrm>
            <a:off x="1125389" y="2242840"/>
            <a:ext cx="4693064" cy="57383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Watch the high end: credit risk</a:t>
            </a:r>
            <a:endParaRPr lang="en-US" sz="1800" dirty="0"/>
          </a:p>
        </p:txBody>
      </p:sp>
      <p:sp>
        <p:nvSpPr>
          <p:cNvPr id="6" name="Text 4"/>
          <p:cNvSpPr/>
          <p:nvPr/>
        </p:nvSpPr>
        <p:spPr>
          <a:xfrm>
            <a:off x="1125389" y="2918271"/>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The maximum of $1,999 lies about 3.2 standard deviations above the mean: a borderline outlier.</a:t>
            </a:r>
            <a:endParaRPr lang="en-US" sz="1400" dirty="0"/>
          </a:p>
        </p:txBody>
      </p:sp>
      <p:sp>
        <p:nvSpPr>
          <p:cNvPr id="7" name="Text 5"/>
          <p:cNvSpPr/>
          <p:nvPr/>
        </p:nvSpPr>
        <p:spPr>
          <a:xfrm>
            <a:off x="1125389" y="3543102"/>
            <a:ext cx="4693064" cy="10210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balance close to the credit limit can signal financial stress: comparing Balance with Limit shows how close each customer is to the maximum allowed.</a:t>
            </a:r>
            <a:endParaRPr lang="en-US" sz="1400" dirty="0"/>
          </a:p>
        </p:txBody>
      </p:sp>
      <p:sp>
        <p:nvSpPr>
          <p:cNvPr id="8" name="Shape 6"/>
          <p:cNvSpPr/>
          <p:nvPr/>
        </p:nvSpPr>
        <p:spPr>
          <a:xfrm>
            <a:off x="6200750" y="1933352"/>
            <a:ext cx="5175349" cy="3057029"/>
          </a:xfrm>
          <a:prstGeom prst="roundRect">
            <a:avLst>
              <a:gd name="adj" fmla="val 3220"/>
            </a:avLst>
          </a:prstGeom>
          <a:solidFill>
            <a:srgbClr val="FFFDF9"/>
          </a:solidFill>
          <a:ln w="6350">
            <a:solidFill>
              <a:srgbClr val="E4DFD4"/>
            </a:solidFill>
            <a:prstDash val="solid"/>
          </a:ln>
        </p:spPr>
      </p:sp>
      <p:sp>
        <p:nvSpPr>
          <p:cNvPr id="9" name="Text 7"/>
          <p:cNvSpPr/>
          <p:nvPr/>
        </p:nvSpPr>
        <p:spPr>
          <a:xfrm>
            <a:off x="6510238" y="2242840"/>
            <a:ext cx="4693064" cy="665361"/>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E7560"/>
                </a:solidFill>
                <a:latin typeface="Inter" pitchFamily="34" charset="0"/>
                <a:ea typeface="Inter" pitchFamily="34" charset="-122"/>
                <a:cs typeface="Inter" pitchFamily="34" charset="-120"/>
              </a:rPr>
              <a:t>$0</a:t>
            </a:r>
            <a:endParaRPr lang="en-US" sz="3600" dirty="0"/>
          </a:p>
        </p:txBody>
      </p:sp>
      <p:sp>
        <p:nvSpPr>
          <p:cNvPr id="10" name="Text 8"/>
          <p:cNvSpPr/>
          <p:nvPr/>
        </p:nvSpPr>
        <p:spPr>
          <a:xfrm>
            <a:off x="6510238" y="3009801"/>
            <a:ext cx="4693064" cy="573832"/>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7560"/>
                </a:solidFill>
                <a:latin typeface="Inter" pitchFamily="34" charset="0"/>
                <a:ea typeface="Inter" pitchFamily="34" charset="-122"/>
                <a:cs typeface="Inter" pitchFamily="34" charset="-120"/>
              </a:rPr>
              <a:t>Are the zeros real, or missing values?</a:t>
            </a:r>
            <a:endParaRPr lang="en-US" sz="1800" dirty="0"/>
          </a:p>
        </p:txBody>
      </p:sp>
      <p:sp>
        <p:nvSpPr>
          <p:cNvPr id="11" name="Text 9"/>
          <p:cNvSpPr/>
          <p:nvPr/>
        </p:nvSpPr>
        <p:spPr>
          <a:xfrm>
            <a:off x="6510238" y="3685232"/>
            <a:ext cx="4693064" cy="10210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Missing values recorded as 0 would distort every statistic. Verifying the zeros protects reports, models and credit decisions.</a:t>
            </a:r>
            <a:endParaRPr lang="en-US" sz="1400" dirty="0"/>
          </a:p>
        </p:txBody>
      </p:sp>
      <p:sp>
        <p:nvSpPr>
          <p:cNvPr id="12" name="Text 10"/>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E7560"/>
                </a:solidFill>
                <a:latin typeface="Inter" pitchFamily="34" charset="0"/>
                <a:ea typeface="Inter" pitchFamily="34" charset="-122"/>
                <a:cs typeface="Inter" pitchFamily="34" charset="-120"/>
              </a:rPr>
              <a:t>BALANCE · IMPLICATION 12</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Reporting and modelling the zeros</a:t>
            </a:r>
            <a:endParaRPr lang="en-US" sz="3200" dirty="0"/>
          </a:p>
        </p:txBody>
      </p:sp>
      <p:sp>
        <p:nvSpPr>
          <p:cNvPr id="4" name="Shape 2"/>
          <p:cNvSpPr/>
          <p:nvPr/>
        </p:nvSpPr>
        <p:spPr>
          <a:xfrm>
            <a:off x="815901" y="1933352"/>
            <a:ext cx="5175349" cy="2391767"/>
          </a:xfrm>
          <a:prstGeom prst="roundRect">
            <a:avLst>
              <a:gd name="adj" fmla="val 4115"/>
            </a:avLst>
          </a:prstGeom>
          <a:solidFill>
            <a:srgbClr val="FFFDF9"/>
          </a:solidFill>
          <a:ln w="6350">
            <a:solidFill>
              <a:srgbClr val="E4DFD4"/>
            </a:solidFill>
            <a:prstDash val="solid"/>
          </a:ln>
        </p:spPr>
      </p:sp>
      <p:sp>
        <p:nvSpPr>
          <p:cNvPr id="5" name="Text 3"/>
          <p:cNvSpPr/>
          <p:nvPr/>
        </p:nvSpPr>
        <p:spPr>
          <a:xfrm>
            <a:off x="1125389" y="224284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E7560"/>
                </a:solidFill>
                <a:latin typeface="Inter" pitchFamily="34" charset="0"/>
                <a:ea typeface="Inter" pitchFamily="34" charset="-122"/>
                <a:cs typeface="Inter" pitchFamily="34" charset="-120"/>
              </a:rPr>
              <a:t>Report the two groups separately</a:t>
            </a:r>
            <a:endParaRPr lang="en-US" sz="1800" dirty="0"/>
          </a:p>
        </p:txBody>
      </p:sp>
      <p:sp>
        <p:nvSpPr>
          <p:cNvPr id="6" name="Text 4"/>
          <p:cNvSpPr/>
          <p:nvPr/>
        </p:nvSpPr>
        <p:spPr>
          <a:xfrm>
            <a:off x="1125389" y="2644056"/>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One overall average mixes customers who owe nothing with those who do.</a:t>
            </a:r>
            <a:endParaRPr lang="en-US" sz="1400" dirty="0"/>
          </a:p>
        </p:txBody>
      </p:sp>
      <p:sp>
        <p:nvSpPr>
          <p:cNvPr id="7" name="Text 5"/>
          <p:cNvSpPr/>
          <p:nvPr/>
        </p:nvSpPr>
        <p:spPr>
          <a:xfrm>
            <a:off x="1125389" y="3268886"/>
            <a:ext cx="4693064" cy="77214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We count the zeros and describe customers with a positive balance on their own, for example with AVERAGEIF.</a:t>
            </a:r>
            <a:endParaRPr lang="en-US" sz="1400" dirty="0"/>
          </a:p>
        </p:txBody>
      </p:sp>
      <p:sp>
        <p:nvSpPr>
          <p:cNvPr id="8" name="Shape 6"/>
          <p:cNvSpPr/>
          <p:nvPr/>
        </p:nvSpPr>
        <p:spPr>
          <a:xfrm>
            <a:off x="6200750" y="1933352"/>
            <a:ext cx="5175349" cy="2391767"/>
          </a:xfrm>
          <a:prstGeom prst="roundRect">
            <a:avLst>
              <a:gd name="adj" fmla="val 4115"/>
            </a:avLst>
          </a:prstGeom>
          <a:solidFill>
            <a:srgbClr val="FFFDF9"/>
          </a:solidFill>
          <a:ln w="6350">
            <a:solidFill>
              <a:srgbClr val="E4DFD4"/>
            </a:solidFill>
            <a:prstDash val="solid"/>
          </a:ln>
        </p:spPr>
      </p:sp>
      <p:sp>
        <p:nvSpPr>
          <p:cNvPr id="9" name="Text 7"/>
          <p:cNvSpPr/>
          <p:nvPr/>
        </p:nvSpPr>
        <p:spPr>
          <a:xfrm>
            <a:off x="6510238" y="2242840"/>
            <a:ext cx="4693064"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5F9E"/>
                </a:solidFill>
                <a:latin typeface="Inter" pitchFamily="34" charset="0"/>
                <a:ea typeface="Inter" pitchFamily="34" charset="-122"/>
                <a:cs typeface="Inter" pitchFamily="34" charset="-120"/>
              </a:rPr>
              <a:t>Models must handle the zeros</a:t>
            </a:r>
            <a:endParaRPr lang="en-US" sz="1800" dirty="0"/>
          </a:p>
        </p:txBody>
      </p:sp>
      <p:sp>
        <p:nvSpPr>
          <p:cNvPr id="10" name="Text 8"/>
          <p:cNvSpPr/>
          <p:nvPr/>
        </p:nvSpPr>
        <p:spPr>
          <a:xfrm>
            <a:off x="6510238" y="2644056"/>
            <a:ext cx="4693064" cy="5232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plain linear regression may predict negative balances, which are impossible.</a:t>
            </a:r>
            <a:endParaRPr lang="en-US" sz="1400" dirty="0"/>
          </a:p>
        </p:txBody>
      </p:sp>
      <p:sp>
        <p:nvSpPr>
          <p:cNvPr id="11" name="Text 9"/>
          <p:cNvSpPr/>
          <p:nvPr/>
        </p:nvSpPr>
        <p:spPr>
          <a:xfrm>
            <a:off x="6510238" y="3268886"/>
            <a:ext cx="4693064" cy="77214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A two-part approach first predicts whether a customer carries a balance, then how much.</a:t>
            </a:r>
            <a:endParaRPr lang="en-US" sz="1400" dirty="0"/>
          </a:p>
        </p:txBody>
      </p:sp>
      <p:sp>
        <p:nvSpPr>
          <p:cNvPr id="12" name="Text 10"/>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521A"/>
                </a:solidFill>
                <a:latin typeface="Inter" pitchFamily="34" charset="0"/>
                <a:ea typeface="Inter" pitchFamily="34" charset="-122"/>
                <a:cs typeface="Inter" pitchFamily="34" charset="-120"/>
              </a:rPr>
              <a:t>PRECISION</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2A44"/>
                </a:solidFill>
                <a:latin typeface="Source Serif 4" pitchFamily="34" charset="0"/>
                <a:ea typeface="Source Serif 4" pitchFamily="34" charset="-122"/>
                <a:cs typeface="Source Serif 4" pitchFamily="34" charset="-120"/>
              </a:rPr>
              <a:t>How much can we trust the averages?</a:t>
            </a:r>
            <a:endParaRPr lang="en-US" sz="3200" dirty="0"/>
          </a:p>
        </p:txBody>
      </p:sp>
      <p:sp>
        <p:nvSpPr>
          <p:cNvPr id="4" name="Shape 2"/>
          <p:cNvSpPr/>
          <p:nvPr/>
        </p:nvSpPr>
        <p:spPr>
          <a:xfrm>
            <a:off x="815901" y="1933352"/>
            <a:ext cx="3380399" cy="2696728"/>
          </a:xfrm>
          <a:prstGeom prst="roundRect">
            <a:avLst>
              <a:gd name="adj" fmla="val 4107"/>
            </a:avLst>
          </a:prstGeom>
          <a:solidFill>
            <a:srgbClr val="FFFDF9"/>
          </a:solidFill>
          <a:ln w="6350">
            <a:solidFill>
              <a:srgbClr val="E4DFD4"/>
            </a:solidFill>
            <a:prstDash val="solid"/>
          </a:ln>
        </p:spPr>
      </p:sp>
      <p:sp>
        <p:nvSpPr>
          <p:cNvPr id="5" name="Text 3"/>
          <p:cNvSpPr/>
          <p:nvPr/>
        </p:nvSpPr>
        <p:spPr>
          <a:xfrm>
            <a:off x="1125389" y="2242840"/>
            <a:ext cx="2761423" cy="878805"/>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2F5F9E"/>
                </a:solidFill>
                <a:latin typeface="Inter" pitchFamily="34" charset="0"/>
                <a:ea typeface="Inter" pitchFamily="34" charset="-122"/>
                <a:cs typeface="Inter" pitchFamily="34" charset="-120"/>
              </a:rPr>
              <a:t>±3%</a:t>
            </a:r>
            <a:endParaRPr lang="en-US" sz="4800" dirty="0"/>
          </a:p>
        </p:txBody>
      </p:sp>
      <p:sp>
        <p:nvSpPr>
          <p:cNvPr id="6" name="Text 4"/>
          <p:cNvSpPr/>
          <p:nvPr/>
        </p:nvSpPr>
        <p:spPr>
          <a:xfrm>
            <a:off x="1125389" y="3172396"/>
            <a:ext cx="2761423"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Age</a:t>
            </a:r>
            <a:endParaRPr lang="en-US" sz="1800" dirty="0"/>
          </a:p>
        </p:txBody>
      </p:sp>
      <p:sp>
        <p:nvSpPr>
          <p:cNvPr id="7" name="Text 5"/>
          <p:cNvSpPr/>
          <p:nvPr/>
        </p:nvSpPr>
        <p:spPr>
          <a:xfrm>
            <a:off x="1125389" y="3522762"/>
            <a:ext cx="2761423" cy="80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±1.7 years on a mean of 55.7: estimated very precisely.</a:t>
            </a:r>
            <a:endParaRPr lang="en-US" sz="1400" dirty="0"/>
          </a:p>
        </p:txBody>
      </p:sp>
      <p:sp>
        <p:nvSpPr>
          <p:cNvPr id="8" name="Shape 6"/>
          <p:cNvSpPr/>
          <p:nvPr/>
        </p:nvSpPr>
        <p:spPr>
          <a:xfrm>
            <a:off x="4405800" y="1933352"/>
            <a:ext cx="3380399" cy="2696728"/>
          </a:xfrm>
          <a:prstGeom prst="roundRect">
            <a:avLst>
              <a:gd name="adj" fmla="val 4107"/>
            </a:avLst>
          </a:prstGeom>
          <a:solidFill>
            <a:srgbClr val="FFFDF9"/>
          </a:solidFill>
          <a:ln w="6350">
            <a:solidFill>
              <a:srgbClr val="E4DFD4"/>
            </a:solidFill>
            <a:prstDash val="solid"/>
          </a:ln>
        </p:spPr>
      </p:sp>
      <p:sp>
        <p:nvSpPr>
          <p:cNvPr id="9" name="Text 7"/>
          <p:cNvSpPr/>
          <p:nvPr/>
        </p:nvSpPr>
        <p:spPr>
          <a:xfrm>
            <a:off x="4715288" y="2242840"/>
            <a:ext cx="2761423" cy="878805"/>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A9521A"/>
                </a:solidFill>
                <a:latin typeface="Inter" pitchFamily="34" charset="0"/>
                <a:ea typeface="Inter" pitchFamily="34" charset="-122"/>
                <a:cs typeface="Inter" pitchFamily="34" charset="-120"/>
              </a:rPr>
              <a:t>±9%</a:t>
            </a:r>
            <a:endParaRPr lang="en-US" sz="4800" dirty="0"/>
          </a:p>
        </p:txBody>
      </p:sp>
      <p:sp>
        <p:nvSpPr>
          <p:cNvPr id="10" name="Text 8"/>
          <p:cNvSpPr/>
          <p:nvPr/>
        </p:nvSpPr>
        <p:spPr>
          <a:xfrm>
            <a:off x="4715288" y="3172396"/>
            <a:ext cx="2761423"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Income</a:t>
            </a:r>
            <a:endParaRPr lang="en-US" sz="1800" dirty="0"/>
          </a:p>
        </p:txBody>
      </p:sp>
      <p:sp>
        <p:nvSpPr>
          <p:cNvPr id="11" name="Text 9"/>
          <p:cNvSpPr/>
          <p:nvPr/>
        </p:nvSpPr>
        <p:spPr>
          <a:xfrm>
            <a:off x="4715288" y="3522762"/>
            <a:ext cx="2761423" cy="80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±$3,500 on a mean of $40,700: much less precise, because of high variability.</a:t>
            </a:r>
            <a:endParaRPr lang="en-US" sz="1400" dirty="0"/>
          </a:p>
        </p:txBody>
      </p:sp>
      <p:sp>
        <p:nvSpPr>
          <p:cNvPr id="50" name="Extra 0"/>
          <p:cNvSpPr/>
          <p:nvPr/>
        </p:nvSpPr>
        <p:spPr>
          <a:xfrm>
            <a:off x="7995699" y="1933352"/>
            <a:ext cx="3380399" cy="2696728"/>
          </a:xfrm>
          <a:prstGeom prst="roundRect">
            <a:avLst>
              <a:gd name="adj" fmla="val 4107"/>
            </a:avLst>
          </a:prstGeom>
          <a:solidFill>
            <a:srgbClr val="FFFDF9"/>
          </a:solidFill>
          <a:ln w="6350">
            <a:solidFill>
              <a:srgbClr val="E4DFD4"/>
            </a:solidFill>
            <a:prstDash val="solid"/>
          </a:ln>
        </p:spPr>
      </p:sp>
      <p:sp>
        <p:nvSpPr>
          <p:cNvPr id="51" name="Extra 1"/>
          <p:cNvSpPr/>
          <p:nvPr/>
        </p:nvSpPr>
        <p:spPr>
          <a:xfrm>
            <a:off x="8305187" y="2242840"/>
            <a:ext cx="2761423" cy="878805"/>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2E7560"/>
                </a:solidFill>
                <a:latin typeface="Inter" pitchFamily="34" charset="0"/>
                <a:ea typeface="Inter" pitchFamily="34" charset="-122"/>
                <a:cs typeface="Inter" pitchFamily="34" charset="-120"/>
              </a:rPr>
              <a:t>±9%</a:t>
            </a:r>
            <a:endParaRPr lang="en-US" sz="4800" dirty="0"/>
          </a:p>
        </p:txBody>
      </p:sp>
      <p:sp>
        <p:nvSpPr>
          <p:cNvPr id="52" name="Extra 2"/>
          <p:cNvSpPr/>
          <p:nvPr/>
        </p:nvSpPr>
        <p:spPr>
          <a:xfrm>
            <a:off x="8305187" y="3172396"/>
            <a:ext cx="2761423" cy="29961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2A44"/>
                </a:solidFill>
                <a:latin typeface="Inter" pitchFamily="34" charset="0"/>
                <a:ea typeface="Inter" pitchFamily="34" charset="-122"/>
                <a:cs typeface="Inter" pitchFamily="34" charset="-120"/>
              </a:rPr>
              <a:t>Balance</a:t>
            </a:r>
            <a:endParaRPr lang="en-US" sz="1800" dirty="0"/>
          </a:p>
        </p:txBody>
      </p:sp>
      <p:sp>
        <p:nvSpPr>
          <p:cNvPr id="53" name="Extra 3"/>
          <p:cNvSpPr/>
          <p:nvPr/>
        </p:nvSpPr>
        <p:spPr>
          <a:xfrm>
            <a:off x="8305187" y="3522762"/>
            <a:ext cx="2761423" cy="80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2A44"/>
                </a:solidFill>
                <a:latin typeface="Inter" pitchFamily="34" charset="0"/>
                <a:ea typeface="Inter" pitchFamily="34" charset="-122"/>
                <a:cs typeface="Inter" pitchFamily="34" charset="-120"/>
              </a:rPr>
              <a:t>±$45 on a mean of $520: moderate precision, limited by high variability.</a:t>
            </a:r>
            <a:endParaRPr lang="en-US" sz="1400" dirty="0"/>
          </a:p>
        </p:txBody>
      </p:sp>
      <p:sp>
        <p:nvSpPr>
          <p:cNvPr id="12" name="Text 10"/>
          <p:cNvSpPr/>
          <p:nvPr/>
        </p:nvSpPr>
        <p:spPr>
          <a:xfrm>
            <a:off x="812726" y="4968830"/>
            <a:ext cx="10883545"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2A44"/>
                </a:solidFill>
                <a:latin typeface="Inter" pitchFamily="34" charset="0"/>
                <a:ea typeface="Inter" pitchFamily="34" charset="-122"/>
                <a:cs typeface="Inter" pitchFamily="34" charset="-120"/>
              </a:rPr>
              <a:t>Relative margin of error = margin of error ÷ mean. Targets and forecasts based on average income or balance carry more uncertainty, and planning should reflect it.</a:t>
            </a:r>
            <a:endParaRPr lang="en-US" sz="1500" dirty="0"/>
          </a:p>
        </p:txBody>
      </p:sp>
      <p:sp>
        <p:nvSpPr>
          <p:cNvPr id="13" name="Text 11"/>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C68"/>
                </a:solidFill>
                <a:latin typeface="Inter" pitchFamily="34" charset="0"/>
                <a:ea typeface="Inter" pitchFamily="34" charset="-122"/>
                <a:cs typeface="Inter" pitchFamily="34" charset="-120"/>
              </a:rPr>
              <a:t>Credit dataset (ISLR) · 400 customers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F2A44"/>
        </a:solidFill>
        <a:effectLst/>
      </p:bgPr>
    </p:bg>
    <p:spTree>
      <p:nvGrpSpPr>
        <p:cNvPr id="1" name=""/>
        <p:cNvGrpSpPr/>
        <p:nvPr/>
      </p:nvGrpSpPr>
      <p:grpSpPr>
        <a:xfrm>
          <a:off x="0" y="0"/>
          <a:ext cx="0" cy="0"/>
          <a:chOff x="0" y="0"/>
          <a:chExt cx="0" cy="0"/>
        </a:xfrm>
      </p:grpSpPr>
      <p:sp>
        <p:nvSpPr>
          <p:cNvPr id="2" name="Text 0"/>
          <p:cNvSpPr/>
          <p:nvPr/>
        </p:nvSpPr>
        <p:spPr>
          <a:xfrm>
            <a:off x="812726" y="812726"/>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nter" pitchFamily="34" charset="0"/>
                <a:ea typeface="Inter" pitchFamily="34" charset="-122"/>
                <a:cs typeface="Inter" pitchFamily="34" charset="-120"/>
              </a:rPr>
              <a:t>NEXT STEPS</a:t>
            </a:r>
            <a:endParaRPr lang="en-US" sz="1200" dirty="0"/>
          </a:p>
        </p:txBody>
      </p:sp>
      <p:sp>
        <p:nvSpPr>
          <p:cNvPr id="3" name="Text 1"/>
          <p:cNvSpPr/>
          <p:nvPr/>
        </p:nvSpPr>
        <p:spPr>
          <a:xfrm>
            <a:off x="812726" y="1127621"/>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Study the variables together</a:t>
            </a:r>
            <a:endParaRPr lang="en-US" sz="3200" dirty="0"/>
          </a:p>
        </p:txBody>
      </p:sp>
      <p:sp>
        <p:nvSpPr>
          <p:cNvPr id="4" name="Shape 2"/>
          <p:cNvSpPr/>
          <p:nvPr/>
        </p:nvSpPr>
        <p:spPr>
          <a:xfrm>
            <a:off x="812726" y="1930177"/>
            <a:ext cx="3386708" cy="2305844"/>
          </a:xfrm>
          <a:prstGeom prst="roundRect">
            <a:avLst>
              <a:gd name="adj" fmla="val 4406"/>
            </a:avLst>
          </a:prstGeom>
          <a:solidFill>
            <a:srgbClr val="2A3654"/>
          </a:solidFill>
          <a:ln/>
        </p:spPr>
      </p:sp>
      <p:sp>
        <p:nvSpPr>
          <p:cNvPr id="5" name="Text 3"/>
          <p:cNvSpPr/>
          <p:nvPr/>
        </p:nvSpPr>
        <p:spPr>
          <a:xfrm>
            <a:off x="1066726" y="2184177"/>
            <a:ext cx="2965069" cy="452165"/>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60"/>
                </a:solidFill>
                <a:latin typeface="Inter" pitchFamily="34" charset="0"/>
                <a:ea typeface="Inter" pitchFamily="34" charset="-122"/>
                <a:cs typeface="Inter" pitchFamily="34" charset="-120"/>
              </a:rPr>
              <a:t>01</a:t>
            </a:r>
            <a:endParaRPr lang="en-US" sz="2400" dirty="0"/>
          </a:p>
        </p:txBody>
      </p:sp>
      <p:sp>
        <p:nvSpPr>
          <p:cNvPr id="6" name="Text 4"/>
          <p:cNvSpPr/>
          <p:nvPr/>
        </p:nvSpPr>
        <p:spPr>
          <a:xfrm>
            <a:off x="1066726" y="2712517"/>
            <a:ext cx="29650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F"/>
                </a:solidFill>
                <a:latin typeface="Inter" pitchFamily="34" charset="0"/>
                <a:ea typeface="Inter" pitchFamily="34" charset="-122"/>
                <a:cs typeface="Inter" pitchFamily="34" charset="-120"/>
              </a:rPr>
              <a:t>Relationship</a:t>
            </a:r>
            <a:endParaRPr lang="en-US" sz="1600" dirty="0"/>
          </a:p>
        </p:txBody>
      </p:sp>
      <p:sp>
        <p:nvSpPr>
          <p:cNvPr id="7" name="Text 5"/>
          <p:cNvSpPr/>
          <p:nvPr/>
        </p:nvSpPr>
        <p:spPr>
          <a:xfrm>
            <a:off x="1066726" y="3057798"/>
            <a:ext cx="2965069"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8E0"/>
                </a:solidFill>
                <a:latin typeface="Inter" pitchFamily="34" charset="0"/>
                <a:ea typeface="Inter" pitchFamily="34" charset="-122"/>
                <a:cs typeface="Inter" pitchFamily="34" charset="-120"/>
              </a:rPr>
              <a:t>Scatter plots and the correlation coefficient (from −1 to +1) show, for example, whether balance rises with income.</a:t>
            </a:r>
            <a:endParaRPr lang="en-US" sz="1300" dirty="0"/>
          </a:p>
        </p:txBody>
      </p:sp>
      <p:sp>
        <p:nvSpPr>
          <p:cNvPr id="8" name="Shape 6"/>
          <p:cNvSpPr/>
          <p:nvPr/>
        </p:nvSpPr>
        <p:spPr>
          <a:xfrm>
            <a:off x="4402584" y="1930177"/>
            <a:ext cx="3386832" cy="2305844"/>
          </a:xfrm>
          <a:prstGeom prst="roundRect">
            <a:avLst>
              <a:gd name="adj" fmla="val 4406"/>
            </a:avLst>
          </a:prstGeom>
          <a:solidFill>
            <a:srgbClr val="2A3654"/>
          </a:solidFill>
          <a:ln/>
        </p:spPr>
      </p:sp>
      <p:sp>
        <p:nvSpPr>
          <p:cNvPr id="9" name="Text 7"/>
          <p:cNvSpPr/>
          <p:nvPr/>
        </p:nvSpPr>
        <p:spPr>
          <a:xfrm>
            <a:off x="4656584" y="2184177"/>
            <a:ext cx="2965197" cy="452165"/>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60"/>
                </a:solidFill>
                <a:latin typeface="Inter" pitchFamily="34" charset="0"/>
                <a:ea typeface="Inter" pitchFamily="34" charset="-122"/>
                <a:cs typeface="Inter" pitchFamily="34" charset="-120"/>
              </a:rPr>
              <a:t>02</a:t>
            </a:r>
            <a:endParaRPr lang="en-US" sz="2400" dirty="0"/>
          </a:p>
        </p:txBody>
      </p:sp>
      <p:sp>
        <p:nvSpPr>
          <p:cNvPr id="10" name="Text 8"/>
          <p:cNvSpPr/>
          <p:nvPr/>
        </p:nvSpPr>
        <p:spPr>
          <a:xfrm>
            <a:off x="4656584" y="2712517"/>
            <a:ext cx="2965197"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F"/>
                </a:solidFill>
                <a:latin typeface="Inter" pitchFamily="34" charset="0"/>
                <a:ea typeface="Inter" pitchFamily="34" charset="-122"/>
                <a:cs typeface="Inter" pitchFamily="34" charset="-120"/>
              </a:rPr>
              <a:t>Age × income segments</a:t>
            </a:r>
            <a:endParaRPr lang="en-US" sz="1600" dirty="0"/>
          </a:p>
        </p:txBody>
      </p:sp>
      <p:sp>
        <p:nvSpPr>
          <p:cNvPr id="11" name="Text 9"/>
          <p:cNvSpPr/>
          <p:nvPr/>
        </p:nvSpPr>
        <p:spPr>
          <a:xfrm>
            <a:off x="4656584" y="3057798"/>
            <a:ext cx="2965197"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8E0"/>
                </a:solidFill>
                <a:latin typeface="Inter" pitchFamily="34" charset="0"/>
                <a:ea typeface="Inter" pitchFamily="34" charset="-122"/>
                <a:cs typeface="Inter" pitchFamily="34" charset="-120"/>
              </a:rPr>
              <a:t>A cross-table of age bands and income bands reveals combined groups, such as young high earners or older low-income customers.</a:t>
            </a:r>
            <a:endParaRPr lang="en-US" sz="1300" dirty="0"/>
          </a:p>
        </p:txBody>
      </p:sp>
      <p:sp>
        <p:nvSpPr>
          <p:cNvPr id="12" name="Shape 10"/>
          <p:cNvSpPr/>
          <p:nvPr/>
        </p:nvSpPr>
        <p:spPr>
          <a:xfrm>
            <a:off x="7992566" y="1930177"/>
            <a:ext cx="3386708" cy="2305844"/>
          </a:xfrm>
          <a:prstGeom prst="roundRect">
            <a:avLst>
              <a:gd name="adj" fmla="val 4406"/>
            </a:avLst>
          </a:prstGeom>
          <a:solidFill>
            <a:srgbClr val="2A3654"/>
          </a:solidFill>
          <a:ln/>
        </p:spPr>
      </p:sp>
      <p:sp>
        <p:nvSpPr>
          <p:cNvPr id="13" name="Text 11"/>
          <p:cNvSpPr/>
          <p:nvPr/>
        </p:nvSpPr>
        <p:spPr>
          <a:xfrm>
            <a:off x="8246566" y="2184177"/>
            <a:ext cx="2965069" cy="452165"/>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60"/>
                </a:solidFill>
                <a:latin typeface="Inter" pitchFamily="34" charset="0"/>
                <a:ea typeface="Inter" pitchFamily="34" charset="-122"/>
                <a:cs typeface="Inter" pitchFamily="34" charset="-120"/>
              </a:rPr>
              <a:t>03</a:t>
            </a:r>
            <a:endParaRPr lang="en-US" sz="2400" dirty="0"/>
          </a:p>
        </p:txBody>
      </p:sp>
      <p:sp>
        <p:nvSpPr>
          <p:cNvPr id="14" name="Text 12"/>
          <p:cNvSpPr/>
          <p:nvPr/>
        </p:nvSpPr>
        <p:spPr>
          <a:xfrm>
            <a:off x="8246566" y="2712517"/>
            <a:ext cx="2965069" cy="2691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F"/>
                </a:solidFill>
                <a:latin typeface="Inter" pitchFamily="34" charset="0"/>
                <a:ea typeface="Inter" pitchFamily="34" charset="-122"/>
                <a:cs typeface="Inter" pitchFamily="34" charset="-120"/>
              </a:rPr>
              <a:t>Link to outcomes</a:t>
            </a:r>
            <a:endParaRPr lang="en-US" sz="1600" dirty="0"/>
          </a:p>
        </p:txBody>
      </p:sp>
      <p:sp>
        <p:nvSpPr>
          <p:cNvPr id="15" name="Text 13"/>
          <p:cNvSpPr/>
          <p:nvPr/>
        </p:nvSpPr>
        <p:spPr>
          <a:xfrm>
            <a:off x="8246566" y="3057798"/>
            <a:ext cx="2965069" cy="949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8E0"/>
                </a:solidFill>
                <a:latin typeface="Inter" pitchFamily="34" charset="0"/>
                <a:ea typeface="Inter" pitchFamily="34" charset="-122"/>
                <a:cs typeface="Inter" pitchFamily="34" charset="-120"/>
              </a:rPr>
              <a:t>Adding balances, product holdings and credit behaviour turns who our customers are into which customers create value or risk.</a:t>
            </a:r>
            <a:endParaRPr lang="en-US" sz="1300" dirty="0"/>
          </a:p>
        </p:txBody>
      </p:sp>
      <p:sp>
        <p:nvSpPr>
          <p:cNvPr id="16" name="Text 14"/>
          <p:cNvSpPr/>
          <p:nvPr/>
        </p:nvSpPr>
        <p:spPr>
          <a:xfrm>
            <a:off x="812726" y="6238379"/>
            <a:ext cx="10883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1C2"/>
                </a:solidFill>
                <a:latin typeface="Inter" pitchFamily="34" charset="0"/>
                <a:ea typeface="Inter" pitchFamily="34" charset="-122"/>
                <a:cs typeface="Inter" pitchFamily="34" charset="-120"/>
              </a:rPr>
              <a:t>Credit dataset (ISLR) · 400 customers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1611</Words>
  <Application>Microsoft Office PowerPoint</Application>
  <PresentationFormat>Widescreen</PresentationFormat>
  <Paragraphs>153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Inter</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dataset: Business implications of Income, Age and Balance</dc:title>
  <dc:subject>PptxGenJS Presentation</dc:subject>
  <dc:creator>PptxGenJS</dc:creator>
  <cp:lastModifiedBy>Antonio Piemontese</cp:lastModifiedBy>
  <cp:revision>2</cp:revision>
  <dcterms:created xsi:type="dcterms:W3CDTF">2026-09-28T19:05:07Z</dcterms:created>
  <dcterms:modified xsi:type="dcterms:W3CDTF">2026-09-28T19:09:50Z</dcterms:modified>
</cp:coreProperties>
</file>