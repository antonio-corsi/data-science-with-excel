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0"/>
  </p:notesMasterIdLst>
  <p:sldIdLst>
    <p:sldId id="256" r:id="rId2"/>
    <p:sldId id="339" r:id="rId3"/>
    <p:sldId id="306" r:id="rId4"/>
    <p:sldId id="257" r:id="rId5"/>
    <p:sldId id="313" r:id="rId6"/>
    <p:sldId id="312" r:id="rId7"/>
    <p:sldId id="314" r:id="rId8"/>
    <p:sldId id="338" r:id="rId9"/>
    <p:sldId id="337" r:id="rId10"/>
    <p:sldId id="329" r:id="rId11"/>
    <p:sldId id="258" r:id="rId12"/>
    <p:sldId id="259" r:id="rId13"/>
    <p:sldId id="260" r:id="rId14"/>
    <p:sldId id="261" r:id="rId15"/>
    <p:sldId id="262" r:id="rId16"/>
    <p:sldId id="331" r:id="rId17"/>
    <p:sldId id="330" r:id="rId18"/>
    <p:sldId id="264" r:id="rId19"/>
    <p:sldId id="265" r:id="rId20"/>
    <p:sldId id="266" r:id="rId21"/>
    <p:sldId id="307" r:id="rId22"/>
    <p:sldId id="308" r:id="rId23"/>
    <p:sldId id="267" r:id="rId24"/>
    <p:sldId id="268" r:id="rId25"/>
    <p:sldId id="269" r:id="rId26"/>
    <p:sldId id="320" r:id="rId27"/>
    <p:sldId id="321" r:id="rId28"/>
    <p:sldId id="319" r:id="rId29"/>
    <p:sldId id="270" r:id="rId30"/>
    <p:sldId id="271" r:id="rId31"/>
    <p:sldId id="272" r:id="rId32"/>
    <p:sldId id="323" r:id="rId33"/>
    <p:sldId id="333" r:id="rId34"/>
    <p:sldId id="332" r:id="rId35"/>
    <p:sldId id="328" r:id="rId36"/>
    <p:sldId id="273" r:id="rId37"/>
    <p:sldId id="334" r:id="rId38"/>
    <p:sldId id="336" r:id="rId39"/>
    <p:sldId id="315" r:id="rId40"/>
    <p:sldId id="316" r:id="rId41"/>
    <p:sldId id="317" r:id="rId42"/>
    <p:sldId id="318" r:id="rId43"/>
    <p:sldId id="322"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325" r:id="rId63"/>
    <p:sldId id="326" r:id="rId64"/>
    <p:sldId id="327" r:id="rId65"/>
    <p:sldId id="292" r:id="rId66"/>
    <p:sldId id="293" r:id="rId67"/>
    <p:sldId id="294" r:id="rId68"/>
    <p:sldId id="295" r:id="rId69"/>
    <p:sldId id="296" r:id="rId70"/>
    <p:sldId id="297" r:id="rId71"/>
    <p:sldId id="298" r:id="rId72"/>
    <p:sldId id="299" r:id="rId73"/>
    <p:sldId id="300" r:id="rId74"/>
    <p:sldId id="301" r:id="rId75"/>
    <p:sldId id="302" r:id="rId76"/>
    <p:sldId id="303" r:id="rId77"/>
    <p:sldId id="304" r:id="rId78"/>
    <p:sldId id="305" r:id="rId7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0" autoAdjust="0"/>
    <p:restoredTop sz="94610"/>
  </p:normalViewPr>
  <p:slideViewPr>
    <p:cSldViewPr snapToGrid="0" snapToObjects="1">
      <p:cViewPr varScale="1">
        <p:scale>
          <a:sx n="107" d="100"/>
          <a:sy n="107" d="100"/>
        </p:scale>
        <p:origin x="46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388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06863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39A90-C7D9-064C-5144-0B0E267D5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8A308-6662-D78C-F1D0-C597885E8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9CCEA-B4E4-EBC9-0425-D4EAA777F6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FA2176-132E-F5F9-65B7-C3D2E9A762A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0563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64DF-016D-1F6A-9041-798A9E529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7948C-D2C0-4794-A298-DA670A402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9152F-DB7C-7410-542D-12109835A0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F2499-7C14-5A80-8BCB-9F674F94B6C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78142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E784A-2C4B-0F5B-B42A-22D40F817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30B94-1580-A489-9102-35316FCF9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DE320-7659-F736-A44A-238C904BC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EA11AD-BE19-4FDC-5A87-4E91EEAF2FA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10331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D8E4-AAED-8A29-D6F0-4C52C54FB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1E514-83FA-048D-601A-98A06AE7E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FE51F-88C6-9F12-9B8E-3216946F1D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1ECEEE-6096-E8EF-1B85-991D92938F3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00505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Translated and adapted from the user-provided slide.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1F33"/>
          </a:solidFill>
          <a:ln w="12700">
            <a:solidFill>
              <a:srgbClr val="0B1F33"/>
            </a:solidFill>
            <a:prstDash val="solid"/>
          </a:ln>
        </p:spPr>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4467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9356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17661111-5D27-4D6D-ACDF-B9256C39A6C2}" type="slidenum">
              <a:t>‹#›</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23506785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6903720" y="566928"/>
            <a:ext cx="4617720" cy="5440680"/>
          </a:xfrm>
          <a:prstGeom prst="roundRect">
            <a:avLst>
              <a:gd name="adj" fmla="val 1584"/>
            </a:avLst>
          </a:prstGeom>
          <a:solidFill>
            <a:srgbClr val="102A43"/>
          </a:solidFill>
          <a:ln w="13970">
            <a:solidFill>
              <a:srgbClr val="24445F"/>
            </a:solidFill>
            <a:prstDash val="solid"/>
          </a:ln>
        </p:spPr>
      </p:sp>
      <p:sp>
        <p:nvSpPr>
          <p:cNvPr id="4" name="Shape 2"/>
          <p:cNvSpPr/>
          <p:nvPr/>
        </p:nvSpPr>
        <p:spPr>
          <a:xfrm>
            <a:off x="7242048" y="932688"/>
            <a:ext cx="3977640" cy="2788920"/>
          </a:xfrm>
          <a:prstGeom prst="roundRect">
            <a:avLst>
              <a:gd name="adj" fmla="val 1639"/>
            </a:avLst>
          </a:prstGeom>
          <a:solidFill>
            <a:srgbClr val="FFFFFF"/>
          </a:solidFill>
          <a:ln w="10160">
            <a:solidFill>
              <a:srgbClr val="AEB8C5"/>
            </a:solidFill>
            <a:prstDash val="solid"/>
          </a:ln>
        </p:spPr>
      </p:sp>
      <p:sp>
        <p:nvSpPr>
          <p:cNvPr id="5" name="Shape 3"/>
          <p:cNvSpPr/>
          <p:nvPr/>
        </p:nvSpPr>
        <p:spPr>
          <a:xfrm>
            <a:off x="7242048" y="932688"/>
            <a:ext cx="3977640" cy="329184"/>
          </a:xfrm>
          <a:prstGeom prst="rect">
            <a:avLst/>
          </a:prstGeom>
          <a:solidFill>
            <a:srgbClr val="217346"/>
          </a:solidFill>
          <a:ln w="12700">
            <a:solidFill>
              <a:srgbClr val="217346"/>
            </a:solidFill>
            <a:prstDash val="solid"/>
          </a:ln>
        </p:spPr>
      </p:sp>
      <p:sp>
        <p:nvSpPr>
          <p:cNvPr id="6" name="Shape 4"/>
          <p:cNvSpPr/>
          <p:nvPr/>
        </p:nvSpPr>
        <p:spPr>
          <a:xfrm>
            <a:off x="7351776" y="978408"/>
            <a:ext cx="237744" cy="237744"/>
          </a:xfrm>
          <a:prstGeom prst="roundRect">
            <a:avLst>
              <a:gd name="adj" fmla="val 15385"/>
            </a:avLst>
          </a:prstGeom>
          <a:solidFill>
            <a:srgbClr val="217346"/>
          </a:solidFill>
          <a:ln w="12700">
            <a:solidFill>
              <a:srgbClr val="217346"/>
            </a:solidFill>
            <a:prstDash val="solid"/>
          </a:ln>
        </p:spPr>
      </p:sp>
      <p:sp>
        <p:nvSpPr>
          <p:cNvPr id="7" name="Text 5"/>
          <p:cNvSpPr/>
          <p:nvPr/>
        </p:nvSpPr>
        <p:spPr>
          <a:xfrm>
            <a:off x="7351776" y="987552"/>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8" name="Text 6"/>
          <p:cNvSpPr/>
          <p:nvPr/>
        </p:nvSpPr>
        <p:spPr>
          <a:xfrm>
            <a:off x="7662672" y="1005840"/>
            <a:ext cx="3447288" cy="182880"/>
          </a:xfrm>
          <a:prstGeom prst="rect">
            <a:avLst/>
          </a:prstGeom>
          <a:noFill/>
          <a:ln/>
        </p:spPr>
        <p:txBody>
          <a:bodyPr wrap="square" lIns="0" tIns="0" rIns="0" bIns="0" rtlCol="0" anchor="ctr"/>
          <a:lstStyle/>
          <a:p>
            <a:pPr marL="0" indent="0">
              <a:buNone/>
            </a:pPr>
            <a:r>
              <a:rPr lang="en-US" sz="950" b="1" dirty="0">
                <a:solidFill>
                  <a:srgbClr val="FFFFFF"/>
                </a:solidFill>
              </a:rPr>
              <a:t>Retail Banking EDA</a:t>
            </a:r>
            <a:endParaRPr lang="en-US" sz="950" dirty="0"/>
          </a:p>
        </p:txBody>
      </p:sp>
      <p:sp>
        <p:nvSpPr>
          <p:cNvPr id="9" name="Shape 7"/>
          <p:cNvSpPr/>
          <p:nvPr/>
        </p:nvSpPr>
        <p:spPr>
          <a:xfrm>
            <a:off x="7296912" y="1316736"/>
            <a:ext cx="3867912" cy="292608"/>
          </a:xfrm>
          <a:prstGeom prst="rect">
            <a:avLst/>
          </a:prstGeom>
          <a:solidFill>
            <a:srgbClr val="FAFCFD"/>
          </a:solidFill>
          <a:ln w="6350">
            <a:solidFill>
              <a:srgbClr val="D8E0EA"/>
            </a:solidFill>
            <a:prstDash val="solid"/>
          </a:ln>
        </p:spPr>
      </p:sp>
      <p:sp>
        <p:nvSpPr>
          <p:cNvPr id="10" name="Text 8"/>
          <p:cNvSpPr/>
          <p:nvPr/>
        </p:nvSpPr>
        <p:spPr>
          <a:xfrm>
            <a:off x="7351776" y="1380744"/>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1" name="Text 9"/>
          <p:cNvSpPr/>
          <p:nvPr/>
        </p:nvSpPr>
        <p:spPr>
          <a:xfrm>
            <a:off x="7607808" y="1371600"/>
            <a:ext cx="350215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=CORREL(Table1[Income],Table1[Balance])</a:t>
            </a:r>
            <a:endParaRPr lang="en-US" sz="880" dirty="0"/>
          </a:p>
        </p:txBody>
      </p:sp>
      <p:sp>
        <p:nvSpPr>
          <p:cNvPr id="12" name="Shape 10"/>
          <p:cNvSpPr/>
          <p:nvPr/>
        </p:nvSpPr>
        <p:spPr>
          <a:xfrm>
            <a:off x="7306056" y="1682496"/>
            <a:ext cx="962406" cy="327660"/>
          </a:xfrm>
          <a:prstGeom prst="rect">
            <a:avLst/>
          </a:prstGeom>
          <a:solidFill>
            <a:srgbClr val="E8F3EC"/>
          </a:solidFill>
          <a:ln w="5715">
            <a:solidFill>
              <a:srgbClr val="D8E0EA"/>
            </a:solidFill>
            <a:prstDash val="solid"/>
          </a:ln>
        </p:spPr>
      </p:sp>
      <p:sp>
        <p:nvSpPr>
          <p:cNvPr id="13" name="Text 11"/>
          <p:cNvSpPr/>
          <p:nvPr/>
        </p:nvSpPr>
        <p:spPr>
          <a:xfrm>
            <a:off x="7324344" y="1709928"/>
            <a:ext cx="925830" cy="291084"/>
          </a:xfrm>
          <a:prstGeom prst="rect">
            <a:avLst/>
          </a:prstGeom>
          <a:noFill/>
          <a:ln/>
        </p:spPr>
        <p:txBody>
          <a:bodyPr wrap="square" lIns="0" tIns="0" rIns="0" bIns="0" rtlCol="0" anchor="ctr">
            <a:normAutofit/>
          </a:bodyPr>
          <a:lstStyle/>
          <a:p>
            <a:pPr marL="0" indent="0">
              <a:buNone/>
            </a:pPr>
            <a:r>
              <a:rPr lang="en-US" sz="810" b="1" dirty="0">
                <a:solidFill>
                  <a:srgbClr val="0B1F33"/>
                </a:solidFill>
              </a:rPr>
              <a:t>ID</a:t>
            </a:r>
            <a:endParaRPr lang="en-US" sz="810" dirty="0"/>
          </a:p>
        </p:txBody>
      </p:sp>
      <p:sp>
        <p:nvSpPr>
          <p:cNvPr id="14" name="Shape 12"/>
          <p:cNvSpPr/>
          <p:nvPr/>
        </p:nvSpPr>
        <p:spPr>
          <a:xfrm>
            <a:off x="8268462" y="1682496"/>
            <a:ext cx="962406" cy="327660"/>
          </a:xfrm>
          <a:prstGeom prst="rect">
            <a:avLst/>
          </a:prstGeom>
          <a:solidFill>
            <a:srgbClr val="E8F3EC"/>
          </a:solidFill>
          <a:ln w="5715">
            <a:solidFill>
              <a:srgbClr val="D8E0EA"/>
            </a:solidFill>
            <a:prstDash val="solid"/>
          </a:ln>
        </p:spPr>
      </p:sp>
      <p:sp>
        <p:nvSpPr>
          <p:cNvPr id="15" name="Text 13"/>
          <p:cNvSpPr/>
          <p:nvPr/>
        </p:nvSpPr>
        <p:spPr>
          <a:xfrm>
            <a:off x="8286750" y="1709928"/>
            <a:ext cx="925830" cy="291084"/>
          </a:xfrm>
          <a:prstGeom prst="rect">
            <a:avLst/>
          </a:prstGeom>
          <a:noFill/>
          <a:ln/>
        </p:spPr>
        <p:txBody>
          <a:bodyPr wrap="square" lIns="0" tIns="0" rIns="0" bIns="0" rtlCol="0" anchor="ctr">
            <a:normAutofit/>
          </a:bodyPr>
          <a:lstStyle/>
          <a:p>
            <a:pPr marL="0" indent="0">
              <a:buNone/>
            </a:pPr>
            <a:r>
              <a:rPr lang="en-US" sz="810" b="1" dirty="0">
                <a:solidFill>
                  <a:srgbClr val="0B1F33"/>
                </a:solidFill>
              </a:rPr>
              <a:t>Age</a:t>
            </a:r>
            <a:endParaRPr lang="en-US" sz="810" dirty="0"/>
          </a:p>
        </p:txBody>
      </p:sp>
      <p:sp>
        <p:nvSpPr>
          <p:cNvPr id="16" name="Shape 14"/>
          <p:cNvSpPr/>
          <p:nvPr/>
        </p:nvSpPr>
        <p:spPr>
          <a:xfrm>
            <a:off x="9230868" y="1682496"/>
            <a:ext cx="962406" cy="327660"/>
          </a:xfrm>
          <a:prstGeom prst="rect">
            <a:avLst/>
          </a:prstGeom>
          <a:solidFill>
            <a:srgbClr val="E8F3EC"/>
          </a:solidFill>
          <a:ln w="5715">
            <a:solidFill>
              <a:srgbClr val="D8E0EA"/>
            </a:solidFill>
            <a:prstDash val="solid"/>
          </a:ln>
        </p:spPr>
      </p:sp>
      <p:sp>
        <p:nvSpPr>
          <p:cNvPr id="17" name="Text 15"/>
          <p:cNvSpPr/>
          <p:nvPr/>
        </p:nvSpPr>
        <p:spPr>
          <a:xfrm>
            <a:off x="9249156" y="1709928"/>
            <a:ext cx="925830" cy="291084"/>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18" name="Shape 16"/>
          <p:cNvSpPr/>
          <p:nvPr/>
        </p:nvSpPr>
        <p:spPr>
          <a:xfrm>
            <a:off x="10193274" y="1682496"/>
            <a:ext cx="962406" cy="327660"/>
          </a:xfrm>
          <a:prstGeom prst="rect">
            <a:avLst/>
          </a:prstGeom>
          <a:solidFill>
            <a:srgbClr val="E8F3EC"/>
          </a:solidFill>
          <a:ln w="5715">
            <a:solidFill>
              <a:srgbClr val="D8E0EA"/>
            </a:solidFill>
            <a:prstDash val="solid"/>
          </a:ln>
        </p:spPr>
      </p:sp>
      <p:sp>
        <p:nvSpPr>
          <p:cNvPr id="19" name="Text 17"/>
          <p:cNvSpPr/>
          <p:nvPr/>
        </p:nvSpPr>
        <p:spPr>
          <a:xfrm>
            <a:off x="10211562" y="1709928"/>
            <a:ext cx="925830" cy="291084"/>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0" name="Shape 18"/>
          <p:cNvSpPr/>
          <p:nvPr/>
        </p:nvSpPr>
        <p:spPr>
          <a:xfrm>
            <a:off x="7306056" y="2010156"/>
            <a:ext cx="962406" cy="327660"/>
          </a:xfrm>
          <a:prstGeom prst="rect">
            <a:avLst/>
          </a:prstGeom>
          <a:solidFill>
            <a:srgbClr val="FFFFFF"/>
          </a:solidFill>
          <a:ln w="5715">
            <a:solidFill>
              <a:srgbClr val="D8E0EA"/>
            </a:solidFill>
            <a:prstDash val="solid"/>
          </a:ln>
        </p:spPr>
      </p:sp>
      <p:sp>
        <p:nvSpPr>
          <p:cNvPr id="21" name="Text 19"/>
          <p:cNvSpPr/>
          <p:nvPr/>
        </p:nvSpPr>
        <p:spPr>
          <a:xfrm>
            <a:off x="7324344" y="203758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2" name="Shape 20"/>
          <p:cNvSpPr/>
          <p:nvPr/>
        </p:nvSpPr>
        <p:spPr>
          <a:xfrm>
            <a:off x="8268462" y="2010156"/>
            <a:ext cx="962406" cy="327660"/>
          </a:xfrm>
          <a:prstGeom prst="rect">
            <a:avLst/>
          </a:prstGeom>
          <a:solidFill>
            <a:srgbClr val="FFFFFF"/>
          </a:solidFill>
          <a:ln w="5715">
            <a:solidFill>
              <a:srgbClr val="D8E0EA"/>
            </a:solidFill>
            <a:prstDash val="solid"/>
          </a:ln>
        </p:spPr>
      </p:sp>
      <p:sp>
        <p:nvSpPr>
          <p:cNvPr id="23" name="Text 21"/>
          <p:cNvSpPr/>
          <p:nvPr/>
        </p:nvSpPr>
        <p:spPr>
          <a:xfrm>
            <a:off x="8286750" y="203758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42</a:t>
            </a:r>
            <a:endParaRPr lang="en-US" sz="780" dirty="0"/>
          </a:p>
        </p:txBody>
      </p:sp>
      <p:sp>
        <p:nvSpPr>
          <p:cNvPr id="24" name="Shape 22"/>
          <p:cNvSpPr/>
          <p:nvPr/>
        </p:nvSpPr>
        <p:spPr>
          <a:xfrm>
            <a:off x="9230868" y="2010156"/>
            <a:ext cx="962406" cy="327660"/>
          </a:xfrm>
          <a:prstGeom prst="rect">
            <a:avLst/>
          </a:prstGeom>
          <a:solidFill>
            <a:srgbClr val="FFFFFF"/>
          </a:solidFill>
          <a:ln w="5715">
            <a:solidFill>
              <a:srgbClr val="D8E0EA"/>
            </a:solidFill>
            <a:prstDash val="solid"/>
          </a:ln>
        </p:spPr>
      </p:sp>
      <p:sp>
        <p:nvSpPr>
          <p:cNvPr id="25" name="Text 23"/>
          <p:cNvSpPr/>
          <p:nvPr/>
        </p:nvSpPr>
        <p:spPr>
          <a:xfrm>
            <a:off x="9249156" y="203758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65k</a:t>
            </a:r>
            <a:endParaRPr lang="en-US" sz="780" dirty="0"/>
          </a:p>
        </p:txBody>
      </p:sp>
      <p:sp>
        <p:nvSpPr>
          <p:cNvPr id="26" name="Shape 24"/>
          <p:cNvSpPr/>
          <p:nvPr/>
        </p:nvSpPr>
        <p:spPr>
          <a:xfrm>
            <a:off x="10193274" y="2010156"/>
            <a:ext cx="962406" cy="327660"/>
          </a:xfrm>
          <a:prstGeom prst="rect">
            <a:avLst/>
          </a:prstGeom>
          <a:solidFill>
            <a:srgbClr val="FFFFFF"/>
          </a:solidFill>
          <a:ln w="5715">
            <a:solidFill>
              <a:srgbClr val="D8E0EA"/>
            </a:solidFill>
            <a:prstDash val="solid"/>
          </a:ln>
        </p:spPr>
      </p:sp>
      <p:sp>
        <p:nvSpPr>
          <p:cNvPr id="27" name="Text 25"/>
          <p:cNvSpPr/>
          <p:nvPr/>
        </p:nvSpPr>
        <p:spPr>
          <a:xfrm>
            <a:off x="10211562" y="203758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12.5k</a:t>
            </a:r>
            <a:endParaRPr lang="en-US" sz="780" dirty="0"/>
          </a:p>
        </p:txBody>
      </p:sp>
      <p:sp>
        <p:nvSpPr>
          <p:cNvPr id="28" name="Shape 26"/>
          <p:cNvSpPr/>
          <p:nvPr/>
        </p:nvSpPr>
        <p:spPr>
          <a:xfrm>
            <a:off x="7306056" y="2337816"/>
            <a:ext cx="962406" cy="327660"/>
          </a:xfrm>
          <a:prstGeom prst="rect">
            <a:avLst/>
          </a:prstGeom>
          <a:solidFill>
            <a:srgbClr val="FFFFFF"/>
          </a:solidFill>
          <a:ln w="5715">
            <a:solidFill>
              <a:srgbClr val="D8E0EA"/>
            </a:solidFill>
            <a:prstDash val="solid"/>
          </a:ln>
        </p:spPr>
      </p:sp>
      <p:sp>
        <p:nvSpPr>
          <p:cNvPr id="29" name="Text 27"/>
          <p:cNvSpPr/>
          <p:nvPr/>
        </p:nvSpPr>
        <p:spPr>
          <a:xfrm>
            <a:off x="7324344" y="236524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30" name="Shape 28"/>
          <p:cNvSpPr/>
          <p:nvPr/>
        </p:nvSpPr>
        <p:spPr>
          <a:xfrm>
            <a:off x="8268462" y="2337816"/>
            <a:ext cx="962406" cy="327660"/>
          </a:xfrm>
          <a:prstGeom prst="rect">
            <a:avLst/>
          </a:prstGeom>
          <a:solidFill>
            <a:srgbClr val="FFFFFF"/>
          </a:solidFill>
          <a:ln w="5715">
            <a:solidFill>
              <a:srgbClr val="D8E0EA"/>
            </a:solidFill>
            <a:prstDash val="solid"/>
          </a:ln>
        </p:spPr>
      </p:sp>
      <p:sp>
        <p:nvSpPr>
          <p:cNvPr id="31" name="Text 29"/>
          <p:cNvSpPr/>
          <p:nvPr/>
        </p:nvSpPr>
        <p:spPr>
          <a:xfrm>
            <a:off x="8286750" y="236524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35</a:t>
            </a:r>
            <a:endParaRPr lang="en-US" sz="780" dirty="0"/>
          </a:p>
        </p:txBody>
      </p:sp>
      <p:sp>
        <p:nvSpPr>
          <p:cNvPr id="32" name="Shape 30"/>
          <p:cNvSpPr/>
          <p:nvPr/>
        </p:nvSpPr>
        <p:spPr>
          <a:xfrm>
            <a:off x="9230868" y="2337816"/>
            <a:ext cx="962406" cy="327660"/>
          </a:xfrm>
          <a:prstGeom prst="rect">
            <a:avLst/>
          </a:prstGeom>
          <a:solidFill>
            <a:srgbClr val="FFFFFF"/>
          </a:solidFill>
          <a:ln w="5715">
            <a:solidFill>
              <a:srgbClr val="D8E0EA"/>
            </a:solidFill>
            <a:prstDash val="solid"/>
          </a:ln>
        </p:spPr>
      </p:sp>
      <p:sp>
        <p:nvSpPr>
          <p:cNvPr id="33" name="Text 31"/>
          <p:cNvSpPr/>
          <p:nvPr/>
        </p:nvSpPr>
        <p:spPr>
          <a:xfrm>
            <a:off x="9249156" y="236524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54k</a:t>
            </a:r>
            <a:endParaRPr lang="en-US" sz="780" dirty="0"/>
          </a:p>
        </p:txBody>
      </p:sp>
      <p:sp>
        <p:nvSpPr>
          <p:cNvPr id="34" name="Shape 32"/>
          <p:cNvSpPr/>
          <p:nvPr/>
        </p:nvSpPr>
        <p:spPr>
          <a:xfrm>
            <a:off x="10193274" y="2337816"/>
            <a:ext cx="962406" cy="327660"/>
          </a:xfrm>
          <a:prstGeom prst="rect">
            <a:avLst/>
          </a:prstGeom>
          <a:solidFill>
            <a:srgbClr val="FFFFFF"/>
          </a:solidFill>
          <a:ln w="5715">
            <a:solidFill>
              <a:srgbClr val="D8E0EA"/>
            </a:solidFill>
            <a:prstDash val="solid"/>
          </a:ln>
        </p:spPr>
      </p:sp>
      <p:sp>
        <p:nvSpPr>
          <p:cNvPr id="35" name="Text 33"/>
          <p:cNvSpPr/>
          <p:nvPr/>
        </p:nvSpPr>
        <p:spPr>
          <a:xfrm>
            <a:off x="10211562" y="236524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8.2k</a:t>
            </a:r>
            <a:endParaRPr lang="en-US" sz="780" dirty="0"/>
          </a:p>
        </p:txBody>
      </p:sp>
      <p:sp>
        <p:nvSpPr>
          <p:cNvPr id="36" name="Shape 34"/>
          <p:cNvSpPr/>
          <p:nvPr/>
        </p:nvSpPr>
        <p:spPr>
          <a:xfrm>
            <a:off x="7306056" y="2665476"/>
            <a:ext cx="962406" cy="327660"/>
          </a:xfrm>
          <a:prstGeom prst="rect">
            <a:avLst/>
          </a:prstGeom>
          <a:solidFill>
            <a:srgbClr val="FFFFFF"/>
          </a:solidFill>
          <a:ln w="5715">
            <a:solidFill>
              <a:srgbClr val="D8E0EA"/>
            </a:solidFill>
            <a:prstDash val="solid"/>
          </a:ln>
        </p:spPr>
      </p:sp>
      <p:sp>
        <p:nvSpPr>
          <p:cNvPr id="37" name="Text 35"/>
          <p:cNvSpPr/>
          <p:nvPr/>
        </p:nvSpPr>
        <p:spPr>
          <a:xfrm>
            <a:off x="7324344" y="269290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38" name="Shape 36"/>
          <p:cNvSpPr/>
          <p:nvPr/>
        </p:nvSpPr>
        <p:spPr>
          <a:xfrm>
            <a:off x="8268462" y="2665476"/>
            <a:ext cx="962406" cy="327660"/>
          </a:xfrm>
          <a:prstGeom prst="rect">
            <a:avLst/>
          </a:prstGeom>
          <a:solidFill>
            <a:srgbClr val="FFFFFF"/>
          </a:solidFill>
          <a:ln w="5715">
            <a:solidFill>
              <a:srgbClr val="D8E0EA"/>
            </a:solidFill>
            <a:prstDash val="solid"/>
          </a:ln>
        </p:spPr>
      </p:sp>
      <p:sp>
        <p:nvSpPr>
          <p:cNvPr id="39" name="Text 37"/>
          <p:cNvSpPr/>
          <p:nvPr/>
        </p:nvSpPr>
        <p:spPr>
          <a:xfrm>
            <a:off x="8286750" y="269290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61</a:t>
            </a:r>
            <a:endParaRPr lang="en-US" sz="780" dirty="0"/>
          </a:p>
        </p:txBody>
      </p:sp>
      <p:sp>
        <p:nvSpPr>
          <p:cNvPr id="40" name="Shape 38"/>
          <p:cNvSpPr/>
          <p:nvPr/>
        </p:nvSpPr>
        <p:spPr>
          <a:xfrm>
            <a:off x="9230868" y="2665476"/>
            <a:ext cx="962406" cy="327660"/>
          </a:xfrm>
          <a:prstGeom prst="rect">
            <a:avLst/>
          </a:prstGeom>
          <a:solidFill>
            <a:srgbClr val="FFFFFF"/>
          </a:solidFill>
          <a:ln w="5715">
            <a:solidFill>
              <a:srgbClr val="D8E0EA"/>
            </a:solidFill>
            <a:prstDash val="solid"/>
          </a:ln>
        </p:spPr>
      </p:sp>
      <p:sp>
        <p:nvSpPr>
          <p:cNvPr id="41" name="Text 39"/>
          <p:cNvSpPr/>
          <p:nvPr/>
        </p:nvSpPr>
        <p:spPr>
          <a:xfrm>
            <a:off x="9249156" y="269290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92k</a:t>
            </a:r>
            <a:endParaRPr lang="en-US" sz="780" dirty="0"/>
          </a:p>
        </p:txBody>
      </p:sp>
      <p:sp>
        <p:nvSpPr>
          <p:cNvPr id="42" name="Shape 40"/>
          <p:cNvSpPr/>
          <p:nvPr/>
        </p:nvSpPr>
        <p:spPr>
          <a:xfrm>
            <a:off x="10193274" y="2665476"/>
            <a:ext cx="962406" cy="327660"/>
          </a:xfrm>
          <a:prstGeom prst="rect">
            <a:avLst/>
          </a:prstGeom>
          <a:solidFill>
            <a:srgbClr val="FFFFFF"/>
          </a:solidFill>
          <a:ln w="5715">
            <a:solidFill>
              <a:srgbClr val="D8E0EA"/>
            </a:solidFill>
            <a:prstDash val="solid"/>
          </a:ln>
        </p:spPr>
      </p:sp>
      <p:sp>
        <p:nvSpPr>
          <p:cNvPr id="43" name="Text 41"/>
          <p:cNvSpPr/>
          <p:nvPr/>
        </p:nvSpPr>
        <p:spPr>
          <a:xfrm>
            <a:off x="10211562" y="269290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45.5k</a:t>
            </a:r>
            <a:endParaRPr lang="en-US" sz="780" dirty="0"/>
          </a:p>
        </p:txBody>
      </p:sp>
      <p:sp>
        <p:nvSpPr>
          <p:cNvPr id="44" name="Shape 42"/>
          <p:cNvSpPr/>
          <p:nvPr/>
        </p:nvSpPr>
        <p:spPr>
          <a:xfrm>
            <a:off x="7306056" y="2993136"/>
            <a:ext cx="962406" cy="327660"/>
          </a:xfrm>
          <a:prstGeom prst="rect">
            <a:avLst/>
          </a:prstGeom>
          <a:solidFill>
            <a:srgbClr val="FFFFFF"/>
          </a:solidFill>
          <a:ln w="5715">
            <a:solidFill>
              <a:srgbClr val="D8E0EA"/>
            </a:solidFill>
            <a:prstDash val="solid"/>
          </a:ln>
        </p:spPr>
      </p:sp>
      <p:sp>
        <p:nvSpPr>
          <p:cNvPr id="45" name="Text 43"/>
          <p:cNvSpPr/>
          <p:nvPr/>
        </p:nvSpPr>
        <p:spPr>
          <a:xfrm>
            <a:off x="7324344" y="302056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46" name="Shape 44"/>
          <p:cNvSpPr/>
          <p:nvPr/>
        </p:nvSpPr>
        <p:spPr>
          <a:xfrm>
            <a:off x="8268462" y="2993136"/>
            <a:ext cx="962406" cy="327660"/>
          </a:xfrm>
          <a:prstGeom prst="rect">
            <a:avLst/>
          </a:prstGeom>
          <a:solidFill>
            <a:srgbClr val="FFFFFF"/>
          </a:solidFill>
          <a:ln w="5715">
            <a:solidFill>
              <a:srgbClr val="D8E0EA"/>
            </a:solidFill>
            <a:prstDash val="solid"/>
          </a:ln>
        </p:spPr>
      </p:sp>
      <p:sp>
        <p:nvSpPr>
          <p:cNvPr id="47" name="Text 45"/>
          <p:cNvSpPr/>
          <p:nvPr/>
        </p:nvSpPr>
        <p:spPr>
          <a:xfrm>
            <a:off x="8286750" y="302056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29</a:t>
            </a:r>
            <a:endParaRPr lang="en-US" sz="780" dirty="0"/>
          </a:p>
        </p:txBody>
      </p:sp>
      <p:sp>
        <p:nvSpPr>
          <p:cNvPr id="48" name="Shape 46"/>
          <p:cNvSpPr/>
          <p:nvPr/>
        </p:nvSpPr>
        <p:spPr>
          <a:xfrm>
            <a:off x="9230868" y="2993136"/>
            <a:ext cx="962406" cy="327660"/>
          </a:xfrm>
          <a:prstGeom prst="rect">
            <a:avLst/>
          </a:prstGeom>
          <a:solidFill>
            <a:srgbClr val="FDECEC"/>
          </a:solidFill>
          <a:ln w="5715">
            <a:solidFill>
              <a:srgbClr val="D8E0EA"/>
            </a:solidFill>
            <a:prstDash val="solid"/>
          </a:ln>
        </p:spPr>
      </p:sp>
      <p:sp>
        <p:nvSpPr>
          <p:cNvPr id="49" name="Text 47"/>
          <p:cNvSpPr/>
          <p:nvPr/>
        </p:nvSpPr>
        <p:spPr>
          <a:xfrm>
            <a:off x="9249156" y="3020568"/>
            <a:ext cx="925830" cy="291084"/>
          </a:xfrm>
          <a:prstGeom prst="rect">
            <a:avLst/>
          </a:prstGeom>
          <a:noFill/>
          <a:ln/>
        </p:spPr>
        <p:txBody>
          <a:bodyPr wrap="square" lIns="0" tIns="0" rIns="0" bIns="0" rtlCol="0" anchor="ctr">
            <a:normAutofit/>
          </a:bodyPr>
          <a:lstStyle/>
          <a:p>
            <a:pPr marL="0" indent="0">
              <a:buNone/>
            </a:pPr>
            <a:endParaRPr lang="en-US" sz="780" dirty="0"/>
          </a:p>
        </p:txBody>
      </p:sp>
      <p:sp>
        <p:nvSpPr>
          <p:cNvPr id="50" name="Shape 48"/>
          <p:cNvSpPr/>
          <p:nvPr/>
        </p:nvSpPr>
        <p:spPr>
          <a:xfrm>
            <a:off x="10193274" y="2993136"/>
            <a:ext cx="962406" cy="327660"/>
          </a:xfrm>
          <a:prstGeom prst="rect">
            <a:avLst/>
          </a:prstGeom>
          <a:solidFill>
            <a:srgbClr val="FFFFFF"/>
          </a:solidFill>
          <a:ln w="5715">
            <a:solidFill>
              <a:srgbClr val="D8E0EA"/>
            </a:solidFill>
            <a:prstDash val="solid"/>
          </a:ln>
        </p:spPr>
      </p:sp>
      <p:sp>
        <p:nvSpPr>
          <p:cNvPr id="51" name="Text 49"/>
          <p:cNvSpPr/>
          <p:nvPr/>
        </p:nvSpPr>
        <p:spPr>
          <a:xfrm>
            <a:off x="10211562" y="302056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3.2k</a:t>
            </a:r>
            <a:endParaRPr lang="en-US" sz="780" dirty="0"/>
          </a:p>
        </p:txBody>
      </p:sp>
      <p:sp>
        <p:nvSpPr>
          <p:cNvPr id="52" name="Shape 50"/>
          <p:cNvSpPr/>
          <p:nvPr/>
        </p:nvSpPr>
        <p:spPr>
          <a:xfrm>
            <a:off x="7306056" y="3320796"/>
            <a:ext cx="962406" cy="327660"/>
          </a:xfrm>
          <a:prstGeom prst="rect">
            <a:avLst/>
          </a:prstGeom>
          <a:solidFill>
            <a:srgbClr val="FFFFFF"/>
          </a:solidFill>
          <a:ln w="5715">
            <a:solidFill>
              <a:srgbClr val="D8E0EA"/>
            </a:solidFill>
            <a:prstDash val="solid"/>
          </a:ln>
        </p:spPr>
      </p:sp>
      <p:sp>
        <p:nvSpPr>
          <p:cNvPr id="53" name="Text 51"/>
          <p:cNvSpPr/>
          <p:nvPr/>
        </p:nvSpPr>
        <p:spPr>
          <a:xfrm>
            <a:off x="7324344" y="334822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54" name="Shape 52"/>
          <p:cNvSpPr/>
          <p:nvPr/>
        </p:nvSpPr>
        <p:spPr>
          <a:xfrm>
            <a:off x="8268462" y="3320796"/>
            <a:ext cx="962406" cy="327660"/>
          </a:xfrm>
          <a:prstGeom prst="rect">
            <a:avLst/>
          </a:prstGeom>
          <a:solidFill>
            <a:srgbClr val="FFFFFF"/>
          </a:solidFill>
          <a:ln w="5715">
            <a:solidFill>
              <a:srgbClr val="D8E0EA"/>
            </a:solidFill>
            <a:prstDash val="solid"/>
          </a:ln>
        </p:spPr>
      </p:sp>
      <p:sp>
        <p:nvSpPr>
          <p:cNvPr id="55" name="Text 53"/>
          <p:cNvSpPr/>
          <p:nvPr/>
        </p:nvSpPr>
        <p:spPr>
          <a:xfrm>
            <a:off x="8286750" y="334822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47</a:t>
            </a:r>
            <a:endParaRPr lang="en-US" sz="780" dirty="0"/>
          </a:p>
        </p:txBody>
      </p:sp>
      <p:sp>
        <p:nvSpPr>
          <p:cNvPr id="56" name="Shape 54"/>
          <p:cNvSpPr/>
          <p:nvPr/>
        </p:nvSpPr>
        <p:spPr>
          <a:xfrm>
            <a:off x="9230868" y="3320796"/>
            <a:ext cx="962406" cy="327660"/>
          </a:xfrm>
          <a:prstGeom prst="rect">
            <a:avLst/>
          </a:prstGeom>
          <a:solidFill>
            <a:srgbClr val="FFFFFF"/>
          </a:solidFill>
          <a:ln w="5715">
            <a:solidFill>
              <a:srgbClr val="D8E0EA"/>
            </a:solidFill>
            <a:prstDash val="solid"/>
          </a:ln>
        </p:spPr>
      </p:sp>
      <p:sp>
        <p:nvSpPr>
          <p:cNvPr id="57" name="Text 55"/>
          <p:cNvSpPr/>
          <p:nvPr/>
        </p:nvSpPr>
        <p:spPr>
          <a:xfrm>
            <a:off x="9249156" y="334822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71k</a:t>
            </a:r>
            <a:endParaRPr lang="en-US" sz="780" dirty="0"/>
          </a:p>
        </p:txBody>
      </p:sp>
      <p:sp>
        <p:nvSpPr>
          <p:cNvPr id="58" name="Shape 56"/>
          <p:cNvSpPr/>
          <p:nvPr/>
        </p:nvSpPr>
        <p:spPr>
          <a:xfrm>
            <a:off x="10193274" y="3320796"/>
            <a:ext cx="962406" cy="327660"/>
          </a:xfrm>
          <a:prstGeom prst="rect">
            <a:avLst/>
          </a:prstGeom>
          <a:solidFill>
            <a:srgbClr val="FFF4E2"/>
          </a:solidFill>
          <a:ln w="5715">
            <a:solidFill>
              <a:srgbClr val="D8E0EA"/>
            </a:solidFill>
            <a:prstDash val="solid"/>
          </a:ln>
        </p:spPr>
      </p:sp>
      <p:sp>
        <p:nvSpPr>
          <p:cNvPr id="59" name="Text 57"/>
          <p:cNvSpPr/>
          <p:nvPr/>
        </p:nvSpPr>
        <p:spPr>
          <a:xfrm>
            <a:off x="10211562" y="3348228"/>
            <a:ext cx="925830" cy="291084"/>
          </a:xfrm>
          <a:prstGeom prst="rect">
            <a:avLst/>
          </a:prstGeom>
          <a:noFill/>
          <a:ln/>
        </p:spPr>
        <p:txBody>
          <a:bodyPr wrap="square" lIns="0" tIns="0" rIns="0" bIns="0" rtlCol="0" anchor="ctr">
            <a:normAutofit/>
          </a:bodyPr>
          <a:lstStyle/>
          <a:p>
            <a:pPr marL="0" indent="0">
              <a:buNone/>
            </a:pPr>
            <a:r>
              <a:rPr lang="en-US" sz="780" dirty="0">
                <a:solidFill>
                  <a:srgbClr val="26364A"/>
                </a:solidFill>
              </a:rPr>
              <a:t>165k</a:t>
            </a:r>
            <a:endParaRPr lang="en-US" sz="780" dirty="0"/>
          </a:p>
        </p:txBody>
      </p:sp>
      <p:sp>
        <p:nvSpPr>
          <p:cNvPr id="60" name="Shape 58"/>
          <p:cNvSpPr/>
          <p:nvPr/>
        </p:nvSpPr>
        <p:spPr>
          <a:xfrm>
            <a:off x="7452360" y="5413248"/>
            <a:ext cx="1508760" cy="0"/>
          </a:xfrm>
          <a:prstGeom prst="line">
            <a:avLst/>
          </a:prstGeom>
          <a:noFill/>
          <a:ln w="12700">
            <a:solidFill>
              <a:srgbClr val="AEB8C5"/>
            </a:solidFill>
            <a:prstDash val="solid"/>
          </a:ln>
        </p:spPr>
      </p:sp>
      <p:sp>
        <p:nvSpPr>
          <p:cNvPr id="61" name="Shape 59"/>
          <p:cNvSpPr/>
          <p:nvPr/>
        </p:nvSpPr>
        <p:spPr>
          <a:xfrm>
            <a:off x="7452360" y="4315968"/>
            <a:ext cx="0" cy="1097280"/>
          </a:xfrm>
          <a:prstGeom prst="line">
            <a:avLst/>
          </a:prstGeom>
          <a:noFill/>
          <a:ln w="12700">
            <a:solidFill>
              <a:srgbClr val="AEB8C5"/>
            </a:solidFill>
            <a:prstDash val="solid"/>
          </a:ln>
        </p:spPr>
      </p:sp>
      <p:sp>
        <p:nvSpPr>
          <p:cNvPr id="62" name="Text 60"/>
          <p:cNvSpPr/>
          <p:nvPr/>
        </p:nvSpPr>
        <p:spPr>
          <a:xfrm>
            <a:off x="7452360" y="4041648"/>
            <a:ext cx="1508760" cy="201168"/>
          </a:xfrm>
          <a:prstGeom prst="rect">
            <a:avLst/>
          </a:prstGeom>
          <a:noFill/>
          <a:ln/>
        </p:spPr>
        <p:txBody>
          <a:bodyPr wrap="square" lIns="0" tIns="0" rIns="0" bIns="0" rtlCol="0" anchor="ctr"/>
          <a:lstStyle/>
          <a:p>
            <a:pPr marL="0" indent="0" algn="ctr">
              <a:buNone/>
            </a:pPr>
            <a:r>
              <a:rPr lang="en-US" sz="1000" b="1" dirty="0">
                <a:solidFill>
                  <a:srgbClr val="0B1F33"/>
                </a:solidFill>
              </a:rPr>
              <a:t>Correlation</a:t>
            </a:r>
            <a:endParaRPr lang="en-US" sz="1000" dirty="0"/>
          </a:p>
        </p:txBody>
      </p:sp>
      <p:sp>
        <p:nvSpPr>
          <p:cNvPr id="63" name="Shape 61"/>
          <p:cNvSpPr/>
          <p:nvPr/>
        </p:nvSpPr>
        <p:spPr>
          <a:xfrm>
            <a:off x="7601407" y="5205679"/>
            <a:ext cx="64008" cy="64008"/>
          </a:xfrm>
          <a:prstGeom prst="ellipse">
            <a:avLst/>
          </a:prstGeom>
          <a:solidFill>
            <a:srgbClr val="39BFCB"/>
          </a:solidFill>
          <a:ln w="12700">
            <a:solidFill>
              <a:srgbClr val="39BFCB"/>
            </a:solidFill>
            <a:prstDash val="solid"/>
          </a:ln>
        </p:spPr>
      </p:sp>
      <p:sp>
        <p:nvSpPr>
          <p:cNvPr id="64" name="Shape 62"/>
          <p:cNvSpPr/>
          <p:nvPr/>
        </p:nvSpPr>
        <p:spPr>
          <a:xfrm>
            <a:off x="7752283" y="5139842"/>
            <a:ext cx="64008" cy="64008"/>
          </a:xfrm>
          <a:prstGeom prst="ellipse">
            <a:avLst/>
          </a:prstGeom>
          <a:solidFill>
            <a:srgbClr val="39BFCB"/>
          </a:solidFill>
          <a:ln w="12700">
            <a:solidFill>
              <a:srgbClr val="39BFCB"/>
            </a:solidFill>
            <a:prstDash val="solid"/>
          </a:ln>
        </p:spPr>
      </p:sp>
      <p:sp>
        <p:nvSpPr>
          <p:cNvPr id="65" name="Shape 63"/>
          <p:cNvSpPr/>
          <p:nvPr/>
        </p:nvSpPr>
        <p:spPr>
          <a:xfrm>
            <a:off x="7948422" y="5041087"/>
            <a:ext cx="64008" cy="64008"/>
          </a:xfrm>
          <a:prstGeom prst="ellipse">
            <a:avLst/>
          </a:prstGeom>
          <a:solidFill>
            <a:srgbClr val="39BFCB"/>
          </a:solidFill>
          <a:ln w="12700">
            <a:solidFill>
              <a:srgbClr val="39BFCB"/>
            </a:solidFill>
            <a:prstDash val="solid"/>
          </a:ln>
        </p:spPr>
      </p:sp>
      <p:sp>
        <p:nvSpPr>
          <p:cNvPr id="66" name="Shape 64"/>
          <p:cNvSpPr/>
          <p:nvPr/>
        </p:nvSpPr>
        <p:spPr>
          <a:xfrm>
            <a:off x="8204911" y="4876495"/>
            <a:ext cx="64008" cy="64008"/>
          </a:xfrm>
          <a:prstGeom prst="ellipse">
            <a:avLst/>
          </a:prstGeom>
          <a:solidFill>
            <a:srgbClr val="39BFCB"/>
          </a:solidFill>
          <a:ln w="12700">
            <a:solidFill>
              <a:srgbClr val="39BFCB"/>
            </a:solidFill>
            <a:prstDash val="solid"/>
          </a:ln>
        </p:spPr>
      </p:sp>
      <p:sp>
        <p:nvSpPr>
          <p:cNvPr id="67" name="Shape 65"/>
          <p:cNvSpPr/>
          <p:nvPr/>
        </p:nvSpPr>
        <p:spPr>
          <a:xfrm>
            <a:off x="8446313" y="4711903"/>
            <a:ext cx="64008" cy="64008"/>
          </a:xfrm>
          <a:prstGeom prst="ellipse">
            <a:avLst/>
          </a:prstGeom>
          <a:solidFill>
            <a:srgbClr val="39BFCB"/>
          </a:solidFill>
          <a:ln w="12700">
            <a:solidFill>
              <a:srgbClr val="39BFCB"/>
            </a:solidFill>
            <a:prstDash val="solid"/>
          </a:ln>
        </p:spPr>
      </p:sp>
      <p:sp>
        <p:nvSpPr>
          <p:cNvPr id="68" name="Shape 66"/>
          <p:cNvSpPr/>
          <p:nvPr/>
        </p:nvSpPr>
        <p:spPr>
          <a:xfrm>
            <a:off x="8687714" y="4525366"/>
            <a:ext cx="64008" cy="64008"/>
          </a:xfrm>
          <a:prstGeom prst="ellipse">
            <a:avLst/>
          </a:prstGeom>
          <a:solidFill>
            <a:srgbClr val="39BFCB"/>
          </a:solidFill>
          <a:ln w="12700">
            <a:solidFill>
              <a:srgbClr val="39BFCB"/>
            </a:solidFill>
            <a:prstDash val="solid"/>
          </a:ln>
        </p:spPr>
      </p:sp>
      <p:sp>
        <p:nvSpPr>
          <p:cNvPr id="69" name="Shape 67"/>
          <p:cNvSpPr/>
          <p:nvPr/>
        </p:nvSpPr>
        <p:spPr>
          <a:xfrm>
            <a:off x="9464040" y="5413248"/>
            <a:ext cx="1508760" cy="0"/>
          </a:xfrm>
          <a:prstGeom prst="line">
            <a:avLst/>
          </a:prstGeom>
          <a:noFill/>
          <a:ln w="12700">
            <a:solidFill>
              <a:srgbClr val="AEB8C5"/>
            </a:solidFill>
            <a:prstDash val="solid"/>
          </a:ln>
        </p:spPr>
      </p:sp>
      <p:sp>
        <p:nvSpPr>
          <p:cNvPr id="70" name="Shape 68"/>
          <p:cNvSpPr/>
          <p:nvPr/>
        </p:nvSpPr>
        <p:spPr>
          <a:xfrm>
            <a:off x="9464040" y="4315968"/>
            <a:ext cx="0" cy="1097280"/>
          </a:xfrm>
          <a:prstGeom prst="line">
            <a:avLst/>
          </a:prstGeom>
          <a:noFill/>
          <a:ln w="12700">
            <a:solidFill>
              <a:srgbClr val="AEB8C5"/>
            </a:solidFill>
            <a:prstDash val="solid"/>
          </a:ln>
        </p:spPr>
      </p:sp>
      <p:sp>
        <p:nvSpPr>
          <p:cNvPr id="71" name="Shape 69"/>
          <p:cNvSpPr/>
          <p:nvPr/>
        </p:nvSpPr>
        <p:spPr>
          <a:xfrm>
            <a:off x="9482328" y="5276088"/>
            <a:ext cx="131064" cy="137160"/>
          </a:xfrm>
          <a:prstGeom prst="rect">
            <a:avLst/>
          </a:prstGeom>
          <a:solidFill>
            <a:srgbClr val="2DAA74">
              <a:alpha val="85000"/>
            </a:srgbClr>
          </a:solidFill>
          <a:ln w="6350">
            <a:solidFill>
              <a:srgbClr val="2DAA74">
                <a:alpha val="85000"/>
              </a:srgbClr>
            </a:solidFill>
            <a:prstDash val="solid"/>
          </a:ln>
        </p:spPr>
      </p:sp>
      <p:sp>
        <p:nvSpPr>
          <p:cNvPr id="72" name="Shape 70"/>
          <p:cNvSpPr/>
          <p:nvPr/>
        </p:nvSpPr>
        <p:spPr>
          <a:xfrm>
            <a:off x="9649968" y="5138928"/>
            <a:ext cx="131064" cy="274320"/>
          </a:xfrm>
          <a:prstGeom prst="rect">
            <a:avLst/>
          </a:prstGeom>
          <a:solidFill>
            <a:srgbClr val="2DAA74">
              <a:alpha val="85000"/>
            </a:srgbClr>
          </a:solidFill>
          <a:ln w="6350">
            <a:solidFill>
              <a:srgbClr val="2DAA74">
                <a:alpha val="85000"/>
              </a:srgbClr>
            </a:solidFill>
            <a:prstDash val="solid"/>
          </a:ln>
        </p:spPr>
      </p:sp>
      <p:sp>
        <p:nvSpPr>
          <p:cNvPr id="73" name="Shape 71"/>
          <p:cNvSpPr/>
          <p:nvPr/>
        </p:nvSpPr>
        <p:spPr>
          <a:xfrm>
            <a:off x="9817608" y="4864608"/>
            <a:ext cx="131064" cy="548640"/>
          </a:xfrm>
          <a:prstGeom prst="rect">
            <a:avLst/>
          </a:prstGeom>
          <a:solidFill>
            <a:srgbClr val="2DAA74">
              <a:alpha val="85000"/>
            </a:srgbClr>
          </a:solidFill>
          <a:ln w="6350">
            <a:solidFill>
              <a:srgbClr val="2DAA74">
                <a:alpha val="85000"/>
              </a:srgbClr>
            </a:solidFill>
            <a:prstDash val="solid"/>
          </a:ln>
        </p:spPr>
      </p:sp>
      <p:sp>
        <p:nvSpPr>
          <p:cNvPr id="74" name="Shape 72"/>
          <p:cNvSpPr/>
          <p:nvPr/>
        </p:nvSpPr>
        <p:spPr>
          <a:xfrm>
            <a:off x="9985248" y="4590288"/>
            <a:ext cx="131064" cy="822960"/>
          </a:xfrm>
          <a:prstGeom prst="rect">
            <a:avLst/>
          </a:prstGeom>
          <a:solidFill>
            <a:srgbClr val="2DAA74">
              <a:alpha val="85000"/>
            </a:srgbClr>
          </a:solidFill>
          <a:ln w="6350">
            <a:solidFill>
              <a:srgbClr val="2DAA74">
                <a:alpha val="85000"/>
              </a:srgbClr>
            </a:solidFill>
            <a:prstDash val="solid"/>
          </a:ln>
        </p:spPr>
      </p:sp>
      <p:sp>
        <p:nvSpPr>
          <p:cNvPr id="75" name="Shape 73"/>
          <p:cNvSpPr/>
          <p:nvPr/>
        </p:nvSpPr>
        <p:spPr>
          <a:xfrm>
            <a:off x="10152888" y="4315968"/>
            <a:ext cx="131064" cy="1097280"/>
          </a:xfrm>
          <a:prstGeom prst="rect">
            <a:avLst/>
          </a:prstGeom>
          <a:solidFill>
            <a:srgbClr val="2DAA74">
              <a:alpha val="85000"/>
            </a:srgbClr>
          </a:solidFill>
          <a:ln w="6350">
            <a:solidFill>
              <a:srgbClr val="2DAA74">
                <a:alpha val="85000"/>
              </a:srgbClr>
            </a:solidFill>
            <a:prstDash val="solid"/>
          </a:ln>
        </p:spPr>
      </p:sp>
      <p:sp>
        <p:nvSpPr>
          <p:cNvPr id="76" name="Shape 74"/>
          <p:cNvSpPr/>
          <p:nvPr/>
        </p:nvSpPr>
        <p:spPr>
          <a:xfrm>
            <a:off x="10320528" y="4453128"/>
            <a:ext cx="131064" cy="960120"/>
          </a:xfrm>
          <a:prstGeom prst="rect">
            <a:avLst/>
          </a:prstGeom>
          <a:solidFill>
            <a:srgbClr val="2DAA74">
              <a:alpha val="85000"/>
            </a:srgbClr>
          </a:solidFill>
          <a:ln w="6350">
            <a:solidFill>
              <a:srgbClr val="2DAA74">
                <a:alpha val="85000"/>
              </a:srgbClr>
            </a:solidFill>
            <a:prstDash val="solid"/>
          </a:ln>
        </p:spPr>
      </p:sp>
      <p:sp>
        <p:nvSpPr>
          <p:cNvPr id="77" name="Shape 75"/>
          <p:cNvSpPr/>
          <p:nvPr/>
        </p:nvSpPr>
        <p:spPr>
          <a:xfrm>
            <a:off x="10488168" y="4727448"/>
            <a:ext cx="131064" cy="685800"/>
          </a:xfrm>
          <a:prstGeom prst="rect">
            <a:avLst/>
          </a:prstGeom>
          <a:solidFill>
            <a:srgbClr val="2DAA74">
              <a:alpha val="85000"/>
            </a:srgbClr>
          </a:solidFill>
          <a:ln w="6350">
            <a:solidFill>
              <a:srgbClr val="2DAA74">
                <a:alpha val="85000"/>
              </a:srgbClr>
            </a:solidFill>
            <a:prstDash val="solid"/>
          </a:ln>
        </p:spPr>
      </p:sp>
      <p:sp>
        <p:nvSpPr>
          <p:cNvPr id="78" name="Shape 76"/>
          <p:cNvSpPr/>
          <p:nvPr/>
        </p:nvSpPr>
        <p:spPr>
          <a:xfrm>
            <a:off x="10655808" y="5001768"/>
            <a:ext cx="131064" cy="411480"/>
          </a:xfrm>
          <a:prstGeom prst="rect">
            <a:avLst/>
          </a:prstGeom>
          <a:solidFill>
            <a:srgbClr val="2DAA74">
              <a:alpha val="85000"/>
            </a:srgbClr>
          </a:solidFill>
          <a:ln w="6350">
            <a:solidFill>
              <a:srgbClr val="2DAA74">
                <a:alpha val="85000"/>
              </a:srgbClr>
            </a:solidFill>
            <a:prstDash val="solid"/>
          </a:ln>
        </p:spPr>
      </p:sp>
      <p:sp>
        <p:nvSpPr>
          <p:cNvPr id="79" name="Shape 77"/>
          <p:cNvSpPr/>
          <p:nvPr/>
        </p:nvSpPr>
        <p:spPr>
          <a:xfrm>
            <a:off x="10823448" y="5138928"/>
            <a:ext cx="131064" cy="274320"/>
          </a:xfrm>
          <a:prstGeom prst="rect">
            <a:avLst/>
          </a:prstGeom>
          <a:solidFill>
            <a:srgbClr val="2DAA74">
              <a:alpha val="85000"/>
            </a:srgbClr>
          </a:solidFill>
          <a:ln w="6350">
            <a:solidFill>
              <a:srgbClr val="2DAA74">
                <a:alpha val="85000"/>
              </a:srgbClr>
            </a:solidFill>
            <a:prstDash val="solid"/>
          </a:ln>
        </p:spPr>
      </p:sp>
      <p:sp>
        <p:nvSpPr>
          <p:cNvPr id="80" name="Text 78"/>
          <p:cNvSpPr/>
          <p:nvPr/>
        </p:nvSpPr>
        <p:spPr>
          <a:xfrm>
            <a:off x="658368" y="1097280"/>
            <a:ext cx="5715000" cy="132588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DATA SCIENCE</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WITH EXCEL</a:t>
            </a:r>
            <a:endParaRPr lang="en-US" sz="3100" dirty="0"/>
          </a:p>
        </p:txBody>
      </p:sp>
      <p:sp>
        <p:nvSpPr>
          <p:cNvPr id="81" name="Text 79"/>
          <p:cNvSpPr/>
          <p:nvPr/>
        </p:nvSpPr>
        <p:spPr>
          <a:xfrm>
            <a:off x="676656" y="2615184"/>
            <a:ext cx="5486400" cy="502920"/>
          </a:xfrm>
          <a:prstGeom prst="rect">
            <a:avLst/>
          </a:prstGeom>
          <a:noFill/>
          <a:ln/>
        </p:spPr>
        <p:txBody>
          <a:bodyPr wrap="square" lIns="0" tIns="0" rIns="0" bIns="0" rtlCol="0" anchor="ctr">
            <a:normAutofit/>
          </a:bodyPr>
          <a:lstStyle/>
          <a:p>
            <a:pPr marL="0" indent="0">
              <a:buNone/>
            </a:pPr>
            <a:r>
              <a:rPr lang="en-US" sz="2000" dirty="0">
                <a:solidFill>
                  <a:srgbClr val="C9D6E3"/>
                </a:solidFill>
              </a:rPr>
              <a:t>Exploratory Data Analysis for Banking Analysts</a:t>
            </a:r>
            <a:endParaRPr lang="en-US" sz="2000" dirty="0"/>
          </a:p>
        </p:txBody>
      </p:sp>
      <p:sp>
        <p:nvSpPr>
          <p:cNvPr id="82" name="Text 80"/>
          <p:cNvSpPr/>
          <p:nvPr/>
        </p:nvSpPr>
        <p:spPr>
          <a:xfrm>
            <a:off x="676656" y="3291840"/>
            <a:ext cx="5349240" cy="658368"/>
          </a:xfrm>
          <a:prstGeom prst="rect">
            <a:avLst/>
          </a:prstGeom>
          <a:noFill/>
          <a:ln/>
        </p:spPr>
        <p:txBody>
          <a:bodyPr wrap="square" lIns="0" tIns="0" rIns="0" bIns="0" rtlCol="0" anchor="ctr">
            <a:normAutofit/>
          </a:bodyPr>
          <a:lstStyle/>
          <a:p>
            <a:pPr marL="0" indent="0">
              <a:buNone/>
            </a:pPr>
            <a:r>
              <a:rPr lang="en-US" sz="1550" dirty="0">
                <a:solidFill>
                  <a:srgbClr val="9FB1C2"/>
                </a:solidFill>
              </a:rPr>
              <a:t>From raw tables to reliable insight — using the tools already available in Excel.</a:t>
            </a:r>
            <a:endParaRPr lang="en-US" sz="1550" dirty="0"/>
          </a:p>
        </p:txBody>
      </p:sp>
      <p:sp>
        <p:nvSpPr>
          <p:cNvPr id="83" name="Shape 81"/>
          <p:cNvSpPr/>
          <p:nvPr/>
        </p:nvSpPr>
        <p:spPr>
          <a:xfrm>
            <a:off x="676656" y="4315968"/>
            <a:ext cx="1417320" cy="310896"/>
          </a:xfrm>
          <a:prstGeom prst="roundRect">
            <a:avLst>
              <a:gd name="adj" fmla="val 23529"/>
            </a:avLst>
          </a:prstGeom>
          <a:solidFill>
            <a:srgbClr val="009E9A"/>
          </a:solidFill>
          <a:ln w="12700">
            <a:solidFill>
              <a:srgbClr val="009E9A"/>
            </a:solidFill>
            <a:prstDash val="solid"/>
          </a:ln>
        </p:spPr>
      </p:sp>
      <p:sp>
        <p:nvSpPr>
          <p:cNvPr id="84" name="Text 82"/>
          <p:cNvSpPr/>
          <p:nvPr/>
        </p:nvSpPr>
        <p:spPr>
          <a:xfrm>
            <a:off x="749808" y="4370832"/>
            <a:ext cx="1271016" cy="182880"/>
          </a:xfrm>
          <a:prstGeom prst="rect">
            <a:avLst/>
          </a:prstGeom>
          <a:noFill/>
          <a:ln/>
        </p:spPr>
        <p:txBody>
          <a:bodyPr wrap="square" lIns="0" tIns="0" rIns="0" bIns="0" rtlCol="0" anchor="ctr"/>
          <a:lstStyle/>
          <a:p>
            <a:pPr marL="0" indent="0" algn="ctr">
              <a:buNone/>
            </a:pPr>
            <a:r>
              <a:rPr lang="en-US" sz="920" b="1" dirty="0">
                <a:solidFill>
                  <a:srgbClr val="FFFFFF"/>
                </a:solidFill>
              </a:rPr>
              <a:t>STRUCTURED DATA</a:t>
            </a:r>
            <a:endParaRPr lang="en-US" sz="920" dirty="0"/>
          </a:p>
        </p:txBody>
      </p:sp>
      <p:sp>
        <p:nvSpPr>
          <p:cNvPr id="85" name="Shape 83"/>
          <p:cNvSpPr/>
          <p:nvPr/>
        </p:nvSpPr>
        <p:spPr>
          <a:xfrm>
            <a:off x="2249424" y="4315968"/>
            <a:ext cx="694944" cy="310896"/>
          </a:xfrm>
          <a:prstGeom prst="roundRect">
            <a:avLst>
              <a:gd name="adj" fmla="val 23529"/>
            </a:avLst>
          </a:prstGeom>
          <a:solidFill>
            <a:srgbClr val="2F6BFF"/>
          </a:solidFill>
          <a:ln w="12700">
            <a:solidFill>
              <a:srgbClr val="2F6BFF"/>
            </a:solidFill>
            <a:prstDash val="solid"/>
          </a:ln>
        </p:spPr>
      </p:sp>
      <p:sp>
        <p:nvSpPr>
          <p:cNvPr id="86" name="Text 84"/>
          <p:cNvSpPr/>
          <p:nvPr/>
        </p:nvSpPr>
        <p:spPr>
          <a:xfrm>
            <a:off x="2322576" y="4370832"/>
            <a:ext cx="548640" cy="182880"/>
          </a:xfrm>
          <a:prstGeom prst="rect">
            <a:avLst/>
          </a:prstGeom>
          <a:noFill/>
          <a:ln/>
        </p:spPr>
        <p:txBody>
          <a:bodyPr wrap="square" lIns="0" tIns="0" rIns="0" bIns="0" rtlCol="0" anchor="ctr"/>
          <a:lstStyle/>
          <a:p>
            <a:pPr marL="0" indent="0" algn="ctr">
              <a:buNone/>
            </a:pPr>
            <a:r>
              <a:rPr lang="en-US" sz="920" b="1" dirty="0">
                <a:solidFill>
                  <a:srgbClr val="FFFFFF"/>
                </a:solidFill>
              </a:rPr>
              <a:t>EDA</a:t>
            </a:r>
            <a:endParaRPr lang="en-US" sz="920" dirty="0"/>
          </a:p>
        </p:txBody>
      </p:sp>
      <p:sp>
        <p:nvSpPr>
          <p:cNvPr id="87" name="Shape 85"/>
          <p:cNvSpPr/>
          <p:nvPr/>
        </p:nvSpPr>
        <p:spPr>
          <a:xfrm>
            <a:off x="3090672" y="4315968"/>
            <a:ext cx="1115568" cy="310896"/>
          </a:xfrm>
          <a:prstGeom prst="roundRect">
            <a:avLst>
              <a:gd name="adj" fmla="val 23529"/>
            </a:avLst>
          </a:prstGeom>
          <a:solidFill>
            <a:srgbClr val="7A5AF8"/>
          </a:solidFill>
          <a:ln w="12700">
            <a:solidFill>
              <a:srgbClr val="7A5AF8"/>
            </a:solidFill>
            <a:prstDash val="solid"/>
          </a:ln>
        </p:spPr>
      </p:sp>
      <p:sp>
        <p:nvSpPr>
          <p:cNvPr id="88" name="Text 86"/>
          <p:cNvSpPr/>
          <p:nvPr/>
        </p:nvSpPr>
        <p:spPr>
          <a:xfrm>
            <a:off x="3163824" y="4370832"/>
            <a:ext cx="969264" cy="182880"/>
          </a:xfrm>
          <a:prstGeom prst="rect">
            <a:avLst/>
          </a:prstGeom>
          <a:noFill/>
          <a:ln/>
        </p:spPr>
        <p:txBody>
          <a:bodyPr wrap="square" lIns="0" tIns="0" rIns="0" bIns="0" rtlCol="0" anchor="ctr"/>
          <a:lstStyle/>
          <a:p>
            <a:pPr marL="0" indent="0" algn="ctr">
              <a:buNone/>
            </a:pPr>
            <a:r>
              <a:rPr lang="en-US" sz="920" b="1" dirty="0">
                <a:solidFill>
                  <a:srgbClr val="FFFFFF"/>
                </a:solidFill>
              </a:rPr>
              <a:t>STATISTICS</a:t>
            </a:r>
            <a:endParaRPr lang="en-US" sz="920" dirty="0"/>
          </a:p>
        </p:txBody>
      </p:sp>
      <p:sp>
        <p:nvSpPr>
          <p:cNvPr id="89" name="Shape 87"/>
          <p:cNvSpPr/>
          <p:nvPr/>
        </p:nvSpPr>
        <p:spPr>
          <a:xfrm>
            <a:off x="4361688" y="4315968"/>
            <a:ext cx="1298448" cy="310896"/>
          </a:xfrm>
          <a:prstGeom prst="roundRect">
            <a:avLst>
              <a:gd name="adj" fmla="val 23529"/>
            </a:avLst>
          </a:prstGeom>
          <a:solidFill>
            <a:srgbClr val="F59E0B"/>
          </a:solidFill>
          <a:ln w="12700">
            <a:solidFill>
              <a:srgbClr val="F59E0B"/>
            </a:solidFill>
            <a:prstDash val="solid"/>
          </a:ln>
        </p:spPr>
      </p:sp>
      <p:sp>
        <p:nvSpPr>
          <p:cNvPr id="90" name="Text 88"/>
          <p:cNvSpPr/>
          <p:nvPr/>
        </p:nvSpPr>
        <p:spPr>
          <a:xfrm>
            <a:off x="4434840" y="4370832"/>
            <a:ext cx="1152144" cy="182880"/>
          </a:xfrm>
          <a:prstGeom prst="rect">
            <a:avLst/>
          </a:prstGeom>
          <a:noFill/>
          <a:ln/>
        </p:spPr>
        <p:txBody>
          <a:bodyPr wrap="square" lIns="0" tIns="0" rIns="0" bIns="0" rtlCol="0" anchor="ctr"/>
          <a:lstStyle/>
          <a:p>
            <a:pPr marL="0" indent="0" algn="ctr">
              <a:buNone/>
            </a:pPr>
            <a:r>
              <a:rPr lang="en-US" sz="920" b="1" dirty="0">
                <a:solidFill>
                  <a:srgbClr val="FFFFFF"/>
                </a:solidFill>
              </a:rPr>
              <a:t>DATA QUALITY</a:t>
            </a:r>
            <a:endParaRPr lang="en-US" sz="920" dirty="0"/>
          </a:p>
        </p:txBody>
      </p:sp>
      <p:sp>
        <p:nvSpPr>
          <p:cNvPr id="91" name="Text 89"/>
          <p:cNvSpPr/>
          <p:nvPr/>
        </p:nvSpPr>
        <p:spPr>
          <a:xfrm>
            <a:off x="676656" y="4965192"/>
            <a:ext cx="5257800" cy="329184"/>
          </a:xfrm>
          <a:prstGeom prst="rect">
            <a:avLst/>
          </a:prstGeom>
          <a:noFill/>
          <a:ln/>
        </p:spPr>
        <p:txBody>
          <a:bodyPr wrap="square" lIns="0" tIns="0" rIns="0" bIns="0" rtlCol="0" anchor="ctr"/>
          <a:lstStyle/>
          <a:p>
            <a:pPr marL="0" indent="0">
              <a:buNone/>
            </a:pPr>
            <a:r>
              <a:rPr lang="en-US" sz="1150" dirty="0">
                <a:solidFill>
                  <a:srgbClr val="C9D6E3"/>
                </a:solidFill>
              </a:rPr>
              <a:t>Banking context · Excel-first examples · Practical formulas and charts</a:t>
            </a:r>
            <a:endParaRPr lang="en-US" sz="1150" dirty="0"/>
          </a:p>
        </p:txBody>
      </p:sp>
      <p:sp>
        <p:nvSpPr>
          <p:cNvPr id="92" name="Text 90"/>
          <p:cNvSpPr/>
          <p:nvPr/>
        </p:nvSpPr>
        <p:spPr>
          <a:xfrm>
            <a:off x="676656" y="6144768"/>
            <a:ext cx="1097280" cy="201168"/>
          </a:xfrm>
          <a:prstGeom prst="rect">
            <a:avLst/>
          </a:prstGeom>
          <a:noFill/>
          <a:ln/>
        </p:spPr>
        <p:txBody>
          <a:bodyPr wrap="square" lIns="0" tIns="0" rIns="0" bIns="0" rtlCol="0" anchor="ctr"/>
          <a:lstStyle/>
          <a:p>
            <a:pPr marL="0" indent="0">
              <a:buNone/>
            </a:pPr>
            <a:r>
              <a:rPr lang="en-US" sz="950" dirty="0">
                <a:solidFill>
                  <a:srgbClr val="6F879B"/>
                </a:solidFill>
              </a:rPr>
              <a:t>Training deck</a:t>
            </a:r>
            <a:endParaRPr lang="en-US" sz="950" dirty="0"/>
          </a:p>
        </p:txBody>
      </p:sp>
      <p:sp>
        <p:nvSpPr>
          <p:cNvPr id="93" name="Shape 91"/>
          <p:cNvSpPr/>
          <p:nvPr/>
        </p:nvSpPr>
        <p:spPr>
          <a:xfrm>
            <a:off x="6272784" y="1197864"/>
            <a:ext cx="457200" cy="457200"/>
          </a:xfrm>
          <a:prstGeom prst="roundRect">
            <a:avLst>
              <a:gd name="adj" fmla="val 8000"/>
            </a:avLst>
          </a:prstGeom>
          <a:solidFill>
            <a:srgbClr val="217346"/>
          </a:solidFill>
          <a:ln w="12700">
            <a:solidFill>
              <a:srgbClr val="217346"/>
            </a:solidFill>
            <a:prstDash val="solid"/>
          </a:ln>
        </p:spPr>
      </p:sp>
      <p:sp>
        <p:nvSpPr>
          <p:cNvPr id="94" name="Text 92"/>
          <p:cNvSpPr/>
          <p:nvPr/>
        </p:nvSpPr>
        <p:spPr>
          <a:xfrm>
            <a:off x="6272784" y="1207008"/>
            <a:ext cx="457200" cy="429768"/>
          </a:xfrm>
          <a:prstGeom prst="rect">
            <a:avLst/>
          </a:prstGeom>
          <a:noFill/>
          <a:ln/>
        </p:spPr>
        <p:txBody>
          <a:bodyPr wrap="square" lIns="0" tIns="0" rIns="0" bIns="0" rtlCol="0" anchor="ctr"/>
          <a:lstStyle/>
          <a:p>
            <a:pPr marL="0" indent="0" algn="ctr">
              <a:buNone/>
            </a:pPr>
            <a:r>
              <a:rPr lang="en-US" sz="1350" b="1" dirty="0">
                <a:solidFill>
                  <a:srgbClr val="FFFFFF"/>
                </a:solidFill>
              </a:rPr>
              <a:t>X</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643E8-1C48-7230-81E0-F0B853CF61A5}"/>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219711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187952" y="438912"/>
            <a:ext cx="7452360" cy="5230368"/>
          </a:xfrm>
          <a:prstGeom prst="roundRect">
            <a:avLst/>
          </a:prstGeom>
          <a:solidFill>
            <a:srgbClr val="123049"/>
          </a:solidFill>
          <a:ln w="15240">
            <a:solidFill>
              <a:srgbClr val="2A52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87952" y="1307414"/>
            <a:ext cx="50292" cy="3584448"/>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21792" y="1453718"/>
            <a:ext cx="2907792" cy="2907792"/>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ntonio_portrait_circle.png"/>
          <p:cNvPicPr>
            <a:picLocks noChangeAspect="1"/>
          </p:cNvPicPr>
          <p:nvPr/>
        </p:nvPicPr>
        <p:blipFill>
          <a:blip r:embed="rId2"/>
          <a:stretch>
            <a:fillRect/>
          </a:stretch>
        </p:blipFill>
        <p:spPr>
          <a:xfrm>
            <a:off x="685800" y="1517726"/>
            <a:ext cx="2779776" cy="2779776"/>
          </a:xfrm>
          <a:prstGeom prst="rect">
            <a:avLst/>
          </a:prstGeom>
        </p:spPr>
      </p:pic>
      <p:sp>
        <p:nvSpPr>
          <p:cNvPr id="6" name="Rectangle 5"/>
          <p:cNvSpPr/>
          <p:nvPr/>
        </p:nvSpPr>
        <p:spPr>
          <a:xfrm>
            <a:off x="3547872" y="2852750"/>
            <a:ext cx="640080" cy="32004"/>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48064" y="1798367"/>
            <a:ext cx="6732135" cy="2511457"/>
          </a:xfrm>
          <a:prstGeom prst="rect">
            <a:avLst/>
          </a:prstGeom>
          <a:noFill/>
        </p:spPr>
        <p:txBody>
          <a:bodyPr wrap="square" lIns="18288" tIns="9144" rIns="18288" bIns="9144" anchor="ctr">
            <a:spAutoFit/>
          </a:bodyPr>
          <a:lstStyle/>
          <a:p>
            <a:r>
              <a:rPr lang="en-GB" dirty="0">
                <a:solidFill>
                  <a:schemeClr val="bg1"/>
                </a:solidFill>
              </a:rPr>
              <a:t>The first draft of this set of slides was generated using AI tools under the direction of Antonio Piemontese and in accordance with his general and specific instructions and guidelines. The material was subsequently reviewed, revised, and further refined through additional interactions with AI tools, based on Antonio </a:t>
            </a:r>
            <a:r>
              <a:rPr lang="en-GB" dirty="0" err="1">
                <a:solidFill>
                  <a:schemeClr val="bg1"/>
                </a:solidFill>
              </a:rPr>
              <a:t>Piemontese’s</a:t>
            </a:r>
            <a:r>
              <a:rPr lang="en-GB" dirty="0">
                <a:solidFill>
                  <a:schemeClr val="bg1"/>
                </a:solidFill>
              </a:rPr>
              <a:t> feedback and specific requests for changes.</a:t>
            </a:r>
          </a:p>
          <a:p>
            <a:r>
              <a:rPr lang="en-GB" dirty="0">
                <a:solidFill>
                  <a:schemeClr val="bg1"/>
                </a:solidFill>
              </a:rPr>
              <a:t>Throughout the process, Antonio Piemontese retained responsibility for the overall direction, content, review, and final approval of the material.</a:t>
            </a:r>
          </a:p>
        </p:txBody>
      </p:sp>
      <p:sp>
        <p:nvSpPr>
          <p:cNvPr id="9" name="TextBox 8"/>
          <p:cNvSpPr txBox="1"/>
          <p:nvPr/>
        </p:nvSpPr>
        <p:spPr>
          <a:xfrm>
            <a:off x="8677656" y="603504"/>
            <a:ext cx="310896" cy="420624"/>
          </a:xfrm>
          <a:prstGeom prst="rect">
            <a:avLst/>
          </a:prstGeom>
          <a:noFill/>
        </p:spPr>
        <p:txBody>
          <a:bodyPr wrap="none" lIns="18288" tIns="9144" rIns="18288" bIns="9144" anchor="ctr">
            <a:spAutoFit/>
          </a:bodyPr>
          <a:lstStyle/>
          <a:p>
            <a:pPr algn="ctr"/>
            <a:r>
              <a:rPr sz="2400" b="1">
                <a:solidFill>
                  <a:srgbClr val="0B1F33"/>
                </a:solidFill>
                <a:latin typeface="Aptos"/>
              </a:rPr>
              <a:t>✣</a:t>
            </a:r>
          </a:p>
        </p:txBody>
      </p:sp>
      <p:sp>
        <p:nvSpPr>
          <p:cNvPr id="10" name="TextBox 9"/>
          <p:cNvSpPr txBox="1"/>
          <p:nvPr/>
        </p:nvSpPr>
        <p:spPr>
          <a:xfrm>
            <a:off x="9025128" y="612648"/>
            <a:ext cx="850392" cy="402336"/>
          </a:xfrm>
          <a:prstGeom prst="rect">
            <a:avLst/>
          </a:prstGeom>
          <a:noFill/>
        </p:spPr>
        <p:txBody>
          <a:bodyPr wrap="none" lIns="18288" tIns="9144" rIns="18288" bIns="9144" anchor="ctr">
            <a:spAutoFit/>
          </a:bodyPr>
          <a:lstStyle/>
          <a:p>
            <a:pPr algn="l"/>
            <a:r>
              <a:rPr sz="1400" b="1" dirty="0">
                <a:solidFill>
                  <a:srgbClr val="0B1F33"/>
                </a:solidFill>
                <a:latin typeface="Aptos"/>
              </a:rPr>
              <a:t>ChatGPT</a:t>
            </a:r>
          </a:p>
        </p:txBody>
      </p:sp>
      <p:sp>
        <p:nvSpPr>
          <p:cNvPr id="14" name="Oval 13"/>
          <p:cNvSpPr/>
          <p:nvPr/>
        </p:nvSpPr>
        <p:spPr>
          <a:xfrm>
            <a:off x="1261872" y="5541086"/>
            <a:ext cx="73152" cy="73152"/>
          </a:xfrm>
          <a:prstGeom prst="ellipse">
            <a:avLst/>
          </a:prstGeom>
          <a:solidFill>
            <a:srgbClr val="39B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463039" y="5403925"/>
            <a:ext cx="73152" cy="73152"/>
          </a:xfrm>
          <a:prstGeom prst="ellipse">
            <a:avLst/>
          </a:prstGeom>
          <a:solidFill>
            <a:srgbClr val="39B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664207" y="5230190"/>
            <a:ext cx="73152" cy="73152"/>
          </a:xfrm>
          <a:prstGeom prst="ellipse">
            <a:avLst/>
          </a:prstGeom>
          <a:solidFill>
            <a:srgbClr val="39B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865376" y="5056454"/>
            <a:ext cx="73152" cy="73152"/>
          </a:xfrm>
          <a:prstGeom prst="ellipse">
            <a:avLst/>
          </a:prstGeom>
          <a:solidFill>
            <a:srgbClr val="39B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066543" y="4855286"/>
            <a:ext cx="73152" cy="73152"/>
          </a:xfrm>
          <a:prstGeom prst="ellipse">
            <a:avLst/>
          </a:prstGeom>
          <a:solidFill>
            <a:srgbClr val="39B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662672" y="5788152"/>
            <a:ext cx="4041648" cy="694944"/>
          </a:xfrm>
          <a:prstGeom prst="roundRect">
            <a:avLst/>
          </a:prstGeom>
          <a:solidFill>
            <a:srgbClr val="102B41"/>
          </a:solidFill>
          <a:ln w="13970">
            <a:solidFill>
              <a:srgbClr val="00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16658" y="5968503"/>
            <a:ext cx="3747813" cy="341632"/>
          </a:xfrm>
          <a:prstGeom prst="rect">
            <a:avLst/>
          </a:prstGeom>
          <a:noFill/>
        </p:spPr>
        <p:txBody>
          <a:bodyPr wrap="square" lIns="18288" tIns="9144" rIns="18288" bIns="9144" anchor="ctr">
            <a:spAutoFit/>
          </a:bodyPr>
          <a:lstStyle/>
          <a:p>
            <a:pPr algn="l"/>
            <a:r>
              <a:rPr sz="1050" b="0" dirty="0">
                <a:solidFill>
                  <a:srgbClr val="C9D6E3"/>
                </a:solidFill>
                <a:latin typeface="Aptos"/>
              </a:rPr>
              <a:t>This declaration is provided in</a:t>
            </a:r>
            <a:r>
              <a:rPr lang="it-IT" sz="1050" b="0" dirty="0">
                <a:solidFill>
                  <a:srgbClr val="C9D6E3"/>
                </a:solidFill>
                <a:latin typeface="Aptos"/>
              </a:rPr>
              <a:t> </a:t>
            </a:r>
            <a:r>
              <a:rPr sz="1050" b="0" dirty="0">
                <a:solidFill>
                  <a:srgbClr val="C9D6E3"/>
                </a:solidFill>
                <a:latin typeface="Aptos"/>
              </a:rPr>
              <a:t>accordance with the transparency requirements of the European Union’s AI Act.</a:t>
            </a:r>
          </a:p>
        </p:txBody>
      </p:sp>
      <p:pic>
        <p:nvPicPr>
          <p:cNvPr id="21" name="Immagine 20" descr="Cosa è ChatGPT? Cosa devono sapere i genitori | Internet Matters">
            <a:extLst>
              <a:ext uri="{FF2B5EF4-FFF2-40B4-BE49-F238E27FC236}">
                <a16:creationId xmlns:a16="http://schemas.microsoft.com/office/drawing/2014/main" id="{58E25ED8-0264-2ED8-A2E9-7D460EA86127}"/>
              </a:ext>
            </a:extLst>
          </p:cNvPr>
          <p:cNvPicPr>
            <a:picLocks noChangeAspect="1"/>
          </p:cNvPicPr>
          <p:nvPr/>
        </p:nvPicPr>
        <p:blipFill>
          <a:blip r:embed="rId3"/>
          <a:stretch>
            <a:fillRect/>
          </a:stretch>
        </p:blipFill>
        <p:spPr>
          <a:xfrm>
            <a:off x="8971195" y="575110"/>
            <a:ext cx="995765" cy="522170"/>
          </a:xfrm>
          <a:prstGeom prst="rect">
            <a:avLst/>
          </a:prstGeom>
        </p:spPr>
      </p:pic>
      <p:pic>
        <p:nvPicPr>
          <p:cNvPr id="23" name="Immagine 22">
            <a:extLst>
              <a:ext uri="{FF2B5EF4-FFF2-40B4-BE49-F238E27FC236}">
                <a16:creationId xmlns:a16="http://schemas.microsoft.com/office/drawing/2014/main" id="{37F8D6E7-1D64-6379-621F-4660F931E55B}"/>
              </a:ext>
            </a:extLst>
          </p:cNvPr>
          <p:cNvPicPr>
            <a:picLocks noChangeAspect="1"/>
          </p:cNvPicPr>
          <p:nvPr/>
        </p:nvPicPr>
        <p:blipFill>
          <a:blip r:embed="rId4"/>
          <a:stretch>
            <a:fillRect/>
          </a:stretch>
        </p:blipFill>
        <p:spPr>
          <a:xfrm>
            <a:off x="10226880" y="575110"/>
            <a:ext cx="1011096" cy="492451"/>
          </a:xfrm>
          <a:prstGeom prst="rect">
            <a:avLst/>
          </a:prstGeom>
        </p:spPr>
      </p:pic>
      <p:sp>
        <p:nvSpPr>
          <p:cNvPr id="8" name="Slide Number Placeholder 0">
            <a:extLst>
              <a:ext uri="{FF2B5EF4-FFF2-40B4-BE49-F238E27FC236}">
                <a16:creationId xmlns:a16="http://schemas.microsoft.com/office/drawing/2014/main" id="{755465F6-D09E-9FB1-B557-791906E32158}"/>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COURSE OVERVIEW</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Course map: what we will build together</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626364" y="936325"/>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conceptual framework for data analysis, anchored in Excel and banking examples.</a:t>
            </a:r>
            <a:endParaRPr lang="en-US" sz="1300" dirty="0"/>
          </a:p>
        </p:txBody>
      </p:sp>
      <p:sp>
        <p:nvSpPr>
          <p:cNvPr id="7" name="Shape 5"/>
          <p:cNvSpPr/>
          <p:nvPr/>
        </p:nvSpPr>
        <p:spPr>
          <a:xfrm>
            <a:off x="713232" y="2004638"/>
            <a:ext cx="384048" cy="384048"/>
          </a:xfrm>
          <a:prstGeom prst="ellipse">
            <a:avLst/>
          </a:prstGeom>
          <a:solidFill>
            <a:srgbClr val="009E9A"/>
          </a:solidFill>
          <a:ln w="12700">
            <a:solidFill>
              <a:srgbClr val="FFFFFF"/>
            </a:solidFill>
            <a:prstDash val="solid"/>
          </a:ln>
        </p:spPr>
      </p:sp>
      <p:sp>
        <p:nvSpPr>
          <p:cNvPr id="8" name="Text 6"/>
          <p:cNvSpPr/>
          <p:nvPr/>
        </p:nvSpPr>
        <p:spPr>
          <a:xfrm>
            <a:off x="722197" y="2105695"/>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9" name="Text 7"/>
          <p:cNvSpPr/>
          <p:nvPr/>
        </p:nvSpPr>
        <p:spPr>
          <a:xfrm>
            <a:off x="1261872" y="2062880"/>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Foundations</a:t>
            </a:r>
            <a:endParaRPr lang="en-US" sz="1500" dirty="0"/>
          </a:p>
        </p:txBody>
      </p:sp>
      <p:sp>
        <p:nvSpPr>
          <p:cNvPr id="10" name="Text 8"/>
          <p:cNvSpPr/>
          <p:nvPr/>
        </p:nvSpPr>
        <p:spPr>
          <a:xfrm>
            <a:off x="3552175" y="2097730"/>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Data Science, analytics, banking context</a:t>
            </a:r>
            <a:endParaRPr lang="en-US" sz="1300" dirty="0"/>
          </a:p>
        </p:txBody>
      </p:sp>
      <p:sp>
        <p:nvSpPr>
          <p:cNvPr id="11" name="Shape 9"/>
          <p:cNvSpPr/>
          <p:nvPr/>
        </p:nvSpPr>
        <p:spPr>
          <a:xfrm>
            <a:off x="713232" y="2557502"/>
            <a:ext cx="384048" cy="384048"/>
          </a:xfrm>
          <a:prstGeom prst="ellipse">
            <a:avLst/>
          </a:prstGeom>
          <a:solidFill>
            <a:srgbClr val="009E9A"/>
          </a:solidFill>
          <a:ln w="12700">
            <a:solidFill>
              <a:srgbClr val="FFFFFF"/>
            </a:solidFill>
            <a:prstDash val="solid"/>
          </a:ln>
        </p:spPr>
      </p:sp>
      <p:sp>
        <p:nvSpPr>
          <p:cNvPr id="12" name="Text 10"/>
          <p:cNvSpPr/>
          <p:nvPr/>
        </p:nvSpPr>
        <p:spPr>
          <a:xfrm>
            <a:off x="722197" y="2658559"/>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3" name="Text 11"/>
          <p:cNvSpPr/>
          <p:nvPr/>
        </p:nvSpPr>
        <p:spPr>
          <a:xfrm>
            <a:off x="1261872" y="2615744"/>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Data</a:t>
            </a:r>
            <a:endParaRPr lang="en-US" sz="1500" dirty="0"/>
          </a:p>
        </p:txBody>
      </p:sp>
      <p:sp>
        <p:nvSpPr>
          <p:cNvPr id="14" name="Text 12"/>
          <p:cNvSpPr/>
          <p:nvPr/>
        </p:nvSpPr>
        <p:spPr>
          <a:xfrm>
            <a:off x="3552175" y="2650594"/>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Structured tables and data types</a:t>
            </a:r>
            <a:endParaRPr lang="en-US" sz="1300" dirty="0"/>
          </a:p>
        </p:txBody>
      </p:sp>
      <p:sp>
        <p:nvSpPr>
          <p:cNvPr id="15" name="Shape 13"/>
          <p:cNvSpPr/>
          <p:nvPr/>
        </p:nvSpPr>
        <p:spPr>
          <a:xfrm>
            <a:off x="713232" y="3110366"/>
            <a:ext cx="384048" cy="384048"/>
          </a:xfrm>
          <a:prstGeom prst="ellipse">
            <a:avLst/>
          </a:prstGeom>
          <a:solidFill>
            <a:srgbClr val="2F6BFF"/>
          </a:solidFill>
          <a:ln w="12700">
            <a:solidFill>
              <a:srgbClr val="FFFFFF"/>
            </a:solidFill>
            <a:prstDash val="solid"/>
          </a:ln>
        </p:spPr>
      </p:sp>
      <p:sp>
        <p:nvSpPr>
          <p:cNvPr id="16" name="Text 14"/>
          <p:cNvSpPr/>
          <p:nvPr/>
        </p:nvSpPr>
        <p:spPr>
          <a:xfrm>
            <a:off x="722197" y="3211423"/>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7" name="Text 15"/>
          <p:cNvSpPr/>
          <p:nvPr/>
        </p:nvSpPr>
        <p:spPr>
          <a:xfrm>
            <a:off x="1261872" y="3168608"/>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EDA</a:t>
            </a:r>
            <a:endParaRPr lang="en-US" sz="1500" dirty="0"/>
          </a:p>
        </p:txBody>
      </p:sp>
      <p:sp>
        <p:nvSpPr>
          <p:cNvPr id="18" name="Text 16"/>
          <p:cNvSpPr/>
          <p:nvPr/>
        </p:nvSpPr>
        <p:spPr>
          <a:xfrm>
            <a:off x="3552175" y="3203458"/>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Profiling, summaries, pivots, visual exploration</a:t>
            </a:r>
            <a:endParaRPr lang="en-US" sz="1300" dirty="0"/>
          </a:p>
        </p:txBody>
      </p:sp>
      <p:sp>
        <p:nvSpPr>
          <p:cNvPr id="19" name="Shape 17"/>
          <p:cNvSpPr/>
          <p:nvPr/>
        </p:nvSpPr>
        <p:spPr>
          <a:xfrm>
            <a:off x="713232" y="3663230"/>
            <a:ext cx="384048" cy="384048"/>
          </a:xfrm>
          <a:prstGeom prst="ellipse">
            <a:avLst/>
          </a:prstGeom>
          <a:solidFill>
            <a:srgbClr val="2F6BFF"/>
          </a:solidFill>
          <a:ln w="12700">
            <a:solidFill>
              <a:srgbClr val="FFFFFF"/>
            </a:solidFill>
            <a:prstDash val="solid"/>
          </a:ln>
        </p:spPr>
      </p:sp>
      <p:sp>
        <p:nvSpPr>
          <p:cNvPr id="20" name="Text 18"/>
          <p:cNvSpPr/>
          <p:nvPr/>
        </p:nvSpPr>
        <p:spPr>
          <a:xfrm>
            <a:off x="722197" y="3764287"/>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1" name="Text 19"/>
          <p:cNvSpPr/>
          <p:nvPr/>
        </p:nvSpPr>
        <p:spPr>
          <a:xfrm>
            <a:off x="1261872" y="3721472"/>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Probability &amp; statistics</a:t>
            </a:r>
            <a:endParaRPr lang="en-US" sz="1500" dirty="0"/>
          </a:p>
        </p:txBody>
      </p:sp>
      <p:sp>
        <p:nvSpPr>
          <p:cNvPr id="22" name="Text 20"/>
          <p:cNvSpPr/>
          <p:nvPr/>
        </p:nvSpPr>
        <p:spPr>
          <a:xfrm>
            <a:off x="3552175" y="3756322"/>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Random variables, distributions, uncertainty</a:t>
            </a:r>
            <a:endParaRPr lang="en-US" sz="1300" dirty="0"/>
          </a:p>
        </p:txBody>
      </p:sp>
      <p:sp>
        <p:nvSpPr>
          <p:cNvPr id="23" name="Shape 21"/>
          <p:cNvSpPr/>
          <p:nvPr/>
        </p:nvSpPr>
        <p:spPr>
          <a:xfrm>
            <a:off x="713232" y="4216094"/>
            <a:ext cx="384048" cy="384048"/>
          </a:xfrm>
          <a:prstGeom prst="ellipse">
            <a:avLst/>
          </a:prstGeom>
          <a:solidFill>
            <a:srgbClr val="7A5AF8"/>
          </a:solidFill>
          <a:ln w="12700">
            <a:solidFill>
              <a:srgbClr val="FFFFFF"/>
            </a:solidFill>
            <a:prstDash val="solid"/>
          </a:ln>
        </p:spPr>
      </p:sp>
      <p:sp>
        <p:nvSpPr>
          <p:cNvPr id="24" name="Text 22"/>
          <p:cNvSpPr/>
          <p:nvPr/>
        </p:nvSpPr>
        <p:spPr>
          <a:xfrm>
            <a:off x="722197" y="4317151"/>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25" name="Text 23"/>
          <p:cNvSpPr/>
          <p:nvPr/>
        </p:nvSpPr>
        <p:spPr>
          <a:xfrm>
            <a:off x="1261872" y="4274336"/>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Relationships</a:t>
            </a:r>
            <a:endParaRPr lang="en-US" sz="1500" dirty="0"/>
          </a:p>
        </p:txBody>
      </p:sp>
      <p:sp>
        <p:nvSpPr>
          <p:cNvPr id="26" name="Text 24"/>
          <p:cNvSpPr/>
          <p:nvPr/>
        </p:nvSpPr>
        <p:spPr>
          <a:xfrm>
            <a:off x="3552175" y="4309186"/>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Correlation and correlation matrices</a:t>
            </a:r>
            <a:endParaRPr lang="en-US" sz="1300" dirty="0"/>
          </a:p>
        </p:txBody>
      </p:sp>
      <p:sp>
        <p:nvSpPr>
          <p:cNvPr id="27" name="Shape 25"/>
          <p:cNvSpPr/>
          <p:nvPr/>
        </p:nvSpPr>
        <p:spPr>
          <a:xfrm>
            <a:off x="713232" y="4768958"/>
            <a:ext cx="384048" cy="384048"/>
          </a:xfrm>
          <a:prstGeom prst="ellipse">
            <a:avLst/>
          </a:prstGeom>
          <a:solidFill>
            <a:srgbClr val="7A5AF8"/>
          </a:solidFill>
          <a:ln w="12700">
            <a:solidFill>
              <a:srgbClr val="FFFFFF"/>
            </a:solidFill>
            <a:prstDash val="solid"/>
          </a:ln>
        </p:spPr>
      </p:sp>
      <p:sp>
        <p:nvSpPr>
          <p:cNvPr id="28" name="Text 26"/>
          <p:cNvSpPr/>
          <p:nvPr/>
        </p:nvSpPr>
        <p:spPr>
          <a:xfrm>
            <a:off x="722197" y="4870015"/>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29" name="Text 27"/>
          <p:cNvSpPr/>
          <p:nvPr/>
        </p:nvSpPr>
        <p:spPr>
          <a:xfrm>
            <a:off x="1261872" y="4827200"/>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Visualisation</a:t>
            </a:r>
            <a:endParaRPr lang="en-US" sz="1500" dirty="0"/>
          </a:p>
        </p:txBody>
      </p:sp>
      <p:sp>
        <p:nvSpPr>
          <p:cNvPr id="30" name="Text 28"/>
          <p:cNvSpPr/>
          <p:nvPr/>
        </p:nvSpPr>
        <p:spPr>
          <a:xfrm>
            <a:off x="3552175" y="4862050"/>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Plots that reveal structure and problems</a:t>
            </a:r>
            <a:endParaRPr lang="en-US" sz="1300" dirty="0"/>
          </a:p>
        </p:txBody>
      </p:sp>
      <p:sp>
        <p:nvSpPr>
          <p:cNvPr id="31" name="Shape 29"/>
          <p:cNvSpPr/>
          <p:nvPr/>
        </p:nvSpPr>
        <p:spPr>
          <a:xfrm>
            <a:off x="713232" y="5321808"/>
            <a:ext cx="384048" cy="384048"/>
          </a:xfrm>
          <a:prstGeom prst="ellipse">
            <a:avLst/>
          </a:prstGeom>
          <a:solidFill>
            <a:srgbClr val="F59E0B"/>
          </a:solidFill>
          <a:ln w="12700">
            <a:solidFill>
              <a:srgbClr val="FFFFFF"/>
            </a:solidFill>
            <a:prstDash val="solid"/>
          </a:ln>
        </p:spPr>
      </p:sp>
      <p:sp>
        <p:nvSpPr>
          <p:cNvPr id="32" name="Text 30"/>
          <p:cNvSpPr/>
          <p:nvPr/>
        </p:nvSpPr>
        <p:spPr>
          <a:xfrm>
            <a:off x="722197" y="5422879"/>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7</a:t>
            </a:r>
            <a:endParaRPr lang="en-US" sz="1050" dirty="0"/>
          </a:p>
        </p:txBody>
      </p:sp>
      <p:sp>
        <p:nvSpPr>
          <p:cNvPr id="33" name="Text 31"/>
          <p:cNvSpPr/>
          <p:nvPr/>
        </p:nvSpPr>
        <p:spPr>
          <a:xfrm>
            <a:off x="1261872" y="5380064"/>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Data issues</a:t>
            </a:r>
            <a:endParaRPr lang="en-US" sz="1500" dirty="0"/>
          </a:p>
        </p:txBody>
      </p:sp>
      <p:sp>
        <p:nvSpPr>
          <p:cNvPr id="34" name="Text 32"/>
          <p:cNvSpPr/>
          <p:nvPr/>
        </p:nvSpPr>
        <p:spPr>
          <a:xfrm>
            <a:off x="3552175" y="5414914"/>
            <a:ext cx="7452360" cy="256032"/>
          </a:xfrm>
          <a:prstGeom prst="rect">
            <a:avLst/>
          </a:prstGeom>
          <a:noFill/>
          <a:ln/>
        </p:spPr>
        <p:txBody>
          <a:bodyPr wrap="square" lIns="0" tIns="0" rIns="0" bIns="0" rtlCol="0" anchor="ctr">
            <a:normAutofit/>
          </a:bodyPr>
          <a:lstStyle/>
          <a:p>
            <a:pPr marL="0" indent="0">
              <a:buNone/>
            </a:pPr>
            <a:r>
              <a:rPr lang="en-US" sz="1300" dirty="0">
                <a:solidFill>
                  <a:srgbClr val="26364A"/>
                </a:solidFill>
              </a:rPr>
              <a:t>Outliers, missing values, patterns, quality</a:t>
            </a:r>
            <a:endParaRPr lang="en-US" sz="1300" dirty="0"/>
          </a:p>
        </p:txBody>
      </p:sp>
      <p:sp>
        <p:nvSpPr>
          <p:cNvPr id="35" name="Shape 33"/>
          <p:cNvSpPr/>
          <p:nvPr/>
        </p:nvSpPr>
        <p:spPr>
          <a:xfrm>
            <a:off x="749808" y="5779008"/>
            <a:ext cx="10561320" cy="512064"/>
          </a:xfrm>
          <a:prstGeom prst="roundRect">
            <a:avLst>
              <a:gd name="adj" fmla="val 8929"/>
            </a:avLst>
          </a:prstGeom>
          <a:solidFill>
            <a:srgbClr val="FFFFFF"/>
          </a:solidFill>
          <a:ln w="15240">
            <a:solidFill>
              <a:srgbClr val="009E9A"/>
            </a:solidFill>
            <a:prstDash val="solid"/>
          </a:ln>
        </p:spPr>
      </p:sp>
      <p:sp>
        <p:nvSpPr>
          <p:cNvPr id="36" name="Shape 34"/>
          <p:cNvSpPr/>
          <p:nvPr/>
        </p:nvSpPr>
        <p:spPr>
          <a:xfrm>
            <a:off x="749808" y="5779008"/>
            <a:ext cx="73152" cy="512064"/>
          </a:xfrm>
          <a:prstGeom prst="rect">
            <a:avLst/>
          </a:prstGeom>
          <a:solidFill>
            <a:srgbClr val="009E9A"/>
          </a:solidFill>
          <a:ln w="12700">
            <a:solidFill>
              <a:srgbClr val="009E9A"/>
            </a:solidFill>
            <a:prstDash val="solid"/>
          </a:ln>
        </p:spPr>
      </p:sp>
      <p:sp>
        <p:nvSpPr>
          <p:cNvPr id="37" name="Text 35"/>
          <p:cNvSpPr/>
          <p:nvPr/>
        </p:nvSpPr>
        <p:spPr>
          <a:xfrm>
            <a:off x="914400" y="5888736"/>
            <a:ext cx="10305288" cy="292608"/>
          </a:xfrm>
          <a:prstGeom prst="rect">
            <a:avLst/>
          </a:prstGeom>
          <a:noFill/>
          <a:ln/>
        </p:spPr>
        <p:txBody>
          <a:bodyPr wrap="square" lIns="0" tIns="0" rIns="0" bIns="0" rtlCol="0" anchor="ctr">
            <a:normAutofit/>
          </a:bodyPr>
          <a:lstStyle/>
          <a:p>
            <a:pPr marL="0" indent="0">
              <a:buNone/>
            </a:pPr>
            <a:r>
              <a:rPr lang="en-US" sz="1150" b="1" dirty="0">
                <a:solidFill>
                  <a:srgbClr val="0B1F33"/>
                </a:solidFill>
              </a:rPr>
              <a:t>Goal: make the analysis explainable, auditable and reproducible — not just “get a chart”.</a:t>
            </a:r>
            <a:endParaRPr lang="en-US" sz="1150" dirty="0"/>
          </a:p>
        </p:txBody>
      </p:sp>
      <p:sp>
        <p:nvSpPr>
          <p:cNvPr id="3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a:t>
            </a:fld>
            <a:endParaRPr lang="en-US" dirty="0"/>
          </a:p>
        </p:txBody>
      </p:sp>
      <p:sp>
        <p:nvSpPr>
          <p:cNvPr id="40" name="Shape 5">
            <a:extLst>
              <a:ext uri="{FF2B5EF4-FFF2-40B4-BE49-F238E27FC236}">
                <a16:creationId xmlns:a16="http://schemas.microsoft.com/office/drawing/2014/main" id="{CE769536-808A-D142-37E3-398C9FFCE37C}"/>
              </a:ext>
            </a:extLst>
          </p:cNvPr>
          <p:cNvSpPr/>
          <p:nvPr/>
        </p:nvSpPr>
        <p:spPr>
          <a:xfrm>
            <a:off x="695303" y="1451774"/>
            <a:ext cx="384048" cy="384048"/>
          </a:xfrm>
          <a:prstGeom prst="ellipse">
            <a:avLst/>
          </a:prstGeom>
          <a:solidFill>
            <a:srgbClr val="009E9A"/>
          </a:solidFill>
          <a:ln w="12700">
            <a:solidFill>
              <a:srgbClr val="FFFFFF"/>
            </a:solidFill>
            <a:prstDash val="solid"/>
          </a:ln>
        </p:spPr>
      </p:sp>
      <p:sp>
        <p:nvSpPr>
          <p:cNvPr id="42" name="Text 6">
            <a:extLst>
              <a:ext uri="{FF2B5EF4-FFF2-40B4-BE49-F238E27FC236}">
                <a16:creationId xmlns:a16="http://schemas.microsoft.com/office/drawing/2014/main" id="{81D24F56-B1DE-A167-3D3C-E1BB684ABFA3}"/>
              </a:ext>
            </a:extLst>
          </p:cNvPr>
          <p:cNvSpPr/>
          <p:nvPr/>
        </p:nvSpPr>
        <p:spPr>
          <a:xfrm>
            <a:off x="704268" y="1552831"/>
            <a:ext cx="384048" cy="182880"/>
          </a:xfrm>
          <a:prstGeom prst="rect">
            <a:avLst/>
          </a:prstGeom>
          <a:noFill/>
          <a:ln/>
        </p:spPr>
        <p:txBody>
          <a:bodyPr wrap="square" lIns="0" tIns="0" rIns="0" bIns="0" rtlCol="0" anchor="ctr"/>
          <a:lstStyle/>
          <a:p>
            <a:pPr marL="0" indent="0" algn="ctr">
              <a:buNone/>
            </a:pPr>
            <a:r>
              <a:rPr lang="en-US" sz="1050" b="1" dirty="0">
                <a:solidFill>
                  <a:srgbClr val="FFFFFF"/>
                </a:solidFill>
              </a:rPr>
              <a:t>0</a:t>
            </a:r>
            <a:endParaRPr lang="en-US" sz="1050" dirty="0"/>
          </a:p>
        </p:txBody>
      </p:sp>
      <p:sp>
        <p:nvSpPr>
          <p:cNvPr id="44" name="Text 7">
            <a:extLst>
              <a:ext uri="{FF2B5EF4-FFF2-40B4-BE49-F238E27FC236}">
                <a16:creationId xmlns:a16="http://schemas.microsoft.com/office/drawing/2014/main" id="{66C8FBCA-3E8D-3C14-ADC1-E90593581AA1}"/>
              </a:ext>
            </a:extLst>
          </p:cNvPr>
          <p:cNvSpPr/>
          <p:nvPr/>
        </p:nvSpPr>
        <p:spPr>
          <a:xfrm>
            <a:off x="1243943" y="1510016"/>
            <a:ext cx="2057400" cy="256032"/>
          </a:xfrm>
          <a:prstGeom prst="rect">
            <a:avLst/>
          </a:prstGeom>
          <a:noFill/>
          <a:ln/>
        </p:spPr>
        <p:txBody>
          <a:bodyPr wrap="square" lIns="0" tIns="0" rIns="0" bIns="0" rtlCol="0" anchor="ctr"/>
          <a:lstStyle/>
          <a:p>
            <a:pPr marL="0" indent="0">
              <a:buNone/>
            </a:pPr>
            <a:r>
              <a:rPr lang="en-US" sz="1500" b="1" dirty="0">
                <a:solidFill>
                  <a:srgbClr val="0B1F33"/>
                </a:solidFill>
              </a:rPr>
              <a:t>Preliminaries</a:t>
            </a:r>
            <a:endParaRPr lang="en-US" sz="1500" dirty="0"/>
          </a:p>
        </p:txBody>
      </p:sp>
      <p:sp>
        <p:nvSpPr>
          <p:cNvPr id="46" name="Text 8">
            <a:extLst>
              <a:ext uri="{FF2B5EF4-FFF2-40B4-BE49-F238E27FC236}">
                <a16:creationId xmlns:a16="http://schemas.microsoft.com/office/drawing/2014/main" id="{D77CFD38-DFDC-3D9B-F5DD-ECCBC0BCF75F}"/>
              </a:ext>
            </a:extLst>
          </p:cNvPr>
          <p:cNvSpPr/>
          <p:nvPr/>
        </p:nvSpPr>
        <p:spPr>
          <a:xfrm>
            <a:off x="3534246" y="1544866"/>
            <a:ext cx="7452360" cy="256032"/>
          </a:xfrm>
          <a:prstGeom prst="rect">
            <a:avLst/>
          </a:prstGeom>
          <a:noFill/>
          <a:ln/>
        </p:spPr>
        <p:txBody>
          <a:bodyPr wrap="square" lIns="0" tIns="0" rIns="0" bIns="0" rtlCol="0" anchor="ctr">
            <a:normAutofit/>
          </a:bodyPr>
          <a:lstStyle/>
          <a:p>
            <a:pPr marL="0" indent="0">
              <a:buNone/>
            </a:pPr>
            <a:r>
              <a:rPr lang="en-US" sz="1300" dirty="0" err="1">
                <a:solidFill>
                  <a:srgbClr val="26364A"/>
                </a:solidFill>
              </a:rPr>
              <a:t>TechnicalRequirements</a:t>
            </a:r>
            <a:r>
              <a:rPr lang="en-US" sz="1300" dirty="0">
                <a:solidFill>
                  <a:srgbClr val="26364A"/>
                </a:solidFill>
              </a:rPr>
              <a:t>, Language, Anatomy of Excel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66928" y="450204"/>
            <a:ext cx="10881360" cy="502920"/>
          </a:xfrm>
          <a:prstGeom prst="rect">
            <a:avLst/>
          </a:prstGeom>
          <a:noFill/>
          <a:ln/>
        </p:spPr>
        <p:txBody>
          <a:bodyPr wrap="square" lIns="0" tIns="0" rIns="0" bIns="0" rtlCol="0" anchor="ctr">
            <a:normAutofit/>
          </a:bodyPr>
          <a:lstStyle/>
          <a:p>
            <a:r>
              <a:t>Technical requirements: Excel version matters</a:t>
            </a:r>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971412"/>
            <a:ext cx="10881360" cy="347472"/>
          </a:xfrm>
          <a:prstGeom prst="rect">
            <a:avLst/>
          </a:prstGeom>
          <a:noFill/>
          <a:ln/>
        </p:spPr>
        <p:txBody>
          <a:bodyPr wrap="square" lIns="0" tIns="0" rIns="0" bIns="0" rtlCol="0" anchor="ctr">
            <a:normAutofit/>
          </a:bodyPr>
          <a:lstStyle/>
          <a:p>
            <a:r>
              <a:t>Minimum setup to run every example in this training deck.</a:t>
            </a:r>
          </a:p>
        </p:txBody>
      </p:sp>
      <p:sp>
        <p:nvSpPr>
          <p:cNvPr id="7" name="Shape 5"/>
          <p:cNvSpPr/>
          <p:nvPr/>
        </p:nvSpPr>
        <p:spPr>
          <a:xfrm>
            <a:off x="676656" y="1453896"/>
            <a:ext cx="365760" cy="365760"/>
          </a:xfrm>
          <a:prstGeom prst="ellipse">
            <a:avLst/>
          </a:prstGeom>
          <a:solidFill>
            <a:srgbClr val="009E9A"/>
          </a:solidFill>
          <a:ln w="12700">
            <a:solidFill>
              <a:srgbClr val="FFFFFF"/>
            </a:solidFill>
            <a:prstDash val="solid"/>
          </a:ln>
        </p:spPr>
      </p:sp>
      <p:sp>
        <p:nvSpPr>
          <p:cNvPr id="8" name="Text 6"/>
          <p:cNvSpPr/>
          <p:nvPr/>
        </p:nvSpPr>
        <p:spPr>
          <a:xfrm>
            <a:off x="676656" y="1536192"/>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1</a:t>
            </a:r>
            <a:endParaRPr lang="en-US" sz="950" dirty="0"/>
          </a:p>
        </p:txBody>
      </p:sp>
      <p:sp>
        <p:nvSpPr>
          <p:cNvPr id="9" name="Text 7"/>
          <p:cNvSpPr/>
          <p:nvPr/>
        </p:nvSpPr>
        <p:spPr>
          <a:xfrm>
            <a:off x="1188720" y="1389888"/>
            <a:ext cx="4754880" cy="530352"/>
          </a:xfrm>
          <a:prstGeom prst="rect">
            <a:avLst/>
          </a:prstGeom>
          <a:noFill/>
          <a:ln/>
        </p:spPr>
        <p:txBody>
          <a:bodyPr wrap="square" lIns="0" tIns="0" rIns="0" bIns="0" rtlCol="0" anchor="ctr">
            <a:normAutofit/>
          </a:bodyPr>
          <a:lstStyle/>
          <a:p>
            <a:r>
              <a:rPr sz="1140" b="1">
                <a:solidFill>
                  <a:srgbClr val="0B6B57"/>
                </a:solidFill>
                <a:latin typeface="Aptos"/>
              </a:rPr>
              <a:t>Microsoft Excel 2021 or later — minimum for full compatibility.</a:t>
            </a:r>
          </a:p>
        </p:txBody>
      </p:sp>
      <p:sp>
        <p:nvSpPr>
          <p:cNvPr id="10" name="Shape 8"/>
          <p:cNvSpPr/>
          <p:nvPr/>
        </p:nvSpPr>
        <p:spPr>
          <a:xfrm>
            <a:off x="676656" y="2267712"/>
            <a:ext cx="365760" cy="365760"/>
          </a:xfrm>
          <a:prstGeom prst="ellipse">
            <a:avLst/>
          </a:prstGeom>
          <a:solidFill>
            <a:srgbClr val="009E9A"/>
          </a:solidFill>
          <a:ln w="12700">
            <a:solidFill>
              <a:srgbClr val="FFFFFF"/>
            </a:solidFill>
            <a:prstDash val="solid"/>
          </a:ln>
        </p:spPr>
      </p:sp>
      <p:sp>
        <p:nvSpPr>
          <p:cNvPr id="11" name="Text 9"/>
          <p:cNvSpPr/>
          <p:nvPr/>
        </p:nvSpPr>
        <p:spPr>
          <a:xfrm>
            <a:off x="676656" y="2350008"/>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2</a:t>
            </a:r>
            <a:endParaRPr lang="en-US" sz="950" dirty="0"/>
          </a:p>
        </p:txBody>
      </p:sp>
      <p:sp>
        <p:nvSpPr>
          <p:cNvPr id="12" name="Text 10"/>
          <p:cNvSpPr/>
          <p:nvPr/>
        </p:nvSpPr>
        <p:spPr>
          <a:xfrm>
            <a:off x="1188720" y="2203704"/>
            <a:ext cx="4754880" cy="530352"/>
          </a:xfrm>
          <a:prstGeom prst="rect">
            <a:avLst/>
          </a:prstGeom>
          <a:noFill/>
          <a:ln/>
        </p:spPr>
        <p:txBody>
          <a:bodyPr wrap="square" lIns="0" tIns="0" rIns="0" bIns="0" rtlCol="0" anchor="ctr">
            <a:normAutofit/>
          </a:bodyPr>
          <a:lstStyle/>
          <a:p>
            <a:r>
              <a:rPr sz="1140" b="1">
                <a:solidFill>
                  <a:srgbClr val="0B1F33"/>
                </a:solidFill>
                <a:latin typeface="Aptos"/>
              </a:rPr>
              <a:t>Recommended: Microsoft Excel 2024 or Microsoft 365.</a:t>
            </a:r>
          </a:p>
        </p:txBody>
      </p:sp>
      <p:sp>
        <p:nvSpPr>
          <p:cNvPr id="13" name="Shape 11"/>
          <p:cNvSpPr/>
          <p:nvPr/>
        </p:nvSpPr>
        <p:spPr>
          <a:xfrm>
            <a:off x="676656" y="3081528"/>
            <a:ext cx="365760" cy="365760"/>
          </a:xfrm>
          <a:prstGeom prst="ellipse">
            <a:avLst/>
          </a:prstGeom>
          <a:solidFill>
            <a:srgbClr val="009E9A"/>
          </a:solidFill>
          <a:ln w="12700">
            <a:solidFill>
              <a:srgbClr val="FFFFFF"/>
            </a:solidFill>
            <a:prstDash val="solid"/>
          </a:ln>
        </p:spPr>
      </p:sp>
      <p:sp>
        <p:nvSpPr>
          <p:cNvPr id="14" name="Text 12"/>
          <p:cNvSpPr/>
          <p:nvPr/>
        </p:nvSpPr>
        <p:spPr>
          <a:xfrm>
            <a:off x="676656" y="3163824"/>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3</a:t>
            </a:r>
            <a:endParaRPr lang="en-US" sz="950" dirty="0"/>
          </a:p>
        </p:txBody>
      </p:sp>
      <p:sp>
        <p:nvSpPr>
          <p:cNvPr id="15" name="Text 13"/>
          <p:cNvSpPr/>
          <p:nvPr/>
        </p:nvSpPr>
        <p:spPr>
          <a:xfrm>
            <a:off x="1188720" y="3017520"/>
            <a:ext cx="4754880" cy="530352"/>
          </a:xfrm>
          <a:prstGeom prst="rect">
            <a:avLst/>
          </a:prstGeom>
          <a:noFill/>
          <a:ln/>
        </p:spPr>
        <p:txBody>
          <a:bodyPr wrap="square" lIns="0" tIns="0" rIns="0" bIns="0" rtlCol="0" anchor="ctr">
            <a:normAutofit/>
          </a:bodyPr>
          <a:lstStyle/>
          <a:p>
            <a:r>
              <a:rPr sz="1110" b="0">
                <a:solidFill>
                  <a:srgbClr val="26364A"/>
                </a:solidFill>
                <a:latin typeface="Aptos"/>
              </a:rPr>
              <a:t>Enable the Analysis ToolPak (Data → Data Analysis).</a:t>
            </a:r>
          </a:p>
        </p:txBody>
      </p:sp>
      <p:sp>
        <p:nvSpPr>
          <p:cNvPr id="16" name="Shape 14"/>
          <p:cNvSpPr/>
          <p:nvPr/>
        </p:nvSpPr>
        <p:spPr>
          <a:xfrm>
            <a:off x="676656" y="3895344"/>
            <a:ext cx="365760" cy="365760"/>
          </a:xfrm>
          <a:prstGeom prst="ellipse">
            <a:avLst/>
          </a:prstGeom>
          <a:solidFill>
            <a:srgbClr val="009E9A"/>
          </a:solidFill>
          <a:ln w="12700">
            <a:solidFill>
              <a:srgbClr val="FFFFFF"/>
            </a:solidFill>
            <a:prstDash val="solid"/>
          </a:ln>
        </p:spPr>
      </p:sp>
      <p:sp>
        <p:nvSpPr>
          <p:cNvPr id="17" name="Text 15"/>
          <p:cNvSpPr/>
          <p:nvPr/>
        </p:nvSpPr>
        <p:spPr>
          <a:xfrm>
            <a:off x="676656" y="3977640"/>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4</a:t>
            </a:r>
            <a:endParaRPr lang="en-US" sz="950" dirty="0"/>
          </a:p>
        </p:txBody>
      </p:sp>
      <p:sp>
        <p:nvSpPr>
          <p:cNvPr id="18" name="Text 16"/>
          <p:cNvSpPr/>
          <p:nvPr/>
        </p:nvSpPr>
        <p:spPr>
          <a:xfrm>
            <a:off x="1188720" y="3831336"/>
            <a:ext cx="4754880" cy="530352"/>
          </a:xfrm>
          <a:prstGeom prst="rect">
            <a:avLst/>
          </a:prstGeom>
          <a:noFill/>
          <a:ln/>
        </p:spPr>
        <p:txBody>
          <a:bodyPr wrap="square" lIns="0" tIns="0" rIns="0" bIns="0" rtlCol="0" anchor="ctr">
            <a:normAutofit/>
          </a:bodyPr>
          <a:lstStyle/>
          <a:p>
            <a:r>
              <a:rPr sz="1110" b="0">
                <a:solidFill>
                  <a:srgbClr val="26364A"/>
                </a:solidFill>
                <a:latin typeface="Aptos"/>
              </a:rPr>
              <a:t>Windows 10 or Windows 11 recommended for the classroom setup.</a:t>
            </a:r>
          </a:p>
        </p:txBody>
      </p:sp>
      <p:sp>
        <p:nvSpPr>
          <p:cNvPr id="19" name="Shape 17"/>
          <p:cNvSpPr/>
          <p:nvPr/>
        </p:nvSpPr>
        <p:spPr>
          <a:xfrm>
            <a:off x="676656" y="4709160"/>
            <a:ext cx="365760" cy="365760"/>
          </a:xfrm>
          <a:prstGeom prst="ellipse">
            <a:avLst/>
          </a:prstGeom>
          <a:solidFill>
            <a:srgbClr val="009E9A"/>
          </a:solidFill>
          <a:ln w="12700">
            <a:solidFill>
              <a:srgbClr val="FFFFFF"/>
            </a:solidFill>
            <a:prstDash val="solid"/>
          </a:ln>
        </p:spPr>
      </p:sp>
      <p:sp>
        <p:nvSpPr>
          <p:cNvPr id="20" name="Text 18"/>
          <p:cNvSpPr/>
          <p:nvPr/>
        </p:nvSpPr>
        <p:spPr>
          <a:xfrm>
            <a:off x="676656" y="4791456"/>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5</a:t>
            </a:r>
            <a:endParaRPr lang="en-US" sz="950" dirty="0"/>
          </a:p>
        </p:txBody>
      </p:sp>
      <p:sp>
        <p:nvSpPr>
          <p:cNvPr id="21" name="Text 19"/>
          <p:cNvSpPr/>
          <p:nvPr/>
        </p:nvSpPr>
        <p:spPr>
          <a:xfrm>
            <a:off x="1188720" y="4645152"/>
            <a:ext cx="4754880" cy="530352"/>
          </a:xfrm>
          <a:prstGeom prst="rect">
            <a:avLst/>
          </a:prstGeom>
          <a:noFill/>
          <a:ln/>
        </p:spPr>
        <p:txBody>
          <a:bodyPr wrap="square" lIns="0" tIns="0" rIns="0" bIns="0" rtlCol="0" anchor="ctr">
            <a:normAutofit/>
          </a:bodyPr>
          <a:lstStyle/>
          <a:p>
            <a:r>
              <a:rPr sz="1110" b="0">
                <a:solidFill>
                  <a:srgbClr val="26364A"/>
                </a:solidFill>
                <a:latin typeface="Aptos"/>
              </a:rPr>
              <a:t>PowerPoint 2016+ or a compatible presentation viewer.</a:t>
            </a:r>
          </a:p>
        </p:txBody>
      </p:sp>
      <p:sp>
        <p:nvSpPr>
          <p:cNvPr id="22" name="Shape 20"/>
          <p:cNvSpPr/>
          <p:nvPr/>
        </p:nvSpPr>
        <p:spPr>
          <a:xfrm>
            <a:off x="6208776" y="1453896"/>
            <a:ext cx="365760" cy="365760"/>
          </a:xfrm>
          <a:prstGeom prst="ellipse">
            <a:avLst/>
          </a:prstGeom>
          <a:solidFill>
            <a:srgbClr val="2F6BFF"/>
          </a:solidFill>
          <a:ln w="12700">
            <a:solidFill>
              <a:srgbClr val="FFFFFF"/>
            </a:solidFill>
            <a:prstDash val="solid"/>
          </a:ln>
        </p:spPr>
      </p:sp>
      <p:sp>
        <p:nvSpPr>
          <p:cNvPr id="23" name="Text 21"/>
          <p:cNvSpPr/>
          <p:nvPr/>
        </p:nvSpPr>
        <p:spPr>
          <a:xfrm>
            <a:off x="6208776" y="1536192"/>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6</a:t>
            </a:r>
            <a:endParaRPr lang="en-US" sz="950" dirty="0"/>
          </a:p>
        </p:txBody>
      </p:sp>
      <p:sp>
        <p:nvSpPr>
          <p:cNvPr id="24" name="Text 22"/>
          <p:cNvSpPr/>
          <p:nvPr/>
        </p:nvSpPr>
        <p:spPr>
          <a:xfrm>
            <a:off x="6720840" y="1389888"/>
            <a:ext cx="4754880" cy="530352"/>
          </a:xfrm>
          <a:prstGeom prst="rect">
            <a:avLst/>
          </a:prstGeom>
          <a:noFill/>
          <a:ln/>
        </p:spPr>
        <p:txBody>
          <a:bodyPr wrap="square" lIns="0" tIns="0" rIns="0" bIns="0" rtlCol="0" anchor="ctr">
            <a:normAutofit/>
          </a:bodyPr>
          <a:lstStyle/>
          <a:p>
            <a:r>
              <a:rPr sz="1110" b="0">
                <a:solidFill>
                  <a:srgbClr val="26364A"/>
                </a:solidFill>
                <a:latin typeface="Aptos"/>
              </a:rPr>
              <a:t>Dynamic-array functions are used in examples: SORT and UNIQUE.</a:t>
            </a:r>
          </a:p>
        </p:txBody>
      </p:sp>
      <p:sp>
        <p:nvSpPr>
          <p:cNvPr id="25" name="Shape 23"/>
          <p:cNvSpPr/>
          <p:nvPr/>
        </p:nvSpPr>
        <p:spPr>
          <a:xfrm>
            <a:off x="6208776" y="2267712"/>
            <a:ext cx="365760" cy="365760"/>
          </a:xfrm>
          <a:prstGeom prst="ellipse">
            <a:avLst/>
          </a:prstGeom>
          <a:solidFill>
            <a:srgbClr val="2F6BFF"/>
          </a:solidFill>
          <a:ln w="12700">
            <a:solidFill>
              <a:srgbClr val="FFFFFF"/>
            </a:solidFill>
            <a:prstDash val="solid"/>
          </a:ln>
        </p:spPr>
      </p:sp>
      <p:sp>
        <p:nvSpPr>
          <p:cNvPr id="26" name="Text 24"/>
          <p:cNvSpPr/>
          <p:nvPr/>
        </p:nvSpPr>
        <p:spPr>
          <a:xfrm>
            <a:off x="6208776" y="2350008"/>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7</a:t>
            </a:r>
            <a:endParaRPr lang="en-US" sz="950" dirty="0"/>
          </a:p>
        </p:txBody>
      </p:sp>
      <p:sp>
        <p:nvSpPr>
          <p:cNvPr id="27" name="Text 25"/>
          <p:cNvSpPr/>
          <p:nvPr/>
        </p:nvSpPr>
        <p:spPr>
          <a:xfrm>
            <a:off x="6720840" y="2203704"/>
            <a:ext cx="4754880" cy="530352"/>
          </a:xfrm>
          <a:prstGeom prst="rect">
            <a:avLst/>
          </a:prstGeom>
          <a:noFill/>
          <a:ln/>
        </p:spPr>
        <p:txBody>
          <a:bodyPr wrap="square" lIns="0" tIns="0" rIns="0" bIns="0" rtlCol="0" anchor="ctr">
            <a:normAutofit/>
          </a:bodyPr>
          <a:lstStyle/>
          <a:p>
            <a:r>
              <a:rPr sz="1110" b="0">
                <a:solidFill>
                  <a:srgbClr val="26364A"/>
                </a:solidFill>
                <a:latin typeface="Aptos"/>
              </a:rPr>
              <a:t>Excel Tables (Ctrl+T) are used throughout the EDA workflow.</a:t>
            </a:r>
          </a:p>
        </p:txBody>
      </p:sp>
      <p:sp>
        <p:nvSpPr>
          <p:cNvPr id="28" name="Shape 26"/>
          <p:cNvSpPr/>
          <p:nvPr/>
        </p:nvSpPr>
        <p:spPr>
          <a:xfrm>
            <a:off x="6208776" y="3081528"/>
            <a:ext cx="365760" cy="365760"/>
          </a:xfrm>
          <a:prstGeom prst="ellipse">
            <a:avLst/>
          </a:prstGeom>
          <a:solidFill>
            <a:srgbClr val="2F6BFF"/>
          </a:solidFill>
          <a:ln w="12700">
            <a:solidFill>
              <a:srgbClr val="FFFFFF"/>
            </a:solidFill>
            <a:prstDash val="solid"/>
          </a:ln>
        </p:spPr>
      </p:sp>
      <p:sp>
        <p:nvSpPr>
          <p:cNvPr id="29" name="Text 27"/>
          <p:cNvSpPr/>
          <p:nvPr/>
        </p:nvSpPr>
        <p:spPr>
          <a:xfrm>
            <a:off x="6208776" y="3163824"/>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8</a:t>
            </a:r>
            <a:endParaRPr lang="en-US" sz="950" dirty="0"/>
          </a:p>
        </p:txBody>
      </p:sp>
      <p:sp>
        <p:nvSpPr>
          <p:cNvPr id="30" name="Text 28"/>
          <p:cNvSpPr/>
          <p:nvPr/>
        </p:nvSpPr>
        <p:spPr>
          <a:xfrm>
            <a:off x="6720840" y="3017520"/>
            <a:ext cx="4754880" cy="530352"/>
          </a:xfrm>
          <a:prstGeom prst="rect">
            <a:avLst/>
          </a:prstGeom>
          <a:noFill/>
          <a:ln/>
        </p:spPr>
        <p:txBody>
          <a:bodyPr wrap="square" lIns="0" tIns="0" rIns="0" bIns="0" rtlCol="0" anchor="ctr">
            <a:normAutofit/>
          </a:bodyPr>
          <a:lstStyle/>
          <a:p>
            <a:r>
              <a:rPr sz="1110" b="0">
                <a:solidFill>
                  <a:srgbClr val="26364A"/>
                </a:solidFill>
                <a:latin typeface="Aptos"/>
              </a:rPr>
              <a:t>No Python, R, Power BI or other Data Science software required.</a:t>
            </a:r>
          </a:p>
        </p:txBody>
      </p:sp>
      <p:sp>
        <p:nvSpPr>
          <p:cNvPr id="31" name="Shape 29"/>
          <p:cNvSpPr/>
          <p:nvPr/>
        </p:nvSpPr>
        <p:spPr>
          <a:xfrm>
            <a:off x="6208776" y="3895344"/>
            <a:ext cx="365760" cy="365760"/>
          </a:xfrm>
          <a:prstGeom prst="ellipse">
            <a:avLst/>
          </a:prstGeom>
          <a:solidFill>
            <a:srgbClr val="2F6BFF"/>
          </a:solidFill>
          <a:ln w="12700">
            <a:solidFill>
              <a:srgbClr val="FFFFFF"/>
            </a:solidFill>
            <a:prstDash val="solid"/>
          </a:ln>
        </p:spPr>
      </p:sp>
      <p:sp>
        <p:nvSpPr>
          <p:cNvPr id="32" name="Text 30"/>
          <p:cNvSpPr/>
          <p:nvPr/>
        </p:nvSpPr>
        <p:spPr>
          <a:xfrm>
            <a:off x="6208776" y="3977640"/>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9</a:t>
            </a:r>
            <a:endParaRPr lang="en-US" sz="950" dirty="0"/>
          </a:p>
        </p:txBody>
      </p:sp>
      <p:sp>
        <p:nvSpPr>
          <p:cNvPr id="33" name="Text 31"/>
          <p:cNvSpPr/>
          <p:nvPr/>
        </p:nvSpPr>
        <p:spPr>
          <a:xfrm>
            <a:off x="6720840" y="3831336"/>
            <a:ext cx="4754880" cy="530352"/>
          </a:xfrm>
          <a:prstGeom prst="rect">
            <a:avLst/>
          </a:prstGeom>
          <a:noFill/>
          <a:ln/>
        </p:spPr>
        <p:txBody>
          <a:bodyPr wrap="square" lIns="0" tIns="0" rIns="0" bIns="0" rtlCol="0" anchor="ctr">
            <a:normAutofit/>
          </a:bodyPr>
          <a:lstStyle/>
          <a:p>
            <a:r>
              <a:rPr sz="1110" b="0">
                <a:solidFill>
                  <a:srgbClr val="26364A"/>
                </a:solidFill>
                <a:latin typeface="Aptos"/>
              </a:rPr>
              <a:t>No VBA or macros required.</a:t>
            </a:r>
          </a:p>
        </p:txBody>
      </p:sp>
      <p:sp>
        <p:nvSpPr>
          <p:cNvPr id="34" name="Shape 32"/>
          <p:cNvSpPr/>
          <p:nvPr/>
        </p:nvSpPr>
        <p:spPr>
          <a:xfrm>
            <a:off x="6208776" y="4709160"/>
            <a:ext cx="365760" cy="365760"/>
          </a:xfrm>
          <a:prstGeom prst="ellipse">
            <a:avLst/>
          </a:prstGeom>
          <a:solidFill>
            <a:srgbClr val="2F6BFF"/>
          </a:solidFill>
          <a:ln w="12700">
            <a:solidFill>
              <a:srgbClr val="FFFFFF"/>
            </a:solidFill>
            <a:prstDash val="solid"/>
          </a:ln>
        </p:spPr>
      </p:sp>
      <p:sp>
        <p:nvSpPr>
          <p:cNvPr id="35" name="Text 33"/>
          <p:cNvSpPr/>
          <p:nvPr/>
        </p:nvSpPr>
        <p:spPr>
          <a:xfrm>
            <a:off x="6208776" y="4791456"/>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10</a:t>
            </a:r>
            <a:endParaRPr lang="en-US" sz="950" dirty="0"/>
          </a:p>
        </p:txBody>
      </p:sp>
      <p:sp>
        <p:nvSpPr>
          <p:cNvPr id="36" name="Text 34"/>
          <p:cNvSpPr/>
          <p:nvPr/>
        </p:nvSpPr>
        <p:spPr>
          <a:xfrm>
            <a:off x="6720840" y="4645152"/>
            <a:ext cx="4754880" cy="530352"/>
          </a:xfrm>
          <a:prstGeom prst="rect">
            <a:avLst/>
          </a:prstGeom>
          <a:noFill/>
          <a:ln/>
        </p:spPr>
        <p:txBody>
          <a:bodyPr wrap="square" lIns="0" tIns="0" rIns="0" bIns="0" rtlCol="0" anchor="ctr">
            <a:normAutofit/>
          </a:bodyPr>
          <a:lstStyle/>
          <a:p>
            <a:r>
              <a:rPr sz="1110" b="0">
                <a:solidFill>
                  <a:srgbClr val="26364A"/>
                </a:solidFill>
                <a:latin typeface="Aptos"/>
              </a:rPr>
              <a:t>No Internet connection required for the exercises.</a:t>
            </a:r>
          </a:p>
        </p:txBody>
      </p:sp>
      <p:sp>
        <p:nvSpPr>
          <p:cNvPr id="37" name="Shape 35"/>
          <p:cNvSpPr/>
          <p:nvPr/>
        </p:nvSpPr>
        <p:spPr>
          <a:xfrm>
            <a:off x="1069848" y="5623560"/>
            <a:ext cx="10058400" cy="566928"/>
          </a:xfrm>
          <a:prstGeom prst="roundRect">
            <a:avLst>
              <a:gd name="adj" fmla="val 9677"/>
            </a:avLst>
          </a:prstGeom>
          <a:solidFill>
            <a:srgbClr val="0B1F33"/>
          </a:solidFill>
          <a:ln w="12700">
            <a:solidFill>
              <a:srgbClr val="0B1F33"/>
            </a:solidFill>
            <a:prstDash val="solid"/>
          </a:ln>
        </p:spPr>
      </p:sp>
      <p:sp>
        <p:nvSpPr>
          <p:cNvPr id="38" name="Text 36"/>
          <p:cNvSpPr/>
          <p:nvPr/>
        </p:nvSpPr>
        <p:spPr>
          <a:xfrm>
            <a:off x="1261872" y="5779008"/>
            <a:ext cx="9646920" cy="237744"/>
          </a:xfrm>
          <a:prstGeom prst="rect">
            <a:avLst/>
          </a:prstGeom>
          <a:noFill/>
          <a:ln/>
        </p:spPr>
        <p:txBody>
          <a:bodyPr wrap="square" lIns="0" tIns="0" rIns="0" bIns="0" rtlCol="0" anchor="ctr">
            <a:normAutofit/>
          </a:bodyPr>
          <a:lstStyle/>
          <a:p>
            <a:r>
              <a:rPr sz="1200" b="1">
                <a:solidFill>
                  <a:srgbClr val="FFFFFF"/>
                </a:solidFill>
                <a:latin typeface="Aptos"/>
              </a:rPr>
              <a:t>KEY REQUIREMENT   Full compatibility requires Excel 2021 or later  •  Recommended: Excel 2024 / Microsoft 365</a:t>
            </a:r>
          </a:p>
        </p:txBody>
      </p:sp>
      <p:sp>
        <p:nvSpPr>
          <p:cNvPr id="41" name="TextBox 1">
            <a:extLst>
              <a:ext uri="{FF2B5EF4-FFF2-40B4-BE49-F238E27FC236}">
                <a16:creationId xmlns:a16="http://schemas.microsoft.com/office/drawing/2014/main" id="{E3D7A79C-3145-9536-81A2-FE2CCA94AE11}"/>
              </a:ext>
            </a:extLst>
          </p:cNvPr>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42" name="Slide Number Placeholder 0">
            <a:extLst>
              <a:ext uri="{FF2B5EF4-FFF2-40B4-BE49-F238E27FC236}">
                <a16:creationId xmlns:a16="http://schemas.microsoft.com/office/drawing/2014/main" id="{8A640131-E7E6-9B10-40AB-7FFE57F60020}"/>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a:t>
            </a:fld>
            <a:endParaRPr lang="en-US"/>
          </a:p>
        </p:txBody>
      </p:sp>
    </p:spTree>
    <p:extLst>
      <p:ext uri="{BB962C8B-B14F-4D97-AF65-F5344CB8AC3E}">
        <p14:creationId xmlns:p14="http://schemas.microsoft.com/office/powerpoint/2010/main" val="295272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3" name="TextBox 2"/>
          <p:cNvSpPr txBox="1"/>
          <p:nvPr/>
        </p:nvSpPr>
        <p:spPr>
          <a:xfrm>
            <a:off x="457200" y="438912"/>
            <a:ext cx="10972800" cy="502920"/>
          </a:xfrm>
          <a:prstGeom prst="rect">
            <a:avLst/>
          </a:prstGeom>
          <a:noFill/>
        </p:spPr>
        <p:txBody>
          <a:bodyPr wrap="none" lIns="27432" tIns="9144" rIns="27432" bIns="9144" anchor="ctr">
            <a:spAutoFit/>
          </a:bodyPr>
          <a:lstStyle/>
          <a:p>
            <a:pPr algn="l"/>
            <a:r>
              <a:rPr sz="2600" b="1">
                <a:solidFill>
                  <a:srgbClr val="0B1F33"/>
                </a:solidFill>
                <a:latin typeface="Aptos"/>
              </a:rPr>
              <a:t>How to change the language in Excel</a:t>
            </a:r>
          </a:p>
        </p:txBody>
      </p:sp>
      <p:sp>
        <p:nvSpPr>
          <p:cNvPr id="4" name="TextBox 3"/>
          <p:cNvSpPr txBox="1"/>
          <p:nvPr/>
        </p:nvSpPr>
        <p:spPr>
          <a:xfrm>
            <a:off x="457200" y="1005840"/>
            <a:ext cx="10972800" cy="365760"/>
          </a:xfrm>
          <a:prstGeom prst="rect">
            <a:avLst/>
          </a:prstGeom>
          <a:noFill/>
        </p:spPr>
        <p:txBody>
          <a:bodyPr wrap="none" lIns="27432" tIns="9144" rIns="27432" bIns="9144" anchor="ctr">
            <a:spAutoFit/>
          </a:bodyPr>
          <a:lstStyle/>
          <a:p>
            <a:pPr algn="l"/>
            <a:r>
              <a:rPr sz="1400" b="0" dirty="0">
                <a:solidFill>
                  <a:srgbClr val="5C6C84"/>
                </a:solidFill>
                <a:latin typeface="Aptos"/>
              </a:rPr>
              <a:t>Display language controls menus and tabs; authoring language affects editing and localized function names.</a:t>
            </a:r>
          </a:p>
        </p:txBody>
      </p:sp>
      <p:sp>
        <p:nvSpPr>
          <p:cNvPr id="5" name="Rounded Rectangle 4"/>
          <p:cNvSpPr/>
          <p:nvPr/>
        </p:nvSpPr>
        <p:spPr>
          <a:xfrm>
            <a:off x="621792" y="1554480"/>
            <a:ext cx="7315200" cy="434340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764792"/>
            <a:ext cx="1417320" cy="292608"/>
          </a:xfrm>
          <a:prstGeom prst="rect">
            <a:avLst/>
          </a:prstGeom>
          <a:noFill/>
        </p:spPr>
        <p:txBody>
          <a:bodyPr wrap="none" lIns="27432" tIns="9144" rIns="27432" bIns="9144" anchor="ctr">
            <a:spAutoFit/>
          </a:bodyPr>
          <a:lstStyle/>
          <a:p>
            <a:pPr algn="l"/>
            <a:r>
              <a:rPr sz="1400" b="1">
                <a:solidFill>
                  <a:srgbClr val="0B1F33"/>
                </a:solidFill>
                <a:latin typeface="Aptos"/>
              </a:rPr>
              <a:t>1  Open Options</a:t>
            </a:r>
          </a:p>
        </p:txBody>
      </p:sp>
      <p:sp>
        <p:nvSpPr>
          <p:cNvPr id="7" name="Rounded Rectangle 6"/>
          <p:cNvSpPr/>
          <p:nvPr/>
        </p:nvSpPr>
        <p:spPr>
          <a:xfrm>
            <a:off x="877824" y="2167128"/>
            <a:ext cx="6784848" cy="548640"/>
          </a:xfrm>
          <a:prstGeom prst="roundRect">
            <a:avLst/>
          </a:prstGeom>
          <a:solidFill>
            <a:srgbClr val="F1F5F9"/>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459" y="2307654"/>
            <a:ext cx="5705600" cy="249299"/>
          </a:xfrm>
          <a:prstGeom prst="rect">
            <a:avLst/>
          </a:prstGeom>
          <a:noFill/>
        </p:spPr>
        <p:txBody>
          <a:bodyPr wrap="none" lIns="27432" tIns="9144" rIns="27432" bIns="9144" anchor="ctr">
            <a:spAutoFit/>
          </a:bodyPr>
          <a:lstStyle/>
          <a:p>
            <a:pPr algn="ctr"/>
            <a:r>
              <a:rPr sz="1500" b="1" dirty="0">
                <a:solidFill>
                  <a:srgbClr val="3469F6"/>
                </a:solidFill>
                <a:latin typeface="Aptos"/>
              </a:rPr>
              <a:t>File  →  Options  →  Language</a:t>
            </a:r>
            <a:r>
              <a:rPr lang="it-IT" sz="1500" b="1" dirty="0">
                <a:solidFill>
                  <a:srgbClr val="3469F6"/>
                </a:solidFill>
                <a:latin typeface="Aptos"/>
              </a:rPr>
              <a:t> </a:t>
            </a:r>
            <a:r>
              <a:rPr lang="it-IT" sz="1200" b="1" dirty="0">
                <a:solidFill>
                  <a:srgbClr val="3469F6"/>
                </a:solidFill>
                <a:latin typeface="Aptos"/>
              </a:rPr>
              <a:t>(with </a:t>
            </a:r>
            <a:r>
              <a:rPr lang="it-IT" sz="1200" b="1" dirty="0" err="1">
                <a:solidFill>
                  <a:srgbClr val="3469F6"/>
                </a:solidFill>
                <a:latin typeface="Aptos"/>
              </a:rPr>
              <a:t>possible</a:t>
            </a:r>
            <a:r>
              <a:rPr lang="it-IT" sz="1200" b="1" dirty="0">
                <a:solidFill>
                  <a:srgbClr val="3469F6"/>
                </a:solidFill>
                <a:latin typeface="Aptos"/>
              </a:rPr>
              <a:t> download for the new </a:t>
            </a:r>
            <a:r>
              <a:rPr lang="it-IT" sz="1200" b="1" dirty="0" err="1">
                <a:solidFill>
                  <a:srgbClr val="3469F6"/>
                </a:solidFill>
                <a:latin typeface="Aptos"/>
              </a:rPr>
              <a:t>language</a:t>
            </a:r>
            <a:r>
              <a:rPr lang="it-IT" sz="1200" b="1" dirty="0">
                <a:solidFill>
                  <a:srgbClr val="3469F6"/>
                </a:solidFill>
                <a:latin typeface="Aptos"/>
              </a:rPr>
              <a:t>)</a:t>
            </a:r>
            <a:endParaRPr sz="1500" b="1" dirty="0">
              <a:solidFill>
                <a:srgbClr val="3469F6"/>
              </a:solidFill>
              <a:latin typeface="Aptos"/>
            </a:endParaRPr>
          </a:p>
        </p:txBody>
      </p:sp>
      <p:sp>
        <p:nvSpPr>
          <p:cNvPr id="9" name="TextBox 8"/>
          <p:cNvSpPr txBox="1"/>
          <p:nvPr/>
        </p:nvSpPr>
        <p:spPr>
          <a:xfrm>
            <a:off x="877824" y="2926080"/>
            <a:ext cx="2057400" cy="292608"/>
          </a:xfrm>
          <a:prstGeom prst="rect">
            <a:avLst/>
          </a:prstGeom>
          <a:noFill/>
        </p:spPr>
        <p:txBody>
          <a:bodyPr wrap="none" lIns="27432" tIns="9144" rIns="27432" bIns="9144" anchor="ctr">
            <a:spAutoFit/>
          </a:bodyPr>
          <a:lstStyle/>
          <a:p>
            <a:pPr algn="l"/>
            <a:r>
              <a:rPr sz="1400" b="1">
                <a:solidFill>
                  <a:srgbClr val="0B1F33"/>
                </a:solidFill>
                <a:latin typeface="Aptos"/>
              </a:rPr>
              <a:t>2  Choose the language</a:t>
            </a:r>
          </a:p>
        </p:txBody>
      </p:sp>
      <p:sp>
        <p:nvSpPr>
          <p:cNvPr id="10" name="Rounded Rectangle 9"/>
          <p:cNvSpPr/>
          <p:nvPr/>
        </p:nvSpPr>
        <p:spPr>
          <a:xfrm>
            <a:off x="914400" y="3310128"/>
            <a:ext cx="3063240" cy="1261872"/>
          </a:xfrm>
          <a:prstGeom prst="roundRect">
            <a:avLst/>
          </a:prstGeom>
          <a:solidFill>
            <a:srgbClr val="FFFFFF"/>
          </a:solidFill>
          <a:ln w="15240">
            <a:solidFill>
              <a:srgbClr val="00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456432"/>
            <a:ext cx="2724912" cy="274320"/>
          </a:xfrm>
          <a:prstGeom prst="rect">
            <a:avLst/>
          </a:prstGeom>
          <a:noFill/>
        </p:spPr>
        <p:txBody>
          <a:bodyPr wrap="none" lIns="27432" tIns="9144" rIns="27432" bIns="9144" anchor="ctr">
            <a:spAutoFit/>
          </a:bodyPr>
          <a:lstStyle/>
          <a:p>
            <a:pPr algn="l"/>
            <a:r>
              <a:rPr sz="1200" b="1">
                <a:solidFill>
                  <a:srgbClr val="0B1F33"/>
                </a:solidFill>
                <a:latin typeface="Aptos"/>
              </a:rPr>
              <a:t>Office display language</a:t>
            </a:r>
          </a:p>
        </p:txBody>
      </p:sp>
      <p:sp>
        <p:nvSpPr>
          <p:cNvPr id="12" name="TextBox 11"/>
          <p:cNvSpPr txBox="1"/>
          <p:nvPr/>
        </p:nvSpPr>
        <p:spPr>
          <a:xfrm>
            <a:off x="1078992" y="3921124"/>
            <a:ext cx="2816352" cy="341632"/>
          </a:xfrm>
          <a:prstGeom prst="rect">
            <a:avLst/>
          </a:prstGeom>
          <a:noFill/>
        </p:spPr>
        <p:txBody>
          <a:bodyPr wrap="square" lIns="27432" tIns="9144" rIns="27432" bIns="9144" anchor="ctr">
            <a:spAutoFit/>
          </a:bodyPr>
          <a:lstStyle/>
          <a:p>
            <a:pPr algn="l"/>
            <a:r>
              <a:rPr sz="1050" b="0" dirty="0">
                <a:solidFill>
                  <a:srgbClr val="5C6C84"/>
                </a:solidFill>
                <a:latin typeface="Aptos"/>
              </a:rPr>
              <a:t>Changes Ribbon tabs, menus, commands and dialog boxes.</a:t>
            </a:r>
          </a:p>
        </p:txBody>
      </p:sp>
      <p:sp>
        <p:nvSpPr>
          <p:cNvPr id="13" name="Rounded Rectangle 12"/>
          <p:cNvSpPr/>
          <p:nvPr/>
        </p:nvSpPr>
        <p:spPr>
          <a:xfrm>
            <a:off x="4297680" y="3310128"/>
            <a:ext cx="3063240" cy="1261872"/>
          </a:xfrm>
          <a:prstGeom prst="roundRect">
            <a:avLst/>
          </a:prstGeom>
          <a:solidFill>
            <a:srgbClr val="FFFFFF"/>
          </a:solidFill>
          <a:ln w="15240">
            <a:solidFill>
              <a:srgbClr val="217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3456432"/>
            <a:ext cx="2724912" cy="274320"/>
          </a:xfrm>
          <a:prstGeom prst="rect">
            <a:avLst/>
          </a:prstGeom>
          <a:noFill/>
        </p:spPr>
        <p:txBody>
          <a:bodyPr wrap="none" lIns="27432" tIns="9144" rIns="27432" bIns="9144" anchor="ctr">
            <a:spAutoFit/>
          </a:bodyPr>
          <a:lstStyle/>
          <a:p>
            <a:pPr algn="l"/>
            <a:r>
              <a:rPr sz="1200" b="1">
                <a:solidFill>
                  <a:srgbClr val="0B1F33"/>
                </a:solidFill>
                <a:latin typeface="Aptos"/>
              </a:rPr>
              <a:t>Office authoring languages</a:t>
            </a:r>
          </a:p>
        </p:txBody>
      </p:sp>
      <p:sp>
        <p:nvSpPr>
          <p:cNvPr id="15" name="TextBox 14"/>
          <p:cNvSpPr txBox="1"/>
          <p:nvPr/>
        </p:nvSpPr>
        <p:spPr>
          <a:xfrm>
            <a:off x="4462272" y="3921124"/>
            <a:ext cx="2798064" cy="341632"/>
          </a:xfrm>
          <a:prstGeom prst="rect">
            <a:avLst/>
          </a:prstGeom>
          <a:noFill/>
        </p:spPr>
        <p:txBody>
          <a:bodyPr wrap="square" lIns="27432" tIns="9144" rIns="27432" bIns="9144" anchor="ctr">
            <a:spAutoFit/>
          </a:bodyPr>
          <a:lstStyle/>
          <a:p>
            <a:pPr algn="l"/>
            <a:r>
              <a:rPr sz="1050" b="0">
                <a:solidFill>
                  <a:srgbClr val="5C6C84"/>
                </a:solidFill>
                <a:latin typeface="Aptos"/>
              </a:rPr>
              <a:t>Controls proofing/editing language and can affect localized function names.</a:t>
            </a:r>
          </a:p>
        </p:txBody>
      </p:sp>
      <p:sp>
        <p:nvSpPr>
          <p:cNvPr id="16" name="TextBox 15"/>
          <p:cNvSpPr txBox="1"/>
          <p:nvPr/>
        </p:nvSpPr>
        <p:spPr>
          <a:xfrm>
            <a:off x="877824" y="4828032"/>
            <a:ext cx="6629400" cy="512064"/>
          </a:xfrm>
          <a:prstGeom prst="rect">
            <a:avLst/>
          </a:prstGeom>
          <a:noFill/>
        </p:spPr>
        <p:txBody>
          <a:bodyPr wrap="none" lIns="27432" tIns="9144" rIns="27432" bIns="9144" anchor="ctr">
            <a:spAutoFit/>
          </a:bodyPr>
          <a:lstStyle/>
          <a:p>
            <a:pPr algn="ctr"/>
            <a:r>
              <a:rPr sz="1200" b="1">
                <a:solidFill>
                  <a:srgbClr val="0B1F33"/>
                </a:solidFill>
                <a:latin typeface="Aptos"/>
              </a:rPr>
              <a:t>Select the desired language → Set as Preferred / Default → restart Excel if requested.</a:t>
            </a:r>
          </a:p>
        </p:txBody>
      </p:sp>
      <p:sp>
        <p:nvSpPr>
          <p:cNvPr id="17" name="Rounded Rectangle 16"/>
          <p:cNvSpPr/>
          <p:nvPr/>
        </p:nvSpPr>
        <p:spPr>
          <a:xfrm>
            <a:off x="8247888" y="1554480"/>
            <a:ext cx="3310128" cy="4343400"/>
          </a:xfrm>
          <a:prstGeom prst="roundRect">
            <a:avLst/>
          </a:prstGeom>
          <a:solidFill>
            <a:srgbClr val="F0F8F4"/>
          </a:solidFill>
          <a:ln>
            <a:solidFill>
              <a:srgbClr val="BADB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8" y="1783080"/>
            <a:ext cx="2761488" cy="292608"/>
          </a:xfrm>
          <a:prstGeom prst="rect">
            <a:avLst/>
          </a:prstGeom>
          <a:noFill/>
        </p:spPr>
        <p:txBody>
          <a:bodyPr wrap="none" lIns="27432" tIns="9144" rIns="27432" bIns="9144" anchor="ctr">
            <a:spAutoFit/>
          </a:bodyPr>
          <a:lstStyle/>
          <a:p>
            <a:pPr algn="l"/>
            <a:r>
              <a:rPr sz="1500" b="1">
                <a:solidFill>
                  <a:srgbClr val="0B1F33"/>
                </a:solidFill>
                <a:latin typeface="Aptos"/>
              </a:rPr>
              <a:t>What changes?</a:t>
            </a:r>
          </a:p>
        </p:txBody>
      </p:sp>
      <p:sp>
        <p:nvSpPr>
          <p:cNvPr id="19" name="TextBox 18"/>
          <p:cNvSpPr txBox="1"/>
          <p:nvPr/>
        </p:nvSpPr>
        <p:spPr>
          <a:xfrm>
            <a:off x="8522208" y="2267712"/>
            <a:ext cx="1097280" cy="256032"/>
          </a:xfrm>
          <a:prstGeom prst="rect">
            <a:avLst/>
          </a:prstGeom>
          <a:noFill/>
        </p:spPr>
        <p:txBody>
          <a:bodyPr wrap="none" lIns="27432" tIns="9144" rIns="27432" bIns="9144" anchor="ctr">
            <a:spAutoFit/>
          </a:bodyPr>
          <a:lstStyle/>
          <a:p>
            <a:pPr algn="l"/>
            <a:r>
              <a:rPr sz="1100" b="1">
                <a:solidFill>
                  <a:srgbClr val="009E9A"/>
                </a:solidFill>
                <a:latin typeface="Aptos"/>
              </a:rPr>
              <a:t>Ribbon</a:t>
            </a:r>
          </a:p>
        </p:txBody>
      </p:sp>
      <p:sp>
        <p:nvSpPr>
          <p:cNvPr id="20" name="TextBox 19"/>
          <p:cNvSpPr txBox="1"/>
          <p:nvPr/>
        </p:nvSpPr>
        <p:spPr>
          <a:xfrm>
            <a:off x="9491472" y="2212848"/>
            <a:ext cx="1691640" cy="384048"/>
          </a:xfrm>
          <a:prstGeom prst="rect">
            <a:avLst/>
          </a:prstGeom>
          <a:noFill/>
        </p:spPr>
        <p:txBody>
          <a:bodyPr wrap="none" lIns="27432" tIns="9144" rIns="27432" bIns="9144" anchor="ctr">
            <a:spAutoFit/>
          </a:bodyPr>
          <a:lstStyle/>
          <a:p>
            <a:pPr algn="l"/>
            <a:r>
              <a:rPr sz="1050" b="0">
                <a:solidFill>
                  <a:srgbClr val="5C6C84"/>
                </a:solidFill>
                <a:latin typeface="Aptos"/>
              </a:rPr>
              <a:t>Home ↔ Home
Data ↔ Dati</a:t>
            </a:r>
          </a:p>
        </p:txBody>
      </p:sp>
      <p:sp>
        <p:nvSpPr>
          <p:cNvPr id="21" name="TextBox 20"/>
          <p:cNvSpPr txBox="1"/>
          <p:nvPr/>
        </p:nvSpPr>
        <p:spPr>
          <a:xfrm>
            <a:off x="8522208" y="2907792"/>
            <a:ext cx="1097280" cy="256032"/>
          </a:xfrm>
          <a:prstGeom prst="rect">
            <a:avLst/>
          </a:prstGeom>
          <a:noFill/>
        </p:spPr>
        <p:txBody>
          <a:bodyPr wrap="none" lIns="27432" tIns="9144" rIns="27432" bIns="9144" anchor="ctr">
            <a:spAutoFit/>
          </a:bodyPr>
          <a:lstStyle/>
          <a:p>
            <a:pPr algn="l"/>
            <a:r>
              <a:rPr sz="1100" b="1">
                <a:solidFill>
                  <a:srgbClr val="009E9A"/>
                </a:solidFill>
                <a:latin typeface="Aptos"/>
              </a:rPr>
              <a:t>Menus</a:t>
            </a:r>
          </a:p>
        </p:txBody>
      </p:sp>
      <p:sp>
        <p:nvSpPr>
          <p:cNvPr id="22" name="TextBox 21"/>
          <p:cNvSpPr txBox="1"/>
          <p:nvPr/>
        </p:nvSpPr>
        <p:spPr>
          <a:xfrm>
            <a:off x="9491472" y="2852928"/>
            <a:ext cx="1691640" cy="384048"/>
          </a:xfrm>
          <a:prstGeom prst="rect">
            <a:avLst/>
          </a:prstGeom>
          <a:noFill/>
        </p:spPr>
        <p:txBody>
          <a:bodyPr wrap="none" lIns="27432" tIns="9144" rIns="27432" bIns="9144" anchor="ctr">
            <a:spAutoFit/>
          </a:bodyPr>
          <a:lstStyle/>
          <a:p>
            <a:pPr algn="l"/>
            <a:r>
              <a:rPr sz="1050" b="0">
                <a:solidFill>
                  <a:srgbClr val="5C6C84"/>
                </a:solidFill>
                <a:latin typeface="Aptos"/>
              </a:rPr>
              <a:t>File ↔ File
Options ↔ Opzioni</a:t>
            </a:r>
          </a:p>
        </p:txBody>
      </p:sp>
      <p:sp>
        <p:nvSpPr>
          <p:cNvPr id="23" name="TextBox 22"/>
          <p:cNvSpPr txBox="1"/>
          <p:nvPr/>
        </p:nvSpPr>
        <p:spPr>
          <a:xfrm>
            <a:off x="8522208" y="3547872"/>
            <a:ext cx="1097280" cy="256032"/>
          </a:xfrm>
          <a:prstGeom prst="rect">
            <a:avLst/>
          </a:prstGeom>
          <a:noFill/>
        </p:spPr>
        <p:txBody>
          <a:bodyPr wrap="none" lIns="27432" tIns="9144" rIns="27432" bIns="9144" anchor="ctr">
            <a:spAutoFit/>
          </a:bodyPr>
          <a:lstStyle/>
          <a:p>
            <a:pPr algn="l"/>
            <a:r>
              <a:rPr sz="1100" b="1">
                <a:solidFill>
                  <a:srgbClr val="009E9A"/>
                </a:solidFill>
                <a:latin typeface="Aptos"/>
              </a:rPr>
              <a:t>Functions</a:t>
            </a:r>
          </a:p>
        </p:txBody>
      </p:sp>
      <p:sp>
        <p:nvSpPr>
          <p:cNvPr id="24" name="TextBox 23"/>
          <p:cNvSpPr txBox="1"/>
          <p:nvPr/>
        </p:nvSpPr>
        <p:spPr>
          <a:xfrm>
            <a:off x="9491472" y="3493008"/>
            <a:ext cx="1737360" cy="457200"/>
          </a:xfrm>
          <a:prstGeom prst="rect">
            <a:avLst/>
          </a:prstGeom>
          <a:noFill/>
        </p:spPr>
        <p:txBody>
          <a:bodyPr wrap="none" lIns="27432" tIns="9144" rIns="27432" bIns="9144" anchor="ctr">
            <a:spAutoFit/>
          </a:bodyPr>
          <a:lstStyle/>
          <a:p>
            <a:pPr algn="l"/>
            <a:r>
              <a:rPr sz="1050" b="0">
                <a:solidFill>
                  <a:srgbClr val="5C6C84"/>
                </a:solidFill>
                <a:latin typeface="Aptos"/>
              </a:rPr>
              <a:t>SUM ↔ SOMMA
AVERAGE ↔ MEDIA</a:t>
            </a:r>
          </a:p>
        </p:txBody>
      </p:sp>
      <p:sp>
        <p:nvSpPr>
          <p:cNvPr id="25" name="TextBox 24"/>
          <p:cNvSpPr txBox="1"/>
          <p:nvPr/>
        </p:nvSpPr>
        <p:spPr>
          <a:xfrm>
            <a:off x="8522208" y="4279392"/>
            <a:ext cx="1097280" cy="256032"/>
          </a:xfrm>
          <a:prstGeom prst="rect">
            <a:avLst/>
          </a:prstGeom>
          <a:noFill/>
        </p:spPr>
        <p:txBody>
          <a:bodyPr wrap="none" lIns="27432" tIns="9144" rIns="27432" bIns="9144" anchor="ctr">
            <a:spAutoFit/>
          </a:bodyPr>
          <a:lstStyle/>
          <a:p>
            <a:pPr algn="l"/>
            <a:r>
              <a:rPr sz="1100" b="1">
                <a:solidFill>
                  <a:srgbClr val="EB912A"/>
                </a:solidFill>
                <a:latin typeface="Aptos"/>
              </a:rPr>
              <a:t>Separators</a:t>
            </a:r>
          </a:p>
        </p:txBody>
      </p:sp>
      <p:sp>
        <p:nvSpPr>
          <p:cNvPr id="26" name="TextBox 25"/>
          <p:cNvSpPr txBox="1"/>
          <p:nvPr/>
        </p:nvSpPr>
        <p:spPr>
          <a:xfrm>
            <a:off x="9491472" y="4263502"/>
            <a:ext cx="1883664" cy="488980"/>
          </a:xfrm>
          <a:prstGeom prst="rect">
            <a:avLst/>
          </a:prstGeom>
          <a:noFill/>
        </p:spPr>
        <p:txBody>
          <a:bodyPr wrap="square" lIns="27432" tIns="9144" rIns="27432" bIns="9144" anchor="ctr">
            <a:spAutoFit/>
          </a:bodyPr>
          <a:lstStyle/>
          <a:p>
            <a:pPr algn="l"/>
            <a:r>
              <a:rPr sz="1019" b="0" dirty="0">
                <a:solidFill>
                  <a:srgbClr val="5C6C84"/>
                </a:solidFill>
                <a:latin typeface="Aptos"/>
              </a:rPr>
              <a:t>Comma / semicolon and decimal conventions may depend on regional settings.</a:t>
            </a:r>
          </a:p>
        </p:txBody>
      </p:sp>
      <p:sp>
        <p:nvSpPr>
          <p:cNvPr id="27" name="Rounded Rectangle 26"/>
          <p:cNvSpPr/>
          <p:nvPr/>
        </p:nvSpPr>
        <p:spPr>
          <a:xfrm>
            <a:off x="621792" y="6144768"/>
            <a:ext cx="10936224" cy="47548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6208776"/>
            <a:ext cx="10570464" cy="329184"/>
          </a:xfrm>
          <a:prstGeom prst="rect">
            <a:avLst/>
          </a:prstGeom>
          <a:noFill/>
        </p:spPr>
        <p:txBody>
          <a:bodyPr wrap="none" lIns="27432" tIns="9144" rIns="27432" bIns="9144" anchor="ctr">
            <a:spAutoFit/>
          </a:bodyPr>
          <a:lstStyle/>
          <a:p>
            <a:pPr algn="ctr"/>
            <a:r>
              <a:rPr sz="1150" b="1">
                <a:solidFill>
                  <a:srgbClr val="FFFFFF"/>
                </a:solidFill>
                <a:latin typeface="Aptos"/>
              </a:rPr>
              <a:t>If the language is not installed, Excel may offer Add a Language / install the Office language pack.</a:t>
            </a:r>
          </a:p>
        </p:txBody>
      </p:sp>
      <p:sp>
        <p:nvSpPr>
          <p:cNvPr id="30" name="Slide Number Placeholder 0">
            <a:extLst>
              <a:ext uri="{FF2B5EF4-FFF2-40B4-BE49-F238E27FC236}">
                <a16:creationId xmlns:a16="http://schemas.microsoft.com/office/drawing/2014/main" id="{4EB12402-F72F-B820-1E19-AB876CFFF7C1}"/>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502920"/>
            <a:ext cx="8046720" cy="384048"/>
          </a:xfrm>
          <a:prstGeom prst="rect">
            <a:avLst/>
          </a:prstGeom>
          <a:noFill/>
          <a:ln/>
        </p:spPr>
        <p:txBody>
          <a:bodyPr wrap="square" lIns="0" tIns="0" rIns="0" bIns="0" rtlCol="0" anchor="ctr"/>
          <a:lstStyle/>
          <a:p>
            <a:pPr marL="0" indent="0">
              <a:buNone/>
            </a:pPr>
            <a:r>
              <a:rPr lang="en-US" sz="2200" b="1" dirty="0">
                <a:solidFill>
                  <a:srgbClr val="17232D"/>
                </a:solidFill>
                <a:latin typeface="Arial" pitchFamily="34" charset="0"/>
                <a:ea typeface="Arial" pitchFamily="34" charset="-122"/>
                <a:cs typeface="Arial" pitchFamily="34" charset="-120"/>
              </a:rPr>
              <a:t>Anatomy of the Excel interface (2024)</a:t>
            </a:r>
            <a:endParaRPr lang="en-US" sz="2200" dirty="0"/>
          </a:p>
        </p:txBody>
      </p:sp>
      <p:sp>
        <p:nvSpPr>
          <p:cNvPr id="3" name="Text 1"/>
          <p:cNvSpPr/>
          <p:nvPr/>
        </p:nvSpPr>
        <p:spPr>
          <a:xfrm>
            <a:off x="502920" y="896112"/>
            <a:ext cx="8961120" cy="256032"/>
          </a:xfrm>
          <a:prstGeom prst="rect">
            <a:avLst/>
          </a:prstGeom>
          <a:noFill/>
          <a:ln/>
        </p:spPr>
        <p:txBody>
          <a:bodyPr wrap="square" lIns="0" tIns="0" rIns="0" bIns="0" rtlCol="0" anchor="ctr"/>
          <a:lstStyle/>
          <a:p>
            <a:pPr marL="0" indent="0">
              <a:buNone/>
            </a:pPr>
            <a:r>
              <a:rPr lang="en-US" sz="1150" dirty="0">
                <a:solidFill>
                  <a:srgbClr val="56636F"/>
                </a:solidFill>
                <a:latin typeface="Arial" pitchFamily="34" charset="0"/>
                <a:ea typeface="Arial" pitchFamily="34" charset="-122"/>
                <a:cs typeface="Arial" pitchFamily="34" charset="-120"/>
              </a:rPr>
              <a:t>The main components you will use when exploring and analysing tabular data</a:t>
            </a:r>
            <a:endParaRPr lang="en-US" sz="1150" dirty="0"/>
          </a:p>
        </p:txBody>
      </p:sp>
      <p:pic>
        <p:nvPicPr>
          <p:cNvPr id="4" name="Image 0" descr="/mnt/data/38bbf0cd-f5de-4cfb-a2b7-f10cc62599a9.png"/>
          <p:cNvPicPr>
            <a:picLocks noChangeAspect="1"/>
          </p:cNvPicPr>
          <p:nvPr/>
        </p:nvPicPr>
        <p:blipFill>
          <a:blip r:embed="rId3"/>
          <a:stretch>
            <a:fillRect/>
          </a:stretch>
        </p:blipFill>
        <p:spPr>
          <a:xfrm>
            <a:off x="502920" y="1280160"/>
            <a:ext cx="11183112" cy="3639312"/>
          </a:xfrm>
          <a:prstGeom prst="rect">
            <a:avLst/>
          </a:prstGeom>
        </p:spPr>
      </p:pic>
      <p:sp>
        <p:nvSpPr>
          <p:cNvPr id="5" name="Shape 2"/>
          <p:cNvSpPr/>
          <p:nvPr/>
        </p:nvSpPr>
        <p:spPr>
          <a:xfrm>
            <a:off x="502920" y="1280160"/>
            <a:ext cx="11183112" cy="3639312"/>
          </a:xfrm>
          <a:prstGeom prst="rect">
            <a:avLst/>
          </a:prstGeom>
          <a:solidFill>
            <a:srgbClr val="FFFFFF">
              <a:alpha val="0"/>
            </a:srgbClr>
          </a:solidFill>
          <a:ln w="8890">
            <a:solidFill>
              <a:srgbClr val="CBD5DE"/>
            </a:solidFill>
            <a:prstDash val="solid"/>
          </a:ln>
        </p:spPr>
      </p:sp>
      <p:sp>
        <p:nvSpPr>
          <p:cNvPr id="6" name="Shape 3"/>
          <p:cNvSpPr/>
          <p:nvPr/>
        </p:nvSpPr>
        <p:spPr>
          <a:xfrm>
            <a:off x="2071542" y="1299987"/>
            <a:ext cx="219456" cy="219456"/>
          </a:xfrm>
          <a:prstGeom prst="ellipse">
            <a:avLst/>
          </a:prstGeom>
          <a:solidFill>
            <a:srgbClr val="008F82"/>
          </a:solidFill>
          <a:ln w="12700">
            <a:solidFill>
              <a:srgbClr val="FFFFFF"/>
            </a:solidFill>
            <a:prstDash val="solid"/>
          </a:ln>
        </p:spPr>
      </p:sp>
      <p:sp>
        <p:nvSpPr>
          <p:cNvPr id="7" name="Text 4"/>
          <p:cNvSpPr/>
          <p:nvPr/>
        </p:nvSpPr>
        <p:spPr>
          <a:xfrm>
            <a:off x="2071542" y="1313703"/>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8" name="Shape 5"/>
          <p:cNvSpPr/>
          <p:nvPr/>
        </p:nvSpPr>
        <p:spPr>
          <a:xfrm>
            <a:off x="3691003" y="1299987"/>
            <a:ext cx="219456" cy="219456"/>
          </a:xfrm>
          <a:prstGeom prst="ellipse">
            <a:avLst/>
          </a:prstGeom>
          <a:solidFill>
            <a:srgbClr val="008F82"/>
          </a:solidFill>
          <a:ln w="12700">
            <a:solidFill>
              <a:srgbClr val="FFFFFF"/>
            </a:solidFill>
            <a:prstDash val="solid"/>
          </a:ln>
        </p:spPr>
      </p:sp>
      <p:sp>
        <p:nvSpPr>
          <p:cNvPr id="9" name="Text 6"/>
          <p:cNvSpPr/>
          <p:nvPr/>
        </p:nvSpPr>
        <p:spPr>
          <a:xfrm>
            <a:off x="3691003" y="1313703"/>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0" name="Shape 7"/>
          <p:cNvSpPr/>
          <p:nvPr/>
        </p:nvSpPr>
        <p:spPr>
          <a:xfrm>
            <a:off x="5987692" y="1299987"/>
            <a:ext cx="219456" cy="219456"/>
          </a:xfrm>
          <a:prstGeom prst="ellipse">
            <a:avLst/>
          </a:prstGeom>
          <a:solidFill>
            <a:srgbClr val="008F82"/>
          </a:solidFill>
          <a:ln w="12700">
            <a:solidFill>
              <a:srgbClr val="FFFFFF"/>
            </a:solidFill>
            <a:prstDash val="solid"/>
          </a:ln>
        </p:spPr>
      </p:sp>
      <p:sp>
        <p:nvSpPr>
          <p:cNvPr id="11" name="Text 8"/>
          <p:cNvSpPr/>
          <p:nvPr/>
        </p:nvSpPr>
        <p:spPr>
          <a:xfrm>
            <a:off x="5987692" y="1313703"/>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12" name="Shape 9"/>
          <p:cNvSpPr/>
          <p:nvPr/>
        </p:nvSpPr>
        <p:spPr>
          <a:xfrm>
            <a:off x="2719326" y="1535541"/>
            <a:ext cx="219456" cy="219456"/>
          </a:xfrm>
          <a:prstGeom prst="ellipse">
            <a:avLst/>
          </a:prstGeom>
          <a:solidFill>
            <a:srgbClr val="008F82"/>
          </a:solidFill>
          <a:ln w="12700">
            <a:solidFill>
              <a:srgbClr val="FFFFFF"/>
            </a:solidFill>
            <a:prstDash val="solid"/>
          </a:ln>
        </p:spPr>
      </p:sp>
      <p:sp>
        <p:nvSpPr>
          <p:cNvPr id="13" name="Text 10"/>
          <p:cNvSpPr/>
          <p:nvPr/>
        </p:nvSpPr>
        <p:spPr>
          <a:xfrm>
            <a:off x="2719326" y="1549257"/>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14" name="Shape 11"/>
          <p:cNvSpPr/>
          <p:nvPr/>
        </p:nvSpPr>
        <p:spPr>
          <a:xfrm>
            <a:off x="6105471" y="1900650"/>
            <a:ext cx="219456" cy="219456"/>
          </a:xfrm>
          <a:prstGeom prst="ellipse">
            <a:avLst/>
          </a:prstGeom>
          <a:solidFill>
            <a:srgbClr val="008F82"/>
          </a:solidFill>
          <a:ln w="12700">
            <a:solidFill>
              <a:srgbClr val="FFFFFF"/>
            </a:solidFill>
            <a:prstDash val="solid"/>
          </a:ln>
        </p:spPr>
      </p:sp>
      <p:sp>
        <p:nvSpPr>
          <p:cNvPr id="15" name="Text 12"/>
          <p:cNvSpPr/>
          <p:nvPr/>
        </p:nvSpPr>
        <p:spPr>
          <a:xfrm>
            <a:off x="6105471" y="1914366"/>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16" name="Shape 13"/>
          <p:cNvSpPr/>
          <p:nvPr/>
        </p:nvSpPr>
        <p:spPr>
          <a:xfrm>
            <a:off x="775974" y="2336425"/>
            <a:ext cx="219456" cy="219456"/>
          </a:xfrm>
          <a:prstGeom prst="ellipse">
            <a:avLst/>
          </a:prstGeom>
          <a:solidFill>
            <a:srgbClr val="008F82"/>
          </a:solidFill>
          <a:ln w="12700">
            <a:solidFill>
              <a:srgbClr val="FFFFFF"/>
            </a:solidFill>
            <a:prstDash val="solid"/>
          </a:ln>
        </p:spPr>
      </p:sp>
      <p:sp>
        <p:nvSpPr>
          <p:cNvPr id="17" name="Text 14"/>
          <p:cNvSpPr/>
          <p:nvPr/>
        </p:nvSpPr>
        <p:spPr>
          <a:xfrm>
            <a:off x="775974" y="2350141"/>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6</a:t>
            </a:r>
            <a:endParaRPr lang="en-US" sz="800" dirty="0"/>
          </a:p>
        </p:txBody>
      </p:sp>
      <p:sp>
        <p:nvSpPr>
          <p:cNvPr id="18" name="Shape 15"/>
          <p:cNvSpPr/>
          <p:nvPr/>
        </p:nvSpPr>
        <p:spPr>
          <a:xfrm>
            <a:off x="4633234" y="2336425"/>
            <a:ext cx="219456" cy="219456"/>
          </a:xfrm>
          <a:prstGeom prst="ellipse">
            <a:avLst/>
          </a:prstGeom>
          <a:solidFill>
            <a:srgbClr val="008F82"/>
          </a:solidFill>
          <a:ln w="12700">
            <a:solidFill>
              <a:srgbClr val="FFFFFF"/>
            </a:solidFill>
            <a:prstDash val="solid"/>
          </a:ln>
        </p:spPr>
      </p:sp>
      <p:sp>
        <p:nvSpPr>
          <p:cNvPr id="19" name="Text 16"/>
          <p:cNvSpPr/>
          <p:nvPr/>
        </p:nvSpPr>
        <p:spPr>
          <a:xfrm>
            <a:off x="4633234" y="2350141"/>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7</a:t>
            </a:r>
            <a:endParaRPr lang="en-US" sz="800" dirty="0"/>
          </a:p>
        </p:txBody>
      </p:sp>
      <p:sp>
        <p:nvSpPr>
          <p:cNvPr id="20" name="Shape 17"/>
          <p:cNvSpPr/>
          <p:nvPr/>
        </p:nvSpPr>
        <p:spPr>
          <a:xfrm>
            <a:off x="4338787" y="2719201"/>
            <a:ext cx="219456" cy="219456"/>
          </a:xfrm>
          <a:prstGeom prst="ellipse">
            <a:avLst/>
          </a:prstGeom>
          <a:solidFill>
            <a:srgbClr val="008F82"/>
          </a:solidFill>
          <a:ln w="12700">
            <a:solidFill>
              <a:srgbClr val="FFFFFF"/>
            </a:solidFill>
            <a:prstDash val="solid"/>
          </a:ln>
        </p:spPr>
      </p:sp>
      <p:sp>
        <p:nvSpPr>
          <p:cNvPr id="21" name="Text 18"/>
          <p:cNvSpPr/>
          <p:nvPr/>
        </p:nvSpPr>
        <p:spPr>
          <a:xfrm>
            <a:off x="4338787" y="2732917"/>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8</a:t>
            </a:r>
            <a:endParaRPr lang="en-US" sz="800" dirty="0"/>
          </a:p>
        </p:txBody>
      </p:sp>
      <p:sp>
        <p:nvSpPr>
          <p:cNvPr id="22" name="Shape 19"/>
          <p:cNvSpPr/>
          <p:nvPr/>
        </p:nvSpPr>
        <p:spPr>
          <a:xfrm>
            <a:off x="521357" y="3243309"/>
            <a:ext cx="219456" cy="219456"/>
          </a:xfrm>
          <a:prstGeom prst="ellipse">
            <a:avLst/>
          </a:prstGeom>
          <a:solidFill>
            <a:srgbClr val="008F82"/>
          </a:solidFill>
          <a:ln w="12700">
            <a:solidFill>
              <a:srgbClr val="FFFFFF"/>
            </a:solidFill>
            <a:prstDash val="solid"/>
          </a:ln>
        </p:spPr>
      </p:sp>
      <p:sp>
        <p:nvSpPr>
          <p:cNvPr id="23" name="Text 20"/>
          <p:cNvSpPr/>
          <p:nvPr/>
        </p:nvSpPr>
        <p:spPr>
          <a:xfrm>
            <a:off x="521357" y="3257025"/>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9</a:t>
            </a:r>
            <a:endParaRPr lang="en-US" sz="800" dirty="0"/>
          </a:p>
        </p:txBody>
      </p:sp>
      <p:sp>
        <p:nvSpPr>
          <p:cNvPr id="24" name="Shape 21"/>
          <p:cNvSpPr/>
          <p:nvPr/>
        </p:nvSpPr>
        <p:spPr>
          <a:xfrm>
            <a:off x="864308" y="2919422"/>
            <a:ext cx="219456" cy="219456"/>
          </a:xfrm>
          <a:prstGeom prst="ellipse">
            <a:avLst/>
          </a:prstGeom>
          <a:solidFill>
            <a:srgbClr val="008F82"/>
          </a:solidFill>
          <a:ln w="12700">
            <a:solidFill>
              <a:srgbClr val="FFFFFF"/>
            </a:solidFill>
            <a:prstDash val="solid"/>
          </a:ln>
        </p:spPr>
      </p:sp>
      <p:sp>
        <p:nvSpPr>
          <p:cNvPr id="25" name="Text 22"/>
          <p:cNvSpPr/>
          <p:nvPr/>
        </p:nvSpPr>
        <p:spPr>
          <a:xfrm>
            <a:off x="864308" y="2933138"/>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10</a:t>
            </a:r>
            <a:endParaRPr lang="en-US" sz="800" dirty="0"/>
          </a:p>
        </p:txBody>
      </p:sp>
      <p:sp>
        <p:nvSpPr>
          <p:cNvPr id="26" name="Shape 23"/>
          <p:cNvSpPr/>
          <p:nvPr/>
        </p:nvSpPr>
        <p:spPr>
          <a:xfrm>
            <a:off x="7872156" y="2919422"/>
            <a:ext cx="219456" cy="219456"/>
          </a:xfrm>
          <a:prstGeom prst="ellipse">
            <a:avLst/>
          </a:prstGeom>
          <a:solidFill>
            <a:srgbClr val="008F82"/>
          </a:solidFill>
          <a:ln w="12700">
            <a:solidFill>
              <a:srgbClr val="FFFFFF"/>
            </a:solidFill>
            <a:prstDash val="solid"/>
          </a:ln>
        </p:spPr>
      </p:sp>
      <p:sp>
        <p:nvSpPr>
          <p:cNvPr id="27" name="Text 24"/>
          <p:cNvSpPr/>
          <p:nvPr/>
        </p:nvSpPr>
        <p:spPr>
          <a:xfrm>
            <a:off x="7872156" y="2933138"/>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11</a:t>
            </a:r>
            <a:endParaRPr lang="en-US" sz="800" dirty="0"/>
          </a:p>
        </p:txBody>
      </p:sp>
      <p:sp>
        <p:nvSpPr>
          <p:cNvPr id="28" name="Shape 25"/>
          <p:cNvSpPr/>
          <p:nvPr/>
        </p:nvSpPr>
        <p:spPr>
          <a:xfrm>
            <a:off x="6458808" y="3938194"/>
            <a:ext cx="219456" cy="219456"/>
          </a:xfrm>
          <a:prstGeom prst="ellipse">
            <a:avLst/>
          </a:prstGeom>
          <a:solidFill>
            <a:srgbClr val="008F82"/>
          </a:solidFill>
          <a:ln w="12700">
            <a:solidFill>
              <a:srgbClr val="FFFFFF"/>
            </a:solidFill>
            <a:prstDash val="solid"/>
          </a:ln>
        </p:spPr>
      </p:sp>
      <p:sp>
        <p:nvSpPr>
          <p:cNvPr id="29" name="Text 26"/>
          <p:cNvSpPr/>
          <p:nvPr/>
        </p:nvSpPr>
        <p:spPr>
          <a:xfrm>
            <a:off x="6458808" y="3951910"/>
            <a:ext cx="219456" cy="15544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12</a:t>
            </a:r>
            <a:endParaRPr lang="en-US" sz="800" dirty="0"/>
          </a:p>
        </p:txBody>
      </p:sp>
      <p:sp>
        <p:nvSpPr>
          <p:cNvPr id="30" name="Shape 27"/>
          <p:cNvSpPr/>
          <p:nvPr/>
        </p:nvSpPr>
        <p:spPr>
          <a:xfrm>
            <a:off x="502920" y="5065776"/>
            <a:ext cx="201168" cy="201168"/>
          </a:xfrm>
          <a:prstGeom prst="ellipse">
            <a:avLst/>
          </a:prstGeom>
          <a:solidFill>
            <a:srgbClr val="008F82"/>
          </a:solidFill>
          <a:ln w="12700">
            <a:solidFill>
              <a:srgbClr val="008F82"/>
            </a:solidFill>
            <a:prstDash val="solid"/>
          </a:ln>
        </p:spPr>
      </p:sp>
      <p:sp>
        <p:nvSpPr>
          <p:cNvPr id="31" name="Text 28"/>
          <p:cNvSpPr/>
          <p:nvPr/>
        </p:nvSpPr>
        <p:spPr>
          <a:xfrm>
            <a:off x="502920" y="5080406"/>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32" name="Text 29"/>
          <p:cNvSpPr/>
          <p:nvPr/>
        </p:nvSpPr>
        <p:spPr>
          <a:xfrm>
            <a:off x="777240" y="5056632"/>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Quick Access Toolbar</a:t>
            </a:r>
            <a:endParaRPr lang="en-US" sz="920" dirty="0"/>
          </a:p>
        </p:txBody>
      </p:sp>
      <p:sp>
        <p:nvSpPr>
          <p:cNvPr id="33" name="Text 30"/>
          <p:cNvSpPr/>
          <p:nvPr/>
        </p:nvSpPr>
        <p:spPr>
          <a:xfrm>
            <a:off x="777240" y="5221224"/>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Frequently used commands such as Save, Undo and Redo.</a:t>
            </a:r>
            <a:endParaRPr lang="en-US" sz="760" dirty="0"/>
          </a:p>
        </p:txBody>
      </p:sp>
      <p:sp>
        <p:nvSpPr>
          <p:cNvPr id="34" name="Shape 31"/>
          <p:cNvSpPr/>
          <p:nvPr/>
        </p:nvSpPr>
        <p:spPr>
          <a:xfrm>
            <a:off x="502920" y="5504688"/>
            <a:ext cx="201168" cy="201168"/>
          </a:xfrm>
          <a:prstGeom prst="ellipse">
            <a:avLst/>
          </a:prstGeom>
          <a:solidFill>
            <a:srgbClr val="008F82"/>
          </a:solidFill>
          <a:ln w="12700">
            <a:solidFill>
              <a:srgbClr val="008F82"/>
            </a:solidFill>
            <a:prstDash val="solid"/>
          </a:ln>
        </p:spPr>
      </p:sp>
      <p:sp>
        <p:nvSpPr>
          <p:cNvPr id="35" name="Text 32"/>
          <p:cNvSpPr/>
          <p:nvPr/>
        </p:nvSpPr>
        <p:spPr>
          <a:xfrm>
            <a:off x="502920" y="5519318"/>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36" name="Text 33"/>
          <p:cNvSpPr/>
          <p:nvPr/>
        </p:nvSpPr>
        <p:spPr>
          <a:xfrm>
            <a:off x="777240" y="5495544"/>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Title bar</a:t>
            </a:r>
            <a:endParaRPr lang="en-US" sz="920" dirty="0"/>
          </a:p>
        </p:txBody>
      </p:sp>
      <p:sp>
        <p:nvSpPr>
          <p:cNvPr id="37" name="Text 34"/>
          <p:cNvSpPr/>
          <p:nvPr/>
        </p:nvSpPr>
        <p:spPr>
          <a:xfrm>
            <a:off x="777240" y="5660136"/>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Shows the workbook name and the Excel application window.</a:t>
            </a:r>
            <a:endParaRPr lang="en-US" sz="760" dirty="0"/>
          </a:p>
        </p:txBody>
      </p:sp>
      <p:sp>
        <p:nvSpPr>
          <p:cNvPr id="38" name="Shape 35"/>
          <p:cNvSpPr/>
          <p:nvPr/>
        </p:nvSpPr>
        <p:spPr>
          <a:xfrm>
            <a:off x="502920" y="5943600"/>
            <a:ext cx="201168" cy="201168"/>
          </a:xfrm>
          <a:prstGeom prst="ellipse">
            <a:avLst/>
          </a:prstGeom>
          <a:solidFill>
            <a:srgbClr val="008F82"/>
          </a:solidFill>
          <a:ln w="12700">
            <a:solidFill>
              <a:srgbClr val="008F82"/>
            </a:solidFill>
            <a:prstDash val="solid"/>
          </a:ln>
        </p:spPr>
      </p:sp>
      <p:sp>
        <p:nvSpPr>
          <p:cNvPr id="39" name="Text 36"/>
          <p:cNvSpPr/>
          <p:nvPr/>
        </p:nvSpPr>
        <p:spPr>
          <a:xfrm>
            <a:off x="502920" y="5958230"/>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40" name="Text 37"/>
          <p:cNvSpPr/>
          <p:nvPr/>
        </p:nvSpPr>
        <p:spPr>
          <a:xfrm>
            <a:off x="777240" y="5934456"/>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Search box</a:t>
            </a:r>
            <a:endParaRPr lang="en-US" sz="920" dirty="0"/>
          </a:p>
        </p:txBody>
      </p:sp>
      <p:sp>
        <p:nvSpPr>
          <p:cNvPr id="41" name="Text 38"/>
          <p:cNvSpPr/>
          <p:nvPr/>
        </p:nvSpPr>
        <p:spPr>
          <a:xfrm>
            <a:off x="777240" y="6099048"/>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Find commands, help topics and Excel features quickly.</a:t>
            </a:r>
            <a:endParaRPr lang="en-US" sz="760" dirty="0"/>
          </a:p>
        </p:txBody>
      </p:sp>
      <p:sp>
        <p:nvSpPr>
          <p:cNvPr id="42" name="Shape 39"/>
          <p:cNvSpPr/>
          <p:nvPr/>
        </p:nvSpPr>
        <p:spPr>
          <a:xfrm>
            <a:off x="3429000" y="5065776"/>
            <a:ext cx="201168" cy="201168"/>
          </a:xfrm>
          <a:prstGeom prst="ellipse">
            <a:avLst/>
          </a:prstGeom>
          <a:solidFill>
            <a:srgbClr val="008F82"/>
          </a:solidFill>
          <a:ln w="12700">
            <a:solidFill>
              <a:srgbClr val="008F82"/>
            </a:solidFill>
            <a:prstDash val="solid"/>
          </a:ln>
        </p:spPr>
      </p:sp>
      <p:sp>
        <p:nvSpPr>
          <p:cNvPr id="43" name="Text 40"/>
          <p:cNvSpPr/>
          <p:nvPr/>
        </p:nvSpPr>
        <p:spPr>
          <a:xfrm>
            <a:off x="3429000" y="5080406"/>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44" name="Text 41"/>
          <p:cNvSpPr/>
          <p:nvPr/>
        </p:nvSpPr>
        <p:spPr>
          <a:xfrm>
            <a:off x="3703320" y="5056632"/>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Ribbon tabs</a:t>
            </a:r>
            <a:endParaRPr lang="en-US" sz="920" dirty="0"/>
          </a:p>
        </p:txBody>
      </p:sp>
      <p:sp>
        <p:nvSpPr>
          <p:cNvPr id="45" name="Text 42"/>
          <p:cNvSpPr/>
          <p:nvPr/>
        </p:nvSpPr>
        <p:spPr>
          <a:xfrm>
            <a:off x="3703320" y="5221224"/>
            <a:ext cx="2331720" cy="219456"/>
          </a:xfrm>
          <a:prstGeom prst="rect">
            <a:avLst/>
          </a:prstGeom>
          <a:noFill/>
          <a:ln/>
        </p:spPr>
        <p:txBody>
          <a:bodyPr wrap="square" lIns="0" tIns="0" rIns="0" bIns="0" rtlCol="0" anchor="ctr">
            <a:normAutofit/>
          </a:bodyPr>
          <a:lstStyle/>
          <a:p>
            <a:pPr marL="0" indent="0">
              <a:buNone/>
            </a:pPr>
            <a:r>
              <a:rPr lang="en-US" sz="760" dirty="0">
                <a:solidFill>
                  <a:srgbClr val="586672"/>
                </a:solidFill>
                <a:latin typeface="Arial" pitchFamily="34" charset="0"/>
                <a:ea typeface="Arial" pitchFamily="34" charset="-122"/>
                <a:cs typeface="Arial" pitchFamily="34" charset="-120"/>
              </a:rPr>
              <a:t>Home, Insert, Formulas, Data, Review, View, etc.</a:t>
            </a:r>
            <a:endParaRPr lang="en-US" sz="760" dirty="0"/>
          </a:p>
        </p:txBody>
      </p:sp>
      <p:sp>
        <p:nvSpPr>
          <p:cNvPr id="46" name="Shape 43"/>
          <p:cNvSpPr/>
          <p:nvPr/>
        </p:nvSpPr>
        <p:spPr>
          <a:xfrm>
            <a:off x="3429000" y="5504688"/>
            <a:ext cx="201168" cy="201168"/>
          </a:xfrm>
          <a:prstGeom prst="ellipse">
            <a:avLst/>
          </a:prstGeom>
          <a:solidFill>
            <a:srgbClr val="008F82"/>
          </a:solidFill>
          <a:ln w="12700">
            <a:solidFill>
              <a:srgbClr val="008F82"/>
            </a:solidFill>
            <a:prstDash val="solid"/>
          </a:ln>
        </p:spPr>
      </p:sp>
      <p:sp>
        <p:nvSpPr>
          <p:cNvPr id="47" name="Text 44"/>
          <p:cNvSpPr/>
          <p:nvPr/>
        </p:nvSpPr>
        <p:spPr>
          <a:xfrm>
            <a:off x="3429000" y="5519318"/>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5</a:t>
            </a:r>
            <a:endParaRPr lang="en-US" sz="750" dirty="0"/>
          </a:p>
        </p:txBody>
      </p:sp>
      <p:sp>
        <p:nvSpPr>
          <p:cNvPr id="48" name="Text 45"/>
          <p:cNvSpPr/>
          <p:nvPr/>
        </p:nvSpPr>
        <p:spPr>
          <a:xfrm>
            <a:off x="3703320" y="5495544"/>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Ribbon</a:t>
            </a:r>
            <a:endParaRPr lang="en-US" sz="920" dirty="0"/>
          </a:p>
        </p:txBody>
      </p:sp>
      <p:sp>
        <p:nvSpPr>
          <p:cNvPr id="49" name="Text 46"/>
          <p:cNvSpPr/>
          <p:nvPr/>
        </p:nvSpPr>
        <p:spPr>
          <a:xfrm>
            <a:off x="3703320" y="5660136"/>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Context-sensitive command area organised into groups.</a:t>
            </a:r>
            <a:endParaRPr lang="en-US" sz="760" dirty="0"/>
          </a:p>
        </p:txBody>
      </p:sp>
      <p:sp>
        <p:nvSpPr>
          <p:cNvPr id="50" name="Shape 47"/>
          <p:cNvSpPr/>
          <p:nvPr/>
        </p:nvSpPr>
        <p:spPr>
          <a:xfrm>
            <a:off x="3429000" y="5943600"/>
            <a:ext cx="201168" cy="201168"/>
          </a:xfrm>
          <a:prstGeom prst="ellipse">
            <a:avLst/>
          </a:prstGeom>
          <a:solidFill>
            <a:srgbClr val="008F82"/>
          </a:solidFill>
          <a:ln w="12700">
            <a:solidFill>
              <a:srgbClr val="008F82"/>
            </a:solidFill>
            <a:prstDash val="solid"/>
          </a:ln>
        </p:spPr>
      </p:sp>
      <p:sp>
        <p:nvSpPr>
          <p:cNvPr id="51" name="Text 48"/>
          <p:cNvSpPr/>
          <p:nvPr/>
        </p:nvSpPr>
        <p:spPr>
          <a:xfrm>
            <a:off x="3429000" y="5958230"/>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6</a:t>
            </a:r>
            <a:endParaRPr lang="en-US" sz="750" dirty="0"/>
          </a:p>
        </p:txBody>
      </p:sp>
      <p:sp>
        <p:nvSpPr>
          <p:cNvPr id="52" name="Text 49"/>
          <p:cNvSpPr/>
          <p:nvPr/>
        </p:nvSpPr>
        <p:spPr>
          <a:xfrm>
            <a:off x="3703320" y="5934456"/>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Name Box</a:t>
            </a:r>
            <a:endParaRPr lang="en-US" sz="920" dirty="0"/>
          </a:p>
        </p:txBody>
      </p:sp>
      <p:sp>
        <p:nvSpPr>
          <p:cNvPr id="53" name="Text 50"/>
          <p:cNvSpPr/>
          <p:nvPr/>
        </p:nvSpPr>
        <p:spPr>
          <a:xfrm>
            <a:off x="3703320" y="6099048"/>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Shows the active cell reference; can also jump to a cell/range.</a:t>
            </a:r>
            <a:endParaRPr lang="en-US" sz="760" dirty="0"/>
          </a:p>
        </p:txBody>
      </p:sp>
      <p:sp>
        <p:nvSpPr>
          <p:cNvPr id="54" name="Shape 51"/>
          <p:cNvSpPr/>
          <p:nvPr/>
        </p:nvSpPr>
        <p:spPr>
          <a:xfrm>
            <a:off x="6355080" y="5065776"/>
            <a:ext cx="201168" cy="201168"/>
          </a:xfrm>
          <a:prstGeom prst="ellipse">
            <a:avLst/>
          </a:prstGeom>
          <a:solidFill>
            <a:srgbClr val="008F82"/>
          </a:solidFill>
          <a:ln w="12700">
            <a:solidFill>
              <a:srgbClr val="008F82"/>
            </a:solidFill>
            <a:prstDash val="solid"/>
          </a:ln>
        </p:spPr>
      </p:sp>
      <p:sp>
        <p:nvSpPr>
          <p:cNvPr id="55" name="Text 52"/>
          <p:cNvSpPr/>
          <p:nvPr/>
        </p:nvSpPr>
        <p:spPr>
          <a:xfrm>
            <a:off x="6355080" y="5080406"/>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7</a:t>
            </a:r>
            <a:endParaRPr lang="en-US" sz="750" dirty="0"/>
          </a:p>
        </p:txBody>
      </p:sp>
      <p:sp>
        <p:nvSpPr>
          <p:cNvPr id="56" name="Text 53"/>
          <p:cNvSpPr/>
          <p:nvPr/>
        </p:nvSpPr>
        <p:spPr>
          <a:xfrm>
            <a:off x="6629400" y="5056632"/>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Formula Bar</a:t>
            </a:r>
            <a:endParaRPr lang="en-US" sz="920" dirty="0"/>
          </a:p>
        </p:txBody>
      </p:sp>
      <p:sp>
        <p:nvSpPr>
          <p:cNvPr id="57" name="Text 54"/>
          <p:cNvSpPr/>
          <p:nvPr/>
        </p:nvSpPr>
        <p:spPr>
          <a:xfrm>
            <a:off x="6629400" y="5221224"/>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View, enter and edit values or formulas for the active cell.</a:t>
            </a:r>
            <a:endParaRPr lang="en-US" sz="760" dirty="0"/>
          </a:p>
        </p:txBody>
      </p:sp>
      <p:sp>
        <p:nvSpPr>
          <p:cNvPr id="58" name="Shape 55"/>
          <p:cNvSpPr/>
          <p:nvPr/>
        </p:nvSpPr>
        <p:spPr>
          <a:xfrm>
            <a:off x="6355080" y="5504688"/>
            <a:ext cx="201168" cy="201168"/>
          </a:xfrm>
          <a:prstGeom prst="ellipse">
            <a:avLst/>
          </a:prstGeom>
          <a:solidFill>
            <a:srgbClr val="008F82"/>
          </a:solidFill>
          <a:ln w="12700">
            <a:solidFill>
              <a:srgbClr val="008F82"/>
            </a:solidFill>
            <a:prstDash val="solid"/>
          </a:ln>
        </p:spPr>
      </p:sp>
      <p:sp>
        <p:nvSpPr>
          <p:cNvPr id="59" name="Text 56"/>
          <p:cNvSpPr/>
          <p:nvPr/>
        </p:nvSpPr>
        <p:spPr>
          <a:xfrm>
            <a:off x="6355080" y="5519318"/>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8</a:t>
            </a:r>
            <a:endParaRPr lang="en-US" sz="750" dirty="0"/>
          </a:p>
        </p:txBody>
      </p:sp>
      <p:sp>
        <p:nvSpPr>
          <p:cNvPr id="60" name="Text 57"/>
          <p:cNvSpPr/>
          <p:nvPr/>
        </p:nvSpPr>
        <p:spPr>
          <a:xfrm>
            <a:off x="6629400" y="5495544"/>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Column headings</a:t>
            </a:r>
            <a:endParaRPr lang="en-US" sz="920" dirty="0"/>
          </a:p>
        </p:txBody>
      </p:sp>
      <p:sp>
        <p:nvSpPr>
          <p:cNvPr id="61" name="Text 58"/>
          <p:cNvSpPr/>
          <p:nvPr/>
        </p:nvSpPr>
        <p:spPr>
          <a:xfrm>
            <a:off x="6629400" y="5660136"/>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Letters identify columns; click to select an entire column.</a:t>
            </a:r>
            <a:endParaRPr lang="en-US" sz="760" dirty="0"/>
          </a:p>
        </p:txBody>
      </p:sp>
      <p:sp>
        <p:nvSpPr>
          <p:cNvPr id="62" name="Shape 59"/>
          <p:cNvSpPr/>
          <p:nvPr/>
        </p:nvSpPr>
        <p:spPr>
          <a:xfrm>
            <a:off x="6355080" y="5943600"/>
            <a:ext cx="201168" cy="201168"/>
          </a:xfrm>
          <a:prstGeom prst="ellipse">
            <a:avLst/>
          </a:prstGeom>
          <a:solidFill>
            <a:srgbClr val="008F82"/>
          </a:solidFill>
          <a:ln w="12700">
            <a:solidFill>
              <a:srgbClr val="008F82"/>
            </a:solidFill>
            <a:prstDash val="solid"/>
          </a:ln>
        </p:spPr>
      </p:sp>
      <p:sp>
        <p:nvSpPr>
          <p:cNvPr id="63" name="Text 60"/>
          <p:cNvSpPr/>
          <p:nvPr/>
        </p:nvSpPr>
        <p:spPr>
          <a:xfrm>
            <a:off x="6355080" y="5958230"/>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9</a:t>
            </a:r>
            <a:endParaRPr lang="en-US" sz="750" dirty="0"/>
          </a:p>
        </p:txBody>
      </p:sp>
      <p:sp>
        <p:nvSpPr>
          <p:cNvPr id="64" name="Text 61"/>
          <p:cNvSpPr/>
          <p:nvPr/>
        </p:nvSpPr>
        <p:spPr>
          <a:xfrm>
            <a:off x="6629400" y="5934456"/>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Row headings</a:t>
            </a:r>
            <a:endParaRPr lang="en-US" sz="920" dirty="0"/>
          </a:p>
        </p:txBody>
      </p:sp>
      <p:sp>
        <p:nvSpPr>
          <p:cNvPr id="65" name="Text 62"/>
          <p:cNvSpPr/>
          <p:nvPr/>
        </p:nvSpPr>
        <p:spPr>
          <a:xfrm>
            <a:off x="6629400" y="6099048"/>
            <a:ext cx="2331720" cy="219456"/>
          </a:xfrm>
          <a:prstGeom prst="rect">
            <a:avLst/>
          </a:prstGeom>
          <a:noFill/>
          <a:ln/>
        </p:spPr>
        <p:txBody>
          <a:bodyPr wrap="square" lIns="0" tIns="0" rIns="0" bIns="0" rtlCol="0" anchor="ctr">
            <a:normAutofit/>
          </a:bodyPr>
          <a:lstStyle/>
          <a:p>
            <a:pPr marL="0" indent="0">
              <a:buNone/>
            </a:pPr>
            <a:r>
              <a:rPr lang="en-US" sz="760" dirty="0">
                <a:solidFill>
                  <a:srgbClr val="586672"/>
                </a:solidFill>
                <a:latin typeface="Arial" pitchFamily="34" charset="0"/>
                <a:ea typeface="Arial" pitchFamily="34" charset="-122"/>
                <a:cs typeface="Arial" pitchFamily="34" charset="-120"/>
              </a:rPr>
              <a:t>Numbers identify rows; click to select an entire row.</a:t>
            </a:r>
            <a:endParaRPr lang="en-US" sz="760" dirty="0"/>
          </a:p>
        </p:txBody>
      </p:sp>
      <p:sp>
        <p:nvSpPr>
          <p:cNvPr id="66" name="Shape 63"/>
          <p:cNvSpPr/>
          <p:nvPr/>
        </p:nvSpPr>
        <p:spPr>
          <a:xfrm>
            <a:off x="9281160" y="5065776"/>
            <a:ext cx="201168" cy="201168"/>
          </a:xfrm>
          <a:prstGeom prst="ellipse">
            <a:avLst/>
          </a:prstGeom>
          <a:solidFill>
            <a:srgbClr val="008F82"/>
          </a:solidFill>
          <a:ln w="12700">
            <a:solidFill>
              <a:srgbClr val="008F82"/>
            </a:solidFill>
            <a:prstDash val="solid"/>
          </a:ln>
        </p:spPr>
      </p:sp>
      <p:sp>
        <p:nvSpPr>
          <p:cNvPr id="67" name="Text 64"/>
          <p:cNvSpPr/>
          <p:nvPr/>
        </p:nvSpPr>
        <p:spPr>
          <a:xfrm>
            <a:off x="9281160" y="5080406"/>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10</a:t>
            </a:r>
            <a:endParaRPr lang="en-US" sz="750" dirty="0"/>
          </a:p>
        </p:txBody>
      </p:sp>
      <p:sp>
        <p:nvSpPr>
          <p:cNvPr id="68" name="Text 65"/>
          <p:cNvSpPr/>
          <p:nvPr/>
        </p:nvSpPr>
        <p:spPr>
          <a:xfrm>
            <a:off x="9555480" y="5056632"/>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Active cell</a:t>
            </a:r>
            <a:endParaRPr lang="en-US" sz="920" dirty="0"/>
          </a:p>
        </p:txBody>
      </p:sp>
      <p:sp>
        <p:nvSpPr>
          <p:cNvPr id="69" name="Text 66"/>
          <p:cNvSpPr/>
          <p:nvPr/>
        </p:nvSpPr>
        <p:spPr>
          <a:xfrm>
            <a:off x="9555480" y="5221224"/>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The currently selected cell; its reference appears in the Name Box.</a:t>
            </a:r>
            <a:endParaRPr lang="en-US" sz="760" dirty="0"/>
          </a:p>
        </p:txBody>
      </p:sp>
      <p:sp>
        <p:nvSpPr>
          <p:cNvPr id="70" name="Shape 67"/>
          <p:cNvSpPr/>
          <p:nvPr/>
        </p:nvSpPr>
        <p:spPr>
          <a:xfrm>
            <a:off x="9281160" y="5504688"/>
            <a:ext cx="201168" cy="201168"/>
          </a:xfrm>
          <a:prstGeom prst="ellipse">
            <a:avLst/>
          </a:prstGeom>
          <a:solidFill>
            <a:srgbClr val="008F82"/>
          </a:solidFill>
          <a:ln w="12700">
            <a:solidFill>
              <a:srgbClr val="008F82"/>
            </a:solidFill>
            <a:prstDash val="solid"/>
          </a:ln>
        </p:spPr>
      </p:sp>
      <p:sp>
        <p:nvSpPr>
          <p:cNvPr id="71" name="Text 68"/>
          <p:cNvSpPr/>
          <p:nvPr/>
        </p:nvSpPr>
        <p:spPr>
          <a:xfrm>
            <a:off x="9281160" y="5519318"/>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11</a:t>
            </a:r>
            <a:endParaRPr lang="en-US" sz="750" dirty="0"/>
          </a:p>
        </p:txBody>
      </p:sp>
      <p:sp>
        <p:nvSpPr>
          <p:cNvPr id="72" name="Text 69"/>
          <p:cNvSpPr/>
          <p:nvPr/>
        </p:nvSpPr>
        <p:spPr>
          <a:xfrm>
            <a:off x="9555480" y="5495544"/>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Table header &amp; filters</a:t>
            </a:r>
            <a:endParaRPr lang="en-US" sz="920" dirty="0"/>
          </a:p>
        </p:txBody>
      </p:sp>
      <p:sp>
        <p:nvSpPr>
          <p:cNvPr id="73" name="Text 70"/>
          <p:cNvSpPr/>
          <p:nvPr/>
        </p:nvSpPr>
        <p:spPr>
          <a:xfrm>
            <a:off x="9555480" y="5660136"/>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Field names plus sorting/filter controls in an Excel Table.</a:t>
            </a:r>
            <a:endParaRPr lang="en-US" sz="760" dirty="0"/>
          </a:p>
        </p:txBody>
      </p:sp>
      <p:sp>
        <p:nvSpPr>
          <p:cNvPr id="74" name="Shape 71"/>
          <p:cNvSpPr/>
          <p:nvPr/>
        </p:nvSpPr>
        <p:spPr>
          <a:xfrm>
            <a:off x="9281160" y="5943600"/>
            <a:ext cx="201168" cy="201168"/>
          </a:xfrm>
          <a:prstGeom prst="ellipse">
            <a:avLst/>
          </a:prstGeom>
          <a:solidFill>
            <a:srgbClr val="008F82"/>
          </a:solidFill>
          <a:ln w="12700">
            <a:solidFill>
              <a:srgbClr val="008F82"/>
            </a:solidFill>
            <a:prstDash val="solid"/>
          </a:ln>
        </p:spPr>
      </p:sp>
      <p:sp>
        <p:nvSpPr>
          <p:cNvPr id="75" name="Text 72"/>
          <p:cNvSpPr/>
          <p:nvPr/>
        </p:nvSpPr>
        <p:spPr>
          <a:xfrm>
            <a:off x="9281160" y="5958230"/>
            <a:ext cx="201168" cy="10972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12</a:t>
            </a:r>
            <a:endParaRPr lang="en-US" sz="750" dirty="0"/>
          </a:p>
        </p:txBody>
      </p:sp>
      <p:sp>
        <p:nvSpPr>
          <p:cNvPr id="76" name="Text 73"/>
          <p:cNvSpPr/>
          <p:nvPr/>
        </p:nvSpPr>
        <p:spPr>
          <a:xfrm>
            <a:off x="9555480" y="5934456"/>
            <a:ext cx="2331720" cy="146304"/>
          </a:xfrm>
          <a:prstGeom prst="rect">
            <a:avLst/>
          </a:prstGeom>
          <a:noFill/>
          <a:ln/>
        </p:spPr>
        <p:txBody>
          <a:bodyPr wrap="square" lIns="0" tIns="0" rIns="0" bIns="0" rtlCol="0" anchor="ctr"/>
          <a:lstStyle/>
          <a:p>
            <a:pPr marL="0" indent="0">
              <a:buNone/>
            </a:pPr>
            <a:r>
              <a:rPr lang="en-US" sz="920" b="1" dirty="0">
                <a:solidFill>
                  <a:srgbClr val="17232D"/>
                </a:solidFill>
                <a:latin typeface="Arial" pitchFamily="34" charset="0"/>
                <a:ea typeface="Arial" pitchFamily="34" charset="-122"/>
                <a:cs typeface="Arial" pitchFamily="34" charset="-120"/>
              </a:rPr>
              <a:t>Worksheet grid</a:t>
            </a:r>
            <a:endParaRPr lang="en-US" sz="920" dirty="0"/>
          </a:p>
        </p:txBody>
      </p:sp>
      <p:sp>
        <p:nvSpPr>
          <p:cNvPr id="77" name="Text 74"/>
          <p:cNvSpPr/>
          <p:nvPr/>
        </p:nvSpPr>
        <p:spPr>
          <a:xfrm>
            <a:off x="9555480" y="6099048"/>
            <a:ext cx="2331720" cy="219456"/>
          </a:xfrm>
          <a:prstGeom prst="rect">
            <a:avLst/>
          </a:prstGeom>
          <a:noFill/>
          <a:ln/>
        </p:spPr>
        <p:txBody>
          <a:bodyPr wrap="square" lIns="0" tIns="0" rIns="0" bIns="0" rtlCol="0" anchor="ctr">
            <a:normAutofit lnSpcReduction="10000"/>
          </a:bodyPr>
          <a:lstStyle/>
          <a:p>
            <a:pPr marL="0" indent="0">
              <a:buNone/>
            </a:pPr>
            <a:r>
              <a:rPr lang="en-US" sz="760" dirty="0">
                <a:solidFill>
                  <a:srgbClr val="586672"/>
                </a:solidFill>
                <a:latin typeface="Arial" pitchFamily="34" charset="0"/>
                <a:ea typeface="Arial" pitchFamily="34" charset="-122"/>
                <a:cs typeface="Arial" pitchFamily="34" charset="-120"/>
              </a:rPr>
              <a:t>The cell area where tabular data, formulas and results live.</a:t>
            </a:r>
            <a:endParaRPr lang="en-US" sz="760" dirty="0"/>
          </a:p>
        </p:txBody>
      </p:sp>
      <p:sp>
        <p:nvSpPr>
          <p:cNvPr id="78" name="Shape 75"/>
          <p:cNvSpPr/>
          <p:nvPr/>
        </p:nvSpPr>
        <p:spPr>
          <a:xfrm>
            <a:off x="502920" y="6355080"/>
            <a:ext cx="11183112" cy="146304"/>
          </a:xfrm>
          <a:prstGeom prst="roundRect">
            <a:avLst>
              <a:gd name="adj" fmla="val 12500"/>
            </a:avLst>
          </a:prstGeom>
          <a:solidFill>
            <a:srgbClr val="EAF4F2"/>
          </a:solidFill>
          <a:ln w="12700">
            <a:solidFill>
              <a:srgbClr val="EAF4F2"/>
            </a:solidFill>
            <a:prstDash val="solid"/>
          </a:ln>
        </p:spPr>
      </p:sp>
      <p:sp>
        <p:nvSpPr>
          <p:cNvPr id="79" name="Text 76"/>
          <p:cNvSpPr/>
          <p:nvPr/>
        </p:nvSpPr>
        <p:spPr>
          <a:xfrm>
            <a:off x="685800" y="6356909"/>
            <a:ext cx="10835640" cy="128016"/>
          </a:xfrm>
          <a:prstGeom prst="rect">
            <a:avLst/>
          </a:prstGeom>
          <a:noFill/>
          <a:ln/>
        </p:spPr>
        <p:txBody>
          <a:bodyPr wrap="square" lIns="0" tIns="0" rIns="0" bIns="0" rtlCol="0" anchor="ctr"/>
          <a:lstStyle/>
          <a:p>
            <a:pPr marL="0" indent="0" algn="ctr">
              <a:buNone/>
            </a:pPr>
            <a:r>
              <a:rPr lang="en-US" sz="760" dirty="0">
                <a:solidFill>
                  <a:srgbClr val="305B56"/>
                </a:solidFill>
                <a:latin typeface="Arial" pitchFamily="34" charset="0"/>
                <a:ea typeface="Arial" pitchFamily="34" charset="-122"/>
                <a:cs typeface="Arial" pitchFamily="34" charset="-120"/>
              </a:rPr>
              <a:t>Also important (not visible in this screenshot): sheet tabs, horizontal/vertical scroll bars, the status bar and zoom controls.</a:t>
            </a:r>
            <a:endParaRPr lang="en-US" sz="760" dirty="0"/>
          </a:p>
        </p:txBody>
      </p:sp>
      <p:sp>
        <p:nvSpPr>
          <p:cNvPr id="82" name="TextBox 1">
            <a:extLst>
              <a:ext uri="{FF2B5EF4-FFF2-40B4-BE49-F238E27FC236}">
                <a16:creationId xmlns:a16="http://schemas.microsoft.com/office/drawing/2014/main" id="{AF072728-4693-3995-1FB5-015C66438D9F}"/>
              </a:ext>
            </a:extLst>
          </p:cNvPr>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83" name="Slide Number Placeholder 0">
            <a:extLst>
              <a:ext uri="{FF2B5EF4-FFF2-40B4-BE49-F238E27FC236}">
                <a16:creationId xmlns:a16="http://schemas.microsoft.com/office/drawing/2014/main" id="{A5B641BD-1E44-6B0A-FF99-959ADD8A95EE}"/>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85BE-8948-526B-6C98-299CC19693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A65AC3-EA15-92F3-EA2D-BD0F1C071848}"/>
              </a:ext>
            </a:extLst>
          </p:cNvPr>
          <p:cNvSpPr/>
          <p:nvPr/>
        </p:nvSpPr>
        <p:spPr>
          <a:xfrm>
            <a:off x="502920" y="502920"/>
            <a:ext cx="8046720" cy="384048"/>
          </a:xfrm>
          <a:prstGeom prst="rect">
            <a:avLst/>
          </a:prstGeom>
          <a:noFill/>
          <a:ln/>
        </p:spPr>
        <p:txBody>
          <a:bodyPr wrap="square" lIns="0" tIns="0" rIns="0" bIns="0" rtlCol="0" anchor="ctr"/>
          <a:lstStyle/>
          <a:p>
            <a:pPr marL="0" indent="0">
              <a:buNone/>
            </a:pPr>
            <a:r>
              <a:rPr lang="en-US" sz="2200" b="1" dirty="0" err="1">
                <a:solidFill>
                  <a:srgbClr val="17232D"/>
                </a:solidFill>
                <a:latin typeface="Arial" pitchFamily="34" charset="0"/>
                <a:cs typeface="Arial" pitchFamily="34" charset="-120"/>
              </a:rPr>
              <a:t>ExcelFormulasIn</a:t>
            </a:r>
            <a:r>
              <a:rPr lang="en-US" sz="2200" b="1" dirty="0">
                <a:solidFill>
                  <a:srgbClr val="17232D"/>
                </a:solidFill>
                <a:latin typeface="Arial" pitchFamily="34" charset="0"/>
                <a:cs typeface="Arial" pitchFamily="34" charset="-120"/>
              </a:rPr>
              <a:t> Italian and English</a:t>
            </a:r>
            <a:endParaRPr lang="en-US" sz="2200" dirty="0"/>
          </a:p>
        </p:txBody>
      </p:sp>
      <p:sp>
        <p:nvSpPr>
          <p:cNvPr id="3" name="Text 1">
            <a:extLst>
              <a:ext uri="{FF2B5EF4-FFF2-40B4-BE49-F238E27FC236}">
                <a16:creationId xmlns:a16="http://schemas.microsoft.com/office/drawing/2014/main" id="{440F3B92-33F8-EABB-821C-54A466A5CEC8}"/>
              </a:ext>
            </a:extLst>
          </p:cNvPr>
          <p:cNvSpPr/>
          <p:nvPr/>
        </p:nvSpPr>
        <p:spPr>
          <a:xfrm>
            <a:off x="502920" y="896112"/>
            <a:ext cx="8961120" cy="256032"/>
          </a:xfrm>
          <a:prstGeom prst="rect">
            <a:avLst/>
          </a:prstGeom>
          <a:noFill/>
          <a:ln/>
        </p:spPr>
        <p:txBody>
          <a:bodyPr wrap="square" lIns="0" tIns="0" rIns="0" bIns="0" rtlCol="0" anchor="ctr"/>
          <a:lstStyle/>
          <a:p>
            <a:pPr marL="0" indent="0">
              <a:buNone/>
            </a:pPr>
            <a:r>
              <a:rPr lang="en-US" sz="1150" dirty="0">
                <a:solidFill>
                  <a:srgbClr val="56636F"/>
                </a:solidFill>
                <a:latin typeface="Arial" pitchFamily="34" charset="0"/>
                <a:ea typeface="Arial" pitchFamily="34" charset="-122"/>
                <a:cs typeface="Arial" pitchFamily="34" charset="-120"/>
              </a:rPr>
              <a:t>The main matchings</a:t>
            </a:r>
            <a:endParaRPr lang="en-US" sz="1150" dirty="0"/>
          </a:p>
        </p:txBody>
      </p:sp>
      <p:sp>
        <p:nvSpPr>
          <p:cNvPr id="78" name="Shape 75">
            <a:extLst>
              <a:ext uri="{FF2B5EF4-FFF2-40B4-BE49-F238E27FC236}">
                <a16:creationId xmlns:a16="http://schemas.microsoft.com/office/drawing/2014/main" id="{415AA6EE-B2A5-29F1-8AB4-BDE43B718B2C}"/>
              </a:ext>
            </a:extLst>
          </p:cNvPr>
          <p:cNvSpPr/>
          <p:nvPr/>
        </p:nvSpPr>
        <p:spPr>
          <a:xfrm>
            <a:off x="502920" y="6355080"/>
            <a:ext cx="11183112" cy="146304"/>
          </a:xfrm>
          <a:prstGeom prst="roundRect">
            <a:avLst>
              <a:gd name="adj" fmla="val 12500"/>
            </a:avLst>
          </a:prstGeom>
          <a:solidFill>
            <a:srgbClr val="EAF4F2"/>
          </a:solidFill>
          <a:ln w="12700">
            <a:solidFill>
              <a:srgbClr val="EAF4F2"/>
            </a:solidFill>
            <a:prstDash val="solid"/>
          </a:ln>
        </p:spPr>
      </p:sp>
      <p:sp>
        <p:nvSpPr>
          <p:cNvPr id="82" name="TextBox 1">
            <a:extLst>
              <a:ext uri="{FF2B5EF4-FFF2-40B4-BE49-F238E27FC236}">
                <a16:creationId xmlns:a16="http://schemas.microsoft.com/office/drawing/2014/main" id="{6FCD2AE2-484F-BA9B-5AF5-C48B661A3043}"/>
              </a:ext>
            </a:extLst>
          </p:cNvPr>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83" name="Slide Number Placeholder 0">
            <a:extLst>
              <a:ext uri="{FF2B5EF4-FFF2-40B4-BE49-F238E27FC236}">
                <a16:creationId xmlns:a16="http://schemas.microsoft.com/office/drawing/2014/main" id="{AC153389-324F-7E98-3945-96B47557F91A}"/>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8</a:t>
            </a:fld>
            <a:endParaRPr lang="en-US"/>
          </a:p>
        </p:txBody>
      </p:sp>
      <p:pic>
        <p:nvPicPr>
          <p:cNvPr id="85" name="Picture 84">
            <a:extLst>
              <a:ext uri="{FF2B5EF4-FFF2-40B4-BE49-F238E27FC236}">
                <a16:creationId xmlns:a16="http://schemas.microsoft.com/office/drawing/2014/main" id="{84FD3F77-1E69-990D-A958-A747BE723AFD}"/>
              </a:ext>
            </a:extLst>
          </p:cNvPr>
          <p:cNvPicPr>
            <a:picLocks noChangeAspect="1"/>
          </p:cNvPicPr>
          <p:nvPr/>
        </p:nvPicPr>
        <p:blipFill>
          <a:blip r:embed="rId3"/>
          <a:stretch>
            <a:fillRect/>
          </a:stretch>
        </p:blipFill>
        <p:spPr>
          <a:xfrm>
            <a:off x="301752" y="1336050"/>
            <a:ext cx="5408982" cy="5165334"/>
          </a:xfrm>
          <a:prstGeom prst="rect">
            <a:avLst/>
          </a:prstGeom>
        </p:spPr>
      </p:pic>
      <p:pic>
        <p:nvPicPr>
          <p:cNvPr id="87" name="Picture 86">
            <a:extLst>
              <a:ext uri="{FF2B5EF4-FFF2-40B4-BE49-F238E27FC236}">
                <a16:creationId xmlns:a16="http://schemas.microsoft.com/office/drawing/2014/main" id="{CEA35F33-4B32-BF04-451B-A82CAC01A708}"/>
              </a:ext>
            </a:extLst>
          </p:cNvPr>
          <p:cNvPicPr>
            <a:picLocks noChangeAspect="1"/>
          </p:cNvPicPr>
          <p:nvPr/>
        </p:nvPicPr>
        <p:blipFill>
          <a:blip r:embed="rId4"/>
          <a:stretch>
            <a:fillRect/>
          </a:stretch>
        </p:blipFill>
        <p:spPr>
          <a:xfrm>
            <a:off x="6123590" y="1336050"/>
            <a:ext cx="5352130" cy="3549137"/>
          </a:xfrm>
          <a:prstGeom prst="rect">
            <a:avLst/>
          </a:prstGeom>
        </p:spPr>
      </p:pic>
    </p:spTree>
    <p:extLst>
      <p:ext uri="{BB962C8B-B14F-4D97-AF65-F5344CB8AC3E}">
        <p14:creationId xmlns:p14="http://schemas.microsoft.com/office/powerpoint/2010/main" val="2185820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401B-FFBE-085B-2251-81EF60156E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0A89D6-76B3-5C2A-E412-B9953028C029}"/>
              </a:ext>
            </a:extLst>
          </p:cNvPr>
          <p:cNvSpPr/>
          <p:nvPr/>
        </p:nvSpPr>
        <p:spPr>
          <a:xfrm>
            <a:off x="502920" y="502920"/>
            <a:ext cx="8046720" cy="384048"/>
          </a:xfrm>
          <a:prstGeom prst="rect">
            <a:avLst/>
          </a:prstGeom>
          <a:noFill/>
          <a:ln/>
        </p:spPr>
        <p:txBody>
          <a:bodyPr wrap="square" lIns="0" tIns="0" rIns="0" bIns="0" rtlCol="0" anchor="ctr"/>
          <a:lstStyle/>
          <a:p>
            <a:pPr marL="0" indent="0">
              <a:buNone/>
            </a:pPr>
            <a:r>
              <a:rPr lang="en-US" sz="2200" b="1" dirty="0">
                <a:solidFill>
                  <a:srgbClr val="17232D"/>
                </a:solidFill>
                <a:latin typeface="Arial" pitchFamily="34" charset="0"/>
                <a:ea typeface="Arial" pitchFamily="34" charset="-122"/>
                <a:cs typeface="Arial" pitchFamily="34" charset="-120"/>
              </a:rPr>
              <a:t>Two main </a:t>
            </a:r>
            <a:r>
              <a:rPr lang="en-US" sz="2200" b="1" dirty="0" err="1">
                <a:solidFill>
                  <a:srgbClr val="17232D"/>
                </a:solidFill>
                <a:latin typeface="Arial" pitchFamily="34" charset="0"/>
                <a:ea typeface="Arial" pitchFamily="34" charset="-122"/>
                <a:cs typeface="Arial" pitchFamily="34" charset="-120"/>
              </a:rPr>
              <a:t>behaviours</a:t>
            </a:r>
            <a:r>
              <a:rPr lang="en-US" sz="2200" b="1" dirty="0">
                <a:solidFill>
                  <a:srgbClr val="17232D"/>
                </a:solidFill>
                <a:latin typeface="Arial" pitchFamily="34" charset="0"/>
                <a:ea typeface="Arial" pitchFamily="34" charset="-122"/>
                <a:cs typeface="Arial" pitchFamily="34" charset="-120"/>
              </a:rPr>
              <a:t> when editing a formula</a:t>
            </a:r>
            <a:endParaRPr lang="en-US" sz="2200" dirty="0"/>
          </a:p>
        </p:txBody>
      </p:sp>
      <p:sp>
        <p:nvSpPr>
          <p:cNvPr id="3" name="Text 1">
            <a:extLst>
              <a:ext uri="{FF2B5EF4-FFF2-40B4-BE49-F238E27FC236}">
                <a16:creationId xmlns:a16="http://schemas.microsoft.com/office/drawing/2014/main" id="{D2D81F43-8FF3-8C8F-F00D-5E2DF3527AC2}"/>
              </a:ext>
            </a:extLst>
          </p:cNvPr>
          <p:cNvSpPr/>
          <p:nvPr/>
        </p:nvSpPr>
        <p:spPr>
          <a:xfrm>
            <a:off x="502920" y="896112"/>
            <a:ext cx="8961120" cy="256032"/>
          </a:xfrm>
          <a:prstGeom prst="rect">
            <a:avLst/>
          </a:prstGeom>
          <a:noFill/>
          <a:ln/>
        </p:spPr>
        <p:txBody>
          <a:bodyPr wrap="square" lIns="0" tIns="0" rIns="0" bIns="0" rtlCol="0" anchor="ctr"/>
          <a:lstStyle/>
          <a:p>
            <a:pPr marL="0" indent="0">
              <a:buNone/>
            </a:pPr>
            <a:r>
              <a:rPr lang="en-US" sz="1150" dirty="0">
                <a:solidFill>
                  <a:srgbClr val="56636F"/>
                </a:solidFill>
                <a:latin typeface="Arial" pitchFamily="34" charset="0"/>
                <a:ea typeface="Arial" pitchFamily="34" charset="-122"/>
                <a:cs typeface="Arial" pitchFamily="34" charset="-120"/>
              </a:rPr>
              <a:t>Especially regarding the arrow keys</a:t>
            </a:r>
            <a:endParaRPr lang="en-US" sz="1150" dirty="0"/>
          </a:p>
        </p:txBody>
      </p:sp>
      <p:sp>
        <p:nvSpPr>
          <p:cNvPr id="78" name="Shape 75">
            <a:extLst>
              <a:ext uri="{FF2B5EF4-FFF2-40B4-BE49-F238E27FC236}">
                <a16:creationId xmlns:a16="http://schemas.microsoft.com/office/drawing/2014/main" id="{95C10B7D-D2CF-CA09-E8D2-C3FA15749BC4}"/>
              </a:ext>
            </a:extLst>
          </p:cNvPr>
          <p:cNvSpPr/>
          <p:nvPr/>
        </p:nvSpPr>
        <p:spPr>
          <a:xfrm>
            <a:off x="502920" y="6355080"/>
            <a:ext cx="11183112" cy="146304"/>
          </a:xfrm>
          <a:prstGeom prst="roundRect">
            <a:avLst>
              <a:gd name="adj" fmla="val 12500"/>
            </a:avLst>
          </a:prstGeom>
          <a:solidFill>
            <a:srgbClr val="EAF4F2"/>
          </a:solidFill>
          <a:ln w="12700">
            <a:solidFill>
              <a:srgbClr val="EAF4F2"/>
            </a:solidFill>
            <a:prstDash val="solid"/>
          </a:ln>
        </p:spPr>
      </p:sp>
      <p:sp>
        <p:nvSpPr>
          <p:cNvPr id="82" name="TextBox 1">
            <a:extLst>
              <a:ext uri="{FF2B5EF4-FFF2-40B4-BE49-F238E27FC236}">
                <a16:creationId xmlns:a16="http://schemas.microsoft.com/office/drawing/2014/main" id="{48B9ECD6-3729-EABC-C24E-BD69FCB570EC}"/>
              </a:ext>
            </a:extLst>
          </p:cNvPr>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83" name="Slide Number Placeholder 0">
            <a:extLst>
              <a:ext uri="{FF2B5EF4-FFF2-40B4-BE49-F238E27FC236}">
                <a16:creationId xmlns:a16="http://schemas.microsoft.com/office/drawing/2014/main" id="{552D7632-EDA9-2697-E100-860840F3D98E}"/>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9</a:t>
            </a:fld>
            <a:endParaRPr lang="en-US"/>
          </a:p>
        </p:txBody>
      </p:sp>
      <p:pic>
        <p:nvPicPr>
          <p:cNvPr id="81" name="Picture 80">
            <a:extLst>
              <a:ext uri="{FF2B5EF4-FFF2-40B4-BE49-F238E27FC236}">
                <a16:creationId xmlns:a16="http://schemas.microsoft.com/office/drawing/2014/main" id="{280FEB96-6C4F-BAEE-75D5-8EFEA078D31E}"/>
              </a:ext>
            </a:extLst>
          </p:cNvPr>
          <p:cNvPicPr>
            <a:picLocks noChangeAspect="1"/>
          </p:cNvPicPr>
          <p:nvPr/>
        </p:nvPicPr>
        <p:blipFill>
          <a:blip r:embed="rId3"/>
          <a:stretch>
            <a:fillRect/>
          </a:stretch>
        </p:blipFill>
        <p:spPr>
          <a:xfrm>
            <a:off x="110061" y="1569947"/>
            <a:ext cx="5591493" cy="3571111"/>
          </a:xfrm>
          <a:prstGeom prst="rect">
            <a:avLst/>
          </a:prstGeom>
        </p:spPr>
      </p:pic>
      <p:pic>
        <p:nvPicPr>
          <p:cNvPr id="87" name="Picture 86">
            <a:extLst>
              <a:ext uri="{FF2B5EF4-FFF2-40B4-BE49-F238E27FC236}">
                <a16:creationId xmlns:a16="http://schemas.microsoft.com/office/drawing/2014/main" id="{45236881-DF50-6DA3-B2DF-752723DAED06}"/>
              </a:ext>
            </a:extLst>
          </p:cNvPr>
          <p:cNvPicPr>
            <a:picLocks noChangeAspect="1"/>
          </p:cNvPicPr>
          <p:nvPr/>
        </p:nvPicPr>
        <p:blipFill>
          <a:blip r:embed="rId4"/>
          <a:stretch>
            <a:fillRect/>
          </a:stretch>
        </p:blipFill>
        <p:spPr>
          <a:xfrm>
            <a:off x="5830111" y="1557641"/>
            <a:ext cx="5855921" cy="4391941"/>
          </a:xfrm>
          <a:prstGeom prst="rect">
            <a:avLst/>
          </a:prstGeom>
        </p:spPr>
      </p:pic>
    </p:spTree>
    <p:extLst>
      <p:ext uri="{BB962C8B-B14F-4D97-AF65-F5344CB8AC3E}">
        <p14:creationId xmlns:p14="http://schemas.microsoft.com/office/powerpoint/2010/main" val="395143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3CA2-DE1D-0069-20DA-BF262352D5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368B45-6924-69EE-2CCC-486E87A4C0CB}"/>
              </a:ext>
            </a:extLst>
          </p:cNvPr>
          <p:cNvSpPr/>
          <p:nvPr/>
        </p:nvSpPr>
        <p:spPr>
          <a:xfrm>
            <a:off x="1363532" y="712653"/>
            <a:ext cx="8046720" cy="384048"/>
          </a:xfrm>
          <a:prstGeom prst="rect">
            <a:avLst/>
          </a:prstGeom>
          <a:noFill/>
          <a:ln/>
        </p:spPr>
        <p:txBody>
          <a:bodyPr wrap="square" lIns="0" tIns="0" rIns="0" bIns="0" rtlCol="0" anchor="ctr"/>
          <a:lstStyle/>
          <a:p>
            <a:pPr marL="0" indent="0">
              <a:buNone/>
            </a:pPr>
            <a:r>
              <a:rPr lang="en-US" sz="2200" b="1" dirty="0">
                <a:solidFill>
                  <a:srgbClr val="17232D"/>
                </a:solidFill>
                <a:latin typeface="Arial" pitchFamily="34" charset="0"/>
                <a:ea typeface="Arial" pitchFamily="34" charset="-122"/>
                <a:cs typeface="Arial" pitchFamily="34" charset="-120"/>
              </a:rPr>
              <a:t>Analysis tool –a key piece of functionality</a:t>
            </a:r>
            <a:endParaRPr lang="en-US" sz="2200" dirty="0"/>
          </a:p>
        </p:txBody>
      </p:sp>
      <p:sp>
        <p:nvSpPr>
          <p:cNvPr id="82" name="TextBox 1">
            <a:extLst>
              <a:ext uri="{FF2B5EF4-FFF2-40B4-BE49-F238E27FC236}">
                <a16:creationId xmlns:a16="http://schemas.microsoft.com/office/drawing/2014/main" id="{67D6328C-DAB1-7607-0320-A02F8A6CC244}"/>
              </a:ext>
            </a:extLst>
          </p:cNvPr>
          <p:cNvSpPr txBox="1"/>
          <p:nvPr/>
        </p:nvSpPr>
        <p:spPr>
          <a:xfrm>
            <a:off x="457200" y="183570"/>
            <a:ext cx="1207959" cy="172355"/>
          </a:xfrm>
          <a:prstGeom prst="rect">
            <a:avLst/>
          </a:prstGeom>
          <a:noFill/>
        </p:spPr>
        <p:txBody>
          <a:bodyPr wrap="none" lIns="27432" tIns="9144" rIns="27432" bIns="9144" anchor="ctr">
            <a:spAutoFit/>
          </a:bodyPr>
          <a:lstStyle/>
          <a:p>
            <a:pPr algn="l"/>
            <a:r>
              <a:rPr sz="1000" b="1" dirty="0">
                <a:solidFill>
                  <a:srgbClr val="009E9A"/>
                </a:solidFill>
                <a:latin typeface="Aptos"/>
              </a:rPr>
              <a:t>0</a:t>
            </a:r>
            <a:r>
              <a:rPr lang="it-IT" sz="1000" b="1" dirty="0">
                <a:solidFill>
                  <a:srgbClr val="009E9A"/>
                </a:solidFill>
                <a:latin typeface="Aptos"/>
              </a:rPr>
              <a:t>0</a:t>
            </a:r>
            <a:r>
              <a:rPr sz="1000" b="1" dirty="0">
                <a:solidFill>
                  <a:srgbClr val="009E9A"/>
                </a:solidFill>
                <a:latin typeface="Aptos"/>
              </a:rPr>
              <a:t> · </a:t>
            </a:r>
            <a:r>
              <a:rPr lang="it-IT" sz="1000" b="1" dirty="0">
                <a:solidFill>
                  <a:srgbClr val="009E9A"/>
                </a:solidFill>
                <a:latin typeface="Aptos"/>
              </a:rPr>
              <a:t>PRELIMINARIES</a:t>
            </a:r>
            <a:endParaRPr sz="1000" b="1" dirty="0">
              <a:solidFill>
                <a:srgbClr val="009E9A"/>
              </a:solidFill>
              <a:latin typeface="Aptos"/>
            </a:endParaRPr>
          </a:p>
        </p:txBody>
      </p:sp>
      <p:sp>
        <p:nvSpPr>
          <p:cNvPr id="83" name="Slide Number Placeholder 0">
            <a:extLst>
              <a:ext uri="{FF2B5EF4-FFF2-40B4-BE49-F238E27FC236}">
                <a16:creationId xmlns:a16="http://schemas.microsoft.com/office/drawing/2014/main" id="{B16BB3E9-4169-A5BA-4096-17D7DC15B3F1}"/>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10</a:t>
            </a:fld>
            <a:endParaRPr lang="en-US"/>
          </a:p>
        </p:txBody>
      </p:sp>
      <p:pic>
        <p:nvPicPr>
          <p:cNvPr id="4" name="Immagine 3">
            <a:extLst>
              <a:ext uri="{FF2B5EF4-FFF2-40B4-BE49-F238E27FC236}">
                <a16:creationId xmlns:a16="http://schemas.microsoft.com/office/drawing/2014/main" id="{85AE91EE-09FE-121C-88DF-DC98E8282119}"/>
              </a:ext>
            </a:extLst>
          </p:cNvPr>
          <p:cNvPicPr>
            <a:picLocks noChangeAspect="1"/>
          </p:cNvPicPr>
          <p:nvPr/>
        </p:nvPicPr>
        <p:blipFill>
          <a:blip r:embed="rId3"/>
          <a:stretch>
            <a:fillRect/>
          </a:stretch>
        </p:blipFill>
        <p:spPr>
          <a:xfrm>
            <a:off x="222378" y="1812541"/>
            <a:ext cx="419048" cy="285714"/>
          </a:xfrm>
          <a:prstGeom prst="rect">
            <a:avLst/>
          </a:prstGeom>
        </p:spPr>
      </p:pic>
      <p:pic>
        <p:nvPicPr>
          <p:cNvPr id="6" name="Immagine 5">
            <a:extLst>
              <a:ext uri="{FF2B5EF4-FFF2-40B4-BE49-F238E27FC236}">
                <a16:creationId xmlns:a16="http://schemas.microsoft.com/office/drawing/2014/main" id="{9C7821AC-DD84-4BFD-A634-D068A2293E83}"/>
              </a:ext>
            </a:extLst>
          </p:cNvPr>
          <p:cNvPicPr>
            <a:picLocks noChangeAspect="1"/>
          </p:cNvPicPr>
          <p:nvPr/>
        </p:nvPicPr>
        <p:blipFill>
          <a:blip r:embed="rId4"/>
          <a:stretch>
            <a:fillRect/>
          </a:stretch>
        </p:blipFill>
        <p:spPr>
          <a:xfrm>
            <a:off x="6777317" y="1358360"/>
            <a:ext cx="770480" cy="5245608"/>
          </a:xfrm>
          <a:prstGeom prst="rect">
            <a:avLst/>
          </a:prstGeom>
        </p:spPr>
      </p:pic>
      <p:pic>
        <p:nvPicPr>
          <p:cNvPr id="8" name="Immagine 7">
            <a:extLst>
              <a:ext uri="{FF2B5EF4-FFF2-40B4-BE49-F238E27FC236}">
                <a16:creationId xmlns:a16="http://schemas.microsoft.com/office/drawing/2014/main" id="{3866E016-C9BE-8EF1-B5B1-78D6117CE1C7}"/>
              </a:ext>
            </a:extLst>
          </p:cNvPr>
          <p:cNvPicPr>
            <a:picLocks noChangeAspect="1"/>
          </p:cNvPicPr>
          <p:nvPr/>
        </p:nvPicPr>
        <p:blipFill>
          <a:blip r:embed="rId5"/>
          <a:stretch>
            <a:fillRect/>
          </a:stretch>
        </p:blipFill>
        <p:spPr>
          <a:xfrm>
            <a:off x="916428" y="1812541"/>
            <a:ext cx="1123810" cy="933333"/>
          </a:xfrm>
          <a:prstGeom prst="rect">
            <a:avLst/>
          </a:prstGeom>
        </p:spPr>
      </p:pic>
      <p:pic>
        <p:nvPicPr>
          <p:cNvPr id="10" name="Immagine 9">
            <a:extLst>
              <a:ext uri="{FF2B5EF4-FFF2-40B4-BE49-F238E27FC236}">
                <a16:creationId xmlns:a16="http://schemas.microsoft.com/office/drawing/2014/main" id="{B946AF82-46AD-7CAB-B148-ED27BF07FBD6}"/>
              </a:ext>
            </a:extLst>
          </p:cNvPr>
          <p:cNvPicPr>
            <a:picLocks noChangeAspect="1"/>
          </p:cNvPicPr>
          <p:nvPr/>
        </p:nvPicPr>
        <p:blipFill>
          <a:blip r:embed="rId6"/>
          <a:stretch>
            <a:fillRect/>
          </a:stretch>
        </p:blipFill>
        <p:spPr>
          <a:xfrm>
            <a:off x="2309814" y="1822064"/>
            <a:ext cx="3723809" cy="1847619"/>
          </a:xfrm>
          <a:prstGeom prst="rect">
            <a:avLst/>
          </a:prstGeom>
        </p:spPr>
      </p:pic>
      <p:sp>
        <p:nvSpPr>
          <p:cNvPr id="15" name="Freccia a destra 14">
            <a:extLst>
              <a:ext uri="{FF2B5EF4-FFF2-40B4-BE49-F238E27FC236}">
                <a16:creationId xmlns:a16="http://schemas.microsoft.com/office/drawing/2014/main" id="{70369D7F-97F3-6B32-27ED-F1CCD1910C4A}"/>
              </a:ext>
            </a:extLst>
          </p:cNvPr>
          <p:cNvSpPr/>
          <p:nvPr/>
        </p:nvSpPr>
        <p:spPr>
          <a:xfrm>
            <a:off x="7520902" y="3058990"/>
            <a:ext cx="170814" cy="8877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3">
            <a:extLst>
              <a:ext uri="{FF2B5EF4-FFF2-40B4-BE49-F238E27FC236}">
                <a16:creationId xmlns:a16="http://schemas.microsoft.com/office/drawing/2014/main" id="{CEE778C0-C4C4-83C6-5261-B62732870DA6}"/>
              </a:ext>
            </a:extLst>
          </p:cNvPr>
          <p:cNvSpPr txBox="1"/>
          <p:nvPr/>
        </p:nvSpPr>
        <p:spPr>
          <a:xfrm>
            <a:off x="2904075" y="1391981"/>
            <a:ext cx="771943" cy="233910"/>
          </a:xfrm>
          <a:prstGeom prst="rect">
            <a:avLst/>
          </a:prstGeom>
          <a:noFill/>
        </p:spPr>
        <p:txBody>
          <a:bodyPr wrap="none" lIns="27432" tIns="9144" rIns="27432" bIns="9144" anchor="ctr">
            <a:spAutoFit/>
          </a:bodyPr>
          <a:lstStyle/>
          <a:p>
            <a:pPr algn="l"/>
            <a:r>
              <a:rPr lang="it-IT" sz="1400" b="0" dirty="0" err="1">
                <a:solidFill>
                  <a:srgbClr val="5C6C84"/>
                </a:solidFill>
                <a:latin typeface="Aptos"/>
              </a:rPr>
              <a:t>What</a:t>
            </a:r>
            <a:r>
              <a:rPr lang="it-IT" sz="1400" b="0" dirty="0">
                <a:solidFill>
                  <a:srgbClr val="5C6C84"/>
                </a:solidFill>
                <a:latin typeface="Aptos"/>
              </a:rPr>
              <a:t> </a:t>
            </a:r>
            <a:r>
              <a:rPr lang="it-IT" sz="1400" b="0" dirty="0" err="1">
                <a:solidFill>
                  <a:srgbClr val="5C6C84"/>
                </a:solidFill>
                <a:latin typeface="Aptos"/>
              </a:rPr>
              <a:t>it</a:t>
            </a:r>
            <a:r>
              <a:rPr lang="it-IT" sz="1400" b="0" dirty="0">
                <a:solidFill>
                  <a:srgbClr val="5C6C84"/>
                </a:solidFill>
                <a:latin typeface="Aptos"/>
              </a:rPr>
              <a:t> </a:t>
            </a:r>
            <a:r>
              <a:rPr lang="it-IT" sz="1400" b="0" dirty="0" err="1">
                <a:solidFill>
                  <a:srgbClr val="5C6C84"/>
                </a:solidFill>
                <a:latin typeface="Aptos"/>
              </a:rPr>
              <a:t>is</a:t>
            </a:r>
            <a:endParaRPr sz="1400" b="0" dirty="0">
              <a:solidFill>
                <a:srgbClr val="5C6C84"/>
              </a:solidFill>
              <a:latin typeface="Aptos"/>
            </a:endParaRPr>
          </a:p>
        </p:txBody>
      </p:sp>
      <p:sp>
        <p:nvSpPr>
          <p:cNvPr id="18" name="Rettangolo con angoli arrotondati 17">
            <a:extLst>
              <a:ext uri="{FF2B5EF4-FFF2-40B4-BE49-F238E27FC236}">
                <a16:creationId xmlns:a16="http://schemas.microsoft.com/office/drawing/2014/main" id="{22ECBE35-E371-D6CD-3A6E-CB2E61064253}"/>
              </a:ext>
            </a:extLst>
          </p:cNvPr>
          <p:cNvSpPr/>
          <p:nvPr/>
        </p:nvSpPr>
        <p:spPr>
          <a:xfrm>
            <a:off x="143435" y="1228165"/>
            <a:ext cx="6293224" cy="2940423"/>
          </a:xfrm>
          <a:prstGeom prst="round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Immagine 19">
            <a:extLst>
              <a:ext uri="{FF2B5EF4-FFF2-40B4-BE49-F238E27FC236}">
                <a16:creationId xmlns:a16="http://schemas.microsoft.com/office/drawing/2014/main" id="{6327AADC-9076-B4C7-3DE5-F1F2B70EDD94}"/>
              </a:ext>
            </a:extLst>
          </p:cNvPr>
          <p:cNvPicPr>
            <a:picLocks noChangeAspect="1"/>
          </p:cNvPicPr>
          <p:nvPr/>
        </p:nvPicPr>
        <p:blipFill>
          <a:blip r:embed="rId7"/>
          <a:stretch>
            <a:fillRect/>
          </a:stretch>
        </p:blipFill>
        <p:spPr>
          <a:xfrm>
            <a:off x="7711774" y="1360608"/>
            <a:ext cx="4257848" cy="3485542"/>
          </a:xfrm>
          <a:prstGeom prst="rect">
            <a:avLst/>
          </a:prstGeom>
        </p:spPr>
      </p:pic>
      <p:sp>
        <p:nvSpPr>
          <p:cNvPr id="22" name="Freccia a destra 21">
            <a:extLst>
              <a:ext uri="{FF2B5EF4-FFF2-40B4-BE49-F238E27FC236}">
                <a16:creationId xmlns:a16="http://schemas.microsoft.com/office/drawing/2014/main" id="{F8899BE9-31F2-7EE2-CBA1-8E29F68A9B9F}"/>
              </a:ext>
            </a:extLst>
          </p:cNvPr>
          <p:cNvSpPr/>
          <p:nvPr/>
        </p:nvSpPr>
        <p:spPr>
          <a:xfrm>
            <a:off x="8354621" y="4493343"/>
            <a:ext cx="170814" cy="8877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ccia a destra 23">
            <a:extLst>
              <a:ext uri="{FF2B5EF4-FFF2-40B4-BE49-F238E27FC236}">
                <a16:creationId xmlns:a16="http://schemas.microsoft.com/office/drawing/2014/main" id="{DF010EFB-2F9B-4B6A-994F-D90201458D78}"/>
              </a:ext>
            </a:extLst>
          </p:cNvPr>
          <p:cNvSpPr/>
          <p:nvPr/>
        </p:nvSpPr>
        <p:spPr>
          <a:xfrm>
            <a:off x="6759387" y="6376645"/>
            <a:ext cx="170814" cy="8877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ttangolo con angoli arrotondati 25">
            <a:extLst>
              <a:ext uri="{FF2B5EF4-FFF2-40B4-BE49-F238E27FC236}">
                <a16:creationId xmlns:a16="http://schemas.microsoft.com/office/drawing/2014/main" id="{70ECA022-6990-816D-EF5D-D92301147FB0}"/>
              </a:ext>
            </a:extLst>
          </p:cNvPr>
          <p:cNvSpPr/>
          <p:nvPr/>
        </p:nvSpPr>
        <p:spPr>
          <a:xfrm>
            <a:off x="6589059" y="1190278"/>
            <a:ext cx="5459506" cy="5667722"/>
          </a:xfrm>
          <a:prstGeom prst="round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3">
            <a:extLst>
              <a:ext uri="{FF2B5EF4-FFF2-40B4-BE49-F238E27FC236}">
                <a16:creationId xmlns:a16="http://schemas.microsoft.com/office/drawing/2014/main" id="{B998519E-5046-E3E3-42DC-64DB6775CE07}"/>
              </a:ext>
            </a:extLst>
          </p:cNvPr>
          <p:cNvSpPr txBox="1"/>
          <p:nvPr/>
        </p:nvSpPr>
        <p:spPr>
          <a:xfrm>
            <a:off x="9290766" y="5550767"/>
            <a:ext cx="1014830" cy="233910"/>
          </a:xfrm>
          <a:prstGeom prst="rect">
            <a:avLst/>
          </a:prstGeom>
          <a:noFill/>
        </p:spPr>
        <p:txBody>
          <a:bodyPr wrap="none" lIns="27432" tIns="9144" rIns="27432" bIns="9144" anchor="ctr">
            <a:spAutoFit/>
          </a:bodyPr>
          <a:lstStyle/>
          <a:p>
            <a:pPr algn="l"/>
            <a:r>
              <a:rPr lang="it-IT" sz="1400" b="0" dirty="0">
                <a:solidFill>
                  <a:srgbClr val="5C6C84"/>
                </a:solidFill>
                <a:latin typeface="Aptos"/>
              </a:rPr>
              <a:t>How to </a:t>
            </a:r>
            <a:r>
              <a:rPr lang="it-IT" sz="1400" b="0" dirty="0" err="1">
                <a:solidFill>
                  <a:srgbClr val="5C6C84"/>
                </a:solidFill>
                <a:latin typeface="Aptos"/>
              </a:rPr>
              <a:t>get</a:t>
            </a:r>
            <a:r>
              <a:rPr lang="it-IT" sz="1400" b="0" dirty="0">
                <a:solidFill>
                  <a:srgbClr val="5C6C84"/>
                </a:solidFill>
                <a:latin typeface="Aptos"/>
              </a:rPr>
              <a:t> </a:t>
            </a:r>
            <a:r>
              <a:rPr lang="it-IT" sz="1400" b="0" dirty="0" err="1">
                <a:solidFill>
                  <a:srgbClr val="5C6C84"/>
                </a:solidFill>
                <a:latin typeface="Aptos"/>
              </a:rPr>
              <a:t>it</a:t>
            </a:r>
            <a:endParaRPr sz="1400" b="0" dirty="0">
              <a:solidFill>
                <a:srgbClr val="5C6C84"/>
              </a:solidFill>
              <a:latin typeface="Aptos"/>
            </a:endParaRPr>
          </a:p>
        </p:txBody>
      </p:sp>
      <p:sp>
        <p:nvSpPr>
          <p:cNvPr id="30" name="Freccia a destra 29">
            <a:extLst>
              <a:ext uri="{FF2B5EF4-FFF2-40B4-BE49-F238E27FC236}">
                <a16:creationId xmlns:a16="http://schemas.microsoft.com/office/drawing/2014/main" id="{EBFF310F-BD42-22A6-BDB7-B9E2AEEFBF3D}"/>
              </a:ext>
            </a:extLst>
          </p:cNvPr>
          <p:cNvSpPr/>
          <p:nvPr/>
        </p:nvSpPr>
        <p:spPr>
          <a:xfrm>
            <a:off x="719996" y="1904149"/>
            <a:ext cx="170814" cy="8877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ccia a destra 31">
            <a:extLst>
              <a:ext uri="{FF2B5EF4-FFF2-40B4-BE49-F238E27FC236}">
                <a16:creationId xmlns:a16="http://schemas.microsoft.com/office/drawing/2014/main" id="{DCBA3E57-232E-F3E4-03DE-3C4AC91D6084}"/>
              </a:ext>
            </a:extLst>
          </p:cNvPr>
          <p:cNvSpPr/>
          <p:nvPr/>
        </p:nvSpPr>
        <p:spPr>
          <a:xfrm>
            <a:off x="2002884" y="1904149"/>
            <a:ext cx="170814" cy="8877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30748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01 · FOUNDATIONS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Data Science in one slide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Data Science combines business questions, data, statistical reasoning and computational tools to support decisions.</a:t>
            </a:r>
            <a:endParaRPr lang="en-US" sz="1300" dirty="0"/>
          </a:p>
        </p:txBody>
      </p:sp>
      <p:sp>
        <p:nvSpPr>
          <p:cNvPr id="7" name="Shape 5"/>
          <p:cNvSpPr/>
          <p:nvPr/>
        </p:nvSpPr>
        <p:spPr>
          <a:xfrm>
            <a:off x="658368" y="1874520"/>
            <a:ext cx="1676400" cy="914400"/>
          </a:xfrm>
          <a:prstGeom prst="roundRect">
            <a:avLst>
              <a:gd name="adj" fmla="val 6000"/>
            </a:avLst>
          </a:prstGeom>
          <a:solidFill>
            <a:srgbClr val="173B57"/>
          </a:solidFill>
          <a:ln w="12700">
            <a:solidFill>
              <a:srgbClr val="173B57"/>
            </a:solidFill>
            <a:prstDash val="solid"/>
          </a:ln>
        </p:spPr>
      </p:sp>
      <p:sp>
        <p:nvSpPr>
          <p:cNvPr id="8" name="Text 6"/>
          <p:cNvSpPr/>
          <p:nvPr/>
        </p:nvSpPr>
        <p:spPr>
          <a:xfrm>
            <a:off x="731520"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Business question</a:t>
            </a:r>
            <a:endParaRPr lang="en-US" sz="1200" dirty="0"/>
          </a:p>
        </p:txBody>
      </p:sp>
      <p:sp>
        <p:nvSpPr>
          <p:cNvPr id="9" name="Shape 7"/>
          <p:cNvSpPr/>
          <p:nvPr/>
        </p:nvSpPr>
        <p:spPr>
          <a:xfrm>
            <a:off x="2353056" y="2249424"/>
            <a:ext cx="118872" cy="164592"/>
          </a:xfrm>
          <a:prstGeom prst="chevron">
            <a:avLst/>
          </a:prstGeom>
          <a:solidFill>
            <a:srgbClr val="AEB8C5"/>
          </a:solidFill>
          <a:ln w="12700">
            <a:solidFill>
              <a:srgbClr val="AEB8C5"/>
            </a:solidFill>
            <a:prstDash val="solid"/>
          </a:ln>
        </p:spPr>
      </p:sp>
      <p:sp>
        <p:nvSpPr>
          <p:cNvPr id="10" name="Shape 8"/>
          <p:cNvSpPr/>
          <p:nvPr/>
        </p:nvSpPr>
        <p:spPr>
          <a:xfrm>
            <a:off x="2499360" y="1874520"/>
            <a:ext cx="1676400" cy="914400"/>
          </a:xfrm>
          <a:prstGeom prst="roundRect">
            <a:avLst>
              <a:gd name="adj" fmla="val 6000"/>
            </a:avLst>
          </a:prstGeom>
          <a:solidFill>
            <a:srgbClr val="2F6BFF"/>
          </a:solidFill>
          <a:ln w="12700">
            <a:solidFill>
              <a:srgbClr val="2F6BFF"/>
            </a:solidFill>
            <a:prstDash val="solid"/>
          </a:ln>
        </p:spPr>
      </p:sp>
      <p:sp>
        <p:nvSpPr>
          <p:cNvPr id="11" name="Text 9"/>
          <p:cNvSpPr/>
          <p:nvPr/>
        </p:nvSpPr>
        <p:spPr>
          <a:xfrm>
            <a:off x="2572512"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Collect / access data</a:t>
            </a:r>
            <a:endParaRPr lang="en-US" sz="1200" dirty="0"/>
          </a:p>
        </p:txBody>
      </p:sp>
      <p:sp>
        <p:nvSpPr>
          <p:cNvPr id="12" name="Shape 10"/>
          <p:cNvSpPr/>
          <p:nvPr/>
        </p:nvSpPr>
        <p:spPr>
          <a:xfrm>
            <a:off x="4194048" y="2249424"/>
            <a:ext cx="118872" cy="164592"/>
          </a:xfrm>
          <a:prstGeom prst="chevron">
            <a:avLst/>
          </a:prstGeom>
          <a:solidFill>
            <a:srgbClr val="AEB8C5"/>
          </a:solidFill>
          <a:ln w="12700">
            <a:solidFill>
              <a:srgbClr val="AEB8C5"/>
            </a:solidFill>
            <a:prstDash val="solid"/>
          </a:ln>
        </p:spPr>
      </p:sp>
      <p:sp>
        <p:nvSpPr>
          <p:cNvPr id="13" name="Shape 11"/>
          <p:cNvSpPr/>
          <p:nvPr/>
        </p:nvSpPr>
        <p:spPr>
          <a:xfrm>
            <a:off x="4340352" y="1874520"/>
            <a:ext cx="1676400" cy="914400"/>
          </a:xfrm>
          <a:prstGeom prst="roundRect">
            <a:avLst>
              <a:gd name="adj" fmla="val 6000"/>
            </a:avLst>
          </a:prstGeom>
          <a:solidFill>
            <a:srgbClr val="009E9A"/>
          </a:solidFill>
          <a:ln w="12700">
            <a:solidFill>
              <a:srgbClr val="009E9A"/>
            </a:solidFill>
            <a:prstDash val="solid"/>
          </a:ln>
        </p:spPr>
      </p:sp>
      <p:sp>
        <p:nvSpPr>
          <p:cNvPr id="14" name="Text 12"/>
          <p:cNvSpPr/>
          <p:nvPr/>
        </p:nvSpPr>
        <p:spPr>
          <a:xfrm>
            <a:off x="4413504"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Explore &amp; clean</a:t>
            </a:r>
            <a:endParaRPr lang="en-US" sz="1200" dirty="0"/>
          </a:p>
        </p:txBody>
      </p:sp>
      <p:sp>
        <p:nvSpPr>
          <p:cNvPr id="15" name="Shape 13"/>
          <p:cNvSpPr/>
          <p:nvPr/>
        </p:nvSpPr>
        <p:spPr>
          <a:xfrm>
            <a:off x="6035040" y="2249424"/>
            <a:ext cx="118872" cy="164592"/>
          </a:xfrm>
          <a:prstGeom prst="chevron">
            <a:avLst/>
          </a:prstGeom>
          <a:solidFill>
            <a:srgbClr val="AEB8C5"/>
          </a:solidFill>
          <a:ln w="12700">
            <a:solidFill>
              <a:srgbClr val="AEB8C5"/>
            </a:solidFill>
            <a:prstDash val="solid"/>
          </a:ln>
        </p:spPr>
      </p:sp>
      <p:sp>
        <p:nvSpPr>
          <p:cNvPr id="16" name="Shape 14"/>
          <p:cNvSpPr/>
          <p:nvPr/>
        </p:nvSpPr>
        <p:spPr>
          <a:xfrm>
            <a:off x="6181344" y="1874520"/>
            <a:ext cx="1676400" cy="914400"/>
          </a:xfrm>
          <a:prstGeom prst="roundRect">
            <a:avLst>
              <a:gd name="adj" fmla="val 6000"/>
            </a:avLst>
          </a:prstGeom>
          <a:solidFill>
            <a:srgbClr val="F59E0B"/>
          </a:solidFill>
          <a:ln w="12700">
            <a:solidFill>
              <a:srgbClr val="F59E0B"/>
            </a:solidFill>
            <a:prstDash val="solid"/>
          </a:ln>
        </p:spPr>
      </p:sp>
      <p:sp>
        <p:nvSpPr>
          <p:cNvPr id="17" name="Text 15"/>
          <p:cNvSpPr/>
          <p:nvPr/>
        </p:nvSpPr>
        <p:spPr>
          <a:xfrm>
            <a:off x="6254496"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Model / quantify</a:t>
            </a:r>
            <a:endParaRPr lang="en-US" sz="1200" dirty="0"/>
          </a:p>
        </p:txBody>
      </p:sp>
      <p:sp>
        <p:nvSpPr>
          <p:cNvPr id="18" name="Shape 16"/>
          <p:cNvSpPr/>
          <p:nvPr/>
        </p:nvSpPr>
        <p:spPr>
          <a:xfrm>
            <a:off x="7876032" y="2249424"/>
            <a:ext cx="118872" cy="164592"/>
          </a:xfrm>
          <a:prstGeom prst="chevron">
            <a:avLst/>
          </a:prstGeom>
          <a:solidFill>
            <a:srgbClr val="AEB8C5"/>
          </a:solidFill>
          <a:ln w="12700">
            <a:solidFill>
              <a:srgbClr val="AEB8C5"/>
            </a:solidFill>
            <a:prstDash val="solid"/>
          </a:ln>
        </p:spPr>
      </p:sp>
      <p:sp>
        <p:nvSpPr>
          <p:cNvPr id="19" name="Shape 17"/>
          <p:cNvSpPr/>
          <p:nvPr/>
        </p:nvSpPr>
        <p:spPr>
          <a:xfrm>
            <a:off x="8022336" y="1874520"/>
            <a:ext cx="1676400" cy="914400"/>
          </a:xfrm>
          <a:prstGeom prst="roundRect">
            <a:avLst>
              <a:gd name="adj" fmla="val 6000"/>
            </a:avLst>
          </a:prstGeom>
          <a:solidFill>
            <a:srgbClr val="2DAA74"/>
          </a:solidFill>
          <a:ln w="12700">
            <a:solidFill>
              <a:srgbClr val="2DAA74"/>
            </a:solidFill>
            <a:prstDash val="solid"/>
          </a:ln>
        </p:spPr>
      </p:sp>
      <p:sp>
        <p:nvSpPr>
          <p:cNvPr id="20" name="Text 18"/>
          <p:cNvSpPr/>
          <p:nvPr/>
        </p:nvSpPr>
        <p:spPr>
          <a:xfrm>
            <a:off x="8095488"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Communicate</a:t>
            </a:r>
            <a:endParaRPr lang="en-US" sz="1200" dirty="0"/>
          </a:p>
        </p:txBody>
      </p:sp>
      <p:sp>
        <p:nvSpPr>
          <p:cNvPr id="21" name="Shape 19"/>
          <p:cNvSpPr/>
          <p:nvPr/>
        </p:nvSpPr>
        <p:spPr>
          <a:xfrm>
            <a:off x="9717024" y="2249424"/>
            <a:ext cx="118872" cy="164592"/>
          </a:xfrm>
          <a:prstGeom prst="chevron">
            <a:avLst/>
          </a:prstGeom>
          <a:solidFill>
            <a:srgbClr val="AEB8C5"/>
          </a:solidFill>
          <a:ln w="12700">
            <a:solidFill>
              <a:srgbClr val="AEB8C5"/>
            </a:solidFill>
            <a:prstDash val="solid"/>
          </a:ln>
        </p:spPr>
      </p:sp>
      <p:sp>
        <p:nvSpPr>
          <p:cNvPr id="22" name="Shape 20"/>
          <p:cNvSpPr/>
          <p:nvPr/>
        </p:nvSpPr>
        <p:spPr>
          <a:xfrm>
            <a:off x="9863328" y="1874520"/>
            <a:ext cx="1676400" cy="914400"/>
          </a:xfrm>
          <a:prstGeom prst="roundRect">
            <a:avLst>
              <a:gd name="adj" fmla="val 6000"/>
            </a:avLst>
          </a:prstGeom>
          <a:solidFill>
            <a:srgbClr val="7A5AF8"/>
          </a:solidFill>
          <a:ln w="12700">
            <a:solidFill>
              <a:srgbClr val="7A5AF8"/>
            </a:solidFill>
            <a:prstDash val="solid"/>
          </a:ln>
        </p:spPr>
      </p:sp>
      <p:sp>
        <p:nvSpPr>
          <p:cNvPr id="23" name="Text 21"/>
          <p:cNvSpPr/>
          <p:nvPr/>
        </p:nvSpPr>
        <p:spPr>
          <a:xfrm>
            <a:off x="9936480" y="1984248"/>
            <a:ext cx="1530096" cy="6949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Decide &amp; monitor</a:t>
            </a:r>
            <a:endParaRPr lang="en-US" sz="1200" dirty="0"/>
          </a:p>
        </p:txBody>
      </p:sp>
      <p:sp>
        <p:nvSpPr>
          <p:cNvPr id="24" name="Shape 22"/>
          <p:cNvSpPr/>
          <p:nvPr/>
        </p:nvSpPr>
        <p:spPr>
          <a:xfrm>
            <a:off x="731520" y="3291840"/>
            <a:ext cx="3246120" cy="1417320"/>
          </a:xfrm>
          <a:prstGeom prst="roundRect">
            <a:avLst>
              <a:gd name="adj" fmla="val 5161"/>
            </a:avLst>
          </a:prstGeom>
          <a:solidFill>
            <a:srgbClr val="EAF1FF"/>
          </a:solidFill>
          <a:ln w="10160">
            <a:solidFill>
              <a:srgbClr val="E9EEF5"/>
            </a:solidFill>
            <a:prstDash val="solid"/>
          </a:ln>
        </p:spPr>
      </p:sp>
      <p:sp>
        <p:nvSpPr>
          <p:cNvPr id="25" name="Text 23"/>
          <p:cNvSpPr/>
          <p:nvPr/>
        </p:nvSpPr>
        <p:spPr>
          <a:xfrm>
            <a:off x="896112" y="342900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What matters most</a:t>
            </a:r>
            <a:endParaRPr lang="en-US" sz="1500" dirty="0"/>
          </a:p>
        </p:txBody>
      </p:sp>
      <p:sp>
        <p:nvSpPr>
          <p:cNvPr id="26" name="Text 24"/>
          <p:cNvSpPr/>
          <p:nvPr/>
        </p:nvSpPr>
        <p:spPr>
          <a:xfrm>
            <a:off x="896112" y="3767328"/>
            <a:ext cx="2916936" cy="8138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model or dashboard is useful only if it answers a relevant question with trustworthy data.</a:t>
            </a:r>
            <a:endParaRPr lang="en-US" sz="1150" dirty="0"/>
          </a:p>
        </p:txBody>
      </p:sp>
      <p:sp>
        <p:nvSpPr>
          <p:cNvPr id="27" name="Shape 25"/>
          <p:cNvSpPr/>
          <p:nvPr/>
        </p:nvSpPr>
        <p:spPr>
          <a:xfrm>
            <a:off x="4279392" y="3291840"/>
            <a:ext cx="3246120" cy="1417320"/>
          </a:xfrm>
          <a:prstGeom prst="roundRect">
            <a:avLst>
              <a:gd name="adj" fmla="val 5161"/>
            </a:avLst>
          </a:prstGeom>
          <a:solidFill>
            <a:srgbClr val="E6F7F5"/>
          </a:solidFill>
          <a:ln w="10160">
            <a:solidFill>
              <a:srgbClr val="E9EEF5"/>
            </a:solidFill>
            <a:prstDash val="solid"/>
          </a:ln>
        </p:spPr>
      </p:sp>
      <p:sp>
        <p:nvSpPr>
          <p:cNvPr id="28" name="Text 26"/>
          <p:cNvSpPr/>
          <p:nvPr/>
        </p:nvSpPr>
        <p:spPr>
          <a:xfrm>
            <a:off x="4443984" y="342900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Where Excel fits</a:t>
            </a:r>
            <a:endParaRPr lang="en-US" sz="1500" dirty="0"/>
          </a:p>
        </p:txBody>
      </p:sp>
      <p:sp>
        <p:nvSpPr>
          <p:cNvPr id="29" name="Text 27"/>
          <p:cNvSpPr/>
          <p:nvPr/>
        </p:nvSpPr>
        <p:spPr>
          <a:xfrm>
            <a:off x="4443984" y="3767328"/>
            <a:ext cx="2916936" cy="8138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Excel is excellent for inspection, quick EDA, small-to-medium datasets, validation and communication.</a:t>
            </a:r>
            <a:endParaRPr lang="en-US" sz="1150" dirty="0"/>
          </a:p>
        </p:txBody>
      </p:sp>
      <p:sp>
        <p:nvSpPr>
          <p:cNvPr id="30" name="Shape 28"/>
          <p:cNvSpPr/>
          <p:nvPr/>
        </p:nvSpPr>
        <p:spPr>
          <a:xfrm>
            <a:off x="7827264" y="3291840"/>
            <a:ext cx="3246120" cy="1417320"/>
          </a:xfrm>
          <a:prstGeom prst="roundRect">
            <a:avLst>
              <a:gd name="adj" fmla="val 5161"/>
            </a:avLst>
          </a:prstGeom>
          <a:solidFill>
            <a:srgbClr val="FFF4E2"/>
          </a:solidFill>
          <a:ln w="10160">
            <a:solidFill>
              <a:srgbClr val="E9EEF5"/>
            </a:solidFill>
            <a:prstDash val="solid"/>
          </a:ln>
        </p:spPr>
      </p:sp>
      <p:sp>
        <p:nvSpPr>
          <p:cNvPr id="31" name="Text 29"/>
          <p:cNvSpPr/>
          <p:nvPr/>
        </p:nvSpPr>
        <p:spPr>
          <a:xfrm>
            <a:off x="7991856" y="342900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Where Excel stops</a:t>
            </a:r>
            <a:endParaRPr lang="en-US" sz="1500" dirty="0"/>
          </a:p>
        </p:txBody>
      </p:sp>
      <p:sp>
        <p:nvSpPr>
          <p:cNvPr id="32" name="Text 30"/>
          <p:cNvSpPr/>
          <p:nvPr/>
        </p:nvSpPr>
        <p:spPr>
          <a:xfrm>
            <a:off x="7991856" y="3767328"/>
            <a:ext cx="2916936" cy="8138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Very large datasets, heavy automation and advanced modelling often need SQL, Python, R or cloud platforms.</a:t>
            </a:r>
            <a:endParaRPr lang="en-US" sz="1150" dirty="0"/>
          </a:p>
        </p:txBody>
      </p:sp>
      <p:sp>
        <p:nvSpPr>
          <p:cNvPr id="33" name="Shape 31"/>
          <p:cNvSpPr/>
          <p:nvPr/>
        </p:nvSpPr>
        <p:spPr>
          <a:xfrm>
            <a:off x="3675888" y="5257800"/>
            <a:ext cx="4800600" cy="420624"/>
          </a:xfrm>
          <a:prstGeom prst="roundRect">
            <a:avLst>
              <a:gd name="adj" fmla="val 10870"/>
            </a:avLst>
          </a:prstGeom>
          <a:solidFill>
            <a:srgbClr val="F8FBF9"/>
          </a:solidFill>
          <a:ln w="12700">
            <a:solidFill>
              <a:srgbClr val="009E9A"/>
            </a:solidFill>
            <a:prstDash val="solid"/>
          </a:ln>
        </p:spPr>
      </p:sp>
      <p:sp>
        <p:nvSpPr>
          <p:cNvPr id="34" name="Text 32"/>
          <p:cNvSpPr/>
          <p:nvPr/>
        </p:nvSpPr>
        <p:spPr>
          <a:xfrm>
            <a:off x="3785616" y="5340096"/>
            <a:ext cx="458114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Question → Data → Evidence → Decision</a:t>
            </a:r>
            <a:endParaRPr lang="en-US" sz="1050" dirty="0"/>
          </a:p>
        </p:txBody>
      </p:sp>
      <p:sp>
        <p:nvSpPr>
          <p:cNvPr id="3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01 · FOUNDATIONS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Why Excel still matters for bank analysts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Excel is not “less scientific”; it is a practical analysis surface when used with disciplined methods.</a:t>
            </a:r>
            <a:endParaRPr lang="en-US" sz="1300" dirty="0"/>
          </a:p>
        </p:txBody>
      </p:sp>
      <p:sp>
        <p:nvSpPr>
          <p:cNvPr id="7" name="Shape 5"/>
          <p:cNvSpPr/>
          <p:nvPr/>
        </p:nvSpPr>
        <p:spPr>
          <a:xfrm>
            <a:off x="658368" y="1600200"/>
            <a:ext cx="3401568" cy="1581912"/>
          </a:xfrm>
          <a:prstGeom prst="roundRect">
            <a:avLst>
              <a:gd name="adj" fmla="val 4624"/>
            </a:avLst>
          </a:prstGeom>
          <a:solidFill>
            <a:srgbClr val="EAF1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822960" y="17373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Fast inspection</a:t>
            </a:r>
            <a:endParaRPr lang="en-US" sz="1500" dirty="0"/>
          </a:p>
        </p:txBody>
      </p:sp>
      <p:sp>
        <p:nvSpPr>
          <p:cNvPr id="9" name="Text 7"/>
          <p:cNvSpPr/>
          <p:nvPr/>
        </p:nvSpPr>
        <p:spPr>
          <a:xfrm>
            <a:off x="822960" y="2075688"/>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Open a table and immediately inspect values, types, gaps and extremes.</a:t>
            </a:r>
            <a:endParaRPr lang="en-US" sz="1150" dirty="0"/>
          </a:p>
        </p:txBody>
      </p:sp>
      <p:sp>
        <p:nvSpPr>
          <p:cNvPr id="10" name="Shape 8"/>
          <p:cNvSpPr/>
          <p:nvPr/>
        </p:nvSpPr>
        <p:spPr>
          <a:xfrm>
            <a:off x="4407408" y="1600200"/>
            <a:ext cx="3401568" cy="1581912"/>
          </a:xfrm>
          <a:prstGeom prst="roundRect">
            <a:avLst>
              <a:gd name="adj" fmla="val 4624"/>
            </a:avLst>
          </a:prstGeom>
          <a:solidFill>
            <a:srgbClr val="E6F7F5"/>
          </a:solidFill>
          <a:ln w="10160">
            <a:solidFill>
              <a:srgbClr val="E9EEF5"/>
            </a:solidFill>
            <a:prstDash val="solid"/>
          </a:ln>
          <a:effectLst>
            <a:outerShdw blurRad="25400" dist="50800" dir="2700000" algn="bl" rotWithShape="0">
              <a:srgbClr val="B9C4D1">
                <a:alpha val="15000"/>
              </a:srgbClr>
            </a:outerShdw>
          </a:effectLst>
        </p:spPr>
      </p:sp>
      <p:sp>
        <p:nvSpPr>
          <p:cNvPr id="11" name="Text 9"/>
          <p:cNvSpPr/>
          <p:nvPr/>
        </p:nvSpPr>
        <p:spPr>
          <a:xfrm>
            <a:off x="4572000" y="17373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Business proximity</a:t>
            </a:r>
            <a:endParaRPr lang="en-US" sz="1500" dirty="0"/>
          </a:p>
        </p:txBody>
      </p:sp>
      <p:sp>
        <p:nvSpPr>
          <p:cNvPr id="12" name="Text 10"/>
          <p:cNvSpPr/>
          <p:nvPr/>
        </p:nvSpPr>
        <p:spPr>
          <a:xfrm>
            <a:off x="4572000" y="2075688"/>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Analysts, risk teams and finance users already exchange workbooks.</a:t>
            </a:r>
            <a:endParaRPr lang="en-US" sz="1150" dirty="0"/>
          </a:p>
        </p:txBody>
      </p:sp>
      <p:sp>
        <p:nvSpPr>
          <p:cNvPr id="13" name="Shape 11"/>
          <p:cNvSpPr/>
          <p:nvPr/>
        </p:nvSpPr>
        <p:spPr>
          <a:xfrm>
            <a:off x="8156448" y="1600200"/>
            <a:ext cx="3401568" cy="1581912"/>
          </a:xfrm>
          <a:prstGeom prst="roundRect">
            <a:avLst>
              <a:gd name="adj" fmla="val 4624"/>
            </a:avLst>
          </a:prstGeom>
          <a:solidFill>
            <a:srgbClr val="EAF7EF"/>
          </a:solidFill>
          <a:ln w="10160">
            <a:solidFill>
              <a:srgbClr val="E9EEF5"/>
            </a:solidFill>
            <a:prstDash val="solid"/>
          </a:ln>
          <a:effectLst>
            <a:outerShdw blurRad="25400" dist="50800" dir="2700000" algn="bl" rotWithShape="0">
              <a:srgbClr val="B9C4D1">
                <a:alpha val="15000"/>
              </a:srgbClr>
            </a:outerShdw>
          </a:effectLst>
        </p:spPr>
      </p:sp>
      <p:sp>
        <p:nvSpPr>
          <p:cNvPr id="14" name="Text 12"/>
          <p:cNvSpPr/>
          <p:nvPr/>
        </p:nvSpPr>
        <p:spPr>
          <a:xfrm>
            <a:off x="8321040" y="17373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Transparent logic</a:t>
            </a:r>
            <a:endParaRPr lang="en-US" sz="1500" dirty="0"/>
          </a:p>
        </p:txBody>
      </p:sp>
      <p:sp>
        <p:nvSpPr>
          <p:cNvPr id="15" name="Text 13"/>
          <p:cNvSpPr/>
          <p:nvPr/>
        </p:nvSpPr>
        <p:spPr>
          <a:xfrm>
            <a:off x="8321040" y="2075688"/>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Formulas, filters and PivotTables make many transformations visible.</a:t>
            </a:r>
            <a:endParaRPr lang="en-US" sz="1150" dirty="0"/>
          </a:p>
        </p:txBody>
      </p:sp>
      <p:sp>
        <p:nvSpPr>
          <p:cNvPr id="16" name="Shape 14"/>
          <p:cNvSpPr/>
          <p:nvPr/>
        </p:nvSpPr>
        <p:spPr>
          <a:xfrm>
            <a:off x="658368" y="3538728"/>
            <a:ext cx="3401568" cy="1581912"/>
          </a:xfrm>
          <a:prstGeom prst="roundRect">
            <a:avLst>
              <a:gd name="adj" fmla="val 4624"/>
            </a:avLst>
          </a:prstGeom>
          <a:solidFill>
            <a:srgbClr val="F1EDFF"/>
          </a:solidFill>
          <a:ln w="10160">
            <a:solidFill>
              <a:srgbClr val="E9EEF5"/>
            </a:solidFill>
            <a:prstDash val="solid"/>
          </a:ln>
          <a:effectLst>
            <a:outerShdw blurRad="25400" dist="50800" dir="2700000" algn="bl" rotWithShape="0">
              <a:srgbClr val="B9C4D1">
                <a:alpha val="15000"/>
              </a:srgbClr>
            </a:outerShdw>
          </a:effectLst>
        </p:spPr>
      </p:sp>
      <p:sp>
        <p:nvSpPr>
          <p:cNvPr id="17" name="Text 15"/>
          <p:cNvSpPr/>
          <p:nvPr/>
        </p:nvSpPr>
        <p:spPr>
          <a:xfrm>
            <a:off x="822960" y="3675888"/>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Excellent EDA</a:t>
            </a:r>
            <a:endParaRPr lang="en-US" sz="1500" dirty="0"/>
          </a:p>
        </p:txBody>
      </p:sp>
      <p:sp>
        <p:nvSpPr>
          <p:cNvPr id="18" name="Text 16"/>
          <p:cNvSpPr/>
          <p:nvPr/>
        </p:nvSpPr>
        <p:spPr>
          <a:xfrm>
            <a:off x="822960" y="4014216"/>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Descriptive statistics, histograms, scatter plots, box plots and correlations.</a:t>
            </a:r>
            <a:endParaRPr lang="en-US" sz="1150" dirty="0"/>
          </a:p>
        </p:txBody>
      </p:sp>
      <p:sp>
        <p:nvSpPr>
          <p:cNvPr id="19" name="Shape 17"/>
          <p:cNvSpPr/>
          <p:nvPr/>
        </p:nvSpPr>
        <p:spPr>
          <a:xfrm>
            <a:off x="4407408" y="3538728"/>
            <a:ext cx="3401568" cy="1581912"/>
          </a:xfrm>
          <a:prstGeom prst="roundRect">
            <a:avLst>
              <a:gd name="adj" fmla="val 4624"/>
            </a:avLst>
          </a:prstGeom>
          <a:solidFill>
            <a:srgbClr val="FFF4E2"/>
          </a:solidFill>
          <a:ln w="10160">
            <a:solidFill>
              <a:srgbClr val="E9EEF5"/>
            </a:solidFill>
            <a:prstDash val="solid"/>
          </a:ln>
          <a:effectLst>
            <a:outerShdw blurRad="25400" dist="50800" dir="2700000" algn="bl" rotWithShape="0">
              <a:srgbClr val="B9C4D1">
                <a:alpha val="15000"/>
              </a:srgbClr>
            </a:outerShdw>
          </a:effectLst>
        </p:spPr>
      </p:sp>
      <p:sp>
        <p:nvSpPr>
          <p:cNvPr id="20" name="Text 18"/>
          <p:cNvSpPr/>
          <p:nvPr/>
        </p:nvSpPr>
        <p:spPr>
          <a:xfrm>
            <a:off x="4572000" y="3675888"/>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Audit support</a:t>
            </a:r>
            <a:endParaRPr lang="en-US" sz="1500" dirty="0"/>
          </a:p>
        </p:txBody>
      </p:sp>
      <p:sp>
        <p:nvSpPr>
          <p:cNvPr id="21" name="Text 19"/>
          <p:cNvSpPr/>
          <p:nvPr/>
        </p:nvSpPr>
        <p:spPr>
          <a:xfrm>
            <a:off x="4572000" y="4014216"/>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Checks, reconciliation and exception lists can be made explicit.</a:t>
            </a:r>
            <a:endParaRPr lang="en-US" sz="1150" dirty="0"/>
          </a:p>
        </p:txBody>
      </p:sp>
      <p:sp>
        <p:nvSpPr>
          <p:cNvPr id="22" name="Shape 20"/>
          <p:cNvSpPr/>
          <p:nvPr/>
        </p:nvSpPr>
        <p:spPr>
          <a:xfrm>
            <a:off x="8156448" y="3538728"/>
            <a:ext cx="3401568" cy="1581912"/>
          </a:xfrm>
          <a:prstGeom prst="roundRect">
            <a:avLst>
              <a:gd name="adj" fmla="val 4624"/>
            </a:avLst>
          </a:prstGeom>
          <a:solidFill>
            <a:srgbClr val="FDECEC"/>
          </a:solidFill>
          <a:ln w="10160">
            <a:solidFill>
              <a:srgbClr val="E9EEF5"/>
            </a:solidFill>
            <a:prstDash val="solid"/>
          </a:ln>
          <a:effectLst>
            <a:outerShdw blurRad="25400" dist="50800" dir="2700000" algn="bl" rotWithShape="0">
              <a:srgbClr val="B9C4D1">
                <a:alpha val="15000"/>
              </a:srgbClr>
            </a:outerShdw>
          </a:effectLst>
        </p:spPr>
      </p:sp>
      <p:sp>
        <p:nvSpPr>
          <p:cNvPr id="23" name="Text 21"/>
          <p:cNvSpPr/>
          <p:nvPr/>
        </p:nvSpPr>
        <p:spPr>
          <a:xfrm>
            <a:off x="8321040" y="3675888"/>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Bridge tool</a:t>
            </a:r>
            <a:endParaRPr lang="en-US" sz="1500" dirty="0"/>
          </a:p>
        </p:txBody>
      </p:sp>
      <p:sp>
        <p:nvSpPr>
          <p:cNvPr id="24" name="Text 22"/>
          <p:cNvSpPr/>
          <p:nvPr/>
        </p:nvSpPr>
        <p:spPr>
          <a:xfrm>
            <a:off x="8321040" y="4014216"/>
            <a:ext cx="3072384" cy="97840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Useful before/after SQL, Python or modelling pipelines.</a:t>
            </a:r>
            <a:endParaRPr lang="en-US" sz="1150" dirty="0"/>
          </a:p>
        </p:txBody>
      </p:sp>
      <p:sp>
        <p:nvSpPr>
          <p:cNvPr id="25" name="Shape 23"/>
          <p:cNvSpPr/>
          <p:nvPr/>
        </p:nvSpPr>
        <p:spPr>
          <a:xfrm>
            <a:off x="804672" y="5669280"/>
            <a:ext cx="10378440" cy="548640"/>
          </a:xfrm>
          <a:prstGeom prst="roundRect">
            <a:avLst>
              <a:gd name="adj" fmla="val 8333"/>
            </a:avLst>
          </a:prstGeom>
          <a:solidFill>
            <a:srgbClr val="FFFFFF"/>
          </a:solidFill>
          <a:ln w="15240">
            <a:solidFill>
              <a:srgbClr val="D94F4F"/>
            </a:solidFill>
            <a:prstDash val="solid"/>
          </a:ln>
        </p:spPr>
      </p:sp>
      <p:sp>
        <p:nvSpPr>
          <p:cNvPr id="26" name="Shape 24"/>
          <p:cNvSpPr/>
          <p:nvPr/>
        </p:nvSpPr>
        <p:spPr>
          <a:xfrm>
            <a:off x="804672" y="5669280"/>
            <a:ext cx="73152" cy="548640"/>
          </a:xfrm>
          <a:prstGeom prst="rect">
            <a:avLst/>
          </a:prstGeom>
          <a:solidFill>
            <a:srgbClr val="D94F4F"/>
          </a:solidFill>
          <a:ln w="12700">
            <a:solidFill>
              <a:srgbClr val="D94F4F"/>
            </a:solidFill>
            <a:prstDash val="solid"/>
          </a:ln>
        </p:spPr>
      </p:sp>
      <p:sp>
        <p:nvSpPr>
          <p:cNvPr id="27" name="Text 25"/>
          <p:cNvSpPr/>
          <p:nvPr/>
        </p:nvSpPr>
        <p:spPr>
          <a:xfrm>
            <a:off x="969264" y="5779008"/>
            <a:ext cx="10122408" cy="329184"/>
          </a:xfrm>
          <a:prstGeom prst="rect">
            <a:avLst/>
          </a:prstGeom>
          <a:noFill/>
          <a:ln/>
        </p:spPr>
        <p:txBody>
          <a:bodyPr wrap="square" lIns="0" tIns="0" rIns="0" bIns="0" rtlCol="0" anchor="ctr">
            <a:normAutofit/>
          </a:bodyPr>
          <a:lstStyle/>
          <a:p>
            <a:pPr marL="0" indent="0">
              <a:buNone/>
            </a:pPr>
            <a:r>
              <a:rPr lang="en-US" sz="1150" b="1" dirty="0">
                <a:solidFill>
                  <a:srgbClr val="0B1F33"/>
                </a:solidFill>
              </a:rPr>
              <a:t>The key limitation to Data Science is not the tool: it is uncontrolled data handling, hidden assumptions and poor reproducibility.</a:t>
            </a:r>
            <a:endParaRPr lang="en-US" sz="1150" dirty="0"/>
          </a:p>
        </p:txBody>
      </p:sp>
      <p:sp>
        <p:nvSpPr>
          <p:cNvPr id="2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01 · FOUNDATIONS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Data Science, statistics, BI and Machine Learning</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They overlap, but they answer different kinds of questions.</a:t>
            </a:r>
            <a:endParaRPr lang="en-US" sz="1300" dirty="0"/>
          </a:p>
        </p:txBody>
      </p:sp>
      <p:sp>
        <p:nvSpPr>
          <p:cNvPr id="7" name="Shape 5"/>
          <p:cNvSpPr/>
          <p:nvPr/>
        </p:nvSpPr>
        <p:spPr>
          <a:xfrm>
            <a:off x="594360" y="1618488"/>
            <a:ext cx="2587752" cy="3246120"/>
          </a:xfrm>
          <a:prstGeom prst="roundRect">
            <a:avLst>
              <a:gd name="adj" fmla="val 2827"/>
            </a:avLst>
          </a:prstGeom>
          <a:solidFill>
            <a:srgbClr val="EAF1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758952" y="1755648"/>
            <a:ext cx="225856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Business Intelligence</a:t>
            </a:r>
            <a:endParaRPr lang="en-US" sz="1500" dirty="0"/>
          </a:p>
        </p:txBody>
      </p:sp>
      <p:sp>
        <p:nvSpPr>
          <p:cNvPr id="9" name="Text 7"/>
          <p:cNvSpPr/>
          <p:nvPr/>
        </p:nvSpPr>
        <p:spPr>
          <a:xfrm>
            <a:off x="758952" y="2249424"/>
            <a:ext cx="2240280" cy="420624"/>
          </a:xfrm>
          <a:prstGeom prst="rect">
            <a:avLst/>
          </a:prstGeom>
          <a:noFill/>
          <a:ln/>
        </p:spPr>
        <p:txBody>
          <a:bodyPr wrap="square" lIns="0" tIns="0" rIns="0" bIns="0" rtlCol="0" anchor="ctr">
            <a:normAutofit/>
          </a:bodyPr>
          <a:lstStyle/>
          <a:p>
            <a:pPr marL="0" indent="0" algn="ctr">
              <a:buNone/>
            </a:pPr>
            <a:r>
              <a:rPr lang="en-US" sz="1450" b="1" dirty="0">
                <a:solidFill>
                  <a:srgbClr val="0B1F33"/>
                </a:solidFill>
              </a:rPr>
              <a:t>What happened?</a:t>
            </a:r>
            <a:endParaRPr lang="en-US" sz="1450" dirty="0"/>
          </a:p>
        </p:txBody>
      </p:sp>
      <p:sp>
        <p:nvSpPr>
          <p:cNvPr id="10" name="Text 8"/>
          <p:cNvSpPr/>
          <p:nvPr/>
        </p:nvSpPr>
        <p:spPr>
          <a:xfrm>
            <a:off x="758952" y="2880360"/>
            <a:ext cx="2240280" cy="1161288"/>
          </a:xfrm>
          <a:prstGeom prst="rect">
            <a:avLst/>
          </a:prstGeom>
          <a:noFill/>
          <a:ln/>
        </p:spPr>
        <p:txBody>
          <a:bodyPr wrap="square" lIns="381" tIns="381" rIns="381" bIns="381" rtlCol="0" anchor="ctr">
            <a:normAutofit/>
          </a:bodyPr>
          <a:lstStyle/>
          <a:p>
            <a:pPr marL="0" indent="0" algn="ctr">
              <a:buNone/>
            </a:pPr>
            <a:r>
              <a:rPr lang="en-US" sz="1150" dirty="0">
                <a:solidFill>
                  <a:srgbClr val="26364A"/>
                </a:solidFill>
              </a:rPr>
              <a:t>Reports, KPIs, dashboards, aggregation</a:t>
            </a:r>
            <a:endParaRPr lang="en-US" sz="1150" dirty="0"/>
          </a:p>
        </p:txBody>
      </p:sp>
      <p:sp>
        <p:nvSpPr>
          <p:cNvPr id="11" name="Shape 9"/>
          <p:cNvSpPr/>
          <p:nvPr/>
        </p:nvSpPr>
        <p:spPr>
          <a:xfrm>
            <a:off x="3456432" y="1618488"/>
            <a:ext cx="2587752" cy="3246120"/>
          </a:xfrm>
          <a:prstGeom prst="roundRect">
            <a:avLst>
              <a:gd name="adj" fmla="val 2827"/>
            </a:avLst>
          </a:prstGeom>
          <a:solidFill>
            <a:srgbClr val="F1EDFF"/>
          </a:solidFill>
          <a:ln w="10160">
            <a:solidFill>
              <a:srgbClr val="E9EEF5"/>
            </a:solidFill>
            <a:prstDash val="solid"/>
          </a:ln>
          <a:effectLst>
            <a:outerShdw blurRad="25400" dist="50800" dir="2700000" algn="bl" rotWithShape="0">
              <a:srgbClr val="B9C4D1">
                <a:alpha val="15000"/>
              </a:srgbClr>
            </a:outerShdw>
          </a:effectLst>
        </p:spPr>
      </p:sp>
      <p:sp>
        <p:nvSpPr>
          <p:cNvPr id="12" name="Text 10"/>
          <p:cNvSpPr/>
          <p:nvPr/>
        </p:nvSpPr>
        <p:spPr>
          <a:xfrm>
            <a:off x="3621024" y="1755648"/>
            <a:ext cx="225856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Statistics</a:t>
            </a:r>
            <a:endParaRPr lang="en-US" sz="1500" dirty="0"/>
          </a:p>
        </p:txBody>
      </p:sp>
      <p:sp>
        <p:nvSpPr>
          <p:cNvPr id="13" name="Text 11"/>
          <p:cNvSpPr/>
          <p:nvPr/>
        </p:nvSpPr>
        <p:spPr>
          <a:xfrm>
            <a:off x="3621024" y="2249424"/>
            <a:ext cx="2240280" cy="420624"/>
          </a:xfrm>
          <a:prstGeom prst="rect">
            <a:avLst/>
          </a:prstGeom>
          <a:noFill/>
          <a:ln/>
        </p:spPr>
        <p:txBody>
          <a:bodyPr wrap="square" lIns="0" tIns="0" rIns="0" bIns="0" rtlCol="0" anchor="ctr">
            <a:normAutofit/>
          </a:bodyPr>
          <a:lstStyle/>
          <a:p>
            <a:pPr marL="0" indent="0" algn="ctr">
              <a:buNone/>
            </a:pPr>
            <a:r>
              <a:rPr lang="en-US" sz="1450" b="1" dirty="0">
                <a:solidFill>
                  <a:srgbClr val="0B1F33"/>
                </a:solidFill>
              </a:rPr>
              <a:t>What can we infer?</a:t>
            </a:r>
            <a:endParaRPr lang="en-US" sz="1450" dirty="0"/>
          </a:p>
        </p:txBody>
      </p:sp>
      <p:sp>
        <p:nvSpPr>
          <p:cNvPr id="14" name="Text 12"/>
          <p:cNvSpPr/>
          <p:nvPr/>
        </p:nvSpPr>
        <p:spPr>
          <a:xfrm>
            <a:off x="3621024" y="2880360"/>
            <a:ext cx="2240280" cy="1161288"/>
          </a:xfrm>
          <a:prstGeom prst="rect">
            <a:avLst/>
          </a:prstGeom>
          <a:noFill/>
          <a:ln/>
        </p:spPr>
        <p:txBody>
          <a:bodyPr wrap="square" lIns="381" tIns="381" rIns="381" bIns="381" rtlCol="0" anchor="ctr">
            <a:normAutofit/>
          </a:bodyPr>
          <a:lstStyle/>
          <a:p>
            <a:pPr marL="0" indent="0" algn="ctr">
              <a:buNone/>
            </a:pPr>
            <a:r>
              <a:rPr lang="en-US" sz="1150" dirty="0">
                <a:solidFill>
                  <a:srgbClr val="26364A"/>
                </a:solidFill>
              </a:rPr>
              <a:t>Variation, uncertainty, estimation, testing</a:t>
            </a:r>
            <a:endParaRPr lang="en-US" sz="1150" dirty="0"/>
          </a:p>
        </p:txBody>
      </p:sp>
      <p:sp>
        <p:nvSpPr>
          <p:cNvPr id="15" name="Shape 13"/>
          <p:cNvSpPr/>
          <p:nvPr/>
        </p:nvSpPr>
        <p:spPr>
          <a:xfrm>
            <a:off x="6318504" y="1618488"/>
            <a:ext cx="2587752" cy="3246120"/>
          </a:xfrm>
          <a:prstGeom prst="roundRect">
            <a:avLst>
              <a:gd name="adj" fmla="val 2827"/>
            </a:avLst>
          </a:prstGeom>
          <a:solidFill>
            <a:srgbClr val="EAF7EF"/>
          </a:solidFill>
          <a:ln w="10160">
            <a:solidFill>
              <a:srgbClr val="E9EEF5"/>
            </a:solidFill>
            <a:prstDash val="solid"/>
          </a:ln>
          <a:effectLst>
            <a:outerShdw blurRad="25400" dist="50800" dir="2700000" algn="bl" rotWithShape="0">
              <a:srgbClr val="B9C4D1">
                <a:alpha val="15000"/>
              </a:srgbClr>
            </a:outerShdw>
          </a:effectLst>
        </p:spPr>
      </p:sp>
      <p:sp>
        <p:nvSpPr>
          <p:cNvPr id="16" name="Text 14"/>
          <p:cNvSpPr/>
          <p:nvPr/>
        </p:nvSpPr>
        <p:spPr>
          <a:xfrm>
            <a:off x="6483096" y="1755648"/>
            <a:ext cx="225856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Machine Learning</a:t>
            </a:r>
            <a:endParaRPr lang="en-US" sz="1500" dirty="0"/>
          </a:p>
        </p:txBody>
      </p:sp>
      <p:sp>
        <p:nvSpPr>
          <p:cNvPr id="17" name="Text 15"/>
          <p:cNvSpPr/>
          <p:nvPr/>
        </p:nvSpPr>
        <p:spPr>
          <a:xfrm>
            <a:off x="6483096" y="2249424"/>
            <a:ext cx="2240280" cy="420624"/>
          </a:xfrm>
          <a:prstGeom prst="rect">
            <a:avLst/>
          </a:prstGeom>
          <a:noFill/>
          <a:ln/>
        </p:spPr>
        <p:txBody>
          <a:bodyPr wrap="square" lIns="0" tIns="0" rIns="0" bIns="0" rtlCol="0" anchor="ctr">
            <a:normAutofit/>
          </a:bodyPr>
          <a:lstStyle/>
          <a:p>
            <a:pPr marL="0" indent="0" algn="ctr">
              <a:buNone/>
            </a:pPr>
            <a:r>
              <a:rPr lang="en-US" sz="1450" b="1" dirty="0">
                <a:solidFill>
                  <a:srgbClr val="0B1F33"/>
                </a:solidFill>
              </a:rPr>
              <a:t>What can we predict?</a:t>
            </a:r>
            <a:endParaRPr lang="en-US" sz="1450" dirty="0"/>
          </a:p>
        </p:txBody>
      </p:sp>
      <p:sp>
        <p:nvSpPr>
          <p:cNvPr id="18" name="Text 16"/>
          <p:cNvSpPr/>
          <p:nvPr/>
        </p:nvSpPr>
        <p:spPr>
          <a:xfrm>
            <a:off x="6483096" y="2880360"/>
            <a:ext cx="2240280" cy="1161288"/>
          </a:xfrm>
          <a:prstGeom prst="rect">
            <a:avLst/>
          </a:prstGeom>
          <a:noFill/>
          <a:ln/>
        </p:spPr>
        <p:txBody>
          <a:bodyPr wrap="square" lIns="381" tIns="381" rIns="381" bIns="381" rtlCol="0" anchor="ctr">
            <a:normAutofit/>
          </a:bodyPr>
          <a:lstStyle/>
          <a:p>
            <a:pPr marL="0" indent="0" algn="ctr">
              <a:buNone/>
            </a:pPr>
            <a:r>
              <a:rPr lang="en-US" sz="1150" dirty="0">
                <a:solidFill>
                  <a:srgbClr val="26364A"/>
                </a:solidFill>
              </a:rPr>
              <a:t>Prediction, classification, clustering</a:t>
            </a:r>
            <a:endParaRPr lang="en-US" sz="1150" dirty="0"/>
          </a:p>
        </p:txBody>
      </p:sp>
      <p:sp>
        <p:nvSpPr>
          <p:cNvPr id="19" name="Shape 17"/>
          <p:cNvSpPr/>
          <p:nvPr/>
        </p:nvSpPr>
        <p:spPr>
          <a:xfrm>
            <a:off x="9180576" y="1618488"/>
            <a:ext cx="2587752" cy="3246120"/>
          </a:xfrm>
          <a:prstGeom prst="roundRect">
            <a:avLst>
              <a:gd name="adj" fmla="val 2827"/>
            </a:avLst>
          </a:prstGeom>
          <a:solidFill>
            <a:srgbClr val="E6F7F5"/>
          </a:solidFill>
          <a:ln w="10160">
            <a:solidFill>
              <a:srgbClr val="E9EEF5"/>
            </a:solidFill>
            <a:prstDash val="solid"/>
          </a:ln>
          <a:effectLst>
            <a:outerShdw blurRad="25400" dist="50800" dir="2700000" algn="bl" rotWithShape="0">
              <a:srgbClr val="B9C4D1">
                <a:alpha val="15000"/>
              </a:srgbClr>
            </a:outerShdw>
          </a:effectLst>
        </p:spPr>
      </p:sp>
      <p:sp>
        <p:nvSpPr>
          <p:cNvPr id="20" name="Text 18"/>
          <p:cNvSpPr/>
          <p:nvPr/>
        </p:nvSpPr>
        <p:spPr>
          <a:xfrm>
            <a:off x="9345168" y="1755648"/>
            <a:ext cx="225856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Data Science</a:t>
            </a:r>
            <a:endParaRPr lang="en-US" sz="1500" dirty="0"/>
          </a:p>
        </p:txBody>
      </p:sp>
      <p:sp>
        <p:nvSpPr>
          <p:cNvPr id="21" name="Text 19"/>
          <p:cNvSpPr/>
          <p:nvPr/>
        </p:nvSpPr>
        <p:spPr>
          <a:xfrm>
            <a:off x="9345168" y="2249424"/>
            <a:ext cx="2240280" cy="420624"/>
          </a:xfrm>
          <a:prstGeom prst="rect">
            <a:avLst/>
          </a:prstGeom>
          <a:noFill/>
          <a:ln/>
        </p:spPr>
        <p:txBody>
          <a:bodyPr wrap="square" lIns="0" tIns="0" rIns="0" bIns="0" rtlCol="0" anchor="ctr">
            <a:normAutofit lnSpcReduction="10000"/>
          </a:bodyPr>
          <a:lstStyle/>
          <a:p>
            <a:pPr marL="0" indent="0" algn="ctr">
              <a:buNone/>
            </a:pPr>
            <a:r>
              <a:rPr lang="en-US" sz="1450" b="1" dirty="0">
                <a:solidFill>
                  <a:srgbClr val="0B1F33"/>
                </a:solidFill>
              </a:rPr>
              <a:t>How do we turn data into decisions?</a:t>
            </a:r>
            <a:endParaRPr lang="en-US" sz="1450" dirty="0"/>
          </a:p>
        </p:txBody>
      </p:sp>
      <p:sp>
        <p:nvSpPr>
          <p:cNvPr id="22" name="Text 20"/>
          <p:cNvSpPr/>
          <p:nvPr/>
        </p:nvSpPr>
        <p:spPr>
          <a:xfrm>
            <a:off x="9345168" y="2880360"/>
            <a:ext cx="2240280" cy="1161288"/>
          </a:xfrm>
          <a:prstGeom prst="rect">
            <a:avLst/>
          </a:prstGeom>
          <a:noFill/>
          <a:ln/>
        </p:spPr>
        <p:txBody>
          <a:bodyPr wrap="square" lIns="381" tIns="381" rIns="381" bIns="381" rtlCol="0" anchor="ctr">
            <a:normAutofit/>
          </a:bodyPr>
          <a:lstStyle/>
          <a:p>
            <a:pPr marL="0" indent="0" algn="ctr">
              <a:buNone/>
            </a:pPr>
            <a:r>
              <a:rPr lang="en-US" sz="1150" dirty="0">
                <a:solidFill>
                  <a:srgbClr val="26364A"/>
                </a:solidFill>
              </a:rPr>
              <a:t>End-to-end problem framing, data, analysis, modelling, communication</a:t>
            </a:r>
            <a:endParaRPr lang="en-US" sz="1150" dirty="0"/>
          </a:p>
        </p:txBody>
      </p:sp>
      <p:sp>
        <p:nvSpPr>
          <p:cNvPr id="23" name="Shape 21"/>
          <p:cNvSpPr/>
          <p:nvPr/>
        </p:nvSpPr>
        <p:spPr>
          <a:xfrm>
            <a:off x="1078992" y="5248656"/>
            <a:ext cx="10012680" cy="612648"/>
          </a:xfrm>
          <a:prstGeom prst="roundRect">
            <a:avLst>
              <a:gd name="adj" fmla="val 7463"/>
            </a:avLst>
          </a:prstGeom>
          <a:solidFill>
            <a:srgbClr val="FFFFFF"/>
          </a:solidFill>
          <a:ln w="15240">
            <a:solidFill>
              <a:srgbClr val="217346"/>
            </a:solidFill>
            <a:prstDash val="solid"/>
          </a:ln>
        </p:spPr>
      </p:sp>
      <p:sp>
        <p:nvSpPr>
          <p:cNvPr id="24" name="Shape 22"/>
          <p:cNvSpPr/>
          <p:nvPr/>
        </p:nvSpPr>
        <p:spPr>
          <a:xfrm>
            <a:off x="1078992" y="5248656"/>
            <a:ext cx="73152" cy="612648"/>
          </a:xfrm>
          <a:prstGeom prst="rect">
            <a:avLst/>
          </a:prstGeom>
          <a:solidFill>
            <a:srgbClr val="217346"/>
          </a:solidFill>
          <a:ln w="12700">
            <a:solidFill>
              <a:srgbClr val="217346"/>
            </a:solidFill>
            <a:prstDash val="solid"/>
          </a:ln>
        </p:spPr>
      </p:sp>
      <p:sp>
        <p:nvSpPr>
          <p:cNvPr id="25" name="Text 23"/>
          <p:cNvSpPr/>
          <p:nvPr/>
        </p:nvSpPr>
        <p:spPr>
          <a:xfrm>
            <a:off x="1243584" y="5358384"/>
            <a:ext cx="9756648" cy="393192"/>
          </a:xfrm>
          <a:prstGeom prst="rect">
            <a:avLst/>
          </a:prstGeom>
          <a:noFill/>
          <a:ln/>
        </p:spPr>
        <p:txBody>
          <a:bodyPr wrap="square" lIns="0" tIns="0" rIns="0" bIns="0" rtlCol="0" anchor="ctr">
            <a:normAutofit/>
          </a:bodyPr>
          <a:lstStyle/>
          <a:p>
            <a:pPr marL="0" indent="0">
              <a:buNone/>
            </a:pPr>
            <a:r>
              <a:rPr lang="en-US" sz="1150" b="1" dirty="0">
                <a:solidFill>
                  <a:srgbClr val="0B1F33"/>
                </a:solidFill>
              </a:rPr>
              <a:t>Excel can support all four — but EDA and descriptive statistics are where it is especially strong.</a:t>
            </a:r>
            <a:endParaRPr lang="en-US" sz="1150" dirty="0"/>
          </a:p>
        </p:txBody>
      </p:sp>
      <p:sp>
        <p:nvSpPr>
          <p:cNvPr id="2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01 · FOUNDATIONS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Banking examples: questions before tools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Start with the decision or risk question, then choose the analysis.</a:t>
            </a:r>
            <a:endParaRPr lang="en-US" sz="1300" dirty="0"/>
          </a:p>
        </p:txBody>
      </p:sp>
      <p:sp>
        <p:nvSpPr>
          <p:cNvPr id="7" name="Shape 5"/>
          <p:cNvSpPr/>
          <p:nvPr/>
        </p:nvSpPr>
        <p:spPr>
          <a:xfrm>
            <a:off x="713232" y="1572768"/>
            <a:ext cx="10716768" cy="4160520"/>
          </a:xfrm>
          <a:prstGeom prst="roundRect">
            <a:avLst>
              <a:gd name="adj" fmla="val 1099"/>
            </a:avLst>
          </a:prstGeom>
          <a:solidFill>
            <a:srgbClr val="FFFFFF"/>
          </a:solidFill>
          <a:ln w="12700">
            <a:solidFill>
              <a:srgbClr val="E9EEF5"/>
            </a:solidFill>
            <a:prstDash val="solid"/>
          </a:ln>
        </p:spPr>
      </p:sp>
      <p:sp>
        <p:nvSpPr>
          <p:cNvPr id="8" name="Shape 6"/>
          <p:cNvSpPr/>
          <p:nvPr/>
        </p:nvSpPr>
        <p:spPr>
          <a:xfrm>
            <a:off x="713232" y="1572768"/>
            <a:ext cx="2286000" cy="548640"/>
          </a:xfrm>
          <a:prstGeom prst="rect">
            <a:avLst/>
          </a:prstGeom>
          <a:solidFill>
            <a:srgbClr val="173B57"/>
          </a:solidFill>
          <a:ln w="5080">
            <a:solidFill>
              <a:srgbClr val="FFFFFF"/>
            </a:solidFill>
            <a:prstDash val="solid"/>
          </a:ln>
        </p:spPr>
      </p:sp>
      <p:sp>
        <p:nvSpPr>
          <p:cNvPr id="9" name="Text 7"/>
          <p:cNvSpPr/>
          <p:nvPr/>
        </p:nvSpPr>
        <p:spPr>
          <a:xfrm>
            <a:off x="822960" y="1719072"/>
            <a:ext cx="2066544" cy="228600"/>
          </a:xfrm>
          <a:prstGeom prst="rect">
            <a:avLst/>
          </a:prstGeom>
          <a:noFill/>
          <a:ln/>
        </p:spPr>
        <p:txBody>
          <a:bodyPr wrap="square" lIns="0" tIns="0" rIns="0" bIns="0" rtlCol="0" anchor="ctr"/>
          <a:lstStyle/>
          <a:p>
            <a:pPr marL="0" indent="0">
              <a:buNone/>
            </a:pPr>
            <a:r>
              <a:rPr lang="en-US" sz="1130" b="1" dirty="0">
                <a:solidFill>
                  <a:srgbClr val="FFFFFF"/>
                </a:solidFill>
              </a:rPr>
              <a:t>Domain</a:t>
            </a:r>
            <a:endParaRPr lang="en-US" sz="1130" dirty="0"/>
          </a:p>
        </p:txBody>
      </p:sp>
      <p:sp>
        <p:nvSpPr>
          <p:cNvPr id="10" name="Shape 8"/>
          <p:cNvSpPr/>
          <p:nvPr/>
        </p:nvSpPr>
        <p:spPr>
          <a:xfrm>
            <a:off x="2999232" y="1572768"/>
            <a:ext cx="4663440" cy="548640"/>
          </a:xfrm>
          <a:prstGeom prst="rect">
            <a:avLst/>
          </a:prstGeom>
          <a:solidFill>
            <a:srgbClr val="173B57"/>
          </a:solidFill>
          <a:ln w="5080">
            <a:solidFill>
              <a:srgbClr val="FFFFFF"/>
            </a:solidFill>
            <a:prstDash val="solid"/>
          </a:ln>
        </p:spPr>
      </p:sp>
      <p:sp>
        <p:nvSpPr>
          <p:cNvPr id="11" name="Text 9"/>
          <p:cNvSpPr/>
          <p:nvPr/>
        </p:nvSpPr>
        <p:spPr>
          <a:xfrm>
            <a:off x="3108960" y="1719072"/>
            <a:ext cx="4443984" cy="228600"/>
          </a:xfrm>
          <a:prstGeom prst="rect">
            <a:avLst/>
          </a:prstGeom>
          <a:noFill/>
          <a:ln/>
        </p:spPr>
        <p:txBody>
          <a:bodyPr wrap="square" lIns="0" tIns="0" rIns="0" bIns="0" rtlCol="0" anchor="ctr"/>
          <a:lstStyle/>
          <a:p>
            <a:pPr marL="0" indent="0">
              <a:buNone/>
            </a:pPr>
            <a:r>
              <a:rPr lang="en-US" sz="1130" b="1" dirty="0">
                <a:solidFill>
                  <a:srgbClr val="FFFFFF"/>
                </a:solidFill>
              </a:rPr>
              <a:t>Business question</a:t>
            </a:r>
            <a:endParaRPr lang="en-US" sz="1130" dirty="0"/>
          </a:p>
        </p:txBody>
      </p:sp>
      <p:sp>
        <p:nvSpPr>
          <p:cNvPr id="12" name="Shape 10"/>
          <p:cNvSpPr/>
          <p:nvPr/>
        </p:nvSpPr>
        <p:spPr>
          <a:xfrm>
            <a:off x="7662672" y="1572768"/>
            <a:ext cx="3383280" cy="548640"/>
          </a:xfrm>
          <a:prstGeom prst="rect">
            <a:avLst/>
          </a:prstGeom>
          <a:solidFill>
            <a:srgbClr val="173B57"/>
          </a:solidFill>
          <a:ln w="5080">
            <a:solidFill>
              <a:srgbClr val="FFFFFF"/>
            </a:solidFill>
            <a:prstDash val="solid"/>
          </a:ln>
        </p:spPr>
      </p:sp>
      <p:sp>
        <p:nvSpPr>
          <p:cNvPr id="13" name="Text 11"/>
          <p:cNvSpPr/>
          <p:nvPr/>
        </p:nvSpPr>
        <p:spPr>
          <a:xfrm>
            <a:off x="7772400" y="1719072"/>
            <a:ext cx="3163824" cy="228600"/>
          </a:xfrm>
          <a:prstGeom prst="rect">
            <a:avLst/>
          </a:prstGeom>
          <a:noFill/>
          <a:ln/>
        </p:spPr>
        <p:txBody>
          <a:bodyPr wrap="square" lIns="0" tIns="0" rIns="0" bIns="0" rtlCol="0" anchor="ctr"/>
          <a:lstStyle/>
          <a:p>
            <a:pPr marL="0" indent="0">
              <a:buNone/>
            </a:pPr>
            <a:r>
              <a:rPr lang="en-US" sz="1130" b="1" dirty="0">
                <a:solidFill>
                  <a:srgbClr val="FFFFFF"/>
                </a:solidFill>
              </a:rPr>
              <a:t>Excel-first EDA</a:t>
            </a:r>
            <a:endParaRPr lang="en-US" sz="1130" dirty="0"/>
          </a:p>
        </p:txBody>
      </p:sp>
      <p:sp>
        <p:nvSpPr>
          <p:cNvPr id="14" name="Shape 12"/>
          <p:cNvSpPr/>
          <p:nvPr/>
        </p:nvSpPr>
        <p:spPr>
          <a:xfrm>
            <a:off x="713232" y="2121408"/>
            <a:ext cx="2286000" cy="704088"/>
          </a:xfrm>
          <a:prstGeom prst="rect">
            <a:avLst/>
          </a:prstGeom>
          <a:solidFill>
            <a:srgbClr val="FFFFFF"/>
          </a:solidFill>
          <a:ln w="5715">
            <a:solidFill>
              <a:srgbClr val="D8E0EA"/>
            </a:solidFill>
            <a:prstDash val="solid"/>
          </a:ln>
        </p:spPr>
      </p:sp>
      <p:sp>
        <p:nvSpPr>
          <p:cNvPr id="15" name="Text 13"/>
          <p:cNvSpPr/>
          <p:nvPr/>
        </p:nvSpPr>
        <p:spPr>
          <a:xfrm>
            <a:off x="822960" y="2231136"/>
            <a:ext cx="2066544" cy="438912"/>
          </a:xfrm>
          <a:prstGeom prst="rect">
            <a:avLst/>
          </a:prstGeom>
          <a:noFill/>
          <a:ln/>
        </p:spPr>
        <p:txBody>
          <a:bodyPr wrap="square" lIns="0" tIns="0" rIns="0" bIns="0" rtlCol="0" anchor="ctr">
            <a:normAutofit/>
          </a:bodyPr>
          <a:lstStyle/>
          <a:p>
            <a:pPr marL="0" indent="0">
              <a:buNone/>
            </a:pPr>
            <a:r>
              <a:rPr lang="en-US" sz="1070" b="1" dirty="0">
                <a:solidFill>
                  <a:srgbClr val="0B1F33"/>
                </a:solidFill>
              </a:rPr>
              <a:t>Retail customers</a:t>
            </a:r>
            <a:endParaRPr lang="en-US" sz="1070" dirty="0"/>
          </a:p>
        </p:txBody>
      </p:sp>
      <p:sp>
        <p:nvSpPr>
          <p:cNvPr id="16" name="Shape 14"/>
          <p:cNvSpPr/>
          <p:nvPr/>
        </p:nvSpPr>
        <p:spPr>
          <a:xfrm>
            <a:off x="2999232" y="2121408"/>
            <a:ext cx="4663440" cy="704088"/>
          </a:xfrm>
          <a:prstGeom prst="rect">
            <a:avLst/>
          </a:prstGeom>
          <a:solidFill>
            <a:srgbClr val="FFFFFF"/>
          </a:solidFill>
          <a:ln w="5715">
            <a:solidFill>
              <a:srgbClr val="D8E0EA"/>
            </a:solidFill>
            <a:prstDash val="solid"/>
          </a:ln>
        </p:spPr>
      </p:sp>
      <p:sp>
        <p:nvSpPr>
          <p:cNvPr id="17" name="Text 15"/>
          <p:cNvSpPr/>
          <p:nvPr/>
        </p:nvSpPr>
        <p:spPr>
          <a:xfrm>
            <a:off x="3108960" y="2231136"/>
            <a:ext cx="444398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Which segments show declining balances?</a:t>
            </a:r>
            <a:endParaRPr lang="en-US" sz="1070" dirty="0"/>
          </a:p>
        </p:txBody>
      </p:sp>
      <p:sp>
        <p:nvSpPr>
          <p:cNvPr id="18" name="Shape 16"/>
          <p:cNvSpPr/>
          <p:nvPr/>
        </p:nvSpPr>
        <p:spPr>
          <a:xfrm>
            <a:off x="7662672" y="2121408"/>
            <a:ext cx="3383280" cy="704088"/>
          </a:xfrm>
          <a:prstGeom prst="rect">
            <a:avLst/>
          </a:prstGeom>
          <a:solidFill>
            <a:srgbClr val="FFFFFF"/>
          </a:solidFill>
          <a:ln w="5715">
            <a:solidFill>
              <a:srgbClr val="D8E0EA"/>
            </a:solidFill>
            <a:prstDash val="solid"/>
          </a:ln>
        </p:spPr>
      </p:sp>
      <p:sp>
        <p:nvSpPr>
          <p:cNvPr id="19" name="Text 17"/>
          <p:cNvSpPr/>
          <p:nvPr/>
        </p:nvSpPr>
        <p:spPr>
          <a:xfrm>
            <a:off x="7772400" y="2231136"/>
            <a:ext cx="316382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PivotTable + line chart</a:t>
            </a:r>
            <a:endParaRPr lang="en-US" sz="1070" dirty="0"/>
          </a:p>
        </p:txBody>
      </p:sp>
      <p:sp>
        <p:nvSpPr>
          <p:cNvPr id="20" name="Shape 18"/>
          <p:cNvSpPr/>
          <p:nvPr/>
        </p:nvSpPr>
        <p:spPr>
          <a:xfrm>
            <a:off x="713232" y="2825496"/>
            <a:ext cx="2286000" cy="704088"/>
          </a:xfrm>
          <a:prstGeom prst="rect">
            <a:avLst/>
          </a:prstGeom>
          <a:solidFill>
            <a:srgbClr val="F2F5F9"/>
          </a:solidFill>
          <a:ln w="5715">
            <a:solidFill>
              <a:srgbClr val="D8E0EA"/>
            </a:solidFill>
            <a:prstDash val="solid"/>
          </a:ln>
        </p:spPr>
      </p:sp>
      <p:sp>
        <p:nvSpPr>
          <p:cNvPr id="21" name="Text 19"/>
          <p:cNvSpPr/>
          <p:nvPr/>
        </p:nvSpPr>
        <p:spPr>
          <a:xfrm>
            <a:off x="822960" y="2935224"/>
            <a:ext cx="2066544" cy="438912"/>
          </a:xfrm>
          <a:prstGeom prst="rect">
            <a:avLst/>
          </a:prstGeom>
          <a:noFill/>
          <a:ln/>
        </p:spPr>
        <p:txBody>
          <a:bodyPr wrap="square" lIns="0" tIns="0" rIns="0" bIns="0" rtlCol="0" anchor="ctr">
            <a:normAutofit/>
          </a:bodyPr>
          <a:lstStyle/>
          <a:p>
            <a:pPr marL="0" indent="0">
              <a:buNone/>
            </a:pPr>
            <a:r>
              <a:rPr lang="en-US" sz="1070" b="1" dirty="0">
                <a:solidFill>
                  <a:srgbClr val="0B1F33"/>
                </a:solidFill>
              </a:rPr>
              <a:t>Credit risk</a:t>
            </a:r>
            <a:endParaRPr lang="en-US" sz="1070" dirty="0"/>
          </a:p>
        </p:txBody>
      </p:sp>
      <p:sp>
        <p:nvSpPr>
          <p:cNvPr id="22" name="Shape 20"/>
          <p:cNvSpPr/>
          <p:nvPr/>
        </p:nvSpPr>
        <p:spPr>
          <a:xfrm>
            <a:off x="2999232" y="2843784"/>
            <a:ext cx="4780340" cy="704088"/>
          </a:xfrm>
          <a:prstGeom prst="rect">
            <a:avLst/>
          </a:prstGeom>
          <a:solidFill>
            <a:srgbClr val="F2F5F9"/>
          </a:solidFill>
          <a:ln w="5715">
            <a:solidFill>
              <a:srgbClr val="D8E0EA"/>
            </a:solidFill>
            <a:prstDash val="solid"/>
          </a:ln>
        </p:spPr>
      </p:sp>
      <p:sp>
        <p:nvSpPr>
          <p:cNvPr id="23" name="Text 21"/>
          <p:cNvSpPr/>
          <p:nvPr/>
        </p:nvSpPr>
        <p:spPr>
          <a:xfrm>
            <a:off x="3108960" y="2935224"/>
            <a:ext cx="4443984" cy="438912"/>
          </a:xfrm>
          <a:prstGeom prst="rect">
            <a:avLst/>
          </a:prstGeom>
          <a:noFill/>
          <a:ln/>
        </p:spPr>
        <p:txBody>
          <a:bodyPr wrap="square" lIns="0" tIns="0" rIns="0" bIns="0" rtlCol="0" anchor="ctr">
            <a:normAutofit/>
          </a:bodyPr>
          <a:lstStyle/>
          <a:p>
            <a:r>
              <a:rPr lang="en-US" sz="1070" dirty="0">
                <a:solidFill>
                  <a:srgbClr val="26364A"/>
                </a:solidFill>
              </a:rPr>
              <a:t>Which variables move with arrears (</a:t>
            </a:r>
            <a:r>
              <a:rPr lang="en-US" sz="1070" dirty="0" err="1">
                <a:solidFill>
                  <a:srgbClr val="26364A"/>
                </a:solidFill>
              </a:rPr>
              <a:t>ie</a:t>
            </a:r>
            <a:r>
              <a:rPr lang="en-US" sz="1070" dirty="0">
                <a:solidFill>
                  <a:srgbClr val="26364A"/>
                </a:solidFill>
              </a:rPr>
              <a:t>, payments that are </a:t>
            </a:r>
            <a:r>
              <a:rPr lang="en-GB" sz="1100" dirty="0"/>
              <a:t>overdue or unpaid when due</a:t>
            </a:r>
            <a:r>
              <a:rPr lang="en-US" sz="1070" dirty="0">
                <a:solidFill>
                  <a:srgbClr val="26364A"/>
                </a:solidFill>
              </a:rPr>
              <a:t>) or default?</a:t>
            </a:r>
            <a:endParaRPr lang="en-US" sz="1070" dirty="0"/>
          </a:p>
        </p:txBody>
      </p:sp>
      <p:sp>
        <p:nvSpPr>
          <p:cNvPr id="24" name="Shape 22"/>
          <p:cNvSpPr/>
          <p:nvPr/>
        </p:nvSpPr>
        <p:spPr>
          <a:xfrm>
            <a:off x="7662672" y="2825496"/>
            <a:ext cx="3383280" cy="704088"/>
          </a:xfrm>
          <a:prstGeom prst="rect">
            <a:avLst/>
          </a:prstGeom>
          <a:solidFill>
            <a:srgbClr val="F2F5F9"/>
          </a:solidFill>
          <a:ln w="5715">
            <a:solidFill>
              <a:srgbClr val="D8E0EA"/>
            </a:solidFill>
            <a:prstDash val="solid"/>
          </a:ln>
        </p:spPr>
      </p:sp>
      <p:sp>
        <p:nvSpPr>
          <p:cNvPr id="25" name="Text 23"/>
          <p:cNvSpPr/>
          <p:nvPr/>
        </p:nvSpPr>
        <p:spPr>
          <a:xfrm>
            <a:off x="7772400" y="2935224"/>
            <a:ext cx="316382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Correlation + distributions</a:t>
            </a:r>
            <a:endParaRPr lang="en-US" sz="1070" dirty="0"/>
          </a:p>
        </p:txBody>
      </p:sp>
      <p:sp>
        <p:nvSpPr>
          <p:cNvPr id="26" name="Shape 24"/>
          <p:cNvSpPr/>
          <p:nvPr/>
        </p:nvSpPr>
        <p:spPr>
          <a:xfrm>
            <a:off x="713232" y="3529584"/>
            <a:ext cx="2286000" cy="704088"/>
          </a:xfrm>
          <a:prstGeom prst="rect">
            <a:avLst/>
          </a:prstGeom>
          <a:solidFill>
            <a:srgbClr val="FFFFFF"/>
          </a:solidFill>
          <a:ln w="5715">
            <a:solidFill>
              <a:srgbClr val="D8E0EA"/>
            </a:solidFill>
            <a:prstDash val="solid"/>
          </a:ln>
        </p:spPr>
      </p:sp>
      <p:sp>
        <p:nvSpPr>
          <p:cNvPr id="27" name="Text 25"/>
          <p:cNvSpPr/>
          <p:nvPr/>
        </p:nvSpPr>
        <p:spPr>
          <a:xfrm>
            <a:off x="822960" y="3639312"/>
            <a:ext cx="2066544" cy="438912"/>
          </a:xfrm>
          <a:prstGeom prst="rect">
            <a:avLst/>
          </a:prstGeom>
          <a:noFill/>
          <a:ln/>
        </p:spPr>
        <p:txBody>
          <a:bodyPr wrap="square" lIns="0" tIns="0" rIns="0" bIns="0" rtlCol="0" anchor="ctr">
            <a:normAutofit/>
          </a:bodyPr>
          <a:lstStyle/>
          <a:p>
            <a:pPr marL="0" indent="0">
              <a:buNone/>
            </a:pPr>
            <a:r>
              <a:rPr lang="en-US" sz="1070" b="1" dirty="0">
                <a:solidFill>
                  <a:srgbClr val="0B1F33"/>
                </a:solidFill>
              </a:rPr>
              <a:t>Operations</a:t>
            </a:r>
            <a:endParaRPr lang="en-US" sz="1070" dirty="0"/>
          </a:p>
        </p:txBody>
      </p:sp>
      <p:sp>
        <p:nvSpPr>
          <p:cNvPr id="28" name="Shape 26"/>
          <p:cNvSpPr/>
          <p:nvPr/>
        </p:nvSpPr>
        <p:spPr>
          <a:xfrm>
            <a:off x="2999232" y="3529584"/>
            <a:ext cx="4663440" cy="704088"/>
          </a:xfrm>
          <a:prstGeom prst="rect">
            <a:avLst/>
          </a:prstGeom>
          <a:solidFill>
            <a:srgbClr val="FFFFFF"/>
          </a:solidFill>
          <a:ln w="5715">
            <a:solidFill>
              <a:srgbClr val="D8E0EA"/>
            </a:solidFill>
            <a:prstDash val="solid"/>
          </a:ln>
        </p:spPr>
      </p:sp>
      <p:sp>
        <p:nvSpPr>
          <p:cNvPr id="29" name="Text 27"/>
          <p:cNvSpPr/>
          <p:nvPr/>
        </p:nvSpPr>
        <p:spPr>
          <a:xfrm>
            <a:off x="3108960" y="3639312"/>
            <a:ext cx="444398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Where are processing times unusually high?</a:t>
            </a:r>
            <a:endParaRPr lang="en-US" sz="1070" dirty="0"/>
          </a:p>
        </p:txBody>
      </p:sp>
      <p:sp>
        <p:nvSpPr>
          <p:cNvPr id="30" name="Shape 28"/>
          <p:cNvSpPr/>
          <p:nvPr/>
        </p:nvSpPr>
        <p:spPr>
          <a:xfrm>
            <a:off x="7662672" y="3529584"/>
            <a:ext cx="3383280" cy="704088"/>
          </a:xfrm>
          <a:prstGeom prst="rect">
            <a:avLst/>
          </a:prstGeom>
          <a:solidFill>
            <a:srgbClr val="FFFFFF"/>
          </a:solidFill>
          <a:ln w="5715">
            <a:solidFill>
              <a:srgbClr val="D8E0EA"/>
            </a:solidFill>
            <a:prstDash val="solid"/>
          </a:ln>
        </p:spPr>
      </p:sp>
      <p:sp>
        <p:nvSpPr>
          <p:cNvPr id="31" name="Text 29"/>
          <p:cNvSpPr/>
          <p:nvPr/>
        </p:nvSpPr>
        <p:spPr>
          <a:xfrm>
            <a:off x="7772400" y="3639312"/>
            <a:ext cx="316382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Histogram + outlier analysis</a:t>
            </a:r>
            <a:endParaRPr lang="en-US" sz="1070" dirty="0"/>
          </a:p>
        </p:txBody>
      </p:sp>
      <p:sp>
        <p:nvSpPr>
          <p:cNvPr id="32" name="Shape 30"/>
          <p:cNvSpPr/>
          <p:nvPr/>
        </p:nvSpPr>
        <p:spPr>
          <a:xfrm>
            <a:off x="713232" y="4233672"/>
            <a:ext cx="2286000" cy="704088"/>
          </a:xfrm>
          <a:prstGeom prst="rect">
            <a:avLst/>
          </a:prstGeom>
          <a:solidFill>
            <a:srgbClr val="F2F5F9"/>
          </a:solidFill>
          <a:ln w="5715">
            <a:solidFill>
              <a:srgbClr val="D8E0EA"/>
            </a:solidFill>
            <a:prstDash val="solid"/>
          </a:ln>
        </p:spPr>
      </p:sp>
      <p:sp>
        <p:nvSpPr>
          <p:cNvPr id="33" name="Text 31"/>
          <p:cNvSpPr/>
          <p:nvPr/>
        </p:nvSpPr>
        <p:spPr>
          <a:xfrm>
            <a:off x="822960" y="4343400"/>
            <a:ext cx="2066544" cy="438912"/>
          </a:xfrm>
          <a:prstGeom prst="rect">
            <a:avLst/>
          </a:prstGeom>
          <a:noFill/>
          <a:ln/>
        </p:spPr>
        <p:txBody>
          <a:bodyPr wrap="square" lIns="0" tIns="0" rIns="0" bIns="0" rtlCol="0" anchor="ctr">
            <a:normAutofit/>
          </a:bodyPr>
          <a:lstStyle/>
          <a:p>
            <a:pPr marL="0" indent="0">
              <a:buNone/>
            </a:pPr>
            <a:r>
              <a:rPr lang="en-US" sz="1070" b="1" dirty="0">
                <a:solidFill>
                  <a:srgbClr val="0B1F33"/>
                </a:solidFill>
              </a:rPr>
              <a:t>Fraud monitoring</a:t>
            </a:r>
            <a:endParaRPr lang="en-US" sz="1070" dirty="0"/>
          </a:p>
        </p:txBody>
      </p:sp>
      <p:sp>
        <p:nvSpPr>
          <p:cNvPr id="34" name="Shape 32"/>
          <p:cNvSpPr/>
          <p:nvPr/>
        </p:nvSpPr>
        <p:spPr>
          <a:xfrm>
            <a:off x="2999232" y="4233672"/>
            <a:ext cx="4663440" cy="704088"/>
          </a:xfrm>
          <a:prstGeom prst="rect">
            <a:avLst/>
          </a:prstGeom>
          <a:solidFill>
            <a:srgbClr val="F2F5F9"/>
          </a:solidFill>
          <a:ln w="5715">
            <a:solidFill>
              <a:srgbClr val="D8E0EA"/>
            </a:solidFill>
            <a:prstDash val="solid"/>
          </a:ln>
        </p:spPr>
      </p:sp>
      <p:sp>
        <p:nvSpPr>
          <p:cNvPr id="35" name="Text 33"/>
          <p:cNvSpPr/>
          <p:nvPr/>
        </p:nvSpPr>
        <p:spPr>
          <a:xfrm>
            <a:off x="3108960" y="4343400"/>
            <a:ext cx="444398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Which transactions are atypical?</a:t>
            </a:r>
            <a:endParaRPr lang="en-US" sz="1070" dirty="0"/>
          </a:p>
        </p:txBody>
      </p:sp>
      <p:sp>
        <p:nvSpPr>
          <p:cNvPr id="36" name="Shape 34"/>
          <p:cNvSpPr/>
          <p:nvPr/>
        </p:nvSpPr>
        <p:spPr>
          <a:xfrm>
            <a:off x="7662672" y="4233672"/>
            <a:ext cx="3383280" cy="704088"/>
          </a:xfrm>
          <a:prstGeom prst="rect">
            <a:avLst/>
          </a:prstGeom>
          <a:solidFill>
            <a:srgbClr val="F2F5F9"/>
          </a:solidFill>
          <a:ln w="5715">
            <a:solidFill>
              <a:srgbClr val="D8E0EA"/>
            </a:solidFill>
            <a:prstDash val="solid"/>
          </a:ln>
        </p:spPr>
      </p:sp>
      <p:sp>
        <p:nvSpPr>
          <p:cNvPr id="37" name="Text 35"/>
          <p:cNvSpPr/>
          <p:nvPr/>
        </p:nvSpPr>
        <p:spPr>
          <a:xfrm>
            <a:off x="7772400" y="4343400"/>
            <a:ext cx="316382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Patterns + anomaly flags</a:t>
            </a:r>
            <a:endParaRPr lang="en-US" sz="1070" dirty="0"/>
          </a:p>
        </p:txBody>
      </p:sp>
      <p:sp>
        <p:nvSpPr>
          <p:cNvPr id="38" name="Shape 36"/>
          <p:cNvSpPr/>
          <p:nvPr/>
        </p:nvSpPr>
        <p:spPr>
          <a:xfrm>
            <a:off x="713232" y="4937760"/>
            <a:ext cx="2286000" cy="704088"/>
          </a:xfrm>
          <a:prstGeom prst="rect">
            <a:avLst/>
          </a:prstGeom>
          <a:solidFill>
            <a:srgbClr val="FFFFFF"/>
          </a:solidFill>
          <a:ln w="5715">
            <a:solidFill>
              <a:srgbClr val="D8E0EA"/>
            </a:solidFill>
            <a:prstDash val="solid"/>
          </a:ln>
        </p:spPr>
      </p:sp>
      <p:sp>
        <p:nvSpPr>
          <p:cNvPr id="39" name="Text 37"/>
          <p:cNvSpPr/>
          <p:nvPr/>
        </p:nvSpPr>
        <p:spPr>
          <a:xfrm>
            <a:off x="822960" y="5047488"/>
            <a:ext cx="2066544" cy="438912"/>
          </a:xfrm>
          <a:prstGeom prst="rect">
            <a:avLst/>
          </a:prstGeom>
          <a:noFill/>
          <a:ln/>
        </p:spPr>
        <p:txBody>
          <a:bodyPr wrap="square" lIns="0" tIns="0" rIns="0" bIns="0" rtlCol="0" anchor="ctr">
            <a:normAutofit/>
          </a:bodyPr>
          <a:lstStyle/>
          <a:p>
            <a:pPr marL="0" indent="0">
              <a:buNone/>
            </a:pPr>
            <a:r>
              <a:rPr lang="en-US" sz="1070" b="1" dirty="0">
                <a:solidFill>
                  <a:srgbClr val="0B1F33"/>
                </a:solidFill>
              </a:rPr>
              <a:t>Data governance</a:t>
            </a:r>
            <a:endParaRPr lang="en-US" sz="1070" dirty="0"/>
          </a:p>
        </p:txBody>
      </p:sp>
      <p:sp>
        <p:nvSpPr>
          <p:cNvPr id="40" name="Shape 38"/>
          <p:cNvSpPr/>
          <p:nvPr/>
        </p:nvSpPr>
        <p:spPr>
          <a:xfrm>
            <a:off x="2999232" y="4937760"/>
            <a:ext cx="4663440" cy="704088"/>
          </a:xfrm>
          <a:prstGeom prst="rect">
            <a:avLst/>
          </a:prstGeom>
          <a:solidFill>
            <a:srgbClr val="FFFFFF"/>
          </a:solidFill>
          <a:ln w="5715">
            <a:solidFill>
              <a:srgbClr val="D8E0EA"/>
            </a:solidFill>
            <a:prstDash val="solid"/>
          </a:ln>
        </p:spPr>
      </p:sp>
      <p:sp>
        <p:nvSpPr>
          <p:cNvPr id="41" name="Text 39"/>
          <p:cNvSpPr/>
          <p:nvPr/>
        </p:nvSpPr>
        <p:spPr>
          <a:xfrm>
            <a:off x="3108960" y="5047488"/>
            <a:ext cx="444398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Where is information incomplete or inconsistent?</a:t>
            </a:r>
            <a:endParaRPr lang="en-US" sz="1070" dirty="0"/>
          </a:p>
        </p:txBody>
      </p:sp>
      <p:sp>
        <p:nvSpPr>
          <p:cNvPr id="42" name="Shape 40"/>
          <p:cNvSpPr/>
          <p:nvPr/>
        </p:nvSpPr>
        <p:spPr>
          <a:xfrm>
            <a:off x="7662672" y="4937760"/>
            <a:ext cx="3383280" cy="704088"/>
          </a:xfrm>
          <a:prstGeom prst="rect">
            <a:avLst/>
          </a:prstGeom>
          <a:solidFill>
            <a:srgbClr val="FFFFFF"/>
          </a:solidFill>
          <a:ln w="5715">
            <a:solidFill>
              <a:srgbClr val="D8E0EA"/>
            </a:solidFill>
            <a:prstDash val="solid"/>
          </a:ln>
        </p:spPr>
      </p:sp>
      <p:sp>
        <p:nvSpPr>
          <p:cNvPr id="43" name="Text 41"/>
          <p:cNvSpPr/>
          <p:nvPr/>
        </p:nvSpPr>
        <p:spPr>
          <a:xfrm>
            <a:off x="7772400" y="5047488"/>
            <a:ext cx="3163824" cy="438912"/>
          </a:xfrm>
          <a:prstGeom prst="rect">
            <a:avLst/>
          </a:prstGeom>
          <a:noFill/>
          <a:ln/>
        </p:spPr>
        <p:txBody>
          <a:bodyPr wrap="square" lIns="0" tIns="0" rIns="0" bIns="0" rtlCol="0" anchor="ctr">
            <a:normAutofit/>
          </a:bodyPr>
          <a:lstStyle/>
          <a:p>
            <a:pPr marL="0" indent="0">
              <a:buNone/>
            </a:pPr>
            <a:r>
              <a:rPr lang="en-US" sz="1070" dirty="0">
                <a:solidFill>
                  <a:srgbClr val="26364A"/>
                </a:solidFill>
              </a:rPr>
              <a:t>Missingness + quality checks</a:t>
            </a:r>
            <a:endParaRPr lang="en-US" sz="1070" dirty="0"/>
          </a:p>
        </p:txBody>
      </p:sp>
      <p:sp>
        <p:nvSpPr>
          <p:cNvPr id="4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01 · FOUNDATIONS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The data landscape in a bank</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Most analysis starts from structured operational data — but meaning comes from context.</a:t>
            </a:r>
            <a:endParaRPr lang="en-US" sz="1300" dirty="0"/>
          </a:p>
        </p:txBody>
      </p:sp>
      <p:sp>
        <p:nvSpPr>
          <p:cNvPr id="7" name="Shape 5"/>
          <p:cNvSpPr/>
          <p:nvPr/>
        </p:nvSpPr>
        <p:spPr>
          <a:xfrm>
            <a:off x="694944" y="1508760"/>
            <a:ext cx="3154680" cy="585216"/>
          </a:xfrm>
          <a:prstGeom prst="roundRect">
            <a:avLst>
              <a:gd name="adj" fmla="val 7813"/>
            </a:avLst>
          </a:prstGeom>
          <a:solidFill>
            <a:srgbClr val="FFFFFF"/>
          </a:solidFill>
          <a:ln w="13970">
            <a:solidFill>
              <a:srgbClr val="2F6BFF"/>
            </a:solidFill>
            <a:prstDash val="solid"/>
          </a:ln>
        </p:spPr>
      </p:sp>
      <p:sp>
        <p:nvSpPr>
          <p:cNvPr id="8" name="Shape 6"/>
          <p:cNvSpPr/>
          <p:nvPr/>
        </p:nvSpPr>
        <p:spPr>
          <a:xfrm>
            <a:off x="859536" y="1664208"/>
            <a:ext cx="201168" cy="201168"/>
          </a:xfrm>
          <a:prstGeom prst="ellipse">
            <a:avLst/>
          </a:prstGeom>
          <a:solidFill>
            <a:srgbClr val="2F6BFF"/>
          </a:solidFill>
          <a:ln w="12700">
            <a:solidFill>
              <a:srgbClr val="2F6BFF"/>
            </a:solidFill>
            <a:prstDash val="solid"/>
          </a:ln>
        </p:spPr>
      </p:sp>
      <p:sp>
        <p:nvSpPr>
          <p:cNvPr id="9" name="Text 7"/>
          <p:cNvSpPr/>
          <p:nvPr/>
        </p:nvSpPr>
        <p:spPr>
          <a:xfrm>
            <a:off x="1188720" y="1618488"/>
            <a:ext cx="1005840" cy="201168"/>
          </a:xfrm>
          <a:prstGeom prst="rect">
            <a:avLst/>
          </a:prstGeom>
          <a:noFill/>
          <a:ln/>
        </p:spPr>
        <p:txBody>
          <a:bodyPr wrap="square" lIns="0" tIns="0" rIns="0" bIns="0" rtlCol="0" anchor="ctr"/>
          <a:lstStyle/>
          <a:p>
            <a:pPr marL="0" indent="0">
              <a:buNone/>
            </a:pPr>
            <a:r>
              <a:rPr lang="en-US" sz="1150" b="1" dirty="0">
                <a:solidFill>
                  <a:srgbClr val="0B1F33"/>
                </a:solidFill>
              </a:rPr>
              <a:t>Core banking</a:t>
            </a:r>
            <a:endParaRPr lang="en-US" sz="1150" dirty="0"/>
          </a:p>
        </p:txBody>
      </p:sp>
      <p:sp>
        <p:nvSpPr>
          <p:cNvPr id="10" name="Text 8"/>
          <p:cNvSpPr/>
          <p:nvPr/>
        </p:nvSpPr>
        <p:spPr>
          <a:xfrm>
            <a:off x="2240280" y="1618488"/>
            <a:ext cx="1417320" cy="201168"/>
          </a:xfrm>
          <a:prstGeom prst="rect">
            <a:avLst/>
          </a:prstGeom>
          <a:noFill/>
          <a:ln/>
        </p:spPr>
        <p:txBody>
          <a:bodyPr wrap="square" lIns="0" tIns="0" rIns="0" bIns="0" rtlCol="0" anchor="ctr">
            <a:normAutofit fontScale="77500" lnSpcReduction="20000"/>
          </a:bodyPr>
          <a:lstStyle/>
          <a:p>
            <a:pPr marL="0" indent="0">
              <a:buNone/>
            </a:pPr>
            <a:r>
              <a:rPr lang="en-US" sz="1000" dirty="0">
                <a:solidFill>
                  <a:srgbClr val="667085"/>
                </a:solidFill>
              </a:rPr>
              <a:t>accounts · balances · products</a:t>
            </a:r>
            <a:endParaRPr lang="en-US" sz="1000" dirty="0"/>
          </a:p>
        </p:txBody>
      </p:sp>
      <p:sp>
        <p:nvSpPr>
          <p:cNvPr id="11" name="Shape 9"/>
          <p:cNvSpPr/>
          <p:nvPr/>
        </p:nvSpPr>
        <p:spPr>
          <a:xfrm>
            <a:off x="694944" y="2313432"/>
            <a:ext cx="3154680" cy="585216"/>
          </a:xfrm>
          <a:prstGeom prst="roundRect">
            <a:avLst>
              <a:gd name="adj" fmla="val 7813"/>
            </a:avLst>
          </a:prstGeom>
          <a:solidFill>
            <a:srgbClr val="FFFFFF"/>
          </a:solidFill>
          <a:ln w="13970">
            <a:solidFill>
              <a:srgbClr val="009E9A"/>
            </a:solidFill>
            <a:prstDash val="solid"/>
          </a:ln>
        </p:spPr>
      </p:sp>
      <p:sp>
        <p:nvSpPr>
          <p:cNvPr id="12" name="Shape 10"/>
          <p:cNvSpPr/>
          <p:nvPr/>
        </p:nvSpPr>
        <p:spPr>
          <a:xfrm>
            <a:off x="859536" y="2468880"/>
            <a:ext cx="201168" cy="201168"/>
          </a:xfrm>
          <a:prstGeom prst="ellipse">
            <a:avLst/>
          </a:prstGeom>
          <a:solidFill>
            <a:srgbClr val="009E9A"/>
          </a:solidFill>
          <a:ln w="12700">
            <a:solidFill>
              <a:srgbClr val="009E9A"/>
            </a:solidFill>
            <a:prstDash val="solid"/>
          </a:ln>
        </p:spPr>
      </p:sp>
      <p:sp>
        <p:nvSpPr>
          <p:cNvPr id="13" name="Text 11"/>
          <p:cNvSpPr/>
          <p:nvPr/>
        </p:nvSpPr>
        <p:spPr>
          <a:xfrm>
            <a:off x="1188720" y="2423160"/>
            <a:ext cx="1005840" cy="201168"/>
          </a:xfrm>
          <a:prstGeom prst="rect">
            <a:avLst/>
          </a:prstGeom>
          <a:noFill/>
          <a:ln/>
        </p:spPr>
        <p:txBody>
          <a:bodyPr wrap="square" lIns="0" tIns="0" rIns="0" bIns="0" rtlCol="0" anchor="ctr"/>
          <a:lstStyle/>
          <a:p>
            <a:pPr marL="0" indent="0">
              <a:buNone/>
            </a:pPr>
            <a:r>
              <a:rPr lang="en-US" sz="1150" b="1" dirty="0">
                <a:solidFill>
                  <a:srgbClr val="0B1F33"/>
                </a:solidFill>
              </a:rPr>
              <a:t>Payments</a:t>
            </a:r>
            <a:endParaRPr lang="en-US" sz="1150" dirty="0"/>
          </a:p>
        </p:txBody>
      </p:sp>
      <p:sp>
        <p:nvSpPr>
          <p:cNvPr id="14" name="Text 12"/>
          <p:cNvSpPr/>
          <p:nvPr/>
        </p:nvSpPr>
        <p:spPr>
          <a:xfrm>
            <a:off x="2240280" y="2423160"/>
            <a:ext cx="1417320" cy="201168"/>
          </a:xfrm>
          <a:prstGeom prst="rect">
            <a:avLst/>
          </a:prstGeom>
          <a:noFill/>
          <a:ln/>
        </p:spPr>
        <p:txBody>
          <a:bodyPr wrap="square" lIns="0" tIns="0" rIns="0" bIns="0" rtlCol="0" anchor="ctr">
            <a:normAutofit fontScale="77500" lnSpcReduction="20000"/>
          </a:bodyPr>
          <a:lstStyle/>
          <a:p>
            <a:pPr marL="0" indent="0">
              <a:buNone/>
            </a:pPr>
            <a:r>
              <a:rPr lang="en-US" sz="1000" dirty="0">
                <a:solidFill>
                  <a:srgbClr val="667085"/>
                </a:solidFill>
              </a:rPr>
              <a:t>transactions · merchants · channels</a:t>
            </a:r>
            <a:endParaRPr lang="en-US" sz="1000" dirty="0"/>
          </a:p>
        </p:txBody>
      </p:sp>
      <p:sp>
        <p:nvSpPr>
          <p:cNvPr id="15" name="Shape 13"/>
          <p:cNvSpPr/>
          <p:nvPr/>
        </p:nvSpPr>
        <p:spPr>
          <a:xfrm>
            <a:off x="694944" y="3118104"/>
            <a:ext cx="3154680" cy="585216"/>
          </a:xfrm>
          <a:prstGeom prst="roundRect">
            <a:avLst>
              <a:gd name="adj" fmla="val 7813"/>
            </a:avLst>
          </a:prstGeom>
          <a:solidFill>
            <a:srgbClr val="FFFFFF"/>
          </a:solidFill>
          <a:ln w="13970">
            <a:solidFill>
              <a:srgbClr val="7A5AF8"/>
            </a:solidFill>
            <a:prstDash val="solid"/>
          </a:ln>
        </p:spPr>
      </p:sp>
      <p:sp>
        <p:nvSpPr>
          <p:cNvPr id="16" name="Shape 14"/>
          <p:cNvSpPr/>
          <p:nvPr/>
        </p:nvSpPr>
        <p:spPr>
          <a:xfrm>
            <a:off x="859536" y="3273552"/>
            <a:ext cx="201168" cy="201168"/>
          </a:xfrm>
          <a:prstGeom prst="ellipse">
            <a:avLst/>
          </a:prstGeom>
          <a:solidFill>
            <a:srgbClr val="7A5AF8"/>
          </a:solidFill>
          <a:ln w="12700">
            <a:solidFill>
              <a:srgbClr val="7A5AF8"/>
            </a:solidFill>
            <a:prstDash val="solid"/>
          </a:ln>
        </p:spPr>
      </p:sp>
      <p:sp>
        <p:nvSpPr>
          <p:cNvPr id="17" name="Text 15"/>
          <p:cNvSpPr/>
          <p:nvPr/>
        </p:nvSpPr>
        <p:spPr>
          <a:xfrm>
            <a:off x="1188720" y="3227832"/>
            <a:ext cx="1005840" cy="201168"/>
          </a:xfrm>
          <a:prstGeom prst="rect">
            <a:avLst/>
          </a:prstGeom>
          <a:noFill/>
          <a:ln/>
        </p:spPr>
        <p:txBody>
          <a:bodyPr wrap="square" lIns="0" tIns="0" rIns="0" bIns="0" rtlCol="0" anchor="ctr"/>
          <a:lstStyle/>
          <a:p>
            <a:pPr marL="0" indent="0">
              <a:buNone/>
            </a:pPr>
            <a:r>
              <a:rPr lang="en-US" sz="1150" b="1" dirty="0">
                <a:solidFill>
                  <a:srgbClr val="0B1F33"/>
                </a:solidFill>
              </a:rPr>
              <a:t>CRM</a:t>
            </a:r>
            <a:endParaRPr lang="en-US" sz="1150" dirty="0"/>
          </a:p>
        </p:txBody>
      </p:sp>
      <p:sp>
        <p:nvSpPr>
          <p:cNvPr id="18" name="Text 16"/>
          <p:cNvSpPr/>
          <p:nvPr/>
        </p:nvSpPr>
        <p:spPr>
          <a:xfrm>
            <a:off x="2240280" y="3227832"/>
            <a:ext cx="1417320" cy="201168"/>
          </a:xfrm>
          <a:prstGeom prst="rect">
            <a:avLst/>
          </a:prstGeom>
          <a:noFill/>
          <a:ln/>
        </p:spPr>
        <p:txBody>
          <a:bodyPr wrap="square" lIns="0" tIns="0" rIns="0" bIns="0" rtlCol="0" anchor="ctr">
            <a:normAutofit fontScale="77500" lnSpcReduction="20000"/>
          </a:bodyPr>
          <a:lstStyle/>
          <a:p>
            <a:pPr marL="0" indent="0">
              <a:buNone/>
            </a:pPr>
            <a:r>
              <a:rPr lang="en-US" sz="1000" dirty="0">
                <a:solidFill>
                  <a:srgbClr val="667085"/>
                </a:solidFill>
              </a:rPr>
              <a:t>customers · campaigns · interactions</a:t>
            </a:r>
            <a:endParaRPr lang="en-US" sz="1000" dirty="0"/>
          </a:p>
        </p:txBody>
      </p:sp>
      <p:sp>
        <p:nvSpPr>
          <p:cNvPr id="19" name="Shape 17"/>
          <p:cNvSpPr/>
          <p:nvPr/>
        </p:nvSpPr>
        <p:spPr>
          <a:xfrm>
            <a:off x="694944" y="3922776"/>
            <a:ext cx="3154680" cy="585216"/>
          </a:xfrm>
          <a:prstGeom prst="roundRect">
            <a:avLst>
              <a:gd name="adj" fmla="val 7813"/>
            </a:avLst>
          </a:prstGeom>
          <a:solidFill>
            <a:srgbClr val="FFFFFF"/>
          </a:solidFill>
          <a:ln w="13970">
            <a:solidFill>
              <a:srgbClr val="F59E0B"/>
            </a:solidFill>
            <a:prstDash val="solid"/>
          </a:ln>
        </p:spPr>
      </p:sp>
      <p:sp>
        <p:nvSpPr>
          <p:cNvPr id="20" name="Shape 18"/>
          <p:cNvSpPr/>
          <p:nvPr/>
        </p:nvSpPr>
        <p:spPr>
          <a:xfrm>
            <a:off x="859536" y="4078224"/>
            <a:ext cx="201168" cy="201168"/>
          </a:xfrm>
          <a:prstGeom prst="ellipse">
            <a:avLst/>
          </a:prstGeom>
          <a:solidFill>
            <a:srgbClr val="F59E0B"/>
          </a:solidFill>
          <a:ln w="12700">
            <a:solidFill>
              <a:srgbClr val="F59E0B"/>
            </a:solidFill>
            <a:prstDash val="solid"/>
          </a:ln>
        </p:spPr>
      </p:sp>
      <p:sp>
        <p:nvSpPr>
          <p:cNvPr id="21" name="Text 19"/>
          <p:cNvSpPr/>
          <p:nvPr/>
        </p:nvSpPr>
        <p:spPr>
          <a:xfrm>
            <a:off x="1188720" y="4032504"/>
            <a:ext cx="1005840" cy="201168"/>
          </a:xfrm>
          <a:prstGeom prst="rect">
            <a:avLst/>
          </a:prstGeom>
          <a:noFill/>
          <a:ln/>
        </p:spPr>
        <p:txBody>
          <a:bodyPr wrap="square" lIns="0" tIns="0" rIns="0" bIns="0" rtlCol="0" anchor="ctr"/>
          <a:lstStyle/>
          <a:p>
            <a:pPr marL="0" indent="0">
              <a:buNone/>
            </a:pPr>
            <a:r>
              <a:rPr lang="en-US" sz="1150" b="1" dirty="0">
                <a:solidFill>
                  <a:srgbClr val="0B1F33"/>
                </a:solidFill>
              </a:rPr>
              <a:t>Risk systems</a:t>
            </a:r>
            <a:endParaRPr lang="en-US" sz="1150" dirty="0"/>
          </a:p>
        </p:txBody>
      </p:sp>
      <p:sp>
        <p:nvSpPr>
          <p:cNvPr id="22" name="Text 20"/>
          <p:cNvSpPr/>
          <p:nvPr/>
        </p:nvSpPr>
        <p:spPr>
          <a:xfrm>
            <a:off x="2240280" y="4032504"/>
            <a:ext cx="1417320" cy="201168"/>
          </a:xfrm>
          <a:prstGeom prst="rect">
            <a:avLst/>
          </a:prstGeom>
          <a:noFill/>
          <a:ln/>
        </p:spPr>
        <p:txBody>
          <a:bodyPr wrap="square" lIns="0" tIns="0" rIns="0" bIns="0" rtlCol="0" anchor="ctr">
            <a:normAutofit fontScale="92500"/>
          </a:bodyPr>
          <a:lstStyle/>
          <a:p>
            <a:pPr marL="0" indent="0">
              <a:buNone/>
            </a:pPr>
            <a:r>
              <a:rPr lang="en-US" sz="1000" dirty="0">
                <a:solidFill>
                  <a:srgbClr val="667085"/>
                </a:solidFill>
              </a:rPr>
              <a:t>exposure · ratings · arrears</a:t>
            </a:r>
            <a:endParaRPr lang="en-US" sz="1000" dirty="0"/>
          </a:p>
        </p:txBody>
      </p:sp>
      <p:sp>
        <p:nvSpPr>
          <p:cNvPr id="23" name="Shape 21"/>
          <p:cNvSpPr/>
          <p:nvPr/>
        </p:nvSpPr>
        <p:spPr>
          <a:xfrm>
            <a:off x="694944" y="4727448"/>
            <a:ext cx="3154680" cy="585216"/>
          </a:xfrm>
          <a:prstGeom prst="roundRect">
            <a:avLst>
              <a:gd name="adj" fmla="val 7813"/>
            </a:avLst>
          </a:prstGeom>
          <a:solidFill>
            <a:srgbClr val="FFFFFF"/>
          </a:solidFill>
          <a:ln w="13970">
            <a:solidFill>
              <a:srgbClr val="2DAA74"/>
            </a:solidFill>
            <a:prstDash val="solid"/>
          </a:ln>
        </p:spPr>
      </p:sp>
      <p:sp>
        <p:nvSpPr>
          <p:cNvPr id="24" name="Shape 22"/>
          <p:cNvSpPr/>
          <p:nvPr/>
        </p:nvSpPr>
        <p:spPr>
          <a:xfrm>
            <a:off x="859536" y="4882896"/>
            <a:ext cx="201168" cy="201168"/>
          </a:xfrm>
          <a:prstGeom prst="ellipse">
            <a:avLst/>
          </a:prstGeom>
          <a:solidFill>
            <a:srgbClr val="2DAA74"/>
          </a:solidFill>
          <a:ln w="12700">
            <a:solidFill>
              <a:srgbClr val="2DAA74"/>
            </a:solidFill>
            <a:prstDash val="solid"/>
          </a:ln>
        </p:spPr>
      </p:sp>
      <p:sp>
        <p:nvSpPr>
          <p:cNvPr id="25" name="Text 23"/>
          <p:cNvSpPr/>
          <p:nvPr/>
        </p:nvSpPr>
        <p:spPr>
          <a:xfrm>
            <a:off x="1188720" y="4837176"/>
            <a:ext cx="1005840" cy="201168"/>
          </a:xfrm>
          <a:prstGeom prst="rect">
            <a:avLst/>
          </a:prstGeom>
          <a:noFill/>
          <a:ln/>
        </p:spPr>
        <p:txBody>
          <a:bodyPr wrap="square" lIns="0" tIns="0" rIns="0" bIns="0" rtlCol="0" anchor="ctr"/>
          <a:lstStyle/>
          <a:p>
            <a:pPr marL="0" indent="0">
              <a:buNone/>
            </a:pPr>
            <a:r>
              <a:rPr lang="en-US" sz="1150" b="1" dirty="0">
                <a:solidFill>
                  <a:srgbClr val="0B1F33"/>
                </a:solidFill>
              </a:rPr>
              <a:t>External data</a:t>
            </a:r>
            <a:endParaRPr lang="en-US" sz="1150" dirty="0"/>
          </a:p>
        </p:txBody>
      </p:sp>
      <p:sp>
        <p:nvSpPr>
          <p:cNvPr id="26" name="Text 24"/>
          <p:cNvSpPr/>
          <p:nvPr/>
        </p:nvSpPr>
        <p:spPr>
          <a:xfrm>
            <a:off x="2240280" y="4837176"/>
            <a:ext cx="1417320" cy="201168"/>
          </a:xfrm>
          <a:prstGeom prst="rect">
            <a:avLst/>
          </a:prstGeom>
          <a:noFill/>
          <a:ln/>
        </p:spPr>
        <p:txBody>
          <a:bodyPr wrap="square" lIns="0" tIns="0" rIns="0" bIns="0" rtlCol="0" anchor="ctr">
            <a:normAutofit/>
          </a:bodyPr>
          <a:lstStyle/>
          <a:p>
            <a:pPr marL="0" indent="0">
              <a:buNone/>
            </a:pPr>
            <a:r>
              <a:rPr lang="en-US" sz="1000" dirty="0">
                <a:solidFill>
                  <a:srgbClr val="667085"/>
                </a:solidFill>
              </a:rPr>
              <a:t>rates · macro · geography</a:t>
            </a:r>
            <a:endParaRPr lang="en-US" sz="1000" dirty="0"/>
          </a:p>
        </p:txBody>
      </p:sp>
      <p:sp>
        <p:nvSpPr>
          <p:cNvPr id="27" name="Shape 25"/>
          <p:cNvSpPr/>
          <p:nvPr/>
        </p:nvSpPr>
        <p:spPr>
          <a:xfrm>
            <a:off x="4709341" y="2827110"/>
            <a:ext cx="502920" cy="1024128"/>
          </a:xfrm>
          <a:prstGeom prst="chevron">
            <a:avLst/>
          </a:prstGeom>
          <a:solidFill>
            <a:srgbClr val="AEB8C5"/>
          </a:solidFill>
          <a:ln w="12700">
            <a:solidFill>
              <a:srgbClr val="AEB8C5"/>
            </a:solidFill>
            <a:prstDash val="solid"/>
          </a:ln>
        </p:spPr>
      </p:sp>
      <p:sp>
        <p:nvSpPr>
          <p:cNvPr id="28" name="Shape 26"/>
          <p:cNvSpPr/>
          <p:nvPr/>
        </p:nvSpPr>
        <p:spPr>
          <a:xfrm>
            <a:off x="5980357" y="1490472"/>
            <a:ext cx="5989320" cy="4535424"/>
          </a:xfrm>
          <a:prstGeom prst="roundRect">
            <a:avLst>
              <a:gd name="adj" fmla="val 1008"/>
            </a:avLst>
          </a:prstGeom>
          <a:solidFill>
            <a:srgbClr val="FFFFFF"/>
          </a:solidFill>
          <a:ln w="10160">
            <a:solidFill>
              <a:srgbClr val="AEB8C5"/>
            </a:solidFill>
            <a:prstDash val="solid"/>
          </a:ln>
        </p:spPr>
      </p:sp>
      <p:sp>
        <p:nvSpPr>
          <p:cNvPr id="29" name="Shape 27"/>
          <p:cNvSpPr/>
          <p:nvPr/>
        </p:nvSpPr>
        <p:spPr>
          <a:xfrm>
            <a:off x="5980357" y="1490472"/>
            <a:ext cx="5989320" cy="329184"/>
          </a:xfrm>
          <a:prstGeom prst="rect">
            <a:avLst/>
          </a:prstGeom>
          <a:solidFill>
            <a:srgbClr val="217346"/>
          </a:solidFill>
          <a:ln w="12700">
            <a:solidFill>
              <a:srgbClr val="217346"/>
            </a:solidFill>
            <a:prstDash val="solid"/>
          </a:ln>
        </p:spPr>
      </p:sp>
      <p:sp>
        <p:nvSpPr>
          <p:cNvPr id="30" name="Shape 28"/>
          <p:cNvSpPr/>
          <p:nvPr/>
        </p:nvSpPr>
        <p:spPr>
          <a:xfrm>
            <a:off x="6090085" y="1536192"/>
            <a:ext cx="237744" cy="237744"/>
          </a:xfrm>
          <a:prstGeom prst="roundRect">
            <a:avLst>
              <a:gd name="adj" fmla="val 15385"/>
            </a:avLst>
          </a:prstGeom>
          <a:solidFill>
            <a:srgbClr val="217346"/>
          </a:solidFill>
          <a:ln w="12700">
            <a:solidFill>
              <a:srgbClr val="217346"/>
            </a:solidFill>
            <a:prstDash val="solid"/>
          </a:ln>
        </p:spPr>
      </p:sp>
      <p:sp>
        <p:nvSpPr>
          <p:cNvPr id="31" name="Text 29"/>
          <p:cNvSpPr/>
          <p:nvPr/>
        </p:nvSpPr>
        <p:spPr>
          <a:xfrm>
            <a:off x="6090085" y="1545336"/>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32" name="Text 30"/>
          <p:cNvSpPr/>
          <p:nvPr/>
        </p:nvSpPr>
        <p:spPr>
          <a:xfrm>
            <a:off x="6400981" y="1563624"/>
            <a:ext cx="5458968" cy="182880"/>
          </a:xfrm>
          <a:prstGeom prst="rect">
            <a:avLst/>
          </a:prstGeom>
          <a:noFill/>
          <a:ln/>
        </p:spPr>
        <p:txBody>
          <a:bodyPr wrap="square" lIns="0" tIns="0" rIns="0" bIns="0" rtlCol="0" anchor="ctr"/>
          <a:lstStyle/>
          <a:p>
            <a:pPr marL="0" indent="0">
              <a:buNone/>
            </a:pPr>
            <a:r>
              <a:rPr lang="en-US" sz="950" b="1" dirty="0">
                <a:solidFill>
                  <a:srgbClr val="FFFFFF"/>
                </a:solidFill>
              </a:rPr>
              <a:t>Analysis-ready extract</a:t>
            </a:r>
            <a:endParaRPr lang="en-US" sz="950" dirty="0"/>
          </a:p>
        </p:txBody>
      </p:sp>
      <p:sp>
        <p:nvSpPr>
          <p:cNvPr id="33" name="Shape 31"/>
          <p:cNvSpPr/>
          <p:nvPr/>
        </p:nvSpPr>
        <p:spPr>
          <a:xfrm>
            <a:off x="6035221" y="1874520"/>
            <a:ext cx="5879592" cy="292608"/>
          </a:xfrm>
          <a:prstGeom prst="rect">
            <a:avLst/>
          </a:prstGeom>
          <a:solidFill>
            <a:srgbClr val="FAFCFD"/>
          </a:solidFill>
          <a:ln w="6350">
            <a:solidFill>
              <a:srgbClr val="D8E0EA"/>
            </a:solidFill>
            <a:prstDash val="solid"/>
          </a:ln>
        </p:spPr>
      </p:sp>
      <p:sp>
        <p:nvSpPr>
          <p:cNvPr id="34" name="Text 32"/>
          <p:cNvSpPr/>
          <p:nvPr/>
        </p:nvSpPr>
        <p:spPr>
          <a:xfrm>
            <a:off x="6090085" y="1938528"/>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35" name="Text 33"/>
          <p:cNvSpPr/>
          <p:nvPr/>
        </p:nvSpPr>
        <p:spPr>
          <a:xfrm>
            <a:off x="6346117" y="1929384"/>
            <a:ext cx="551383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=ROWS(Table1)</a:t>
            </a:r>
            <a:endParaRPr lang="en-US" sz="880" dirty="0"/>
          </a:p>
        </p:txBody>
      </p:sp>
      <p:sp>
        <p:nvSpPr>
          <p:cNvPr id="36" name="Shape 34"/>
          <p:cNvSpPr/>
          <p:nvPr/>
        </p:nvSpPr>
        <p:spPr>
          <a:xfrm>
            <a:off x="6044365" y="2240280"/>
            <a:ext cx="1172261" cy="530352"/>
          </a:xfrm>
          <a:prstGeom prst="rect">
            <a:avLst/>
          </a:prstGeom>
          <a:solidFill>
            <a:srgbClr val="E8F3EC"/>
          </a:solidFill>
          <a:ln w="5715">
            <a:solidFill>
              <a:srgbClr val="D8E0EA"/>
            </a:solidFill>
            <a:prstDash val="solid"/>
          </a:ln>
        </p:spPr>
      </p:sp>
      <p:sp>
        <p:nvSpPr>
          <p:cNvPr id="37" name="Text 35"/>
          <p:cNvSpPr/>
          <p:nvPr/>
        </p:nvSpPr>
        <p:spPr>
          <a:xfrm>
            <a:off x="6062653" y="2267712"/>
            <a:ext cx="1135685" cy="493776"/>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CustomerID</a:t>
            </a:r>
            <a:endParaRPr lang="en-US" sz="810" dirty="0"/>
          </a:p>
        </p:txBody>
      </p:sp>
      <p:sp>
        <p:nvSpPr>
          <p:cNvPr id="38" name="Shape 36"/>
          <p:cNvSpPr/>
          <p:nvPr/>
        </p:nvSpPr>
        <p:spPr>
          <a:xfrm>
            <a:off x="7216626" y="2240280"/>
            <a:ext cx="1172261" cy="530352"/>
          </a:xfrm>
          <a:prstGeom prst="rect">
            <a:avLst/>
          </a:prstGeom>
          <a:solidFill>
            <a:srgbClr val="E8F3EC"/>
          </a:solidFill>
          <a:ln w="5715">
            <a:solidFill>
              <a:srgbClr val="D8E0EA"/>
            </a:solidFill>
            <a:prstDash val="solid"/>
          </a:ln>
        </p:spPr>
      </p:sp>
      <p:sp>
        <p:nvSpPr>
          <p:cNvPr id="39" name="Text 37"/>
          <p:cNvSpPr/>
          <p:nvPr/>
        </p:nvSpPr>
        <p:spPr>
          <a:xfrm>
            <a:off x="7234914" y="2267712"/>
            <a:ext cx="1135685" cy="493776"/>
          </a:xfrm>
          <a:prstGeom prst="rect">
            <a:avLst/>
          </a:prstGeom>
          <a:noFill/>
          <a:ln/>
        </p:spPr>
        <p:txBody>
          <a:bodyPr wrap="square" lIns="0" tIns="0" rIns="0" bIns="0" rtlCol="0" anchor="ctr">
            <a:normAutofit/>
          </a:bodyPr>
          <a:lstStyle/>
          <a:p>
            <a:pPr marL="0" indent="0">
              <a:buNone/>
            </a:pPr>
            <a:r>
              <a:rPr lang="en-US" sz="810" b="1" dirty="0">
                <a:solidFill>
                  <a:srgbClr val="0B1F33"/>
                </a:solidFill>
              </a:rPr>
              <a:t>Date</a:t>
            </a:r>
            <a:endParaRPr lang="en-US" sz="810" dirty="0"/>
          </a:p>
        </p:txBody>
      </p:sp>
      <p:sp>
        <p:nvSpPr>
          <p:cNvPr id="40" name="Shape 38"/>
          <p:cNvSpPr/>
          <p:nvPr/>
        </p:nvSpPr>
        <p:spPr>
          <a:xfrm>
            <a:off x="8388887" y="2240280"/>
            <a:ext cx="1172261" cy="530352"/>
          </a:xfrm>
          <a:prstGeom prst="rect">
            <a:avLst/>
          </a:prstGeom>
          <a:solidFill>
            <a:srgbClr val="E8F3EC"/>
          </a:solidFill>
          <a:ln w="5715">
            <a:solidFill>
              <a:srgbClr val="D8E0EA"/>
            </a:solidFill>
            <a:prstDash val="solid"/>
          </a:ln>
        </p:spPr>
      </p:sp>
      <p:sp>
        <p:nvSpPr>
          <p:cNvPr id="41" name="Text 39"/>
          <p:cNvSpPr/>
          <p:nvPr/>
        </p:nvSpPr>
        <p:spPr>
          <a:xfrm>
            <a:off x="8407175" y="2267712"/>
            <a:ext cx="1135685" cy="493776"/>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42" name="Shape 40"/>
          <p:cNvSpPr/>
          <p:nvPr/>
        </p:nvSpPr>
        <p:spPr>
          <a:xfrm>
            <a:off x="9561147" y="2240280"/>
            <a:ext cx="1172261" cy="530352"/>
          </a:xfrm>
          <a:prstGeom prst="rect">
            <a:avLst/>
          </a:prstGeom>
          <a:solidFill>
            <a:srgbClr val="E8F3EC"/>
          </a:solidFill>
          <a:ln w="5715">
            <a:solidFill>
              <a:srgbClr val="D8E0EA"/>
            </a:solidFill>
            <a:prstDash val="solid"/>
          </a:ln>
        </p:spPr>
      </p:sp>
      <p:sp>
        <p:nvSpPr>
          <p:cNvPr id="43" name="Text 41"/>
          <p:cNvSpPr/>
          <p:nvPr/>
        </p:nvSpPr>
        <p:spPr>
          <a:xfrm>
            <a:off x="9579435" y="2267712"/>
            <a:ext cx="1135685" cy="493776"/>
          </a:xfrm>
          <a:prstGeom prst="rect">
            <a:avLst/>
          </a:prstGeom>
          <a:noFill/>
          <a:ln/>
        </p:spPr>
        <p:txBody>
          <a:bodyPr wrap="square" lIns="0" tIns="0" rIns="0" bIns="0" rtlCol="0" anchor="ctr">
            <a:normAutofit/>
          </a:bodyPr>
          <a:lstStyle/>
          <a:p>
            <a:pPr marL="0" indent="0">
              <a:buNone/>
            </a:pPr>
            <a:r>
              <a:rPr lang="en-US" sz="810" b="1" dirty="0">
                <a:solidFill>
                  <a:srgbClr val="0B1F33"/>
                </a:solidFill>
              </a:rPr>
              <a:t>Segment</a:t>
            </a:r>
            <a:endParaRPr lang="en-US" sz="810" dirty="0"/>
          </a:p>
        </p:txBody>
      </p:sp>
      <p:sp>
        <p:nvSpPr>
          <p:cNvPr id="44" name="Shape 42"/>
          <p:cNvSpPr/>
          <p:nvPr/>
        </p:nvSpPr>
        <p:spPr>
          <a:xfrm>
            <a:off x="10733408" y="2240280"/>
            <a:ext cx="1172261" cy="530352"/>
          </a:xfrm>
          <a:prstGeom prst="rect">
            <a:avLst/>
          </a:prstGeom>
          <a:solidFill>
            <a:srgbClr val="E8F3EC"/>
          </a:solidFill>
          <a:ln w="5715">
            <a:solidFill>
              <a:srgbClr val="D8E0EA"/>
            </a:solidFill>
            <a:prstDash val="solid"/>
          </a:ln>
        </p:spPr>
      </p:sp>
      <p:sp>
        <p:nvSpPr>
          <p:cNvPr id="45" name="Text 43"/>
          <p:cNvSpPr/>
          <p:nvPr/>
        </p:nvSpPr>
        <p:spPr>
          <a:xfrm>
            <a:off x="10751696" y="2267712"/>
            <a:ext cx="1135685" cy="493776"/>
          </a:xfrm>
          <a:prstGeom prst="rect">
            <a:avLst/>
          </a:prstGeom>
          <a:noFill/>
          <a:ln/>
        </p:spPr>
        <p:txBody>
          <a:bodyPr wrap="square" lIns="0" tIns="0" rIns="0" bIns="0" rtlCol="0" anchor="ctr">
            <a:normAutofit/>
          </a:bodyPr>
          <a:lstStyle/>
          <a:p>
            <a:pPr marL="0" indent="0">
              <a:buNone/>
            </a:pPr>
            <a:r>
              <a:rPr lang="en-US" sz="810" b="1" dirty="0">
                <a:solidFill>
                  <a:srgbClr val="0B1F33"/>
                </a:solidFill>
              </a:rPr>
              <a:t>Default</a:t>
            </a:r>
            <a:endParaRPr lang="en-US" sz="810" dirty="0"/>
          </a:p>
        </p:txBody>
      </p:sp>
      <p:sp>
        <p:nvSpPr>
          <p:cNvPr id="46" name="Shape 44"/>
          <p:cNvSpPr/>
          <p:nvPr/>
        </p:nvSpPr>
        <p:spPr>
          <a:xfrm>
            <a:off x="6044365" y="2770632"/>
            <a:ext cx="1172261" cy="530352"/>
          </a:xfrm>
          <a:prstGeom prst="rect">
            <a:avLst/>
          </a:prstGeom>
          <a:solidFill>
            <a:srgbClr val="FFFFFF"/>
          </a:solidFill>
          <a:ln w="5715">
            <a:solidFill>
              <a:srgbClr val="D8E0EA"/>
            </a:solidFill>
            <a:prstDash val="solid"/>
          </a:ln>
        </p:spPr>
      </p:sp>
      <p:sp>
        <p:nvSpPr>
          <p:cNvPr id="47" name="Text 45"/>
          <p:cNvSpPr/>
          <p:nvPr/>
        </p:nvSpPr>
        <p:spPr>
          <a:xfrm>
            <a:off x="6062653" y="279806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48" name="Shape 46"/>
          <p:cNvSpPr/>
          <p:nvPr/>
        </p:nvSpPr>
        <p:spPr>
          <a:xfrm>
            <a:off x="7216626" y="2770632"/>
            <a:ext cx="1172261" cy="530352"/>
          </a:xfrm>
          <a:prstGeom prst="rect">
            <a:avLst/>
          </a:prstGeom>
          <a:solidFill>
            <a:srgbClr val="FFFFFF"/>
          </a:solidFill>
          <a:ln w="5715">
            <a:solidFill>
              <a:srgbClr val="D8E0EA"/>
            </a:solidFill>
            <a:prstDash val="solid"/>
          </a:ln>
        </p:spPr>
      </p:sp>
      <p:sp>
        <p:nvSpPr>
          <p:cNvPr id="49" name="Text 47"/>
          <p:cNvSpPr/>
          <p:nvPr/>
        </p:nvSpPr>
        <p:spPr>
          <a:xfrm>
            <a:off x="7234914" y="279806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50" name="Shape 48"/>
          <p:cNvSpPr/>
          <p:nvPr/>
        </p:nvSpPr>
        <p:spPr>
          <a:xfrm>
            <a:off x="8388887" y="2770632"/>
            <a:ext cx="1172261" cy="530352"/>
          </a:xfrm>
          <a:prstGeom prst="rect">
            <a:avLst/>
          </a:prstGeom>
          <a:solidFill>
            <a:srgbClr val="FFFFFF"/>
          </a:solidFill>
          <a:ln w="5715">
            <a:solidFill>
              <a:srgbClr val="D8E0EA"/>
            </a:solidFill>
            <a:prstDash val="solid"/>
          </a:ln>
        </p:spPr>
      </p:sp>
      <p:sp>
        <p:nvSpPr>
          <p:cNvPr id="51" name="Text 49"/>
          <p:cNvSpPr/>
          <p:nvPr/>
        </p:nvSpPr>
        <p:spPr>
          <a:xfrm>
            <a:off x="8407175" y="279806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52" name="Shape 50"/>
          <p:cNvSpPr/>
          <p:nvPr/>
        </p:nvSpPr>
        <p:spPr>
          <a:xfrm>
            <a:off x="9561147" y="2770632"/>
            <a:ext cx="1172261" cy="530352"/>
          </a:xfrm>
          <a:prstGeom prst="rect">
            <a:avLst/>
          </a:prstGeom>
          <a:solidFill>
            <a:srgbClr val="FFFFFF"/>
          </a:solidFill>
          <a:ln w="5715">
            <a:solidFill>
              <a:srgbClr val="D8E0EA"/>
            </a:solidFill>
            <a:prstDash val="solid"/>
          </a:ln>
        </p:spPr>
      </p:sp>
      <p:sp>
        <p:nvSpPr>
          <p:cNvPr id="53" name="Text 51"/>
          <p:cNvSpPr/>
          <p:nvPr/>
        </p:nvSpPr>
        <p:spPr>
          <a:xfrm>
            <a:off x="9579435" y="279806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54" name="Shape 52"/>
          <p:cNvSpPr/>
          <p:nvPr/>
        </p:nvSpPr>
        <p:spPr>
          <a:xfrm>
            <a:off x="10733408" y="2770632"/>
            <a:ext cx="1172261" cy="530352"/>
          </a:xfrm>
          <a:prstGeom prst="rect">
            <a:avLst/>
          </a:prstGeom>
          <a:solidFill>
            <a:srgbClr val="FFFFFF"/>
          </a:solidFill>
          <a:ln w="5715">
            <a:solidFill>
              <a:srgbClr val="D8E0EA"/>
            </a:solidFill>
            <a:prstDash val="solid"/>
          </a:ln>
        </p:spPr>
      </p:sp>
      <p:sp>
        <p:nvSpPr>
          <p:cNvPr id="55" name="Text 53"/>
          <p:cNvSpPr/>
          <p:nvPr/>
        </p:nvSpPr>
        <p:spPr>
          <a:xfrm>
            <a:off x="10751696" y="279806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No</a:t>
            </a:r>
            <a:endParaRPr lang="en-US" sz="780" dirty="0"/>
          </a:p>
        </p:txBody>
      </p:sp>
      <p:sp>
        <p:nvSpPr>
          <p:cNvPr id="56" name="Shape 54"/>
          <p:cNvSpPr/>
          <p:nvPr/>
        </p:nvSpPr>
        <p:spPr>
          <a:xfrm>
            <a:off x="6044365" y="3300984"/>
            <a:ext cx="1172261" cy="530352"/>
          </a:xfrm>
          <a:prstGeom prst="rect">
            <a:avLst/>
          </a:prstGeom>
          <a:solidFill>
            <a:srgbClr val="FFFFFF"/>
          </a:solidFill>
          <a:ln w="5715">
            <a:solidFill>
              <a:srgbClr val="D8E0EA"/>
            </a:solidFill>
            <a:prstDash val="solid"/>
          </a:ln>
        </p:spPr>
      </p:sp>
      <p:sp>
        <p:nvSpPr>
          <p:cNvPr id="57" name="Text 55"/>
          <p:cNvSpPr/>
          <p:nvPr/>
        </p:nvSpPr>
        <p:spPr>
          <a:xfrm>
            <a:off x="6062653" y="3328416"/>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58" name="Shape 56"/>
          <p:cNvSpPr/>
          <p:nvPr/>
        </p:nvSpPr>
        <p:spPr>
          <a:xfrm>
            <a:off x="7216626" y="3300984"/>
            <a:ext cx="1172261" cy="530352"/>
          </a:xfrm>
          <a:prstGeom prst="rect">
            <a:avLst/>
          </a:prstGeom>
          <a:solidFill>
            <a:srgbClr val="FFFFFF"/>
          </a:solidFill>
          <a:ln w="5715">
            <a:solidFill>
              <a:srgbClr val="D8E0EA"/>
            </a:solidFill>
            <a:prstDash val="solid"/>
          </a:ln>
        </p:spPr>
      </p:sp>
      <p:sp>
        <p:nvSpPr>
          <p:cNvPr id="59" name="Text 57"/>
          <p:cNvSpPr/>
          <p:nvPr/>
        </p:nvSpPr>
        <p:spPr>
          <a:xfrm>
            <a:off x="7234914" y="3328416"/>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60" name="Shape 58"/>
          <p:cNvSpPr/>
          <p:nvPr/>
        </p:nvSpPr>
        <p:spPr>
          <a:xfrm>
            <a:off x="8388887" y="3300984"/>
            <a:ext cx="1172261" cy="530352"/>
          </a:xfrm>
          <a:prstGeom prst="rect">
            <a:avLst/>
          </a:prstGeom>
          <a:solidFill>
            <a:srgbClr val="FFFFFF"/>
          </a:solidFill>
          <a:ln w="5715">
            <a:solidFill>
              <a:srgbClr val="D8E0EA"/>
            </a:solidFill>
            <a:prstDash val="solid"/>
          </a:ln>
        </p:spPr>
      </p:sp>
      <p:sp>
        <p:nvSpPr>
          <p:cNvPr id="61" name="Text 59"/>
          <p:cNvSpPr/>
          <p:nvPr/>
        </p:nvSpPr>
        <p:spPr>
          <a:xfrm>
            <a:off x="8407175" y="3328416"/>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62" name="Shape 60"/>
          <p:cNvSpPr/>
          <p:nvPr/>
        </p:nvSpPr>
        <p:spPr>
          <a:xfrm>
            <a:off x="9561147" y="3300984"/>
            <a:ext cx="1172261" cy="530352"/>
          </a:xfrm>
          <a:prstGeom prst="rect">
            <a:avLst/>
          </a:prstGeom>
          <a:solidFill>
            <a:srgbClr val="FFFFFF"/>
          </a:solidFill>
          <a:ln w="5715">
            <a:solidFill>
              <a:srgbClr val="D8E0EA"/>
            </a:solidFill>
            <a:prstDash val="solid"/>
          </a:ln>
        </p:spPr>
      </p:sp>
      <p:sp>
        <p:nvSpPr>
          <p:cNvPr id="63" name="Text 61"/>
          <p:cNvSpPr/>
          <p:nvPr/>
        </p:nvSpPr>
        <p:spPr>
          <a:xfrm>
            <a:off x="9579435" y="3328416"/>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64" name="Shape 62"/>
          <p:cNvSpPr/>
          <p:nvPr/>
        </p:nvSpPr>
        <p:spPr>
          <a:xfrm>
            <a:off x="10733408" y="3300984"/>
            <a:ext cx="1172261" cy="530352"/>
          </a:xfrm>
          <a:prstGeom prst="rect">
            <a:avLst/>
          </a:prstGeom>
          <a:solidFill>
            <a:srgbClr val="FFFFFF"/>
          </a:solidFill>
          <a:ln w="5715">
            <a:solidFill>
              <a:srgbClr val="D8E0EA"/>
            </a:solidFill>
            <a:prstDash val="solid"/>
          </a:ln>
        </p:spPr>
      </p:sp>
      <p:sp>
        <p:nvSpPr>
          <p:cNvPr id="65" name="Text 63"/>
          <p:cNvSpPr/>
          <p:nvPr/>
        </p:nvSpPr>
        <p:spPr>
          <a:xfrm>
            <a:off x="10751696" y="3328416"/>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No</a:t>
            </a:r>
            <a:endParaRPr lang="en-US" sz="780" dirty="0"/>
          </a:p>
        </p:txBody>
      </p:sp>
      <p:sp>
        <p:nvSpPr>
          <p:cNvPr id="66" name="Shape 64"/>
          <p:cNvSpPr/>
          <p:nvPr/>
        </p:nvSpPr>
        <p:spPr>
          <a:xfrm>
            <a:off x="6044365" y="3831336"/>
            <a:ext cx="1172261" cy="530352"/>
          </a:xfrm>
          <a:prstGeom prst="rect">
            <a:avLst/>
          </a:prstGeom>
          <a:solidFill>
            <a:srgbClr val="FFFFFF"/>
          </a:solidFill>
          <a:ln w="5715">
            <a:solidFill>
              <a:srgbClr val="D8E0EA"/>
            </a:solidFill>
            <a:prstDash val="solid"/>
          </a:ln>
        </p:spPr>
      </p:sp>
      <p:sp>
        <p:nvSpPr>
          <p:cNvPr id="67" name="Text 65"/>
          <p:cNvSpPr/>
          <p:nvPr/>
        </p:nvSpPr>
        <p:spPr>
          <a:xfrm>
            <a:off x="6062653" y="3858768"/>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68" name="Shape 66"/>
          <p:cNvSpPr/>
          <p:nvPr/>
        </p:nvSpPr>
        <p:spPr>
          <a:xfrm>
            <a:off x="7216626" y="3831336"/>
            <a:ext cx="1172261" cy="530352"/>
          </a:xfrm>
          <a:prstGeom prst="rect">
            <a:avLst/>
          </a:prstGeom>
          <a:solidFill>
            <a:srgbClr val="FFFFFF"/>
          </a:solidFill>
          <a:ln w="5715">
            <a:solidFill>
              <a:srgbClr val="D8E0EA"/>
            </a:solidFill>
            <a:prstDash val="solid"/>
          </a:ln>
        </p:spPr>
      </p:sp>
      <p:sp>
        <p:nvSpPr>
          <p:cNvPr id="69" name="Text 67"/>
          <p:cNvSpPr/>
          <p:nvPr/>
        </p:nvSpPr>
        <p:spPr>
          <a:xfrm>
            <a:off x="7234914" y="3858768"/>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70" name="Shape 68"/>
          <p:cNvSpPr/>
          <p:nvPr/>
        </p:nvSpPr>
        <p:spPr>
          <a:xfrm>
            <a:off x="8388887" y="3831336"/>
            <a:ext cx="1172261" cy="530352"/>
          </a:xfrm>
          <a:prstGeom prst="rect">
            <a:avLst/>
          </a:prstGeom>
          <a:solidFill>
            <a:srgbClr val="FFFFFF"/>
          </a:solidFill>
          <a:ln w="5715">
            <a:solidFill>
              <a:srgbClr val="D8E0EA"/>
            </a:solidFill>
            <a:prstDash val="solid"/>
          </a:ln>
        </p:spPr>
      </p:sp>
      <p:sp>
        <p:nvSpPr>
          <p:cNvPr id="71" name="Text 69"/>
          <p:cNvSpPr/>
          <p:nvPr/>
        </p:nvSpPr>
        <p:spPr>
          <a:xfrm>
            <a:off x="8407175" y="3858768"/>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72" name="Shape 70"/>
          <p:cNvSpPr/>
          <p:nvPr/>
        </p:nvSpPr>
        <p:spPr>
          <a:xfrm>
            <a:off x="9561147" y="3831336"/>
            <a:ext cx="1172261" cy="530352"/>
          </a:xfrm>
          <a:prstGeom prst="rect">
            <a:avLst/>
          </a:prstGeom>
          <a:solidFill>
            <a:srgbClr val="FFFFFF"/>
          </a:solidFill>
          <a:ln w="5715">
            <a:solidFill>
              <a:srgbClr val="D8E0EA"/>
            </a:solidFill>
            <a:prstDash val="solid"/>
          </a:ln>
        </p:spPr>
      </p:sp>
      <p:sp>
        <p:nvSpPr>
          <p:cNvPr id="73" name="Text 71"/>
          <p:cNvSpPr/>
          <p:nvPr/>
        </p:nvSpPr>
        <p:spPr>
          <a:xfrm>
            <a:off x="9579435" y="3858768"/>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74" name="Shape 72"/>
          <p:cNvSpPr/>
          <p:nvPr/>
        </p:nvSpPr>
        <p:spPr>
          <a:xfrm>
            <a:off x="10733408" y="3831336"/>
            <a:ext cx="1172261" cy="530352"/>
          </a:xfrm>
          <a:prstGeom prst="rect">
            <a:avLst/>
          </a:prstGeom>
          <a:solidFill>
            <a:srgbClr val="FFFFFF"/>
          </a:solidFill>
          <a:ln w="5715">
            <a:solidFill>
              <a:srgbClr val="D8E0EA"/>
            </a:solidFill>
            <a:prstDash val="solid"/>
          </a:ln>
        </p:spPr>
      </p:sp>
      <p:sp>
        <p:nvSpPr>
          <p:cNvPr id="75" name="Text 73"/>
          <p:cNvSpPr/>
          <p:nvPr/>
        </p:nvSpPr>
        <p:spPr>
          <a:xfrm>
            <a:off x="10751696" y="3858768"/>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No</a:t>
            </a:r>
            <a:endParaRPr lang="en-US" sz="780" dirty="0"/>
          </a:p>
        </p:txBody>
      </p:sp>
      <p:sp>
        <p:nvSpPr>
          <p:cNvPr id="76" name="Shape 74"/>
          <p:cNvSpPr/>
          <p:nvPr/>
        </p:nvSpPr>
        <p:spPr>
          <a:xfrm>
            <a:off x="6044365" y="4361688"/>
            <a:ext cx="1172261" cy="530352"/>
          </a:xfrm>
          <a:prstGeom prst="rect">
            <a:avLst/>
          </a:prstGeom>
          <a:solidFill>
            <a:srgbClr val="FFFFFF"/>
          </a:solidFill>
          <a:ln w="5715">
            <a:solidFill>
              <a:srgbClr val="D8E0EA"/>
            </a:solidFill>
            <a:prstDash val="solid"/>
          </a:ln>
        </p:spPr>
      </p:sp>
      <p:sp>
        <p:nvSpPr>
          <p:cNvPr id="77" name="Text 75"/>
          <p:cNvSpPr/>
          <p:nvPr/>
        </p:nvSpPr>
        <p:spPr>
          <a:xfrm>
            <a:off x="6062653" y="4389120"/>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78" name="Shape 76"/>
          <p:cNvSpPr/>
          <p:nvPr/>
        </p:nvSpPr>
        <p:spPr>
          <a:xfrm>
            <a:off x="7216626" y="4361688"/>
            <a:ext cx="1172261" cy="530352"/>
          </a:xfrm>
          <a:prstGeom prst="rect">
            <a:avLst/>
          </a:prstGeom>
          <a:solidFill>
            <a:srgbClr val="FFFFFF"/>
          </a:solidFill>
          <a:ln w="5715">
            <a:solidFill>
              <a:srgbClr val="D8E0EA"/>
            </a:solidFill>
            <a:prstDash val="solid"/>
          </a:ln>
        </p:spPr>
      </p:sp>
      <p:sp>
        <p:nvSpPr>
          <p:cNvPr id="79" name="Text 77"/>
          <p:cNvSpPr/>
          <p:nvPr/>
        </p:nvSpPr>
        <p:spPr>
          <a:xfrm>
            <a:off x="7234914" y="4389120"/>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80" name="Shape 78"/>
          <p:cNvSpPr/>
          <p:nvPr/>
        </p:nvSpPr>
        <p:spPr>
          <a:xfrm>
            <a:off x="8388887" y="4361688"/>
            <a:ext cx="1172261" cy="530352"/>
          </a:xfrm>
          <a:prstGeom prst="rect">
            <a:avLst/>
          </a:prstGeom>
          <a:solidFill>
            <a:srgbClr val="FFFFFF"/>
          </a:solidFill>
          <a:ln w="5715">
            <a:solidFill>
              <a:srgbClr val="D8E0EA"/>
            </a:solidFill>
            <a:prstDash val="solid"/>
          </a:ln>
        </p:spPr>
      </p:sp>
      <p:sp>
        <p:nvSpPr>
          <p:cNvPr id="81" name="Text 79"/>
          <p:cNvSpPr/>
          <p:nvPr/>
        </p:nvSpPr>
        <p:spPr>
          <a:xfrm>
            <a:off x="8407175" y="4389120"/>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3,200</a:t>
            </a:r>
            <a:endParaRPr lang="en-US" sz="780" dirty="0"/>
          </a:p>
        </p:txBody>
      </p:sp>
      <p:sp>
        <p:nvSpPr>
          <p:cNvPr id="82" name="Shape 80"/>
          <p:cNvSpPr/>
          <p:nvPr/>
        </p:nvSpPr>
        <p:spPr>
          <a:xfrm>
            <a:off x="9561147" y="4361688"/>
            <a:ext cx="1172261" cy="530352"/>
          </a:xfrm>
          <a:prstGeom prst="rect">
            <a:avLst/>
          </a:prstGeom>
          <a:solidFill>
            <a:srgbClr val="FFFFFF"/>
          </a:solidFill>
          <a:ln w="5715">
            <a:solidFill>
              <a:srgbClr val="D8E0EA"/>
            </a:solidFill>
            <a:prstDash val="solid"/>
          </a:ln>
        </p:spPr>
      </p:sp>
      <p:sp>
        <p:nvSpPr>
          <p:cNvPr id="83" name="Text 81"/>
          <p:cNvSpPr/>
          <p:nvPr/>
        </p:nvSpPr>
        <p:spPr>
          <a:xfrm>
            <a:off x="9579435" y="4389120"/>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84" name="Shape 82"/>
          <p:cNvSpPr/>
          <p:nvPr/>
        </p:nvSpPr>
        <p:spPr>
          <a:xfrm>
            <a:off x="10733408" y="4361688"/>
            <a:ext cx="1172261" cy="530352"/>
          </a:xfrm>
          <a:prstGeom prst="rect">
            <a:avLst/>
          </a:prstGeom>
          <a:solidFill>
            <a:srgbClr val="FFFFFF"/>
          </a:solidFill>
          <a:ln w="5715">
            <a:solidFill>
              <a:srgbClr val="D8E0EA"/>
            </a:solidFill>
            <a:prstDash val="solid"/>
          </a:ln>
        </p:spPr>
      </p:sp>
      <p:sp>
        <p:nvSpPr>
          <p:cNvPr id="85" name="Text 83"/>
          <p:cNvSpPr/>
          <p:nvPr/>
        </p:nvSpPr>
        <p:spPr>
          <a:xfrm>
            <a:off x="10751696" y="4389120"/>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No</a:t>
            </a:r>
            <a:endParaRPr lang="en-US" sz="780" dirty="0"/>
          </a:p>
        </p:txBody>
      </p:sp>
      <p:sp>
        <p:nvSpPr>
          <p:cNvPr id="86" name="Shape 84"/>
          <p:cNvSpPr/>
          <p:nvPr/>
        </p:nvSpPr>
        <p:spPr>
          <a:xfrm>
            <a:off x="6044365" y="4892040"/>
            <a:ext cx="1172261" cy="530352"/>
          </a:xfrm>
          <a:prstGeom prst="rect">
            <a:avLst/>
          </a:prstGeom>
          <a:solidFill>
            <a:srgbClr val="FFFFFF"/>
          </a:solidFill>
          <a:ln w="5715">
            <a:solidFill>
              <a:srgbClr val="D8E0EA"/>
            </a:solidFill>
            <a:prstDash val="solid"/>
          </a:ln>
        </p:spPr>
      </p:sp>
      <p:sp>
        <p:nvSpPr>
          <p:cNvPr id="87" name="Text 85"/>
          <p:cNvSpPr/>
          <p:nvPr/>
        </p:nvSpPr>
        <p:spPr>
          <a:xfrm>
            <a:off x="6062653" y="4919472"/>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88" name="Shape 86"/>
          <p:cNvSpPr/>
          <p:nvPr/>
        </p:nvSpPr>
        <p:spPr>
          <a:xfrm>
            <a:off x="7216626" y="4892040"/>
            <a:ext cx="1172261" cy="530352"/>
          </a:xfrm>
          <a:prstGeom prst="rect">
            <a:avLst/>
          </a:prstGeom>
          <a:solidFill>
            <a:srgbClr val="FFFFFF"/>
          </a:solidFill>
          <a:ln w="5715">
            <a:solidFill>
              <a:srgbClr val="D8E0EA"/>
            </a:solidFill>
            <a:prstDash val="solid"/>
          </a:ln>
        </p:spPr>
      </p:sp>
      <p:sp>
        <p:nvSpPr>
          <p:cNvPr id="89" name="Text 87"/>
          <p:cNvSpPr/>
          <p:nvPr/>
        </p:nvSpPr>
        <p:spPr>
          <a:xfrm>
            <a:off x="7234914" y="4919472"/>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90" name="Shape 88"/>
          <p:cNvSpPr/>
          <p:nvPr/>
        </p:nvSpPr>
        <p:spPr>
          <a:xfrm>
            <a:off x="8388887" y="4892040"/>
            <a:ext cx="1172261" cy="530352"/>
          </a:xfrm>
          <a:prstGeom prst="rect">
            <a:avLst/>
          </a:prstGeom>
          <a:solidFill>
            <a:srgbClr val="FFFFFF"/>
          </a:solidFill>
          <a:ln w="5715">
            <a:solidFill>
              <a:srgbClr val="D8E0EA"/>
            </a:solidFill>
            <a:prstDash val="solid"/>
          </a:ln>
        </p:spPr>
      </p:sp>
      <p:sp>
        <p:nvSpPr>
          <p:cNvPr id="91" name="Text 89"/>
          <p:cNvSpPr/>
          <p:nvPr/>
        </p:nvSpPr>
        <p:spPr>
          <a:xfrm>
            <a:off x="8407175" y="4919472"/>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92" name="Shape 90"/>
          <p:cNvSpPr/>
          <p:nvPr/>
        </p:nvSpPr>
        <p:spPr>
          <a:xfrm>
            <a:off x="9561147" y="4892040"/>
            <a:ext cx="1172261" cy="530352"/>
          </a:xfrm>
          <a:prstGeom prst="rect">
            <a:avLst/>
          </a:prstGeom>
          <a:solidFill>
            <a:srgbClr val="FFFFFF"/>
          </a:solidFill>
          <a:ln w="5715">
            <a:solidFill>
              <a:srgbClr val="D8E0EA"/>
            </a:solidFill>
            <a:prstDash val="solid"/>
          </a:ln>
        </p:spPr>
      </p:sp>
      <p:sp>
        <p:nvSpPr>
          <p:cNvPr id="93" name="Text 91"/>
          <p:cNvSpPr/>
          <p:nvPr/>
        </p:nvSpPr>
        <p:spPr>
          <a:xfrm>
            <a:off x="9579435" y="4919472"/>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94" name="Shape 92"/>
          <p:cNvSpPr/>
          <p:nvPr/>
        </p:nvSpPr>
        <p:spPr>
          <a:xfrm>
            <a:off x="10733408" y="4892040"/>
            <a:ext cx="1172261" cy="530352"/>
          </a:xfrm>
          <a:prstGeom prst="rect">
            <a:avLst/>
          </a:prstGeom>
          <a:solidFill>
            <a:srgbClr val="FFFFFF"/>
          </a:solidFill>
          <a:ln w="5715">
            <a:solidFill>
              <a:srgbClr val="D8E0EA"/>
            </a:solidFill>
            <a:prstDash val="solid"/>
          </a:ln>
        </p:spPr>
      </p:sp>
      <p:sp>
        <p:nvSpPr>
          <p:cNvPr id="95" name="Text 93"/>
          <p:cNvSpPr/>
          <p:nvPr/>
        </p:nvSpPr>
        <p:spPr>
          <a:xfrm>
            <a:off x="10751696" y="4919472"/>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Yes</a:t>
            </a:r>
            <a:endParaRPr lang="en-US" sz="780" dirty="0"/>
          </a:p>
        </p:txBody>
      </p:sp>
      <p:sp>
        <p:nvSpPr>
          <p:cNvPr id="96" name="Shape 94"/>
          <p:cNvSpPr/>
          <p:nvPr/>
        </p:nvSpPr>
        <p:spPr>
          <a:xfrm>
            <a:off x="6044365" y="5422392"/>
            <a:ext cx="1172261" cy="530352"/>
          </a:xfrm>
          <a:prstGeom prst="rect">
            <a:avLst/>
          </a:prstGeom>
          <a:solidFill>
            <a:srgbClr val="FFFFFF"/>
          </a:solidFill>
          <a:ln w="5715">
            <a:solidFill>
              <a:srgbClr val="D8E0EA"/>
            </a:solidFill>
            <a:prstDash val="solid"/>
          </a:ln>
        </p:spPr>
      </p:sp>
      <p:sp>
        <p:nvSpPr>
          <p:cNvPr id="97" name="Text 95"/>
          <p:cNvSpPr/>
          <p:nvPr/>
        </p:nvSpPr>
        <p:spPr>
          <a:xfrm>
            <a:off x="6062653" y="544982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C1006</a:t>
            </a:r>
            <a:endParaRPr lang="en-US" sz="780" dirty="0"/>
          </a:p>
        </p:txBody>
      </p:sp>
      <p:sp>
        <p:nvSpPr>
          <p:cNvPr id="98" name="Shape 96"/>
          <p:cNvSpPr/>
          <p:nvPr/>
        </p:nvSpPr>
        <p:spPr>
          <a:xfrm>
            <a:off x="7216626" y="5422392"/>
            <a:ext cx="1172261" cy="530352"/>
          </a:xfrm>
          <a:prstGeom prst="rect">
            <a:avLst/>
          </a:prstGeom>
          <a:solidFill>
            <a:srgbClr val="FFFFFF"/>
          </a:solidFill>
          <a:ln w="5715">
            <a:solidFill>
              <a:srgbClr val="D8E0EA"/>
            </a:solidFill>
            <a:prstDash val="solid"/>
          </a:ln>
        </p:spPr>
      </p:sp>
      <p:sp>
        <p:nvSpPr>
          <p:cNvPr id="99" name="Text 97"/>
          <p:cNvSpPr/>
          <p:nvPr/>
        </p:nvSpPr>
        <p:spPr>
          <a:xfrm>
            <a:off x="7234914" y="544982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2026-08-31</a:t>
            </a:r>
            <a:endParaRPr lang="en-US" sz="780" dirty="0"/>
          </a:p>
        </p:txBody>
      </p:sp>
      <p:sp>
        <p:nvSpPr>
          <p:cNvPr id="100" name="Shape 98"/>
          <p:cNvSpPr/>
          <p:nvPr/>
        </p:nvSpPr>
        <p:spPr>
          <a:xfrm>
            <a:off x="8388887" y="5422392"/>
            <a:ext cx="1172261" cy="530352"/>
          </a:xfrm>
          <a:prstGeom prst="rect">
            <a:avLst/>
          </a:prstGeom>
          <a:solidFill>
            <a:srgbClr val="FFFFFF"/>
          </a:solidFill>
          <a:ln w="5715">
            <a:solidFill>
              <a:srgbClr val="D8E0EA"/>
            </a:solidFill>
            <a:prstDash val="solid"/>
          </a:ln>
        </p:spPr>
      </p:sp>
      <p:sp>
        <p:nvSpPr>
          <p:cNvPr id="101" name="Text 99"/>
          <p:cNvSpPr/>
          <p:nvPr/>
        </p:nvSpPr>
        <p:spPr>
          <a:xfrm>
            <a:off x="8407175" y="544982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9,700</a:t>
            </a:r>
            <a:endParaRPr lang="en-US" sz="780" dirty="0"/>
          </a:p>
        </p:txBody>
      </p:sp>
      <p:sp>
        <p:nvSpPr>
          <p:cNvPr id="102" name="Shape 100"/>
          <p:cNvSpPr/>
          <p:nvPr/>
        </p:nvSpPr>
        <p:spPr>
          <a:xfrm>
            <a:off x="9561147" y="5422392"/>
            <a:ext cx="1172261" cy="530352"/>
          </a:xfrm>
          <a:prstGeom prst="rect">
            <a:avLst/>
          </a:prstGeom>
          <a:solidFill>
            <a:srgbClr val="FFFFFF"/>
          </a:solidFill>
          <a:ln w="5715">
            <a:solidFill>
              <a:srgbClr val="D8E0EA"/>
            </a:solidFill>
            <a:prstDash val="solid"/>
          </a:ln>
        </p:spPr>
      </p:sp>
      <p:sp>
        <p:nvSpPr>
          <p:cNvPr id="103" name="Text 101"/>
          <p:cNvSpPr/>
          <p:nvPr/>
        </p:nvSpPr>
        <p:spPr>
          <a:xfrm>
            <a:off x="9579435" y="544982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104" name="Shape 102"/>
          <p:cNvSpPr/>
          <p:nvPr/>
        </p:nvSpPr>
        <p:spPr>
          <a:xfrm>
            <a:off x="10733408" y="5422392"/>
            <a:ext cx="1172261" cy="530352"/>
          </a:xfrm>
          <a:prstGeom prst="rect">
            <a:avLst/>
          </a:prstGeom>
          <a:solidFill>
            <a:srgbClr val="FFFFFF"/>
          </a:solidFill>
          <a:ln w="5715">
            <a:solidFill>
              <a:srgbClr val="D8E0EA"/>
            </a:solidFill>
            <a:prstDash val="solid"/>
          </a:ln>
        </p:spPr>
      </p:sp>
      <p:sp>
        <p:nvSpPr>
          <p:cNvPr id="105" name="Text 103"/>
          <p:cNvSpPr/>
          <p:nvPr/>
        </p:nvSpPr>
        <p:spPr>
          <a:xfrm>
            <a:off x="10751696" y="5449824"/>
            <a:ext cx="1135685" cy="493776"/>
          </a:xfrm>
          <a:prstGeom prst="rect">
            <a:avLst/>
          </a:prstGeom>
          <a:noFill/>
          <a:ln/>
        </p:spPr>
        <p:txBody>
          <a:bodyPr wrap="square" lIns="0" tIns="0" rIns="0" bIns="0" rtlCol="0" anchor="ctr">
            <a:normAutofit/>
          </a:bodyPr>
          <a:lstStyle/>
          <a:p>
            <a:pPr marL="0" indent="0">
              <a:buNone/>
            </a:pPr>
            <a:r>
              <a:rPr lang="en-US" sz="780" dirty="0">
                <a:solidFill>
                  <a:srgbClr val="26364A"/>
                </a:solidFill>
              </a:rPr>
              <a:t>No</a:t>
            </a:r>
            <a:endParaRPr lang="en-US" sz="780" dirty="0"/>
          </a:p>
        </p:txBody>
      </p:sp>
      <p:sp>
        <p:nvSpPr>
          <p:cNvPr id="10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15</a:t>
            </a:fld>
            <a:endParaRPr lang="en-US" dirty="0"/>
          </a:p>
        </p:txBody>
      </p:sp>
      <p:sp>
        <p:nvSpPr>
          <p:cNvPr id="108" name="Text 4">
            <a:extLst>
              <a:ext uri="{FF2B5EF4-FFF2-40B4-BE49-F238E27FC236}">
                <a16:creationId xmlns:a16="http://schemas.microsoft.com/office/drawing/2014/main" id="{F0E02F3E-77DE-75C2-A21B-A7737C9111EF}"/>
              </a:ext>
            </a:extLst>
          </p:cNvPr>
          <p:cNvSpPr/>
          <p:nvPr/>
        </p:nvSpPr>
        <p:spPr>
          <a:xfrm>
            <a:off x="859536" y="5397828"/>
            <a:ext cx="3090851" cy="347472"/>
          </a:xfrm>
          <a:prstGeom prst="rect">
            <a:avLst/>
          </a:prstGeom>
          <a:noFill/>
          <a:ln/>
        </p:spPr>
        <p:txBody>
          <a:bodyPr wrap="square" lIns="0" tIns="0" rIns="0" bIns="0" rtlCol="0" anchor="ctr">
            <a:normAutofit/>
          </a:bodyPr>
          <a:lstStyle/>
          <a:p>
            <a:pPr marL="0" indent="0">
              <a:buNone/>
            </a:pPr>
            <a:r>
              <a:rPr lang="en-US" sz="2000" dirty="0">
                <a:solidFill>
                  <a:srgbClr val="667085"/>
                </a:solidFill>
              </a:rPr>
              <a:t>Source, operational data</a:t>
            </a:r>
            <a:endParaRPr lang="en-US" sz="2000" dirty="0"/>
          </a:p>
        </p:txBody>
      </p:sp>
      <p:sp>
        <p:nvSpPr>
          <p:cNvPr id="109" name="CasellaDiTesto 108">
            <a:extLst>
              <a:ext uri="{FF2B5EF4-FFF2-40B4-BE49-F238E27FC236}">
                <a16:creationId xmlns:a16="http://schemas.microsoft.com/office/drawing/2014/main" id="{0A54EA4A-743B-77CD-7B7C-3AB7CEA862AC}"/>
              </a:ext>
            </a:extLst>
          </p:cNvPr>
          <p:cNvSpPr txBox="1"/>
          <p:nvPr/>
        </p:nvSpPr>
        <p:spPr>
          <a:xfrm>
            <a:off x="3950387" y="3961578"/>
            <a:ext cx="1938709" cy="400110"/>
          </a:xfrm>
          <a:prstGeom prst="rect">
            <a:avLst/>
          </a:prstGeom>
          <a:noFill/>
        </p:spPr>
        <p:txBody>
          <a:bodyPr wrap="square" rtlCol="0">
            <a:spAutoFit/>
          </a:bodyPr>
          <a:lstStyle/>
          <a:p>
            <a:r>
              <a:rPr lang="it-IT" sz="2000" dirty="0">
                <a:solidFill>
                  <a:srgbClr val="667085"/>
                </a:solidFill>
              </a:rPr>
              <a:t>ETL processing</a:t>
            </a:r>
            <a:endParaRPr lang="en-GB" sz="2000" dirty="0">
              <a:solidFill>
                <a:srgbClr val="667085"/>
              </a:solidFill>
            </a:endParaRPr>
          </a:p>
        </p:txBody>
      </p:sp>
      <p:sp>
        <p:nvSpPr>
          <p:cNvPr id="111" name="Text 4">
            <a:extLst>
              <a:ext uri="{FF2B5EF4-FFF2-40B4-BE49-F238E27FC236}">
                <a16:creationId xmlns:a16="http://schemas.microsoft.com/office/drawing/2014/main" id="{3ACF40F2-63B2-5E78-B527-6633C206DFD0}"/>
              </a:ext>
            </a:extLst>
          </p:cNvPr>
          <p:cNvSpPr/>
          <p:nvPr/>
        </p:nvSpPr>
        <p:spPr>
          <a:xfrm>
            <a:off x="6814165" y="6060678"/>
            <a:ext cx="4577735" cy="347472"/>
          </a:xfrm>
          <a:prstGeom prst="rect">
            <a:avLst/>
          </a:prstGeom>
          <a:noFill/>
          <a:ln/>
        </p:spPr>
        <p:txBody>
          <a:bodyPr wrap="square" lIns="0" tIns="0" rIns="0" bIns="0" rtlCol="0" anchor="ctr">
            <a:noAutofit/>
          </a:bodyPr>
          <a:lstStyle/>
          <a:p>
            <a:pPr marL="0" indent="0">
              <a:buNone/>
            </a:pPr>
            <a:r>
              <a:rPr lang="en-US" sz="2000" dirty="0">
                <a:solidFill>
                  <a:srgbClr val="667085"/>
                </a:solidFill>
              </a:rPr>
              <a:t>A structured table ready to be </a:t>
            </a:r>
            <a:r>
              <a:rPr lang="en-US" sz="2000" dirty="0" err="1">
                <a:solidFill>
                  <a:srgbClr val="667085"/>
                </a:solidFill>
              </a:rPr>
              <a:t>analysed</a:t>
            </a:r>
            <a:endParaRPr lang="en-US" sz="2000" dirty="0">
              <a:solidFill>
                <a:srgbClr val="667085"/>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38912"/>
            <a:ext cx="7589520" cy="457200"/>
          </a:xfrm>
          <a:prstGeom prst="rect">
            <a:avLst/>
          </a:prstGeom>
          <a:noFill/>
          <a:ln>
            <a:noFill/>
          </a:ln>
        </p:spPr>
        <p:txBody>
          <a:bodyPr wrap="square" lIns="54864" tIns="54864" rIns="54864" bIns="54864" anchor="t">
            <a:spAutoFit/>
          </a:bodyPr>
          <a:lstStyle/>
          <a:p>
            <a:pPr algn="l"/>
            <a:r>
              <a:rPr sz="2200" b="1">
                <a:solidFill>
                  <a:srgbClr val="182B44"/>
                </a:solidFill>
                <a:latin typeface="Aptos"/>
              </a:rPr>
              <a:t>Structured vs semi-structured vs unstructured data</a:t>
            </a:r>
          </a:p>
        </p:txBody>
      </p:sp>
      <p:sp>
        <p:nvSpPr>
          <p:cNvPr id="5" name="TextBox 4"/>
          <p:cNvSpPr txBox="1"/>
          <p:nvPr/>
        </p:nvSpPr>
        <p:spPr>
          <a:xfrm>
            <a:off x="320040" y="932688"/>
            <a:ext cx="9875520" cy="292608"/>
          </a:xfrm>
          <a:prstGeom prst="rect">
            <a:avLst/>
          </a:prstGeom>
          <a:noFill/>
          <a:ln>
            <a:noFill/>
          </a:ln>
        </p:spPr>
        <p:txBody>
          <a:bodyPr wrap="square" lIns="54864" tIns="54864" rIns="54864" bIns="54864" anchor="t">
            <a:spAutoFit/>
          </a:bodyPr>
          <a:lstStyle/>
          <a:p>
            <a:pPr algn="l"/>
            <a:r>
              <a:rPr sz="1120" b="0">
                <a:solidFill>
                  <a:srgbClr val="6E7887"/>
                </a:solidFill>
                <a:latin typeface="Aptos"/>
              </a:rPr>
              <a:t>Data Science works with many kinds of data. Excel is strongest with structured data, but analysts often receive all three forms.</a:t>
            </a:r>
          </a:p>
        </p:txBody>
      </p:sp>
      <p:sp>
        <p:nvSpPr>
          <p:cNvPr id="6" name="Rounded Rectangle 5"/>
          <p:cNvSpPr/>
          <p:nvPr/>
        </p:nvSpPr>
        <p:spPr>
          <a:xfrm>
            <a:off x="411480" y="1417320"/>
            <a:ext cx="3675887" cy="4434840"/>
          </a:xfrm>
          <a:prstGeom prst="roundRect">
            <a:avLst/>
          </a:prstGeom>
          <a:solidFill>
            <a:srgbClr val="E9EFFE"/>
          </a:solidFill>
          <a:ln>
            <a:solidFill>
              <a:srgbClr val="DC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9496" y="1563624"/>
            <a:ext cx="3419855" cy="420624"/>
          </a:xfrm>
          <a:prstGeom prst="rect">
            <a:avLst/>
          </a:prstGeom>
          <a:noFill/>
          <a:ln>
            <a:noFill/>
          </a:ln>
        </p:spPr>
        <p:txBody>
          <a:bodyPr wrap="square" lIns="54864" tIns="54864" rIns="54864" bIns="54864" anchor="t">
            <a:spAutoFit/>
          </a:bodyPr>
          <a:lstStyle/>
          <a:p>
            <a:pPr algn="ctr"/>
            <a:r>
              <a:rPr sz="1500" b="1">
                <a:solidFill>
                  <a:srgbClr val="436EEE"/>
                </a:solidFill>
                <a:latin typeface="Aptos"/>
              </a:rPr>
              <a:t>STRUCTURED DATA</a:t>
            </a:r>
          </a:p>
        </p:txBody>
      </p:sp>
      <p:sp>
        <p:nvSpPr>
          <p:cNvPr id="8" name="TextBox 7"/>
          <p:cNvSpPr txBox="1"/>
          <p:nvPr/>
        </p:nvSpPr>
        <p:spPr>
          <a:xfrm>
            <a:off x="557784" y="1947672"/>
            <a:ext cx="3383279" cy="347472"/>
          </a:xfrm>
          <a:prstGeom prst="rect">
            <a:avLst/>
          </a:prstGeom>
          <a:noFill/>
          <a:ln>
            <a:noFill/>
          </a:ln>
        </p:spPr>
        <p:txBody>
          <a:bodyPr wrap="square" lIns="54864" tIns="54864" rIns="54864" bIns="54864" anchor="t">
            <a:spAutoFit/>
          </a:bodyPr>
          <a:lstStyle/>
          <a:p>
            <a:pPr algn="ctr"/>
            <a:r>
              <a:rPr sz="1050" b="0">
                <a:solidFill>
                  <a:srgbClr val="6E7887"/>
                </a:solidFill>
                <a:latin typeface="Aptos"/>
              </a:rPr>
              <a:t>Clear rows, columns and fields</a:t>
            </a:r>
          </a:p>
        </p:txBody>
      </p:sp>
      <p:sp>
        <p:nvSpPr>
          <p:cNvPr id="9" name="TextBox 8"/>
          <p:cNvSpPr txBox="1"/>
          <p:nvPr/>
        </p:nvSpPr>
        <p:spPr>
          <a:xfrm>
            <a:off x="576072" y="2350008"/>
            <a:ext cx="3346703" cy="1783080"/>
          </a:xfrm>
          <a:prstGeom prst="rect">
            <a:avLst/>
          </a:prstGeom>
          <a:noFill/>
          <a:ln>
            <a:noFill/>
          </a:ln>
        </p:spPr>
        <p:txBody>
          <a:bodyPr wrap="square" lIns="73152" tIns="54864" rIns="73152" bIns="54864">
            <a:spAutoFit/>
          </a:bodyPr>
          <a:lstStyle/>
          <a:p>
            <a:pPr algn="l"/>
            <a:r>
              <a:rPr sz="1250">
                <a:solidFill>
                  <a:srgbClr val="525E72"/>
                </a:solidFill>
                <a:latin typeface="Aptos"/>
              </a:rPr>
              <a:t>Examples: Excel tables, CSV files, relational databases, banking transaction tables</a:t>
            </a:r>
          </a:p>
          <a:p>
            <a:pPr algn="l"/>
            <a:r>
              <a:rPr sz="1250">
                <a:solidFill>
                  <a:srgbClr val="525E72"/>
                </a:solidFill>
                <a:latin typeface="Aptos"/>
              </a:rPr>
              <a:t>Typical fields: Customer_ID, Region, Balance, Date, Product_Count</a:t>
            </a:r>
          </a:p>
          <a:p>
            <a:pPr algn="l"/>
            <a:r>
              <a:rPr sz="1250">
                <a:solidFill>
                  <a:srgbClr val="525E72"/>
                </a:solidFill>
                <a:latin typeface="Aptos"/>
              </a:rPr>
              <a:t>Excel fit: excellent</a:t>
            </a:r>
          </a:p>
        </p:txBody>
      </p:sp>
      <p:sp>
        <p:nvSpPr>
          <p:cNvPr id="10" name="Rounded Rectangle 9"/>
          <p:cNvSpPr/>
          <p:nvPr/>
        </p:nvSpPr>
        <p:spPr>
          <a:xfrm>
            <a:off x="4251959" y="1417320"/>
            <a:ext cx="3675887" cy="4434840"/>
          </a:xfrm>
          <a:prstGeom prst="roundRect">
            <a:avLst/>
          </a:prstGeom>
          <a:solidFill>
            <a:srgbClr val="E9F7EE"/>
          </a:solidFill>
          <a:ln>
            <a:solidFill>
              <a:srgbClr val="DC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79975" y="1563624"/>
            <a:ext cx="3419855" cy="420624"/>
          </a:xfrm>
          <a:prstGeom prst="rect">
            <a:avLst/>
          </a:prstGeom>
          <a:noFill/>
          <a:ln>
            <a:noFill/>
          </a:ln>
        </p:spPr>
        <p:txBody>
          <a:bodyPr wrap="square" lIns="54864" tIns="54864" rIns="54864" bIns="54864" anchor="t">
            <a:spAutoFit/>
          </a:bodyPr>
          <a:lstStyle/>
          <a:p>
            <a:pPr algn="ctr"/>
            <a:r>
              <a:rPr sz="1500" b="1">
                <a:solidFill>
                  <a:srgbClr val="43B078"/>
                </a:solidFill>
                <a:latin typeface="Aptos"/>
              </a:rPr>
              <a:t>SEMI-STRUCTURED DATA</a:t>
            </a:r>
          </a:p>
        </p:txBody>
      </p:sp>
      <p:sp>
        <p:nvSpPr>
          <p:cNvPr id="12" name="TextBox 11"/>
          <p:cNvSpPr txBox="1"/>
          <p:nvPr/>
        </p:nvSpPr>
        <p:spPr>
          <a:xfrm>
            <a:off x="4398263" y="1947672"/>
            <a:ext cx="3383279" cy="347472"/>
          </a:xfrm>
          <a:prstGeom prst="rect">
            <a:avLst/>
          </a:prstGeom>
          <a:noFill/>
          <a:ln>
            <a:noFill/>
          </a:ln>
        </p:spPr>
        <p:txBody>
          <a:bodyPr wrap="square" lIns="54864" tIns="54864" rIns="54864" bIns="54864" anchor="t">
            <a:spAutoFit/>
          </a:bodyPr>
          <a:lstStyle/>
          <a:p>
            <a:pPr algn="ctr"/>
            <a:r>
              <a:rPr sz="1050" b="0">
                <a:solidFill>
                  <a:srgbClr val="6E7887"/>
                </a:solidFill>
                <a:latin typeface="Aptos"/>
              </a:rPr>
              <a:t>Some organisation, but not fully tabular</a:t>
            </a:r>
          </a:p>
        </p:txBody>
      </p:sp>
      <p:sp>
        <p:nvSpPr>
          <p:cNvPr id="13" name="TextBox 12"/>
          <p:cNvSpPr txBox="1"/>
          <p:nvPr/>
        </p:nvSpPr>
        <p:spPr>
          <a:xfrm>
            <a:off x="4416551" y="2350008"/>
            <a:ext cx="3346703" cy="1783080"/>
          </a:xfrm>
          <a:prstGeom prst="rect">
            <a:avLst/>
          </a:prstGeom>
          <a:noFill/>
          <a:ln>
            <a:noFill/>
          </a:ln>
        </p:spPr>
        <p:txBody>
          <a:bodyPr wrap="square" lIns="73152" tIns="54864" rIns="73152" bIns="54864">
            <a:spAutoFit/>
          </a:bodyPr>
          <a:lstStyle/>
          <a:p>
            <a:pPr algn="l"/>
            <a:r>
              <a:rPr sz="1250">
                <a:solidFill>
                  <a:srgbClr val="525E72"/>
                </a:solidFill>
                <a:latin typeface="Aptos"/>
              </a:rPr>
              <a:t>Examples: JSON, XML, logs, email headers, API responses</a:t>
            </a:r>
          </a:p>
          <a:p>
            <a:pPr algn="l"/>
            <a:r>
              <a:rPr sz="1250">
                <a:solidFill>
                  <a:srgbClr val="525E72"/>
                </a:solidFill>
                <a:latin typeface="Aptos"/>
              </a:rPr>
              <a:t>Has labels or tags, but the shape may vary from record to record</a:t>
            </a:r>
          </a:p>
          <a:p>
            <a:pPr algn="l"/>
            <a:r>
              <a:rPr sz="1250">
                <a:solidFill>
                  <a:srgbClr val="525E72"/>
                </a:solidFill>
                <a:latin typeface="Aptos"/>
              </a:rPr>
              <a:t>Excel fit: possible after transformation or flattening</a:t>
            </a:r>
          </a:p>
        </p:txBody>
      </p:sp>
      <p:sp>
        <p:nvSpPr>
          <p:cNvPr id="14" name="Rounded Rectangle 13"/>
          <p:cNvSpPr/>
          <p:nvPr/>
        </p:nvSpPr>
        <p:spPr>
          <a:xfrm>
            <a:off x="8092439" y="1417320"/>
            <a:ext cx="3675887" cy="4434840"/>
          </a:xfrm>
          <a:prstGeom prst="roundRect">
            <a:avLst/>
          </a:prstGeom>
          <a:solidFill>
            <a:srgbClr val="FDF3E3"/>
          </a:solidFill>
          <a:ln>
            <a:solidFill>
              <a:srgbClr val="DC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0455" y="1563624"/>
            <a:ext cx="3419855" cy="420624"/>
          </a:xfrm>
          <a:prstGeom prst="rect">
            <a:avLst/>
          </a:prstGeom>
          <a:noFill/>
          <a:ln>
            <a:noFill/>
          </a:ln>
        </p:spPr>
        <p:txBody>
          <a:bodyPr wrap="square" lIns="54864" tIns="54864" rIns="54864" bIns="54864" anchor="t">
            <a:spAutoFit/>
          </a:bodyPr>
          <a:lstStyle/>
          <a:p>
            <a:pPr algn="ctr"/>
            <a:r>
              <a:rPr sz="1500" b="1">
                <a:solidFill>
                  <a:srgbClr val="F2A022"/>
                </a:solidFill>
                <a:latin typeface="Aptos"/>
              </a:rPr>
              <a:t>UNSTRUCTURED DATA</a:t>
            </a:r>
          </a:p>
        </p:txBody>
      </p:sp>
      <p:sp>
        <p:nvSpPr>
          <p:cNvPr id="16" name="TextBox 15"/>
          <p:cNvSpPr txBox="1"/>
          <p:nvPr/>
        </p:nvSpPr>
        <p:spPr>
          <a:xfrm>
            <a:off x="8238743" y="1947672"/>
            <a:ext cx="3383279" cy="347472"/>
          </a:xfrm>
          <a:prstGeom prst="rect">
            <a:avLst/>
          </a:prstGeom>
          <a:noFill/>
          <a:ln>
            <a:noFill/>
          </a:ln>
        </p:spPr>
        <p:txBody>
          <a:bodyPr wrap="square" lIns="54864" tIns="54864" rIns="54864" bIns="54864" anchor="t">
            <a:spAutoFit/>
          </a:bodyPr>
          <a:lstStyle/>
          <a:p>
            <a:pPr algn="ctr"/>
            <a:r>
              <a:rPr sz="1050" b="0">
                <a:solidFill>
                  <a:srgbClr val="6E7887"/>
                </a:solidFill>
                <a:latin typeface="Aptos"/>
              </a:rPr>
              <a:t>No fixed table structure</a:t>
            </a:r>
          </a:p>
        </p:txBody>
      </p:sp>
      <p:sp>
        <p:nvSpPr>
          <p:cNvPr id="17" name="TextBox 16"/>
          <p:cNvSpPr txBox="1"/>
          <p:nvPr/>
        </p:nvSpPr>
        <p:spPr>
          <a:xfrm>
            <a:off x="8257031" y="2350008"/>
            <a:ext cx="3346703" cy="1783080"/>
          </a:xfrm>
          <a:prstGeom prst="rect">
            <a:avLst/>
          </a:prstGeom>
          <a:noFill/>
          <a:ln>
            <a:noFill/>
          </a:ln>
        </p:spPr>
        <p:txBody>
          <a:bodyPr wrap="square" lIns="73152" tIns="54864" rIns="73152" bIns="54864">
            <a:spAutoFit/>
          </a:bodyPr>
          <a:lstStyle/>
          <a:p>
            <a:pPr algn="l"/>
            <a:r>
              <a:rPr sz="1250">
                <a:solidFill>
                  <a:srgbClr val="525E72"/>
                </a:solidFill>
                <a:latin typeface="Aptos"/>
              </a:rPr>
              <a:t>Examples: PDFs, emails, contracts, images, audio, call recordings</a:t>
            </a:r>
          </a:p>
          <a:p>
            <a:pPr algn="l"/>
            <a:r>
              <a:rPr sz="1250">
                <a:solidFill>
                  <a:srgbClr val="525E72"/>
                </a:solidFill>
                <a:latin typeface="Aptos"/>
              </a:rPr>
              <a:t>Meaning exists, but structure is implicit rather than explicit</a:t>
            </a:r>
          </a:p>
          <a:p>
            <a:pPr algn="l"/>
            <a:r>
              <a:rPr sz="1250">
                <a:solidFill>
                  <a:srgbClr val="525E72"/>
                </a:solidFill>
                <a:latin typeface="Aptos"/>
              </a:rPr>
              <a:t>Excel fit: weak unless data is first extracted or summarised</a:t>
            </a:r>
          </a:p>
        </p:txBody>
      </p:sp>
      <p:sp>
        <p:nvSpPr>
          <p:cNvPr id="18" name="TextBox 17"/>
          <p:cNvSpPr txBox="1"/>
          <p:nvPr/>
        </p:nvSpPr>
        <p:spPr>
          <a:xfrm>
            <a:off x="576072" y="4270248"/>
            <a:ext cx="3346703" cy="786384"/>
          </a:xfrm>
          <a:prstGeom prst="rect">
            <a:avLst/>
          </a:prstGeom>
          <a:solidFill>
            <a:srgbClr val="FFFFFF"/>
          </a:solidFill>
          <a:ln>
            <a:solidFill>
              <a:srgbClr val="DCE2E9"/>
            </a:solidFill>
          </a:ln>
        </p:spPr>
        <p:txBody>
          <a:bodyPr wrap="square" lIns="54864" tIns="54864" rIns="54864" bIns="54864" anchor="t">
            <a:spAutoFit/>
          </a:bodyPr>
          <a:lstStyle/>
          <a:p>
            <a:pPr algn="l"/>
            <a:r>
              <a:rPr sz="1150" b="0">
                <a:solidFill>
                  <a:srgbClr val="525E72"/>
                </a:solidFill>
                <a:latin typeface="Aptos"/>
              </a:rPr>
              <a:t>Recognition: every row represents the same type of entity, and every column has a stable meaning.</a:t>
            </a:r>
          </a:p>
        </p:txBody>
      </p:sp>
      <p:sp>
        <p:nvSpPr>
          <p:cNvPr id="19" name="TextBox 18"/>
          <p:cNvSpPr txBox="1"/>
          <p:nvPr/>
        </p:nvSpPr>
        <p:spPr>
          <a:xfrm>
            <a:off x="4416551" y="4270248"/>
            <a:ext cx="3346703" cy="786384"/>
          </a:xfrm>
          <a:prstGeom prst="rect">
            <a:avLst/>
          </a:prstGeom>
          <a:solidFill>
            <a:srgbClr val="FFFFFF"/>
          </a:solidFill>
          <a:ln>
            <a:solidFill>
              <a:srgbClr val="DCE2E9"/>
            </a:solidFill>
          </a:ln>
        </p:spPr>
        <p:txBody>
          <a:bodyPr wrap="square" lIns="54864" tIns="54864" rIns="54864" bIns="54864" anchor="t">
            <a:spAutoFit/>
          </a:bodyPr>
          <a:lstStyle/>
          <a:p>
            <a:pPr algn="l"/>
            <a:r>
              <a:rPr sz="1150" b="0">
                <a:solidFill>
                  <a:srgbClr val="525E72"/>
                </a:solidFill>
                <a:latin typeface="Aptos"/>
              </a:rPr>
              <a:t>Recognition: records contain keys or tags, but not every record must contain the same fields.</a:t>
            </a:r>
          </a:p>
        </p:txBody>
      </p:sp>
      <p:sp>
        <p:nvSpPr>
          <p:cNvPr id="20" name="TextBox 19"/>
          <p:cNvSpPr txBox="1"/>
          <p:nvPr/>
        </p:nvSpPr>
        <p:spPr>
          <a:xfrm>
            <a:off x="8257031" y="4270248"/>
            <a:ext cx="3346703" cy="786384"/>
          </a:xfrm>
          <a:prstGeom prst="rect">
            <a:avLst/>
          </a:prstGeom>
          <a:solidFill>
            <a:srgbClr val="FFFFFF"/>
          </a:solidFill>
          <a:ln>
            <a:solidFill>
              <a:srgbClr val="DCE2E9"/>
            </a:solidFill>
          </a:ln>
        </p:spPr>
        <p:txBody>
          <a:bodyPr wrap="square" lIns="54864" tIns="54864" rIns="54864" bIns="54864" anchor="t">
            <a:spAutoFit/>
          </a:bodyPr>
          <a:lstStyle/>
          <a:p>
            <a:pPr algn="l"/>
            <a:r>
              <a:rPr sz="1150" b="0">
                <a:solidFill>
                  <a:srgbClr val="525E72"/>
                </a:solidFill>
                <a:latin typeface="Aptos"/>
              </a:rPr>
              <a:t>Recognition: humans can understand the content, but software must work harder to extract variables.</a:t>
            </a:r>
          </a:p>
        </p:txBody>
      </p:sp>
      <p:sp>
        <p:nvSpPr>
          <p:cNvPr id="21" name="Rounded Rectangle 20"/>
          <p:cNvSpPr/>
          <p:nvPr/>
        </p:nvSpPr>
        <p:spPr>
          <a:xfrm>
            <a:off x="685800" y="6053328"/>
            <a:ext cx="10789920" cy="457200"/>
          </a:xfrm>
          <a:prstGeom prst="roundRect">
            <a:avLst/>
          </a:prstGeom>
          <a:solidFill>
            <a:srgbClr val="FFFFFF"/>
          </a:solidFill>
          <a:ln>
            <a:solidFill>
              <a:srgbClr val="A4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6108192"/>
            <a:ext cx="10561320" cy="310896"/>
          </a:xfrm>
          <a:prstGeom prst="rect">
            <a:avLst/>
          </a:prstGeom>
          <a:noFill/>
        </p:spPr>
        <p:txBody>
          <a:bodyPr wrap="square">
            <a:spAutoFit/>
          </a:bodyPr>
          <a:lstStyle/>
          <a:p>
            <a:pPr algn="ctr"/>
            <a:r>
              <a:rPr sz="1300" b="1">
                <a:solidFill>
                  <a:srgbClr val="182B44"/>
                </a:solidFill>
                <a:latin typeface="Aptos"/>
              </a:rPr>
              <a:t>Excel takeaway: </a:t>
            </a:r>
            <a:r>
              <a:rPr sz="1300">
                <a:solidFill>
                  <a:srgbClr val="525E72"/>
                </a:solidFill>
                <a:latin typeface="Aptos"/>
              </a:rPr>
              <a:t>structured data is the natural starting point for EDA in Excel; semi-structured and unstructured data usually need preparation before they can be analysed as tables.</a:t>
            </a:r>
          </a:p>
        </p:txBody>
      </p:sp>
      <p:sp>
        <p:nvSpPr>
          <p:cNvPr id="23" name="TextBox 22"/>
          <p:cNvSpPr txBox="1"/>
          <p:nvPr/>
        </p:nvSpPr>
        <p:spPr>
          <a:xfrm>
            <a:off x="320040" y="6400800"/>
            <a:ext cx="2743200" cy="128016"/>
          </a:xfrm>
          <a:prstGeom prst="rect">
            <a:avLst/>
          </a:prstGeom>
          <a:noFill/>
          <a:ln>
            <a:noFill/>
          </a:ln>
        </p:spPr>
        <p:txBody>
          <a:bodyPr wrap="square" lIns="54864" tIns="54864" rIns="54864" bIns="54864" anchor="t">
            <a:spAutoFit/>
          </a:bodyPr>
          <a:lstStyle/>
          <a:p>
            <a:pPr algn="l"/>
            <a:r>
              <a:rPr sz="850" b="0">
                <a:solidFill>
                  <a:srgbClr val="6E7887"/>
                </a:solidFill>
                <a:latin typeface="Aptos"/>
              </a:rPr>
              <a:t>Data Science with Excel</a:t>
            </a:r>
          </a:p>
        </p:txBody>
      </p:sp>
      <p:sp>
        <p:nvSpPr>
          <p:cNvPr id="26" name="Text 0">
            <a:extLst>
              <a:ext uri="{FF2B5EF4-FFF2-40B4-BE49-F238E27FC236}">
                <a16:creationId xmlns:a16="http://schemas.microsoft.com/office/drawing/2014/main" id="{11200BF9-221F-C54C-0062-03DC089632D3}"/>
              </a:ext>
            </a:extLst>
          </p:cNvPr>
          <p:cNvSpPr/>
          <p:nvPr/>
        </p:nvSpPr>
        <p:spPr>
          <a:xfrm>
            <a:off x="411480" y="192024"/>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27" name="Slide Number Placeholder 0">
            <a:extLst>
              <a:ext uri="{FF2B5EF4-FFF2-40B4-BE49-F238E27FC236}">
                <a16:creationId xmlns:a16="http://schemas.microsoft.com/office/drawing/2014/main" id="{7BC888D7-1F7E-C451-6E4B-DEF8C37005B3}"/>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D1D8-441A-2443-D945-E5982E5BED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43BAE0-3FB9-A3CB-E8E1-A1D886F7FDBD}"/>
              </a:ext>
            </a:extLst>
          </p:cNvPr>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a:extLst>
              <a:ext uri="{FF2B5EF4-FFF2-40B4-BE49-F238E27FC236}">
                <a16:creationId xmlns:a16="http://schemas.microsoft.com/office/drawing/2014/main" id="{BA8339A7-6317-FBCD-F789-AF404ED447B5}"/>
              </a:ext>
            </a:extLst>
          </p:cNvPr>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Structured data: the backbone of everyday Data Science</a:t>
            </a:r>
            <a:endParaRPr lang="en-US" sz="2600" dirty="0"/>
          </a:p>
        </p:txBody>
      </p:sp>
      <p:sp>
        <p:nvSpPr>
          <p:cNvPr id="4" name="Shape 2">
            <a:extLst>
              <a:ext uri="{FF2B5EF4-FFF2-40B4-BE49-F238E27FC236}">
                <a16:creationId xmlns:a16="http://schemas.microsoft.com/office/drawing/2014/main" id="{F10E20AB-8F18-216F-5CB7-FFCE83E4AFC3}"/>
              </a:ext>
            </a:extLst>
          </p:cNvPr>
          <p:cNvSpPr/>
          <p:nvPr/>
        </p:nvSpPr>
        <p:spPr>
          <a:xfrm>
            <a:off x="502920" y="6400800"/>
            <a:ext cx="11155680" cy="0"/>
          </a:xfrm>
          <a:prstGeom prst="line">
            <a:avLst/>
          </a:prstGeom>
          <a:noFill/>
          <a:ln w="8890">
            <a:solidFill>
              <a:srgbClr val="D8E0EA"/>
            </a:solidFill>
            <a:prstDash val="solid"/>
          </a:ln>
        </p:spPr>
      </p:sp>
      <p:sp>
        <p:nvSpPr>
          <p:cNvPr id="5" name="Text 3">
            <a:extLst>
              <a:ext uri="{FF2B5EF4-FFF2-40B4-BE49-F238E27FC236}">
                <a16:creationId xmlns:a16="http://schemas.microsoft.com/office/drawing/2014/main" id="{E9EF90CE-E53A-58B5-65EE-D2C8D73CC4BC}"/>
              </a:ext>
            </a:extLst>
          </p:cNvPr>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a:extLst>
              <a:ext uri="{FF2B5EF4-FFF2-40B4-BE49-F238E27FC236}">
                <a16:creationId xmlns:a16="http://schemas.microsoft.com/office/drawing/2014/main" id="{DC38053C-5EE3-DE8A-BEDB-7C8E531126D7}"/>
              </a:ext>
            </a:extLst>
          </p:cNvPr>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Structured data has an explicit schema: rows are observations, columns are variables, cells are values.</a:t>
            </a:r>
            <a:endParaRPr lang="en-US" sz="1300" dirty="0"/>
          </a:p>
        </p:txBody>
      </p:sp>
      <p:sp>
        <p:nvSpPr>
          <p:cNvPr id="7" name="Shape 5">
            <a:extLst>
              <a:ext uri="{FF2B5EF4-FFF2-40B4-BE49-F238E27FC236}">
                <a16:creationId xmlns:a16="http://schemas.microsoft.com/office/drawing/2014/main" id="{7B0E8CED-8F21-E6BC-1FB4-E6642A864186}"/>
              </a:ext>
            </a:extLst>
          </p:cNvPr>
          <p:cNvSpPr/>
          <p:nvPr/>
        </p:nvSpPr>
        <p:spPr>
          <a:xfrm>
            <a:off x="658368" y="1444752"/>
            <a:ext cx="6492240" cy="4480560"/>
          </a:xfrm>
          <a:prstGeom prst="roundRect">
            <a:avLst>
              <a:gd name="adj" fmla="val 1020"/>
            </a:avLst>
          </a:prstGeom>
          <a:solidFill>
            <a:srgbClr val="FFFFFF"/>
          </a:solidFill>
          <a:ln w="10160">
            <a:solidFill>
              <a:srgbClr val="AEB8C5"/>
            </a:solidFill>
            <a:prstDash val="solid"/>
          </a:ln>
        </p:spPr>
      </p:sp>
      <p:sp>
        <p:nvSpPr>
          <p:cNvPr id="8" name="Shape 6">
            <a:extLst>
              <a:ext uri="{FF2B5EF4-FFF2-40B4-BE49-F238E27FC236}">
                <a16:creationId xmlns:a16="http://schemas.microsoft.com/office/drawing/2014/main" id="{94C07BB1-2B83-6650-E053-5370D2FF1C5D}"/>
              </a:ext>
            </a:extLst>
          </p:cNvPr>
          <p:cNvSpPr/>
          <p:nvPr/>
        </p:nvSpPr>
        <p:spPr>
          <a:xfrm>
            <a:off x="658368" y="1444752"/>
            <a:ext cx="6492240" cy="329184"/>
          </a:xfrm>
          <a:prstGeom prst="rect">
            <a:avLst/>
          </a:prstGeom>
          <a:solidFill>
            <a:srgbClr val="217346"/>
          </a:solidFill>
          <a:ln w="12700">
            <a:solidFill>
              <a:srgbClr val="217346"/>
            </a:solidFill>
            <a:prstDash val="solid"/>
          </a:ln>
        </p:spPr>
      </p:sp>
      <p:sp>
        <p:nvSpPr>
          <p:cNvPr id="9" name="Shape 7">
            <a:extLst>
              <a:ext uri="{FF2B5EF4-FFF2-40B4-BE49-F238E27FC236}">
                <a16:creationId xmlns:a16="http://schemas.microsoft.com/office/drawing/2014/main" id="{6923E903-1B60-ED91-4CEF-7306C1D5DFA5}"/>
              </a:ext>
            </a:extLst>
          </p:cNvPr>
          <p:cNvSpPr/>
          <p:nvPr/>
        </p:nvSpPr>
        <p:spPr>
          <a:xfrm>
            <a:off x="768096" y="1490472"/>
            <a:ext cx="237744" cy="237744"/>
          </a:xfrm>
          <a:prstGeom prst="roundRect">
            <a:avLst>
              <a:gd name="adj" fmla="val 15385"/>
            </a:avLst>
          </a:prstGeom>
          <a:solidFill>
            <a:srgbClr val="217346"/>
          </a:solidFill>
          <a:ln w="12700">
            <a:solidFill>
              <a:srgbClr val="217346"/>
            </a:solidFill>
            <a:prstDash val="solid"/>
          </a:ln>
        </p:spPr>
      </p:sp>
      <p:sp>
        <p:nvSpPr>
          <p:cNvPr id="10" name="Text 8">
            <a:extLst>
              <a:ext uri="{FF2B5EF4-FFF2-40B4-BE49-F238E27FC236}">
                <a16:creationId xmlns:a16="http://schemas.microsoft.com/office/drawing/2014/main" id="{5B393908-DD8A-74EA-9975-27910DAEDD6A}"/>
              </a:ext>
            </a:extLst>
          </p:cNvPr>
          <p:cNvSpPr/>
          <p:nvPr/>
        </p:nvSpPr>
        <p:spPr>
          <a:xfrm>
            <a:off x="768096" y="1499616"/>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a:extLst>
              <a:ext uri="{FF2B5EF4-FFF2-40B4-BE49-F238E27FC236}">
                <a16:creationId xmlns:a16="http://schemas.microsoft.com/office/drawing/2014/main" id="{966325A0-6AB3-9AB3-8F9F-D862EABC9163}"/>
              </a:ext>
            </a:extLst>
          </p:cNvPr>
          <p:cNvSpPr/>
          <p:nvPr/>
        </p:nvSpPr>
        <p:spPr>
          <a:xfrm>
            <a:off x="1078992" y="1517904"/>
            <a:ext cx="5961888" cy="182880"/>
          </a:xfrm>
          <a:prstGeom prst="rect">
            <a:avLst/>
          </a:prstGeom>
          <a:noFill/>
          <a:ln/>
        </p:spPr>
        <p:txBody>
          <a:bodyPr wrap="square" lIns="0" tIns="0" rIns="0" bIns="0" rtlCol="0" anchor="ctr"/>
          <a:lstStyle/>
          <a:p>
            <a:pPr marL="0" indent="0">
              <a:buNone/>
            </a:pPr>
            <a:r>
              <a:rPr lang="en-US" sz="950" b="1" dirty="0">
                <a:solidFill>
                  <a:srgbClr val="FFFFFF"/>
                </a:solidFill>
              </a:rPr>
              <a:t>Table1 · Customer snapshot</a:t>
            </a:r>
            <a:endParaRPr lang="en-US" sz="950" dirty="0"/>
          </a:p>
        </p:txBody>
      </p:sp>
      <p:sp>
        <p:nvSpPr>
          <p:cNvPr id="12" name="Shape 10">
            <a:extLst>
              <a:ext uri="{FF2B5EF4-FFF2-40B4-BE49-F238E27FC236}">
                <a16:creationId xmlns:a16="http://schemas.microsoft.com/office/drawing/2014/main" id="{0F6273A7-9E68-D195-79C5-F90CB1DF98E4}"/>
              </a:ext>
            </a:extLst>
          </p:cNvPr>
          <p:cNvSpPr/>
          <p:nvPr/>
        </p:nvSpPr>
        <p:spPr>
          <a:xfrm>
            <a:off x="713232" y="1828800"/>
            <a:ext cx="6382512" cy="292608"/>
          </a:xfrm>
          <a:prstGeom prst="rect">
            <a:avLst/>
          </a:prstGeom>
          <a:solidFill>
            <a:srgbClr val="FAFCFD"/>
          </a:solidFill>
          <a:ln w="6350">
            <a:solidFill>
              <a:srgbClr val="D8E0EA"/>
            </a:solidFill>
            <a:prstDash val="solid"/>
          </a:ln>
        </p:spPr>
      </p:sp>
      <p:sp>
        <p:nvSpPr>
          <p:cNvPr id="13" name="Text 11">
            <a:extLst>
              <a:ext uri="{FF2B5EF4-FFF2-40B4-BE49-F238E27FC236}">
                <a16:creationId xmlns:a16="http://schemas.microsoft.com/office/drawing/2014/main" id="{A8FF716C-B069-DE22-511C-CAF69DF36DD9}"/>
              </a:ext>
            </a:extLst>
          </p:cNvPr>
          <p:cNvSpPr/>
          <p:nvPr/>
        </p:nvSpPr>
        <p:spPr>
          <a:xfrm>
            <a:off x="768096" y="1892808"/>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a:extLst>
              <a:ext uri="{FF2B5EF4-FFF2-40B4-BE49-F238E27FC236}">
                <a16:creationId xmlns:a16="http://schemas.microsoft.com/office/drawing/2014/main" id="{5459EAE2-ECEE-36D4-8666-ECC7779CF726}"/>
              </a:ext>
            </a:extLst>
          </p:cNvPr>
          <p:cNvSpPr/>
          <p:nvPr/>
        </p:nvSpPr>
        <p:spPr>
          <a:xfrm>
            <a:off x="1024128" y="1883664"/>
            <a:ext cx="601675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=AVERAGE(Table1[Balance])</a:t>
            </a:r>
            <a:endParaRPr lang="en-US" sz="880" dirty="0"/>
          </a:p>
        </p:txBody>
      </p:sp>
      <p:sp>
        <p:nvSpPr>
          <p:cNvPr id="15" name="Shape 13">
            <a:extLst>
              <a:ext uri="{FF2B5EF4-FFF2-40B4-BE49-F238E27FC236}">
                <a16:creationId xmlns:a16="http://schemas.microsoft.com/office/drawing/2014/main" id="{83A53000-DE78-1A4C-31E9-60C6C92E628D}"/>
              </a:ext>
            </a:extLst>
          </p:cNvPr>
          <p:cNvSpPr/>
          <p:nvPr/>
        </p:nvSpPr>
        <p:spPr>
          <a:xfrm>
            <a:off x="722376" y="2194560"/>
            <a:ext cx="1272845" cy="609600"/>
          </a:xfrm>
          <a:prstGeom prst="rect">
            <a:avLst/>
          </a:prstGeom>
          <a:solidFill>
            <a:srgbClr val="E8F3EC"/>
          </a:solidFill>
          <a:ln w="5715">
            <a:solidFill>
              <a:srgbClr val="D8E0EA"/>
            </a:solidFill>
            <a:prstDash val="solid"/>
          </a:ln>
        </p:spPr>
      </p:sp>
      <p:sp>
        <p:nvSpPr>
          <p:cNvPr id="16" name="Text 14">
            <a:extLst>
              <a:ext uri="{FF2B5EF4-FFF2-40B4-BE49-F238E27FC236}">
                <a16:creationId xmlns:a16="http://schemas.microsoft.com/office/drawing/2014/main" id="{C36F256A-1FB9-61A5-3B17-6AB16DD4C746}"/>
              </a:ext>
            </a:extLst>
          </p:cNvPr>
          <p:cNvSpPr/>
          <p:nvPr/>
        </p:nvSpPr>
        <p:spPr>
          <a:xfrm>
            <a:off x="740664" y="2221992"/>
            <a:ext cx="1236269" cy="573024"/>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CustomerID</a:t>
            </a:r>
            <a:endParaRPr lang="en-US" sz="810" dirty="0"/>
          </a:p>
        </p:txBody>
      </p:sp>
      <p:sp>
        <p:nvSpPr>
          <p:cNvPr id="17" name="Shape 15">
            <a:extLst>
              <a:ext uri="{FF2B5EF4-FFF2-40B4-BE49-F238E27FC236}">
                <a16:creationId xmlns:a16="http://schemas.microsoft.com/office/drawing/2014/main" id="{BDAC0D85-0E00-43C1-1B74-0AF3BB473984}"/>
              </a:ext>
            </a:extLst>
          </p:cNvPr>
          <p:cNvSpPr/>
          <p:nvPr/>
        </p:nvSpPr>
        <p:spPr>
          <a:xfrm>
            <a:off x="1995221" y="2194560"/>
            <a:ext cx="1272845" cy="609600"/>
          </a:xfrm>
          <a:prstGeom prst="rect">
            <a:avLst/>
          </a:prstGeom>
          <a:solidFill>
            <a:srgbClr val="E8F3EC"/>
          </a:solidFill>
          <a:ln w="5715">
            <a:solidFill>
              <a:srgbClr val="D8E0EA"/>
            </a:solidFill>
            <a:prstDash val="solid"/>
          </a:ln>
        </p:spPr>
      </p:sp>
      <p:sp>
        <p:nvSpPr>
          <p:cNvPr id="18" name="Text 16">
            <a:extLst>
              <a:ext uri="{FF2B5EF4-FFF2-40B4-BE49-F238E27FC236}">
                <a16:creationId xmlns:a16="http://schemas.microsoft.com/office/drawing/2014/main" id="{BF7A73AE-A97D-BC63-C1E4-5C1357511AA9}"/>
              </a:ext>
            </a:extLst>
          </p:cNvPr>
          <p:cNvSpPr/>
          <p:nvPr/>
        </p:nvSpPr>
        <p:spPr>
          <a:xfrm>
            <a:off x="2013509" y="2221992"/>
            <a:ext cx="1236269" cy="573024"/>
          </a:xfrm>
          <a:prstGeom prst="rect">
            <a:avLst/>
          </a:prstGeom>
          <a:noFill/>
          <a:ln/>
        </p:spPr>
        <p:txBody>
          <a:bodyPr wrap="square" lIns="0" tIns="0" rIns="0" bIns="0" rtlCol="0" anchor="ctr">
            <a:normAutofit/>
          </a:bodyPr>
          <a:lstStyle/>
          <a:p>
            <a:pPr marL="0" indent="0">
              <a:buNone/>
            </a:pPr>
            <a:r>
              <a:rPr lang="en-US" sz="810" b="1" dirty="0">
                <a:solidFill>
                  <a:srgbClr val="0B1F33"/>
                </a:solidFill>
              </a:rPr>
              <a:t>Age</a:t>
            </a:r>
            <a:endParaRPr lang="en-US" sz="810" dirty="0"/>
          </a:p>
        </p:txBody>
      </p:sp>
      <p:sp>
        <p:nvSpPr>
          <p:cNvPr id="19" name="Shape 17">
            <a:extLst>
              <a:ext uri="{FF2B5EF4-FFF2-40B4-BE49-F238E27FC236}">
                <a16:creationId xmlns:a16="http://schemas.microsoft.com/office/drawing/2014/main" id="{603189C6-8B20-DAEB-BE77-F620C69C43C2}"/>
              </a:ext>
            </a:extLst>
          </p:cNvPr>
          <p:cNvSpPr/>
          <p:nvPr/>
        </p:nvSpPr>
        <p:spPr>
          <a:xfrm>
            <a:off x="3268066" y="2194560"/>
            <a:ext cx="1272845" cy="609600"/>
          </a:xfrm>
          <a:prstGeom prst="rect">
            <a:avLst/>
          </a:prstGeom>
          <a:solidFill>
            <a:srgbClr val="E8F3EC"/>
          </a:solidFill>
          <a:ln w="5715">
            <a:solidFill>
              <a:srgbClr val="D8E0EA"/>
            </a:solidFill>
            <a:prstDash val="solid"/>
          </a:ln>
        </p:spPr>
      </p:sp>
      <p:sp>
        <p:nvSpPr>
          <p:cNvPr id="20" name="Text 18">
            <a:extLst>
              <a:ext uri="{FF2B5EF4-FFF2-40B4-BE49-F238E27FC236}">
                <a16:creationId xmlns:a16="http://schemas.microsoft.com/office/drawing/2014/main" id="{4F1DE5F3-B60F-E8DC-B2B6-BF3E51431573}"/>
              </a:ext>
            </a:extLst>
          </p:cNvPr>
          <p:cNvSpPr/>
          <p:nvPr/>
        </p:nvSpPr>
        <p:spPr>
          <a:xfrm>
            <a:off x="3286354" y="2221992"/>
            <a:ext cx="1236269" cy="573024"/>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21" name="Shape 19">
            <a:extLst>
              <a:ext uri="{FF2B5EF4-FFF2-40B4-BE49-F238E27FC236}">
                <a16:creationId xmlns:a16="http://schemas.microsoft.com/office/drawing/2014/main" id="{7B68BC84-1512-2135-C095-32B6AC6272A1}"/>
              </a:ext>
            </a:extLst>
          </p:cNvPr>
          <p:cNvSpPr/>
          <p:nvPr/>
        </p:nvSpPr>
        <p:spPr>
          <a:xfrm>
            <a:off x="4540910" y="2194560"/>
            <a:ext cx="1272845" cy="609600"/>
          </a:xfrm>
          <a:prstGeom prst="rect">
            <a:avLst/>
          </a:prstGeom>
          <a:solidFill>
            <a:srgbClr val="E8F3EC"/>
          </a:solidFill>
          <a:ln w="5715">
            <a:solidFill>
              <a:srgbClr val="D8E0EA"/>
            </a:solidFill>
            <a:prstDash val="solid"/>
          </a:ln>
        </p:spPr>
      </p:sp>
      <p:sp>
        <p:nvSpPr>
          <p:cNvPr id="22" name="Text 20">
            <a:extLst>
              <a:ext uri="{FF2B5EF4-FFF2-40B4-BE49-F238E27FC236}">
                <a16:creationId xmlns:a16="http://schemas.microsoft.com/office/drawing/2014/main" id="{E0A22436-3559-91A9-F16D-A4AF70134D46}"/>
              </a:ext>
            </a:extLst>
          </p:cNvPr>
          <p:cNvSpPr/>
          <p:nvPr/>
        </p:nvSpPr>
        <p:spPr>
          <a:xfrm>
            <a:off x="4559198" y="2221992"/>
            <a:ext cx="1236269" cy="573024"/>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3" name="Shape 21">
            <a:extLst>
              <a:ext uri="{FF2B5EF4-FFF2-40B4-BE49-F238E27FC236}">
                <a16:creationId xmlns:a16="http://schemas.microsoft.com/office/drawing/2014/main" id="{29CA0D93-14AC-22D6-4F4B-90394BB27B2A}"/>
              </a:ext>
            </a:extLst>
          </p:cNvPr>
          <p:cNvSpPr/>
          <p:nvPr/>
        </p:nvSpPr>
        <p:spPr>
          <a:xfrm>
            <a:off x="5813755" y="2194560"/>
            <a:ext cx="1272845" cy="609600"/>
          </a:xfrm>
          <a:prstGeom prst="rect">
            <a:avLst/>
          </a:prstGeom>
          <a:solidFill>
            <a:srgbClr val="E8F3EC"/>
          </a:solidFill>
          <a:ln w="5715">
            <a:solidFill>
              <a:srgbClr val="D8E0EA"/>
            </a:solidFill>
            <a:prstDash val="solid"/>
          </a:ln>
        </p:spPr>
      </p:sp>
      <p:sp>
        <p:nvSpPr>
          <p:cNvPr id="24" name="Text 22">
            <a:extLst>
              <a:ext uri="{FF2B5EF4-FFF2-40B4-BE49-F238E27FC236}">
                <a16:creationId xmlns:a16="http://schemas.microsoft.com/office/drawing/2014/main" id="{E65041A0-B44A-D705-7C9E-6D7E3277F51F}"/>
              </a:ext>
            </a:extLst>
          </p:cNvPr>
          <p:cNvSpPr/>
          <p:nvPr/>
        </p:nvSpPr>
        <p:spPr>
          <a:xfrm>
            <a:off x="5832043" y="2221992"/>
            <a:ext cx="1236269" cy="573024"/>
          </a:xfrm>
          <a:prstGeom prst="rect">
            <a:avLst/>
          </a:prstGeom>
          <a:noFill/>
          <a:ln/>
        </p:spPr>
        <p:txBody>
          <a:bodyPr wrap="square" lIns="0" tIns="0" rIns="0" bIns="0" rtlCol="0" anchor="ctr">
            <a:normAutofit/>
          </a:bodyPr>
          <a:lstStyle/>
          <a:p>
            <a:pPr marL="0" indent="0">
              <a:buNone/>
            </a:pPr>
            <a:r>
              <a:rPr lang="en-US" sz="810" b="1" dirty="0">
                <a:solidFill>
                  <a:srgbClr val="0B1F33"/>
                </a:solidFill>
              </a:rPr>
              <a:t>Segment</a:t>
            </a:r>
            <a:endParaRPr lang="en-US" sz="810" dirty="0"/>
          </a:p>
        </p:txBody>
      </p:sp>
      <p:sp>
        <p:nvSpPr>
          <p:cNvPr id="25" name="Shape 23">
            <a:extLst>
              <a:ext uri="{FF2B5EF4-FFF2-40B4-BE49-F238E27FC236}">
                <a16:creationId xmlns:a16="http://schemas.microsoft.com/office/drawing/2014/main" id="{D6F84CD0-17F0-148E-BEC1-8DE78943EC0D}"/>
              </a:ext>
            </a:extLst>
          </p:cNvPr>
          <p:cNvSpPr/>
          <p:nvPr/>
        </p:nvSpPr>
        <p:spPr>
          <a:xfrm>
            <a:off x="722376" y="2804160"/>
            <a:ext cx="1272845" cy="609600"/>
          </a:xfrm>
          <a:prstGeom prst="rect">
            <a:avLst/>
          </a:prstGeom>
          <a:solidFill>
            <a:srgbClr val="FFFFFF"/>
          </a:solidFill>
          <a:ln w="5715">
            <a:solidFill>
              <a:srgbClr val="D8E0EA"/>
            </a:solidFill>
            <a:prstDash val="solid"/>
          </a:ln>
        </p:spPr>
      </p:sp>
      <p:sp>
        <p:nvSpPr>
          <p:cNvPr id="26" name="Text 24">
            <a:extLst>
              <a:ext uri="{FF2B5EF4-FFF2-40B4-BE49-F238E27FC236}">
                <a16:creationId xmlns:a16="http://schemas.microsoft.com/office/drawing/2014/main" id="{88F7B192-00DF-3572-27AF-B6032D9C40CA}"/>
              </a:ext>
            </a:extLst>
          </p:cNvPr>
          <p:cNvSpPr/>
          <p:nvPr/>
        </p:nvSpPr>
        <p:spPr>
          <a:xfrm>
            <a:off x="740664" y="28315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7" name="Shape 25">
            <a:extLst>
              <a:ext uri="{FF2B5EF4-FFF2-40B4-BE49-F238E27FC236}">
                <a16:creationId xmlns:a16="http://schemas.microsoft.com/office/drawing/2014/main" id="{DE88C215-122B-5284-FA36-0CAD72564308}"/>
              </a:ext>
            </a:extLst>
          </p:cNvPr>
          <p:cNvSpPr/>
          <p:nvPr/>
        </p:nvSpPr>
        <p:spPr>
          <a:xfrm>
            <a:off x="1995221" y="2804160"/>
            <a:ext cx="1272845" cy="609600"/>
          </a:xfrm>
          <a:prstGeom prst="rect">
            <a:avLst/>
          </a:prstGeom>
          <a:solidFill>
            <a:srgbClr val="FFFFFF"/>
          </a:solidFill>
          <a:ln w="5715">
            <a:solidFill>
              <a:srgbClr val="D8E0EA"/>
            </a:solidFill>
            <a:prstDash val="solid"/>
          </a:ln>
        </p:spPr>
      </p:sp>
      <p:sp>
        <p:nvSpPr>
          <p:cNvPr id="28" name="Text 26">
            <a:extLst>
              <a:ext uri="{FF2B5EF4-FFF2-40B4-BE49-F238E27FC236}">
                <a16:creationId xmlns:a16="http://schemas.microsoft.com/office/drawing/2014/main" id="{336FCEEE-1CBE-BAEA-1508-D26E32DB5145}"/>
              </a:ext>
            </a:extLst>
          </p:cNvPr>
          <p:cNvSpPr/>
          <p:nvPr/>
        </p:nvSpPr>
        <p:spPr>
          <a:xfrm>
            <a:off x="2013509" y="28315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42</a:t>
            </a:r>
            <a:endParaRPr lang="en-US" sz="780" dirty="0"/>
          </a:p>
        </p:txBody>
      </p:sp>
      <p:sp>
        <p:nvSpPr>
          <p:cNvPr id="29" name="Shape 27">
            <a:extLst>
              <a:ext uri="{FF2B5EF4-FFF2-40B4-BE49-F238E27FC236}">
                <a16:creationId xmlns:a16="http://schemas.microsoft.com/office/drawing/2014/main" id="{D2CA0835-F3EB-DE1D-A10C-F66D7641DFFD}"/>
              </a:ext>
            </a:extLst>
          </p:cNvPr>
          <p:cNvSpPr/>
          <p:nvPr/>
        </p:nvSpPr>
        <p:spPr>
          <a:xfrm>
            <a:off x="3268066" y="2804160"/>
            <a:ext cx="1272845" cy="609600"/>
          </a:xfrm>
          <a:prstGeom prst="rect">
            <a:avLst/>
          </a:prstGeom>
          <a:solidFill>
            <a:srgbClr val="FFFFFF"/>
          </a:solidFill>
          <a:ln w="5715">
            <a:solidFill>
              <a:srgbClr val="D8E0EA"/>
            </a:solidFill>
            <a:prstDash val="solid"/>
          </a:ln>
        </p:spPr>
      </p:sp>
      <p:sp>
        <p:nvSpPr>
          <p:cNvPr id="30" name="Text 28">
            <a:extLst>
              <a:ext uri="{FF2B5EF4-FFF2-40B4-BE49-F238E27FC236}">
                <a16:creationId xmlns:a16="http://schemas.microsoft.com/office/drawing/2014/main" id="{3510BD0C-8E45-9F5A-03EB-A2AAA37B2BB5}"/>
              </a:ext>
            </a:extLst>
          </p:cNvPr>
          <p:cNvSpPr/>
          <p:nvPr/>
        </p:nvSpPr>
        <p:spPr>
          <a:xfrm>
            <a:off x="3286354" y="28315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31" name="Shape 29">
            <a:extLst>
              <a:ext uri="{FF2B5EF4-FFF2-40B4-BE49-F238E27FC236}">
                <a16:creationId xmlns:a16="http://schemas.microsoft.com/office/drawing/2014/main" id="{036F5A91-D6C2-223F-3B01-796B0788F2E7}"/>
              </a:ext>
            </a:extLst>
          </p:cNvPr>
          <p:cNvSpPr/>
          <p:nvPr/>
        </p:nvSpPr>
        <p:spPr>
          <a:xfrm>
            <a:off x="4540910" y="2804160"/>
            <a:ext cx="1272845" cy="609600"/>
          </a:xfrm>
          <a:prstGeom prst="rect">
            <a:avLst/>
          </a:prstGeom>
          <a:solidFill>
            <a:srgbClr val="FFFFFF"/>
          </a:solidFill>
          <a:ln w="5715">
            <a:solidFill>
              <a:srgbClr val="D8E0EA"/>
            </a:solidFill>
            <a:prstDash val="solid"/>
          </a:ln>
        </p:spPr>
      </p:sp>
      <p:sp>
        <p:nvSpPr>
          <p:cNvPr id="32" name="Text 30">
            <a:extLst>
              <a:ext uri="{FF2B5EF4-FFF2-40B4-BE49-F238E27FC236}">
                <a16:creationId xmlns:a16="http://schemas.microsoft.com/office/drawing/2014/main" id="{839AFBD8-DD24-6A12-56D4-A55432664BFB}"/>
              </a:ext>
            </a:extLst>
          </p:cNvPr>
          <p:cNvSpPr/>
          <p:nvPr/>
        </p:nvSpPr>
        <p:spPr>
          <a:xfrm>
            <a:off x="4559198" y="28315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33" name="Shape 31">
            <a:extLst>
              <a:ext uri="{FF2B5EF4-FFF2-40B4-BE49-F238E27FC236}">
                <a16:creationId xmlns:a16="http://schemas.microsoft.com/office/drawing/2014/main" id="{1FA66BA0-0809-7C7C-5BB2-80A4A6D100E2}"/>
              </a:ext>
            </a:extLst>
          </p:cNvPr>
          <p:cNvSpPr/>
          <p:nvPr/>
        </p:nvSpPr>
        <p:spPr>
          <a:xfrm>
            <a:off x="5813755" y="2804160"/>
            <a:ext cx="1272845" cy="609600"/>
          </a:xfrm>
          <a:prstGeom prst="rect">
            <a:avLst/>
          </a:prstGeom>
          <a:solidFill>
            <a:srgbClr val="FFFFFF"/>
          </a:solidFill>
          <a:ln w="5715">
            <a:solidFill>
              <a:srgbClr val="D8E0EA"/>
            </a:solidFill>
            <a:prstDash val="solid"/>
          </a:ln>
        </p:spPr>
      </p:sp>
      <p:sp>
        <p:nvSpPr>
          <p:cNvPr id="34" name="Text 32">
            <a:extLst>
              <a:ext uri="{FF2B5EF4-FFF2-40B4-BE49-F238E27FC236}">
                <a16:creationId xmlns:a16="http://schemas.microsoft.com/office/drawing/2014/main" id="{23EF99A4-3740-0ED0-B7EA-D2280D1CB363}"/>
              </a:ext>
            </a:extLst>
          </p:cNvPr>
          <p:cNvSpPr/>
          <p:nvPr/>
        </p:nvSpPr>
        <p:spPr>
          <a:xfrm>
            <a:off x="5832043" y="28315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35" name="Shape 33">
            <a:extLst>
              <a:ext uri="{FF2B5EF4-FFF2-40B4-BE49-F238E27FC236}">
                <a16:creationId xmlns:a16="http://schemas.microsoft.com/office/drawing/2014/main" id="{C69BE535-666D-9ABD-C22F-C3EBDB90534C}"/>
              </a:ext>
            </a:extLst>
          </p:cNvPr>
          <p:cNvSpPr/>
          <p:nvPr/>
        </p:nvSpPr>
        <p:spPr>
          <a:xfrm>
            <a:off x="722376" y="3413760"/>
            <a:ext cx="1272845" cy="609600"/>
          </a:xfrm>
          <a:prstGeom prst="rect">
            <a:avLst/>
          </a:prstGeom>
          <a:solidFill>
            <a:srgbClr val="FFFFFF"/>
          </a:solidFill>
          <a:ln w="5715">
            <a:solidFill>
              <a:srgbClr val="D8E0EA"/>
            </a:solidFill>
            <a:prstDash val="solid"/>
          </a:ln>
        </p:spPr>
      </p:sp>
      <p:sp>
        <p:nvSpPr>
          <p:cNvPr id="36" name="Text 34">
            <a:extLst>
              <a:ext uri="{FF2B5EF4-FFF2-40B4-BE49-F238E27FC236}">
                <a16:creationId xmlns:a16="http://schemas.microsoft.com/office/drawing/2014/main" id="{6A0188A8-AB79-CE14-8F70-B32A8CFDBC11}"/>
              </a:ext>
            </a:extLst>
          </p:cNvPr>
          <p:cNvSpPr/>
          <p:nvPr/>
        </p:nvSpPr>
        <p:spPr>
          <a:xfrm>
            <a:off x="740664" y="34411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37" name="Shape 35">
            <a:extLst>
              <a:ext uri="{FF2B5EF4-FFF2-40B4-BE49-F238E27FC236}">
                <a16:creationId xmlns:a16="http://schemas.microsoft.com/office/drawing/2014/main" id="{64E1908A-4A91-FFF8-D4D5-A6090F9CE7CA}"/>
              </a:ext>
            </a:extLst>
          </p:cNvPr>
          <p:cNvSpPr/>
          <p:nvPr/>
        </p:nvSpPr>
        <p:spPr>
          <a:xfrm>
            <a:off x="1995221" y="3413760"/>
            <a:ext cx="1272845" cy="609600"/>
          </a:xfrm>
          <a:prstGeom prst="rect">
            <a:avLst/>
          </a:prstGeom>
          <a:solidFill>
            <a:srgbClr val="FFFFFF"/>
          </a:solidFill>
          <a:ln w="5715">
            <a:solidFill>
              <a:srgbClr val="D8E0EA"/>
            </a:solidFill>
            <a:prstDash val="solid"/>
          </a:ln>
        </p:spPr>
      </p:sp>
      <p:sp>
        <p:nvSpPr>
          <p:cNvPr id="38" name="Text 36">
            <a:extLst>
              <a:ext uri="{FF2B5EF4-FFF2-40B4-BE49-F238E27FC236}">
                <a16:creationId xmlns:a16="http://schemas.microsoft.com/office/drawing/2014/main" id="{34D47CEB-28AD-19C1-1F9E-C16CF350160D}"/>
              </a:ext>
            </a:extLst>
          </p:cNvPr>
          <p:cNvSpPr/>
          <p:nvPr/>
        </p:nvSpPr>
        <p:spPr>
          <a:xfrm>
            <a:off x="2013509" y="34411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35</a:t>
            </a:r>
            <a:endParaRPr lang="en-US" sz="780" dirty="0"/>
          </a:p>
        </p:txBody>
      </p:sp>
      <p:sp>
        <p:nvSpPr>
          <p:cNvPr id="39" name="Shape 37">
            <a:extLst>
              <a:ext uri="{FF2B5EF4-FFF2-40B4-BE49-F238E27FC236}">
                <a16:creationId xmlns:a16="http://schemas.microsoft.com/office/drawing/2014/main" id="{792400DC-26D7-BCF9-33B4-554F78CCD156}"/>
              </a:ext>
            </a:extLst>
          </p:cNvPr>
          <p:cNvSpPr/>
          <p:nvPr/>
        </p:nvSpPr>
        <p:spPr>
          <a:xfrm>
            <a:off x="3268066" y="3413760"/>
            <a:ext cx="1272845" cy="609600"/>
          </a:xfrm>
          <a:prstGeom prst="rect">
            <a:avLst/>
          </a:prstGeom>
          <a:solidFill>
            <a:srgbClr val="FFFFFF"/>
          </a:solidFill>
          <a:ln w="5715">
            <a:solidFill>
              <a:srgbClr val="D8E0EA"/>
            </a:solidFill>
            <a:prstDash val="solid"/>
          </a:ln>
        </p:spPr>
      </p:sp>
      <p:sp>
        <p:nvSpPr>
          <p:cNvPr id="40" name="Text 38">
            <a:extLst>
              <a:ext uri="{FF2B5EF4-FFF2-40B4-BE49-F238E27FC236}">
                <a16:creationId xmlns:a16="http://schemas.microsoft.com/office/drawing/2014/main" id="{4E73E8DC-AF44-BF9A-8677-3A8D8C1EFAAD}"/>
              </a:ext>
            </a:extLst>
          </p:cNvPr>
          <p:cNvSpPr/>
          <p:nvPr/>
        </p:nvSpPr>
        <p:spPr>
          <a:xfrm>
            <a:off x="3286354" y="34411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41" name="Shape 39">
            <a:extLst>
              <a:ext uri="{FF2B5EF4-FFF2-40B4-BE49-F238E27FC236}">
                <a16:creationId xmlns:a16="http://schemas.microsoft.com/office/drawing/2014/main" id="{7A32B518-4D45-560A-6780-D0680C077565}"/>
              </a:ext>
            </a:extLst>
          </p:cNvPr>
          <p:cNvSpPr/>
          <p:nvPr/>
        </p:nvSpPr>
        <p:spPr>
          <a:xfrm>
            <a:off x="4540910" y="3413760"/>
            <a:ext cx="1272845" cy="609600"/>
          </a:xfrm>
          <a:prstGeom prst="rect">
            <a:avLst/>
          </a:prstGeom>
          <a:solidFill>
            <a:srgbClr val="FFFFFF"/>
          </a:solidFill>
          <a:ln w="5715">
            <a:solidFill>
              <a:srgbClr val="D8E0EA"/>
            </a:solidFill>
            <a:prstDash val="solid"/>
          </a:ln>
        </p:spPr>
      </p:sp>
      <p:sp>
        <p:nvSpPr>
          <p:cNvPr id="42" name="Text 40">
            <a:extLst>
              <a:ext uri="{FF2B5EF4-FFF2-40B4-BE49-F238E27FC236}">
                <a16:creationId xmlns:a16="http://schemas.microsoft.com/office/drawing/2014/main" id="{05E9D6A3-8973-E6E0-CE88-04693886615B}"/>
              </a:ext>
            </a:extLst>
          </p:cNvPr>
          <p:cNvSpPr/>
          <p:nvPr/>
        </p:nvSpPr>
        <p:spPr>
          <a:xfrm>
            <a:off x="4559198" y="34411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43" name="Shape 41">
            <a:extLst>
              <a:ext uri="{FF2B5EF4-FFF2-40B4-BE49-F238E27FC236}">
                <a16:creationId xmlns:a16="http://schemas.microsoft.com/office/drawing/2014/main" id="{BFB05B37-3655-4600-0AD0-A9C238CDD298}"/>
              </a:ext>
            </a:extLst>
          </p:cNvPr>
          <p:cNvSpPr/>
          <p:nvPr/>
        </p:nvSpPr>
        <p:spPr>
          <a:xfrm>
            <a:off x="5813755" y="3413760"/>
            <a:ext cx="1272845" cy="609600"/>
          </a:xfrm>
          <a:prstGeom prst="rect">
            <a:avLst/>
          </a:prstGeom>
          <a:solidFill>
            <a:srgbClr val="FFFFFF"/>
          </a:solidFill>
          <a:ln w="5715">
            <a:solidFill>
              <a:srgbClr val="D8E0EA"/>
            </a:solidFill>
            <a:prstDash val="solid"/>
          </a:ln>
        </p:spPr>
      </p:sp>
      <p:sp>
        <p:nvSpPr>
          <p:cNvPr id="44" name="Text 42">
            <a:extLst>
              <a:ext uri="{FF2B5EF4-FFF2-40B4-BE49-F238E27FC236}">
                <a16:creationId xmlns:a16="http://schemas.microsoft.com/office/drawing/2014/main" id="{20383F9A-C72F-CE45-0EF7-64A87D9B96BF}"/>
              </a:ext>
            </a:extLst>
          </p:cNvPr>
          <p:cNvSpPr/>
          <p:nvPr/>
        </p:nvSpPr>
        <p:spPr>
          <a:xfrm>
            <a:off x="5832043" y="34411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45" name="Shape 43">
            <a:extLst>
              <a:ext uri="{FF2B5EF4-FFF2-40B4-BE49-F238E27FC236}">
                <a16:creationId xmlns:a16="http://schemas.microsoft.com/office/drawing/2014/main" id="{A1468DEA-4D22-1A39-4264-DD87BAC73163}"/>
              </a:ext>
            </a:extLst>
          </p:cNvPr>
          <p:cNvSpPr/>
          <p:nvPr/>
        </p:nvSpPr>
        <p:spPr>
          <a:xfrm>
            <a:off x="722376" y="4023360"/>
            <a:ext cx="1272845" cy="609600"/>
          </a:xfrm>
          <a:prstGeom prst="rect">
            <a:avLst/>
          </a:prstGeom>
          <a:solidFill>
            <a:srgbClr val="FFFFFF"/>
          </a:solidFill>
          <a:ln w="5715">
            <a:solidFill>
              <a:srgbClr val="D8E0EA"/>
            </a:solidFill>
            <a:prstDash val="solid"/>
          </a:ln>
        </p:spPr>
      </p:sp>
      <p:sp>
        <p:nvSpPr>
          <p:cNvPr id="46" name="Text 44">
            <a:extLst>
              <a:ext uri="{FF2B5EF4-FFF2-40B4-BE49-F238E27FC236}">
                <a16:creationId xmlns:a16="http://schemas.microsoft.com/office/drawing/2014/main" id="{6ADF944A-FA7E-4428-32B1-6BCFE484B50B}"/>
              </a:ext>
            </a:extLst>
          </p:cNvPr>
          <p:cNvSpPr/>
          <p:nvPr/>
        </p:nvSpPr>
        <p:spPr>
          <a:xfrm>
            <a:off x="740664" y="40507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47" name="Shape 45">
            <a:extLst>
              <a:ext uri="{FF2B5EF4-FFF2-40B4-BE49-F238E27FC236}">
                <a16:creationId xmlns:a16="http://schemas.microsoft.com/office/drawing/2014/main" id="{E117447C-AEC2-B44F-206E-D6CE6C5787D6}"/>
              </a:ext>
            </a:extLst>
          </p:cNvPr>
          <p:cNvSpPr/>
          <p:nvPr/>
        </p:nvSpPr>
        <p:spPr>
          <a:xfrm>
            <a:off x="1995221" y="4023360"/>
            <a:ext cx="1272845" cy="609600"/>
          </a:xfrm>
          <a:prstGeom prst="rect">
            <a:avLst/>
          </a:prstGeom>
          <a:solidFill>
            <a:srgbClr val="FFFFFF"/>
          </a:solidFill>
          <a:ln w="5715">
            <a:solidFill>
              <a:srgbClr val="D8E0EA"/>
            </a:solidFill>
            <a:prstDash val="solid"/>
          </a:ln>
        </p:spPr>
      </p:sp>
      <p:sp>
        <p:nvSpPr>
          <p:cNvPr id="48" name="Text 46">
            <a:extLst>
              <a:ext uri="{FF2B5EF4-FFF2-40B4-BE49-F238E27FC236}">
                <a16:creationId xmlns:a16="http://schemas.microsoft.com/office/drawing/2014/main" id="{8C669636-A24F-75CB-0E37-D758975C0A21}"/>
              </a:ext>
            </a:extLst>
          </p:cNvPr>
          <p:cNvSpPr/>
          <p:nvPr/>
        </p:nvSpPr>
        <p:spPr>
          <a:xfrm>
            <a:off x="2013509" y="40507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61</a:t>
            </a:r>
            <a:endParaRPr lang="en-US" sz="780" dirty="0"/>
          </a:p>
        </p:txBody>
      </p:sp>
      <p:sp>
        <p:nvSpPr>
          <p:cNvPr id="49" name="Shape 47">
            <a:extLst>
              <a:ext uri="{FF2B5EF4-FFF2-40B4-BE49-F238E27FC236}">
                <a16:creationId xmlns:a16="http://schemas.microsoft.com/office/drawing/2014/main" id="{B6AB2BF8-F22C-3063-C44A-6C82709D4D8F}"/>
              </a:ext>
            </a:extLst>
          </p:cNvPr>
          <p:cNvSpPr/>
          <p:nvPr/>
        </p:nvSpPr>
        <p:spPr>
          <a:xfrm>
            <a:off x="3268066" y="4023360"/>
            <a:ext cx="1272845" cy="609600"/>
          </a:xfrm>
          <a:prstGeom prst="rect">
            <a:avLst/>
          </a:prstGeom>
          <a:solidFill>
            <a:srgbClr val="FFFFFF"/>
          </a:solidFill>
          <a:ln w="5715">
            <a:solidFill>
              <a:srgbClr val="D8E0EA"/>
            </a:solidFill>
            <a:prstDash val="solid"/>
          </a:ln>
        </p:spPr>
      </p:sp>
      <p:sp>
        <p:nvSpPr>
          <p:cNvPr id="50" name="Text 48">
            <a:extLst>
              <a:ext uri="{FF2B5EF4-FFF2-40B4-BE49-F238E27FC236}">
                <a16:creationId xmlns:a16="http://schemas.microsoft.com/office/drawing/2014/main" id="{C63C2468-0420-8F59-2359-7A6F4C5ABFE4}"/>
              </a:ext>
            </a:extLst>
          </p:cNvPr>
          <p:cNvSpPr/>
          <p:nvPr/>
        </p:nvSpPr>
        <p:spPr>
          <a:xfrm>
            <a:off x="3286354" y="40507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92,000</a:t>
            </a:r>
            <a:endParaRPr lang="en-US" sz="780" dirty="0"/>
          </a:p>
        </p:txBody>
      </p:sp>
      <p:sp>
        <p:nvSpPr>
          <p:cNvPr id="51" name="Shape 49">
            <a:extLst>
              <a:ext uri="{FF2B5EF4-FFF2-40B4-BE49-F238E27FC236}">
                <a16:creationId xmlns:a16="http://schemas.microsoft.com/office/drawing/2014/main" id="{AFB5C536-8F10-CD6D-E604-72B11435584E}"/>
              </a:ext>
            </a:extLst>
          </p:cNvPr>
          <p:cNvSpPr/>
          <p:nvPr/>
        </p:nvSpPr>
        <p:spPr>
          <a:xfrm>
            <a:off x="4540910" y="4023360"/>
            <a:ext cx="1272845" cy="609600"/>
          </a:xfrm>
          <a:prstGeom prst="rect">
            <a:avLst/>
          </a:prstGeom>
          <a:solidFill>
            <a:srgbClr val="FFFFFF"/>
          </a:solidFill>
          <a:ln w="5715">
            <a:solidFill>
              <a:srgbClr val="D8E0EA"/>
            </a:solidFill>
            <a:prstDash val="solid"/>
          </a:ln>
        </p:spPr>
      </p:sp>
      <p:sp>
        <p:nvSpPr>
          <p:cNvPr id="52" name="Text 50">
            <a:extLst>
              <a:ext uri="{FF2B5EF4-FFF2-40B4-BE49-F238E27FC236}">
                <a16:creationId xmlns:a16="http://schemas.microsoft.com/office/drawing/2014/main" id="{1755DC05-C4EA-E634-EBFE-8D680BEADB13}"/>
              </a:ext>
            </a:extLst>
          </p:cNvPr>
          <p:cNvSpPr/>
          <p:nvPr/>
        </p:nvSpPr>
        <p:spPr>
          <a:xfrm>
            <a:off x="4559198" y="40507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53" name="Shape 51">
            <a:extLst>
              <a:ext uri="{FF2B5EF4-FFF2-40B4-BE49-F238E27FC236}">
                <a16:creationId xmlns:a16="http://schemas.microsoft.com/office/drawing/2014/main" id="{B40EDCF3-FA5A-2B42-0689-3183AEA20077}"/>
              </a:ext>
            </a:extLst>
          </p:cNvPr>
          <p:cNvSpPr/>
          <p:nvPr/>
        </p:nvSpPr>
        <p:spPr>
          <a:xfrm>
            <a:off x="5813755" y="4023360"/>
            <a:ext cx="1272845" cy="609600"/>
          </a:xfrm>
          <a:prstGeom prst="rect">
            <a:avLst/>
          </a:prstGeom>
          <a:solidFill>
            <a:srgbClr val="FFFFFF"/>
          </a:solidFill>
          <a:ln w="5715">
            <a:solidFill>
              <a:srgbClr val="D8E0EA"/>
            </a:solidFill>
            <a:prstDash val="solid"/>
          </a:ln>
        </p:spPr>
      </p:sp>
      <p:sp>
        <p:nvSpPr>
          <p:cNvPr id="54" name="Text 52">
            <a:extLst>
              <a:ext uri="{FF2B5EF4-FFF2-40B4-BE49-F238E27FC236}">
                <a16:creationId xmlns:a16="http://schemas.microsoft.com/office/drawing/2014/main" id="{7ED63F8C-309C-8F7C-EA3A-4581D8757437}"/>
              </a:ext>
            </a:extLst>
          </p:cNvPr>
          <p:cNvSpPr/>
          <p:nvPr/>
        </p:nvSpPr>
        <p:spPr>
          <a:xfrm>
            <a:off x="5832043" y="40507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55" name="Shape 53">
            <a:extLst>
              <a:ext uri="{FF2B5EF4-FFF2-40B4-BE49-F238E27FC236}">
                <a16:creationId xmlns:a16="http://schemas.microsoft.com/office/drawing/2014/main" id="{4CF89181-3DDA-604F-86CE-4D19C43E92F2}"/>
              </a:ext>
            </a:extLst>
          </p:cNvPr>
          <p:cNvSpPr/>
          <p:nvPr/>
        </p:nvSpPr>
        <p:spPr>
          <a:xfrm>
            <a:off x="722376" y="4632960"/>
            <a:ext cx="1272845" cy="609600"/>
          </a:xfrm>
          <a:prstGeom prst="rect">
            <a:avLst/>
          </a:prstGeom>
          <a:solidFill>
            <a:srgbClr val="FFFFFF"/>
          </a:solidFill>
          <a:ln w="5715">
            <a:solidFill>
              <a:srgbClr val="D8E0EA"/>
            </a:solidFill>
            <a:prstDash val="solid"/>
          </a:ln>
        </p:spPr>
      </p:sp>
      <p:sp>
        <p:nvSpPr>
          <p:cNvPr id="56" name="Text 54">
            <a:extLst>
              <a:ext uri="{FF2B5EF4-FFF2-40B4-BE49-F238E27FC236}">
                <a16:creationId xmlns:a16="http://schemas.microsoft.com/office/drawing/2014/main" id="{0C306E23-9898-EEE1-D546-296642EE9C7A}"/>
              </a:ext>
            </a:extLst>
          </p:cNvPr>
          <p:cNvSpPr/>
          <p:nvPr/>
        </p:nvSpPr>
        <p:spPr>
          <a:xfrm>
            <a:off x="740664" y="46603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57" name="Shape 55">
            <a:extLst>
              <a:ext uri="{FF2B5EF4-FFF2-40B4-BE49-F238E27FC236}">
                <a16:creationId xmlns:a16="http://schemas.microsoft.com/office/drawing/2014/main" id="{3E9DB46D-6F94-5D52-29BD-A47E6E8F735B}"/>
              </a:ext>
            </a:extLst>
          </p:cNvPr>
          <p:cNvSpPr/>
          <p:nvPr/>
        </p:nvSpPr>
        <p:spPr>
          <a:xfrm>
            <a:off x="1995221" y="4632960"/>
            <a:ext cx="1272845" cy="609600"/>
          </a:xfrm>
          <a:prstGeom prst="rect">
            <a:avLst/>
          </a:prstGeom>
          <a:solidFill>
            <a:srgbClr val="FFFFFF"/>
          </a:solidFill>
          <a:ln w="5715">
            <a:solidFill>
              <a:srgbClr val="D8E0EA"/>
            </a:solidFill>
            <a:prstDash val="solid"/>
          </a:ln>
        </p:spPr>
      </p:sp>
      <p:sp>
        <p:nvSpPr>
          <p:cNvPr id="58" name="Text 56">
            <a:extLst>
              <a:ext uri="{FF2B5EF4-FFF2-40B4-BE49-F238E27FC236}">
                <a16:creationId xmlns:a16="http://schemas.microsoft.com/office/drawing/2014/main" id="{11AC7AF5-4EE0-4DA3-40BC-C8182932D143}"/>
              </a:ext>
            </a:extLst>
          </p:cNvPr>
          <p:cNvSpPr/>
          <p:nvPr/>
        </p:nvSpPr>
        <p:spPr>
          <a:xfrm>
            <a:off x="2013509" y="46603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29</a:t>
            </a:r>
            <a:endParaRPr lang="en-US" sz="780" dirty="0"/>
          </a:p>
        </p:txBody>
      </p:sp>
      <p:sp>
        <p:nvSpPr>
          <p:cNvPr id="59" name="Shape 57">
            <a:extLst>
              <a:ext uri="{FF2B5EF4-FFF2-40B4-BE49-F238E27FC236}">
                <a16:creationId xmlns:a16="http://schemas.microsoft.com/office/drawing/2014/main" id="{04604BE7-26A5-96A0-E3CC-3B1567F6760A}"/>
              </a:ext>
            </a:extLst>
          </p:cNvPr>
          <p:cNvSpPr/>
          <p:nvPr/>
        </p:nvSpPr>
        <p:spPr>
          <a:xfrm>
            <a:off x="3268066" y="4632960"/>
            <a:ext cx="1272845" cy="609600"/>
          </a:xfrm>
          <a:prstGeom prst="rect">
            <a:avLst/>
          </a:prstGeom>
          <a:solidFill>
            <a:srgbClr val="FDECEC"/>
          </a:solidFill>
          <a:ln w="5715">
            <a:solidFill>
              <a:srgbClr val="D8E0EA"/>
            </a:solidFill>
            <a:prstDash val="solid"/>
          </a:ln>
        </p:spPr>
      </p:sp>
      <p:sp>
        <p:nvSpPr>
          <p:cNvPr id="60" name="Text 58">
            <a:extLst>
              <a:ext uri="{FF2B5EF4-FFF2-40B4-BE49-F238E27FC236}">
                <a16:creationId xmlns:a16="http://schemas.microsoft.com/office/drawing/2014/main" id="{5BEF457A-3A6C-439B-29CB-D5F849F909C3}"/>
              </a:ext>
            </a:extLst>
          </p:cNvPr>
          <p:cNvSpPr/>
          <p:nvPr/>
        </p:nvSpPr>
        <p:spPr>
          <a:xfrm>
            <a:off x="3286354" y="46603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a:t>
            </a:r>
            <a:endParaRPr lang="en-US" sz="780" dirty="0"/>
          </a:p>
        </p:txBody>
      </p:sp>
      <p:sp>
        <p:nvSpPr>
          <p:cNvPr id="61" name="Shape 59">
            <a:extLst>
              <a:ext uri="{FF2B5EF4-FFF2-40B4-BE49-F238E27FC236}">
                <a16:creationId xmlns:a16="http://schemas.microsoft.com/office/drawing/2014/main" id="{9A5542DA-B97F-7E13-F026-7A19753DDFBA}"/>
              </a:ext>
            </a:extLst>
          </p:cNvPr>
          <p:cNvSpPr/>
          <p:nvPr/>
        </p:nvSpPr>
        <p:spPr>
          <a:xfrm>
            <a:off x="4540910" y="4632960"/>
            <a:ext cx="1272845" cy="609600"/>
          </a:xfrm>
          <a:prstGeom prst="rect">
            <a:avLst/>
          </a:prstGeom>
          <a:solidFill>
            <a:srgbClr val="FFFFFF"/>
          </a:solidFill>
          <a:ln w="5715">
            <a:solidFill>
              <a:srgbClr val="D8E0EA"/>
            </a:solidFill>
            <a:prstDash val="solid"/>
          </a:ln>
        </p:spPr>
      </p:sp>
      <p:sp>
        <p:nvSpPr>
          <p:cNvPr id="62" name="Text 60">
            <a:extLst>
              <a:ext uri="{FF2B5EF4-FFF2-40B4-BE49-F238E27FC236}">
                <a16:creationId xmlns:a16="http://schemas.microsoft.com/office/drawing/2014/main" id="{20F5F5FC-5D15-004A-8DAF-ADF18404726F}"/>
              </a:ext>
            </a:extLst>
          </p:cNvPr>
          <p:cNvSpPr/>
          <p:nvPr/>
        </p:nvSpPr>
        <p:spPr>
          <a:xfrm>
            <a:off x="4559198" y="46603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3,200</a:t>
            </a:r>
            <a:endParaRPr lang="en-US" sz="780" dirty="0"/>
          </a:p>
        </p:txBody>
      </p:sp>
      <p:sp>
        <p:nvSpPr>
          <p:cNvPr id="63" name="Shape 61">
            <a:extLst>
              <a:ext uri="{FF2B5EF4-FFF2-40B4-BE49-F238E27FC236}">
                <a16:creationId xmlns:a16="http://schemas.microsoft.com/office/drawing/2014/main" id="{84FF9928-7909-029F-45CF-19A5824F0630}"/>
              </a:ext>
            </a:extLst>
          </p:cNvPr>
          <p:cNvSpPr/>
          <p:nvPr/>
        </p:nvSpPr>
        <p:spPr>
          <a:xfrm>
            <a:off x="5813755" y="4632960"/>
            <a:ext cx="1272845" cy="609600"/>
          </a:xfrm>
          <a:prstGeom prst="rect">
            <a:avLst/>
          </a:prstGeom>
          <a:solidFill>
            <a:srgbClr val="FFFFFF"/>
          </a:solidFill>
          <a:ln w="5715">
            <a:solidFill>
              <a:srgbClr val="D8E0EA"/>
            </a:solidFill>
            <a:prstDash val="solid"/>
          </a:ln>
        </p:spPr>
      </p:sp>
      <p:sp>
        <p:nvSpPr>
          <p:cNvPr id="64" name="Text 62">
            <a:extLst>
              <a:ext uri="{FF2B5EF4-FFF2-40B4-BE49-F238E27FC236}">
                <a16:creationId xmlns:a16="http://schemas.microsoft.com/office/drawing/2014/main" id="{84991741-6BD5-2AC3-115B-C31C84698675}"/>
              </a:ext>
            </a:extLst>
          </p:cNvPr>
          <p:cNvSpPr/>
          <p:nvPr/>
        </p:nvSpPr>
        <p:spPr>
          <a:xfrm>
            <a:off x="5832043" y="46603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65" name="Shape 63">
            <a:extLst>
              <a:ext uri="{FF2B5EF4-FFF2-40B4-BE49-F238E27FC236}">
                <a16:creationId xmlns:a16="http://schemas.microsoft.com/office/drawing/2014/main" id="{9EB170EC-4BFC-B991-69D2-92BA80A8D758}"/>
              </a:ext>
            </a:extLst>
          </p:cNvPr>
          <p:cNvSpPr/>
          <p:nvPr/>
        </p:nvSpPr>
        <p:spPr>
          <a:xfrm>
            <a:off x="722376" y="5242560"/>
            <a:ext cx="1272845" cy="609600"/>
          </a:xfrm>
          <a:prstGeom prst="rect">
            <a:avLst/>
          </a:prstGeom>
          <a:solidFill>
            <a:srgbClr val="FFFFFF"/>
          </a:solidFill>
          <a:ln w="5715">
            <a:solidFill>
              <a:srgbClr val="D8E0EA"/>
            </a:solidFill>
            <a:prstDash val="solid"/>
          </a:ln>
        </p:spPr>
      </p:sp>
      <p:sp>
        <p:nvSpPr>
          <p:cNvPr id="66" name="Text 64">
            <a:extLst>
              <a:ext uri="{FF2B5EF4-FFF2-40B4-BE49-F238E27FC236}">
                <a16:creationId xmlns:a16="http://schemas.microsoft.com/office/drawing/2014/main" id="{0E655A9B-C1CA-223B-4434-12C2D2268FDA}"/>
              </a:ext>
            </a:extLst>
          </p:cNvPr>
          <p:cNvSpPr/>
          <p:nvPr/>
        </p:nvSpPr>
        <p:spPr>
          <a:xfrm>
            <a:off x="740664" y="52699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67" name="Shape 65">
            <a:extLst>
              <a:ext uri="{FF2B5EF4-FFF2-40B4-BE49-F238E27FC236}">
                <a16:creationId xmlns:a16="http://schemas.microsoft.com/office/drawing/2014/main" id="{D74EBDDC-8E81-5B51-3A65-DFDCA6C5BBE4}"/>
              </a:ext>
            </a:extLst>
          </p:cNvPr>
          <p:cNvSpPr/>
          <p:nvPr/>
        </p:nvSpPr>
        <p:spPr>
          <a:xfrm>
            <a:off x="1995221" y="5242560"/>
            <a:ext cx="1272845" cy="609600"/>
          </a:xfrm>
          <a:prstGeom prst="rect">
            <a:avLst/>
          </a:prstGeom>
          <a:solidFill>
            <a:srgbClr val="FFFFFF"/>
          </a:solidFill>
          <a:ln w="5715">
            <a:solidFill>
              <a:srgbClr val="D8E0EA"/>
            </a:solidFill>
            <a:prstDash val="solid"/>
          </a:ln>
        </p:spPr>
      </p:sp>
      <p:sp>
        <p:nvSpPr>
          <p:cNvPr id="68" name="Text 66">
            <a:extLst>
              <a:ext uri="{FF2B5EF4-FFF2-40B4-BE49-F238E27FC236}">
                <a16:creationId xmlns:a16="http://schemas.microsoft.com/office/drawing/2014/main" id="{BE785BAF-7842-8E10-6708-57705D67E792}"/>
              </a:ext>
            </a:extLst>
          </p:cNvPr>
          <p:cNvSpPr/>
          <p:nvPr/>
        </p:nvSpPr>
        <p:spPr>
          <a:xfrm>
            <a:off x="2013509" y="52699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47</a:t>
            </a:r>
            <a:endParaRPr lang="en-US" sz="780" dirty="0"/>
          </a:p>
        </p:txBody>
      </p:sp>
      <p:sp>
        <p:nvSpPr>
          <p:cNvPr id="69" name="Shape 67">
            <a:extLst>
              <a:ext uri="{FF2B5EF4-FFF2-40B4-BE49-F238E27FC236}">
                <a16:creationId xmlns:a16="http://schemas.microsoft.com/office/drawing/2014/main" id="{85565CEE-5229-BE34-20A8-CB1DB95F74F5}"/>
              </a:ext>
            </a:extLst>
          </p:cNvPr>
          <p:cNvSpPr/>
          <p:nvPr/>
        </p:nvSpPr>
        <p:spPr>
          <a:xfrm>
            <a:off x="3268066" y="5242560"/>
            <a:ext cx="1272845" cy="609600"/>
          </a:xfrm>
          <a:prstGeom prst="rect">
            <a:avLst/>
          </a:prstGeom>
          <a:solidFill>
            <a:srgbClr val="FFFFFF"/>
          </a:solidFill>
          <a:ln w="5715">
            <a:solidFill>
              <a:srgbClr val="D8E0EA"/>
            </a:solidFill>
            <a:prstDash val="solid"/>
          </a:ln>
        </p:spPr>
      </p:sp>
      <p:sp>
        <p:nvSpPr>
          <p:cNvPr id="70" name="Text 68">
            <a:extLst>
              <a:ext uri="{FF2B5EF4-FFF2-40B4-BE49-F238E27FC236}">
                <a16:creationId xmlns:a16="http://schemas.microsoft.com/office/drawing/2014/main" id="{363B1005-A7B8-63E9-0F45-9AEB1F9968DC}"/>
              </a:ext>
            </a:extLst>
          </p:cNvPr>
          <p:cNvSpPr/>
          <p:nvPr/>
        </p:nvSpPr>
        <p:spPr>
          <a:xfrm>
            <a:off x="3286354" y="52699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71,000</a:t>
            </a:r>
            <a:endParaRPr lang="en-US" sz="780" dirty="0"/>
          </a:p>
        </p:txBody>
      </p:sp>
      <p:sp>
        <p:nvSpPr>
          <p:cNvPr id="71" name="Shape 69">
            <a:extLst>
              <a:ext uri="{FF2B5EF4-FFF2-40B4-BE49-F238E27FC236}">
                <a16:creationId xmlns:a16="http://schemas.microsoft.com/office/drawing/2014/main" id="{4BEF14E3-2BF6-4E5C-2CE6-3DE0B86D317C}"/>
              </a:ext>
            </a:extLst>
          </p:cNvPr>
          <p:cNvSpPr/>
          <p:nvPr/>
        </p:nvSpPr>
        <p:spPr>
          <a:xfrm>
            <a:off x="4540910" y="5242560"/>
            <a:ext cx="1272845" cy="609600"/>
          </a:xfrm>
          <a:prstGeom prst="rect">
            <a:avLst/>
          </a:prstGeom>
          <a:solidFill>
            <a:srgbClr val="FFF4E2"/>
          </a:solidFill>
          <a:ln w="5715">
            <a:solidFill>
              <a:srgbClr val="D8E0EA"/>
            </a:solidFill>
            <a:prstDash val="solid"/>
          </a:ln>
        </p:spPr>
      </p:sp>
      <p:sp>
        <p:nvSpPr>
          <p:cNvPr id="72" name="Text 70">
            <a:extLst>
              <a:ext uri="{FF2B5EF4-FFF2-40B4-BE49-F238E27FC236}">
                <a16:creationId xmlns:a16="http://schemas.microsoft.com/office/drawing/2014/main" id="{10839EF7-794C-3E4C-1C3D-1BB38A997ABD}"/>
              </a:ext>
            </a:extLst>
          </p:cNvPr>
          <p:cNvSpPr/>
          <p:nvPr/>
        </p:nvSpPr>
        <p:spPr>
          <a:xfrm>
            <a:off x="4559198" y="52699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73" name="Shape 71">
            <a:extLst>
              <a:ext uri="{FF2B5EF4-FFF2-40B4-BE49-F238E27FC236}">
                <a16:creationId xmlns:a16="http://schemas.microsoft.com/office/drawing/2014/main" id="{191501D1-9D45-E93F-BCD7-45265025D773}"/>
              </a:ext>
            </a:extLst>
          </p:cNvPr>
          <p:cNvSpPr/>
          <p:nvPr/>
        </p:nvSpPr>
        <p:spPr>
          <a:xfrm>
            <a:off x="5813755" y="5242560"/>
            <a:ext cx="1272845" cy="609600"/>
          </a:xfrm>
          <a:prstGeom prst="rect">
            <a:avLst/>
          </a:prstGeom>
          <a:solidFill>
            <a:srgbClr val="FFFFFF"/>
          </a:solidFill>
          <a:ln w="5715">
            <a:solidFill>
              <a:srgbClr val="D8E0EA"/>
            </a:solidFill>
            <a:prstDash val="solid"/>
          </a:ln>
        </p:spPr>
      </p:sp>
      <p:sp>
        <p:nvSpPr>
          <p:cNvPr id="74" name="Text 72">
            <a:extLst>
              <a:ext uri="{FF2B5EF4-FFF2-40B4-BE49-F238E27FC236}">
                <a16:creationId xmlns:a16="http://schemas.microsoft.com/office/drawing/2014/main" id="{2579A568-50B5-B4F4-C637-8665CF5F40D3}"/>
              </a:ext>
            </a:extLst>
          </p:cNvPr>
          <p:cNvSpPr/>
          <p:nvPr/>
        </p:nvSpPr>
        <p:spPr>
          <a:xfrm>
            <a:off x="5832043" y="5269992"/>
            <a:ext cx="1236269" cy="573024"/>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75" name="Shape 73">
            <a:extLst>
              <a:ext uri="{FF2B5EF4-FFF2-40B4-BE49-F238E27FC236}">
                <a16:creationId xmlns:a16="http://schemas.microsoft.com/office/drawing/2014/main" id="{24170BF6-2320-C980-869A-E72DFB694885}"/>
              </a:ext>
            </a:extLst>
          </p:cNvPr>
          <p:cNvSpPr/>
          <p:nvPr/>
        </p:nvSpPr>
        <p:spPr>
          <a:xfrm>
            <a:off x="7516368" y="1536192"/>
            <a:ext cx="3749040" cy="1143000"/>
          </a:xfrm>
          <a:prstGeom prst="roundRect">
            <a:avLst>
              <a:gd name="adj" fmla="val 6400"/>
            </a:avLst>
          </a:prstGeom>
          <a:solidFill>
            <a:srgbClr val="EAF1FF"/>
          </a:solidFill>
          <a:ln w="10160">
            <a:solidFill>
              <a:srgbClr val="E9EEF5"/>
            </a:solidFill>
            <a:prstDash val="solid"/>
          </a:ln>
        </p:spPr>
      </p:sp>
      <p:sp>
        <p:nvSpPr>
          <p:cNvPr id="76" name="Text 74">
            <a:extLst>
              <a:ext uri="{FF2B5EF4-FFF2-40B4-BE49-F238E27FC236}">
                <a16:creationId xmlns:a16="http://schemas.microsoft.com/office/drawing/2014/main" id="{AA4BF1F4-4E68-4296-93C8-85303C31FC31}"/>
              </a:ext>
            </a:extLst>
          </p:cNvPr>
          <p:cNvSpPr/>
          <p:nvPr/>
        </p:nvSpPr>
        <p:spPr>
          <a:xfrm>
            <a:off x="7680960" y="1673352"/>
            <a:ext cx="34198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Rows = observations</a:t>
            </a:r>
            <a:endParaRPr lang="en-US" sz="1500" dirty="0"/>
          </a:p>
        </p:txBody>
      </p:sp>
      <p:sp>
        <p:nvSpPr>
          <p:cNvPr id="77" name="Text 75">
            <a:extLst>
              <a:ext uri="{FF2B5EF4-FFF2-40B4-BE49-F238E27FC236}">
                <a16:creationId xmlns:a16="http://schemas.microsoft.com/office/drawing/2014/main" id="{17DDD852-6248-D772-9CEF-418B4763568A}"/>
              </a:ext>
            </a:extLst>
          </p:cNvPr>
          <p:cNvSpPr/>
          <p:nvPr/>
        </p:nvSpPr>
        <p:spPr>
          <a:xfrm>
            <a:off x="7680960" y="2011680"/>
            <a:ext cx="341985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One customer, account, loan, transaction or time period per row.</a:t>
            </a:r>
            <a:endParaRPr lang="en-US" sz="1150" dirty="0"/>
          </a:p>
        </p:txBody>
      </p:sp>
      <p:sp>
        <p:nvSpPr>
          <p:cNvPr id="78" name="Shape 76">
            <a:extLst>
              <a:ext uri="{FF2B5EF4-FFF2-40B4-BE49-F238E27FC236}">
                <a16:creationId xmlns:a16="http://schemas.microsoft.com/office/drawing/2014/main" id="{C0AADFDD-6295-426B-035F-857B798B0873}"/>
              </a:ext>
            </a:extLst>
          </p:cNvPr>
          <p:cNvSpPr/>
          <p:nvPr/>
        </p:nvSpPr>
        <p:spPr>
          <a:xfrm>
            <a:off x="7516368" y="2834640"/>
            <a:ext cx="3749040" cy="1143000"/>
          </a:xfrm>
          <a:prstGeom prst="roundRect">
            <a:avLst>
              <a:gd name="adj" fmla="val 6400"/>
            </a:avLst>
          </a:prstGeom>
          <a:solidFill>
            <a:srgbClr val="E6F7F5"/>
          </a:solidFill>
          <a:ln w="10160">
            <a:solidFill>
              <a:srgbClr val="E9EEF5"/>
            </a:solidFill>
            <a:prstDash val="solid"/>
          </a:ln>
        </p:spPr>
      </p:sp>
      <p:sp>
        <p:nvSpPr>
          <p:cNvPr id="79" name="Text 77">
            <a:extLst>
              <a:ext uri="{FF2B5EF4-FFF2-40B4-BE49-F238E27FC236}">
                <a16:creationId xmlns:a16="http://schemas.microsoft.com/office/drawing/2014/main" id="{6F504520-07DA-BC97-410A-29D259CCE1CF}"/>
              </a:ext>
            </a:extLst>
          </p:cNvPr>
          <p:cNvSpPr/>
          <p:nvPr/>
        </p:nvSpPr>
        <p:spPr>
          <a:xfrm>
            <a:off x="7680960" y="2971800"/>
            <a:ext cx="34198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Columns = variables</a:t>
            </a:r>
            <a:endParaRPr lang="en-US" sz="1500" dirty="0"/>
          </a:p>
        </p:txBody>
      </p:sp>
      <p:sp>
        <p:nvSpPr>
          <p:cNvPr id="80" name="Text 78">
            <a:extLst>
              <a:ext uri="{FF2B5EF4-FFF2-40B4-BE49-F238E27FC236}">
                <a16:creationId xmlns:a16="http://schemas.microsoft.com/office/drawing/2014/main" id="{91D90A24-75CC-953E-F201-CA1CFC78B8F4}"/>
              </a:ext>
            </a:extLst>
          </p:cNvPr>
          <p:cNvSpPr/>
          <p:nvPr/>
        </p:nvSpPr>
        <p:spPr>
          <a:xfrm>
            <a:off x="7680960" y="3310128"/>
            <a:ext cx="341985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Age, balance, product, segment, status, date, risk score…</a:t>
            </a:r>
            <a:endParaRPr lang="en-US" sz="1150" dirty="0"/>
          </a:p>
        </p:txBody>
      </p:sp>
      <p:sp>
        <p:nvSpPr>
          <p:cNvPr id="81" name="Shape 79">
            <a:extLst>
              <a:ext uri="{FF2B5EF4-FFF2-40B4-BE49-F238E27FC236}">
                <a16:creationId xmlns:a16="http://schemas.microsoft.com/office/drawing/2014/main" id="{ECBEF892-F218-AAE0-587B-FAF926E48E18}"/>
              </a:ext>
            </a:extLst>
          </p:cNvPr>
          <p:cNvSpPr/>
          <p:nvPr/>
        </p:nvSpPr>
        <p:spPr>
          <a:xfrm>
            <a:off x="7516368" y="4133088"/>
            <a:ext cx="3749040" cy="1143000"/>
          </a:xfrm>
          <a:prstGeom prst="roundRect">
            <a:avLst>
              <a:gd name="adj" fmla="val 6400"/>
            </a:avLst>
          </a:prstGeom>
          <a:solidFill>
            <a:srgbClr val="FFF4E2"/>
          </a:solidFill>
          <a:ln w="10160">
            <a:solidFill>
              <a:srgbClr val="E9EEF5"/>
            </a:solidFill>
            <a:prstDash val="solid"/>
          </a:ln>
        </p:spPr>
      </p:sp>
      <p:sp>
        <p:nvSpPr>
          <p:cNvPr id="82" name="Text 80">
            <a:extLst>
              <a:ext uri="{FF2B5EF4-FFF2-40B4-BE49-F238E27FC236}">
                <a16:creationId xmlns:a16="http://schemas.microsoft.com/office/drawing/2014/main" id="{C3F5A660-1834-6822-A254-1ED2992DB92C}"/>
              </a:ext>
            </a:extLst>
          </p:cNvPr>
          <p:cNvSpPr/>
          <p:nvPr/>
        </p:nvSpPr>
        <p:spPr>
          <a:xfrm>
            <a:off x="7680960" y="4270248"/>
            <a:ext cx="34198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Schema = meaning</a:t>
            </a:r>
            <a:endParaRPr lang="en-US" sz="1500" dirty="0"/>
          </a:p>
        </p:txBody>
      </p:sp>
      <p:sp>
        <p:nvSpPr>
          <p:cNvPr id="83" name="Text 81">
            <a:extLst>
              <a:ext uri="{FF2B5EF4-FFF2-40B4-BE49-F238E27FC236}">
                <a16:creationId xmlns:a16="http://schemas.microsoft.com/office/drawing/2014/main" id="{159CD416-88F9-B06D-7A12-E5B4BBD8C395}"/>
              </a:ext>
            </a:extLst>
          </p:cNvPr>
          <p:cNvSpPr/>
          <p:nvPr/>
        </p:nvSpPr>
        <p:spPr>
          <a:xfrm>
            <a:off x="7680960" y="4608576"/>
            <a:ext cx="341985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Names, types, units, valid ranges, keys and business definitions.</a:t>
            </a:r>
            <a:endParaRPr lang="en-US" sz="1150" dirty="0"/>
          </a:p>
        </p:txBody>
      </p:sp>
      <p:sp>
        <p:nvSpPr>
          <p:cNvPr id="84" name="Slide Number Placeholder 0">
            <a:extLst>
              <a:ext uri="{FF2B5EF4-FFF2-40B4-BE49-F238E27FC236}">
                <a16:creationId xmlns:a16="http://schemas.microsoft.com/office/drawing/2014/main" id="{07BABEC1-05FE-2AE8-84A2-2142A85BF13F}"/>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17</a:t>
            </a:fld>
            <a:endParaRPr lang="en-US"/>
          </a:p>
        </p:txBody>
      </p:sp>
      <p:sp>
        <p:nvSpPr>
          <p:cNvPr id="86" name="Text 4">
            <a:extLst>
              <a:ext uri="{FF2B5EF4-FFF2-40B4-BE49-F238E27FC236}">
                <a16:creationId xmlns:a16="http://schemas.microsoft.com/office/drawing/2014/main" id="{38A25821-4854-565D-8ED6-7B4F9F2924C3}"/>
              </a:ext>
            </a:extLst>
          </p:cNvPr>
          <p:cNvSpPr/>
          <p:nvPr/>
        </p:nvSpPr>
        <p:spPr>
          <a:xfrm>
            <a:off x="2013509" y="5925312"/>
            <a:ext cx="2701926"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This in Data Science is TIDY DATA</a:t>
            </a:r>
            <a:endParaRPr lang="en-US" sz="1300" dirty="0"/>
          </a:p>
        </p:txBody>
      </p:sp>
    </p:spTree>
    <p:extLst>
      <p:ext uri="{BB962C8B-B14F-4D97-AF65-F5344CB8AC3E}">
        <p14:creationId xmlns:p14="http://schemas.microsoft.com/office/powerpoint/2010/main" val="2163631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Anatomy of a table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Understanding the grain of the table prevents many analytical mistakes.</a:t>
            </a:r>
            <a:endParaRPr lang="en-US" sz="1300" dirty="0"/>
          </a:p>
        </p:txBody>
      </p:sp>
      <p:sp>
        <p:nvSpPr>
          <p:cNvPr id="7" name="Shape 5"/>
          <p:cNvSpPr/>
          <p:nvPr/>
        </p:nvSpPr>
        <p:spPr>
          <a:xfrm>
            <a:off x="713232" y="1536192"/>
            <a:ext cx="6629400" cy="4251960"/>
          </a:xfrm>
          <a:prstGeom prst="roundRect">
            <a:avLst>
              <a:gd name="adj" fmla="val 1075"/>
            </a:avLst>
          </a:prstGeom>
          <a:solidFill>
            <a:srgbClr val="FFFFFF"/>
          </a:solidFill>
          <a:ln w="10160">
            <a:solidFill>
              <a:srgbClr val="AEB8C5"/>
            </a:solidFill>
            <a:prstDash val="solid"/>
          </a:ln>
        </p:spPr>
      </p:sp>
      <p:sp>
        <p:nvSpPr>
          <p:cNvPr id="8" name="Shape 6"/>
          <p:cNvSpPr/>
          <p:nvPr/>
        </p:nvSpPr>
        <p:spPr>
          <a:xfrm>
            <a:off x="713232" y="1536192"/>
            <a:ext cx="6629400" cy="329184"/>
          </a:xfrm>
          <a:prstGeom prst="rect">
            <a:avLst/>
          </a:prstGeom>
          <a:solidFill>
            <a:srgbClr val="217346"/>
          </a:solidFill>
          <a:ln w="12700">
            <a:solidFill>
              <a:srgbClr val="217346"/>
            </a:solidFill>
            <a:prstDash val="solid"/>
          </a:ln>
        </p:spPr>
      </p:sp>
      <p:sp>
        <p:nvSpPr>
          <p:cNvPr id="9" name="Shape 7"/>
          <p:cNvSpPr/>
          <p:nvPr/>
        </p:nvSpPr>
        <p:spPr>
          <a:xfrm>
            <a:off x="822960" y="1581912"/>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822960" y="1591056"/>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133856" y="1609344"/>
            <a:ext cx="6099048" cy="182880"/>
          </a:xfrm>
          <a:prstGeom prst="rect">
            <a:avLst/>
          </a:prstGeom>
          <a:noFill/>
          <a:ln/>
        </p:spPr>
        <p:txBody>
          <a:bodyPr wrap="square" lIns="0" tIns="0" rIns="0" bIns="0" rtlCol="0" anchor="ctr"/>
          <a:lstStyle/>
          <a:p>
            <a:pPr marL="0" indent="0">
              <a:buNone/>
            </a:pPr>
            <a:r>
              <a:rPr lang="en-US" sz="950" b="1" dirty="0">
                <a:solidFill>
                  <a:srgbClr val="FFFFFF"/>
                </a:solidFill>
              </a:rPr>
              <a:t>Monthly customer snapshot</a:t>
            </a:r>
            <a:endParaRPr lang="en-US" sz="950" dirty="0"/>
          </a:p>
        </p:txBody>
      </p:sp>
      <p:sp>
        <p:nvSpPr>
          <p:cNvPr id="12" name="Shape 10"/>
          <p:cNvSpPr/>
          <p:nvPr/>
        </p:nvSpPr>
        <p:spPr>
          <a:xfrm>
            <a:off x="768096" y="1920240"/>
            <a:ext cx="6519672" cy="292608"/>
          </a:xfrm>
          <a:prstGeom prst="rect">
            <a:avLst/>
          </a:prstGeom>
          <a:solidFill>
            <a:srgbClr val="FAFCFD"/>
          </a:solidFill>
          <a:ln w="6350">
            <a:solidFill>
              <a:srgbClr val="D8E0EA"/>
            </a:solidFill>
            <a:prstDash val="solid"/>
          </a:ln>
        </p:spPr>
      </p:sp>
      <p:sp>
        <p:nvSpPr>
          <p:cNvPr id="13" name="Text 11"/>
          <p:cNvSpPr/>
          <p:nvPr/>
        </p:nvSpPr>
        <p:spPr>
          <a:xfrm>
            <a:off x="822960" y="1984248"/>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78992" y="1975104"/>
            <a:ext cx="615391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=COUNTIFS(Table1[CustomerID],"C1001")</a:t>
            </a:r>
            <a:endParaRPr lang="en-US" sz="880" dirty="0"/>
          </a:p>
        </p:txBody>
      </p:sp>
      <p:sp>
        <p:nvSpPr>
          <p:cNvPr id="15" name="Shape 13"/>
          <p:cNvSpPr/>
          <p:nvPr/>
        </p:nvSpPr>
        <p:spPr>
          <a:xfrm>
            <a:off x="777240" y="2286000"/>
            <a:ext cx="1625346" cy="489857"/>
          </a:xfrm>
          <a:prstGeom prst="rect">
            <a:avLst/>
          </a:prstGeom>
          <a:solidFill>
            <a:srgbClr val="E8F3EC"/>
          </a:solidFill>
          <a:ln w="5715">
            <a:solidFill>
              <a:srgbClr val="D8E0EA"/>
            </a:solidFill>
            <a:prstDash val="solid"/>
          </a:ln>
        </p:spPr>
      </p:sp>
      <p:sp>
        <p:nvSpPr>
          <p:cNvPr id="16" name="Text 14"/>
          <p:cNvSpPr/>
          <p:nvPr/>
        </p:nvSpPr>
        <p:spPr>
          <a:xfrm>
            <a:off x="795528" y="2313432"/>
            <a:ext cx="1588770" cy="453281"/>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CustomerID</a:t>
            </a:r>
            <a:endParaRPr lang="en-US" sz="810" dirty="0"/>
          </a:p>
        </p:txBody>
      </p:sp>
      <p:sp>
        <p:nvSpPr>
          <p:cNvPr id="17" name="Shape 15"/>
          <p:cNvSpPr/>
          <p:nvPr/>
        </p:nvSpPr>
        <p:spPr>
          <a:xfrm>
            <a:off x="2402586" y="2286000"/>
            <a:ext cx="1625346" cy="489857"/>
          </a:xfrm>
          <a:prstGeom prst="rect">
            <a:avLst/>
          </a:prstGeom>
          <a:solidFill>
            <a:srgbClr val="E8F3EC"/>
          </a:solidFill>
          <a:ln w="5715">
            <a:solidFill>
              <a:srgbClr val="D8E0EA"/>
            </a:solidFill>
            <a:prstDash val="solid"/>
          </a:ln>
        </p:spPr>
      </p:sp>
      <p:sp>
        <p:nvSpPr>
          <p:cNvPr id="18" name="Text 16"/>
          <p:cNvSpPr/>
          <p:nvPr/>
        </p:nvSpPr>
        <p:spPr>
          <a:xfrm>
            <a:off x="2420874" y="2313432"/>
            <a:ext cx="1588770" cy="453281"/>
          </a:xfrm>
          <a:prstGeom prst="rect">
            <a:avLst/>
          </a:prstGeom>
          <a:noFill/>
          <a:ln/>
        </p:spPr>
        <p:txBody>
          <a:bodyPr wrap="square" lIns="0" tIns="0" rIns="0" bIns="0" rtlCol="0" anchor="ctr">
            <a:normAutofit/>
          </a:bodyPr>
          <a:lstStyle/>
          <a:p>
            <a:pPr marL="0" indent="0">
              <a:buNone/>
            </a:pPr>
            <a:r>
              <a:rPr lang="en-US" sz="810" b="1" dirty="0">
                <a:solidFill>
                  <a:srgbClr val="0B1F33"/>
                </a:solidFill>
              </a:rPr>
              <a:t>Month</a:t>
            </a:r>
            <a:endParaRPr lang="en-US" sz="810" dirty="0"/>
          </a:p>
        </p:txBody>
      </p:sp>
      <p:sp>
        <p:nvSpPr>
          <p:cNvPr id="19" name="Shape 17"/>
          <p:cNvSpPr/>
          <p:nvPr/>
        </p:nvSpPr>
        <p:spPr>
          <a:xfrm>
            <a:off x="4027932" y="2286000"/>
            <a:ext cx="1625346" cy="489857"/>
          </a:xfrm>
          <a:prstGeom prst="rect">
            <a:avLst/>
          </a:prstGeom>
          <a:solidFill>
            <a:srgbClr val="E8F3EC"/>
          </a:solidFill>
          <a:ln w="5715">
            <a:solidFill>
              <a:srgbClr val="D8E0EA"/>
            </a:solidFill>
            <a:prstDash val="solid"/>
          </a:ln>
        </p:spPr>
      </p:sp>
      <p:sp>
        <p:nvSpPr>
          <p:cNvPr id="20" name="Text 18"/>
          <p:cNvSpPr/>
          <p:nvPr/>
        </p:nvSpPr>
        <p:spPr>
          <a:xfrm>
            <a:off x="4046220" y="2313432"/>
            <a:ext cx="1588770" cy="453281"/>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1" name="Shape 19"/>
          <p:cNvSpPr/>
          <p:nvPr/>
        </p:nvSpPr>
        <p:spPr>
          <a:xfrm>
            <a:off x="5653278" y="2286000"/>
            <a:ext cx="1625346" cy="489857"/>
          </a:xfrm>
          <a:prstGeom prst="rect">
            <a:avLst/>
          </a:prstGeom>
          <a:solidFill>
            <a:srgbClr val="E8F3EC"/>
          </a:solidFill>
          <a:ln w="5715">
            <a:solidFill>
              <a:srgbClr val="D8E0EA"/>
            </a:solidFill>
            <a:prstDash val="solid"/>
          </a:ln>
        </p:spPr>
      </p:sp>
      <p:sp>
        <p:nvSpPr>
          <p:cNvPr id="22" name="Text 20"/>
          <p:cNvSpPr/>
          <p:nvPr/>
        </p:nvSpPr>
        <p:spPr>
          <a:xfrm>
            <a:off x="5671566" y="2313432"/>
            <a:ext cx="1588770" cy="453281"/>
          </a:xfrm>
          <a:prstGeom prst="rect">
            <a:avLst/>
          </a:prstGeom>
          <a:noFill/>
          <a:ln/>
        </p:spPr>
        <p:txBody>
          <a:bodyPr wrap="square" lIns="0" tIns="0" rIns="0" bIns="0" rtlCol="0" anchor="ctr">
            <a:normAutofit/>
          </a:bodyPr>
          <a:lstStyle/>
          <a:p>
            <a:pPr marL="0" indent="0">
              <a:buNone/>
            </a:pPr>
            <a:r>
              <a:rPr lang="en-US" sz="810" b="1" dirty="0">
                <a:solidFill>
                  <a:srgbClr val="0B1F33"/>
                </a:solidFill>
              </a:rPr>
              <a:t>Products</a:t>
            </a:r>
            <a:endParaRPr lang="en-US" sz="810" dirty="0"/>
          </a:p>
        </p:txBody>
      </p:sp>
      <p:sp>
        <p:nvSpPr>
          <p:cNvPr id="23" name="Shape 21"/>
          <p:cNvSpPr/>
          <p:nvPr/>
        </p:nvSpPr>
        <p:spPr>
          <a:xfrm>
            <a:off x="777240" y="2775857"/>
            <a:ext cx="1625346" cy="489857"/>
          </a:xfrm>
          <a:prstGeom prst="rect">
            <a:avLst/>
          </a:prstGeom>
          <a:solidFill>
            <a:srgbClr val="FFFFFF"/>
          </a:solidFill>
          <a:ln w="5715">
            <a:solidFill>
              <a:srgbClr val="D8E0EA"/>
            </a:solidFill>
            <a:prstDash val="solid"/>
          </a:ln>
        </p:spPr>
      </p:sp>
      <p:sp>
        <p:nvSpPr>
          <p:cNvPr id="24" name="Text 22"/>
          <p:cNvSpPr/>
          <p:nvPr/>
        </p:nvSpPr>
        <p:spPr>
          <a:xfrm>
            <a:off x="795528" y="2803289"/>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5" name="Shape 23"/>
          <p:cNvSpPr/>
          <p:nvPr/>
        </p:nvSpPr>
        <p:spPr>
          <a:xfrm>
            <a:off x="2402586" y="2775857"/>
            <a:ext cx="1625346" cy="489857"/>
          </a:xfrm>
          <a:prstGeom prst="rect">
            <a:avLst/>
          </a:prstGeom>
          <a:solidFill>
            <a:srgbClr val="FFFFFF"/>
          </a:solidFill>
          <a:ln w="5715">
            <a:solidFill>
              <a:srgbClr val="D8E0EA"/>
            </a:solidFill>
            <a:prstDash val="solid"/>
          </a:ln>
        </p:spPr>
      </p:sp>
      <p:sp>
        <p:nvSpPr>
          <p:cNvPr id="26" name="Text 24"/>
          <p:cNvSpPr/>
          <p:nvPr/>
        </p:nvSpPr>
        <p:spPr>
          <a:xfrm>
            <a:off x="2420874" y="2803289"/>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Jan</a:t>
            </a:r>
            <a:endParaRPr lang="en-US" sz="780" dirty="0"/>
          </a:p>
        </p:txBody>
      </p:sp>
      <p:sp>
        <p:nvSpPr>
          <p:cNvPr id="27" name="Shape 25"/>
          <p:cNvSpPr/>
          <p:nvPr/>
        </p:nvSpPr>
        <p:spPr>
          <a:xfrm>
            <a:off x="4027932" y="2775857"/>
            <a:ext cx="1625346" cy="489857"/>
          </a:xfrm>
          <a:prstGeom prst="rect">
            <a:avLst/>
          </a:prstGeom>
          <a:solidFill>
            <a:srgbClr val="FFFFFF"/>
          </a:solidFill>
          <a:ln w="5715">
            <a:solidFill>
              <a:srgbClr val="D8E0EA"/>
            </a:solidFill>
            <a:prstDash val="solid"/>
          </a:ln>
        </p:spPr>
      </p:sp>
      <p:sp>
        <p:nvSpPr>
          <p:cNvPr id="28" name="Text 26"/>
          <p:cNvSpPr/>
          <p:nvPr/>
        </p:nvSpPr>
        <p:spPr>
          <a:xfrm>
            <a:off x="4046220" y="2803289"/>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11,800</a:t>
            </a:r>
            <a:endParaRPr lang="en-US" sz="780" dirty="0"/>
          </a:p>
        </p:txBody>
      </p:sp>
      <p:sp>
        <p:nvSpPr>
          <p:cNvPr id="29" name="Shape 27"/>
          <p:cNvSpPr/>
          <p:nvPr/>
        </p:nvSpPr>
        <p:spPr>
          <a:xfrm>
            <a:off x="5653278" y="2775857"/>
            <a:ext cx="1625346" cy="489857"/>
          </a:xfrm>
          <a:prstGeom prst="rect">
            <a:avLst/>
          </a:prstGeom>
          <a:solidFill>
            <a:srgbClr val="FFFFFF"/>
          </a:solidFill>
          <a:ln w="5715">
            <a:solidFill>
              <a:srgbClr val="D8E0EA"/>
            </a:solidFill>
            <a:prstDash val="solid"/>
          </a:ln>
        </p:spPr>
      </p:sp>
      <p:sp>
        <p:nvSpPr>
          <p:cNvPr id="30" name="Text 28"/>
          <p:cNvSpPr/>
          <p:nvPr/>
        </p:nvSpPr>
        <p:spPr>
          <a:xfrm>
            <a:off x="5671566" y="2803289"/>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3</a:t>
            </a:r>
            <a:endParaRPr lang="en-US" sz="780" dirty="0"/>
          </a:p>
        </p:txBody>
      </p:sp>
      <p:sp>
        <p:nvSpPr>
          <p:cNvPr id="31" name="Shape 29"/>
          <p:cNvSpPr/>
          <p:nvPr/>
        </p:nvSpPr>
        <p:spPr>
          <a:xfrm>
            <a:off x="777240" y="3265714"/>
            <a:ext cx="1625346" cy="489857"/>
          </a:xfrm>
          <a:prstGeom prst="rect">
            <a:avLst/>
          </a:prstGeom>
          <a:solidFill>
            <a:srgbClr val="FFFFFF"/>
          </a:solidFill>
          <a:ln w="5715">
            <a:solidFill>
              <a:srgbClr val="D8E0EA"/>
            </a:solidFill>
            <a:prstDash val="solid"/>
          </a:ln>
        </p:spPr>
      </p:sp>
      <p:sp>
        <p:nvSpPr>
          <p:cNvPr id="32" name="Text 30"/>
          <p:cNvSpPr/>
          <p:nvPr/>
        </p:nvSpPr>
        <p:spPr>
          <a:xfrm>
            <a:off x="795528" y="3293146"/>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33" name="Shape 31"/>
          <p:cNvSpPr/>
          <p:nvPr/>
        </p:nvSpPr>
        <p:spPr>
          <a:xfrm>
            <a:off x="2402586" y="3265714"/>
            <a:ext cx="1625346" cy="489857"/>
          </a:xfrm>
          <a:prstGeom prst="rect">
            <a:avLst/>
          </a:prstGeom>
          <a:solidFill>
            <a:srgbClr val="FFFFFF"/>
          </a:solidFill>
          <a:ln w="5715">
            <a:solidFill>
              <a:srgbClr val="D8E0EA"/>
            </a:solidFill>
            <a:prstDash val="solid"/>
          </a:ln>
        </p:spPr>
      </p:sp>
      <p:sp>
        <p:nvSpPr>
          <p:cNvPr id="34" name="Text 32"/>
          <p:cNvSpPr/>
          <p:nvPr/>
        </p:nvSpPr>
        <p:spPr>
          <a:xfrm>
            <a:off x="2420874" y="3293146"/>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Feb</a:t>
            </a:r>
            <a:endParaRPr lang="en-US" sz="780" dirty="0"/>
          </a:p>
        </p:txBody>
      </p:sp>
      <p:sp>
        <p:nvSpPr>
          <p:cNvPr id="35" name="Shape 33"/>
          <p:cNvSpPr/>
          <p:nvPr/>
        </p:nvSpPr>
        <p:spPr>
          <a:xfrm>
            <a:off x="4027932" y="3265714"/>
            <a:ext cx="1625346" cy="489857"/>
          </a:xfrm>
          <a:prstGeom prst="rect">
            <a:avLst/>
          </a:prstGeom>
          <a:solidFill>
            <a:srgbClr val="FFFFFF"/>
          </a:solidFill>
          <a:ln w="5715">
            <a:solidFill>
              <a:srgbClr val="D8E0EA"/>
            </a:solidFill>
            <a:prstDash val="solid"/>
          </a:ln>
        </p:spPr>
      </p:sp>
      <p:sp>
        <p:nvSpPr>
          <p:cNvPr id="36" name="Text 34"/>
          <p:cNvSpPr/>
          <p:nvPr/>
        </p:nvSpPr>
        <p:spPr>
          <a:xfrm>
            <a:off x="4046220" y="3293146"/>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12,100</a:t>
            </a:r>
            <a:endParaRPr lang="en-US" sz="780" dirty="0"/>
          </a:p>
        </p:txBody>
      </p:sp>
      <p:sp>
        <p:nvSpPr>
          <p:cNvPr id="37" name="Shape 35"/>
          <p:cNvSpPr/>
          <p:nvPr/>
        </p:nvSpPr>
        <p:spPr>
          <a:xfrm>
            <a:off x="5653278" y="3265714"/>
            <a:ext cx="1625346" cy="489857"/>
          </a:xfrm>
          <a:prstGeom prst="rect">
            <a:avLst/>
          </a:prstGeom>
          <a:solidFill>
            <a:srgbClr val="FFFFFF"/>
          </a:solidFill>
          <a:ln w="5715">
            <a:solidFill>
              <a:srgbClr val="D8E0EA"/>
            </a:solidFill>
            <a:prstDash val="solid"/>
          </a:ln>
        </p:spPr>
      </p:sp>
      <p:sp>
        <p:nvSpPr>
          <p:cNvPr id="38" name="Text 36"/>
          <p:cNvSpPr/>
          <p:nvPr/>
        </p:nvSpPr>
        <p:spPr>
          <a:xfrm>
            <a:off x="5671566" y="3293146"/>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3</a:t>
            </a:r>
            <a:endParaRPr lang="en-US" sz="780" dirty="0"/>
          </a:p>
        </p:txBody>
      </p:sp>
      <p:sp>
        <p:nvSpPr>
          <p:cNvPr id="39" name="Shape 37"/>
          <p:cNvSpPr/>
          <p:nvPr/>
        </p:nvSpPr>
        <p:spPr>
          <a:xfrm>
            <a:off x="777240" y="3755571"/>
            <a:ext cx="1625346" cy="489857"/>
          </a:xfrm>
          <a:prstGeom prst="rect">
            <a:avLst/>
          </a:prstGeom>
          <a:solidFill>
            <a:srgbClr val="FFFFFF"/>
          </a:solidFill>
          <a:ln w="5715">
            <a:solidFill>
              <a:srgbClr val="D8E0EA"/>
            </a:solidFill>
            <a:prstDash val="solid"/>
          </a:ln>
        </p:spPr>
      </p:sp>
      <p:sp>
        <p:nvSpPr>
          <p:cNvPr id="40" name="Text 38"/>
          <p:cNvSpPr/>
          <p:nvPr/>
        </p:nvSpPr>
        <p:spPr>
          <a:xfrm>
            <a:off x="795528" y="3783003"/>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41" name="Shape 39"/>
          <p:cNvSpPr/>
          <p:nvPr/>
        </p:nvSpPr>
        <p:spPr>
          <a:xfrm>
            <a:off x="2402586" y="3755571"/>
            <a:ext cx="1625346" cy="489857"/>
          </a:xfrm>
          <a:prstGeom prst="rect">
            <a:avLst/>
          </a:prstGeom>
          <a:solidFill>
            <a:srgbClr val="FFFFFF"/>
          </a:solidFill>
          <a:ln w="5715">
            <a:solidFill>
              <a:srgbClr val="D8E0EA"/>
            </a:solidFill>
            <a:prstDash val="solid"/>
          </a:ln>
        </p:spPr>
      </p:sp>
      <p:sp>
        <p:nvSpPr>
          <p:cNvPr id="42" name="Text 40"/>
          <p:cNvSpPr/>
          <p:nvPr/>
        </p:nvSpPr>
        <p:spPr>
          <a:xfrm>
            <a:off x="2420874" y="3783003"/>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Mar</a:t>
            </a:r>
            <a:endParaRPr lang="en-US" sz="780" dirty="0"/>
          </a:p>
        </p:txBody>
      </p:sp>
      <p:sp>
        <p:nvSpPr>
          <p:cNvPr id="43" name="Shape 41"/>
          <p:cNvSpPr/>
          <p:nvPr/>
        </p:nvSpPr>
        <p:spPr>
          <a:xfrm>
            <a:off x="4027932" y="3755571"/>
            <a:ext cx="1625346" cy="489857"/>
          </a:xfrm>
          <a:prstGeom prst="rect">
            <a:avLst/>
          </a:prstGeom>
          <a:solidFill>
            <a:srgbClr val="FFFFFF"/>
          </a:solidFill>
          <a:ln w="5715">
            <a:solidFill>
              <a:srgbClr val="D8E0EA"/>
            </a:solidFill>
            <a:prstDash val="solid"/>
          </a:ln>
        </p:spPr>
      </p:sp>
      <p:sp>
        <p:nvSpPr>
          <p:cNvPr id="44" name="Text 42"/>
          <p:cNvSpPr/>
          <p:nvPr/>
        </p:nvSpPr>
        <p:spPr>
          <a:xfrm>
            <a:off x="4046220" y="3783003"/>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45" name="Shape 43"/>
          <p:cNvSpPr/>
          <p:nvPr/>
        </p:nvSpPr>
        <p:spPr>
          <a:xfrm>
            <a:off x="5653278" y="3755571"/>
            <a:ext cx="1625346" cy="489857"/>
          </a:xfrm>
          <a:prstGeom prst="rect">
            <a:avLst/>
          </a:prstGeom>
          <a:solidFill>
            <a:srgbClr val="FFFFFF"/>
          </a:solidFill>
          <a:ln w="5715">
            <a:solidFill>
              <a:srgbClr val="D8E0EA"/>
            </a:solidFill>
            <a:prstDash val="solid"/>
          </a:ln>
        </p:spPr>
      </p:sp>
      <p:sp>
        <p:nvSpPr>
          <p:cNvPr id="46" name="Text 44"/>
          <p:cNvSpPr/>
          <p:nvPr/>
        </p:nvSpPr>
        <p:spPr>
          <a:xfrm>
            <a:off x="5671566" y="3783003"/>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3</a:t>
            </a:r>
            <a:endParaRPr lang="en-US" sz="780" dirty="0"/>
          </a:p>
        </p:txBody>
      </p:sp>
      <p:sp>
        <p:nvSpPr>
          <p:cNvPr id="47" name="Shape 45"/>
          <p:cNvSpPr/>
          <p:nvPr/>
        </p:nvSpPr>
        <p:spPr>
          <a:xfrm>
            <a:off x="777240" y="4245429"/>
            <a:ext cx="1625346" cy="489857"/>
          </a:xfrm>
          <a:prstGeom prst="rect">
            <a:avLst/>
          </a:prstGeom>
          <a:solidFill>
            <a:srgbClr val="FFFFFF"/>
          </a:solidFill>
          <a:ln w="5715">
            <a:solidFill>
              <a:srgbClr val="D8E0EA"/>
            </a:solidFill>
            <a:prstDash val="solid"/>
          </a:ln>
        </p:spPr>
      </p:sp>
      <p:sp>
        <p:nvSpPr>
          <p:cNvPr id="48" name="Text 46"/>
          <p:cNvSpPr/>
          <p:nvPr/>
        </p:nvSpPr>
        <p:spPr>
          <a:xfrm>
            <a:off x="795528" y="4272861"/>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49" name="Shape 47"/>
          <p:cNvSpPr/>
          <p:nvPr/>
        </p:nvSpPr>
        <p:spPr>
          <a:xfrm>
            <a:off x="2402586" y="4245429"/>
            <a:ext cx="1625346" cy="489857"/>
          </a:xfrm>
          <a:prstGeom prst="rect">
            <a:avLst/>
          </a:prstGeom>
          <a:solidFill>
            <a:srgbClr val="FFFFFF"/>
          </a:solidFill>
          <a:ln w="5715">
            <a:solidFill>
              <a:srgbClr val="D8E0EA"/>
            </a:solidFill>
            <a:prstDash val="solid"/>
          </a:ln>
        </p:spPr>
      </p:sp>
      <p:sp>
        <p:nvSpPr>
          <p:cNvPr id="50" name="Text 48"/>
          <p:cNvSpPr/>
          <p:nvPr/>
        </p:nvSpPr>
        <p:spPr>
          <a:xfrm>
            <a:off x="2420874" y="4272861"/>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Jan</a:t>
            </a:r>
            <a:endParaRPr lang="en-US" sz="780" dirty="0"/>
          </a:p>
        </p:txBody>
      </p:sp>
      <p:sp>
        <p:nvSpPr>
          <p:cNvPr id="51" name="Shape 49"/>
          <p:cNvSpPr/>
          <p:nvPr/>
        </p:nvSpPr>
        <p:spPr>
          <a:xfrm>
            <a:off x="4027932" y="4245429"/>
            <a:ext cx="1625346" cy="489857"/>
          </a:xfrm>
          <a:prstGeom prst="rect">
            <a:avLst/>
          </a:prstGeom>
          <a:solidFill>
            <a:srgbClr val="FFFFFF"/>
          </a:solidFill>
          <a:ln w="5715">
            <a:solidFill>
              <a:srgbClr val="D8E0EA"/>
            </a:solidFill>
            <a:prstDash val="solid"/>
          </a:ln>
        </p:spPr>
      </p:sp>
      <p:sp>
        <p:nvSpPr>
          <p:cNvPr id="52" name="Text 50"/>
          <p:cNvSpPr/>
          <p:nvPr/>
        </p:nvSpPr>
        <p:spPr>
          <a:xfrm>
            <a:off x="4046220" y="4272861"/>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8,700</a:t>
            </a:r>
            <a:endParaRPr lang="en-US" sz="780" dirty="0"/>
          </a:p>
        </p:txBody>
      </p:sp>
      <p:sp>
        <p:nvSpPr>
          <p:cNvPr id="53" name="Shape 51"/>
          <p:cNvSpPr/>
          <p:nvPr/>
        </p:nvSpPr>
        <p:spPr>
          <a:xfrm>
            <a:off x="5653278" y="4245429"/>
            <a:ext cx="1625346" cy="489857"/>
          </a:xfrm>
          <a:prstGeom prst="rect">
            <a:avLst/>
          </a:prstGeom>
          <a:solidFill>
            <a:srgbClr val="FFFFFF"/>
          </a:solidFill>
          <a:ln w="5715">
            <a:solidFill>
              <a:srgbClr val="D8E0EA"/>
            </a:solidFill>
            <a:prstDash val="solid"/>
          </a:ln>
        </p:spPr>
      </p:sp>
      <p:sp>
        <p:nvSpPr>
          <p:cNvPr id="54" name="Text 52"/>
          <p:cNvSpPr/>
          <p:nvPr/>
        </p:nvSpPr>
        <p:spPr>
          <a:xfrm>
            <a:off x="5671566" y="4272861"/>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2</a:t>
            </a:r>
            <a:endParaRPr lang="en-US" sz="780" dirty="0"/>
          </a:p>
        </p:txBody>
      </p:sp>
      <p:sp>
        <p:nvSpPr>
          <p:cNvPr id="55" name="Shape 53"/>
          <p:cNvSpPr/>
          <p:nvPr/>
        </p:nvSpPr>
        <p:spPr>
          <a:xfrm>
            <a:off x="777240" y="4735286"/>
            <a:ext cx="1625346" cy="489857"/>
          </a:xfrm>
          <a:prstGeom prst="rect">
            <a:avLst/>
          </a:prstGeom>
          <a:solidFill>
            <a:srgbClr val="FFFFFF"/>
          </a:solidFill>
          <a:ln w="5715">
            <a:solidFill>
              <a:srgbClr val="D8E0EA"/>
            </a:solidFill>
            <a:prstDash val="solid"/>
          </a:ln>
        </p:spPr>
      </p:sp>
      <p:sp>
        <p:nvSpPr>
          <p:cNvPr id="56" name="Text 54"/>
          <p:cNvSpPr/>
          <p:nvPr/>
        </p:nvSpPr>
        <p:spPr>
          <a:xfrm>
            <a:off x="795528" y="4762718"/>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57" name="Shape 55"/>
          <p:cNvSpPr/>
          <p:nvPr/>
        </p:nvSpPr>
        <p:spPr>
          <a:xfrm>
            <a:off x="2402586" y="4735286"/>
            <a:ext cx="1625346" cy="489857"/>
          </a:xfrm>
          <a:prstGeom prst="rect">
            <a:avLst/>
          </a:prstGeom>
          <a:solidFill>
            <a:srgbClr val="FFFFFF"/>
          </a:solidFill>
          <a:ln w="5715">
            <a:solidFill>
              <a:srgbClr val="D8E0EA"/>
            </a:solidFill>
            <a:prstDash val="solid"/>
          </a:ln>
        </p:spPr>
      </p:sp>
      <p:sp>
        <p:nvSpPr>
          <p:cNvPr id="58" name="Text 56"/>
          <p:cNvSpPr/>
          <p:nvPr/>
        </p:nvSpPr>
        <p:spPr>
          <a:xfrm>
            <a:off x="2420874" y="4762718"/>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Feb</a:t>
            </a:r>
            <a:endParaRPr lang="en-US" sz="780" dirty="0"/>
          </a:p>
        </p:txBody>
      </p:sp>
      <p:sp>
        <p:nvSpPr>
          <p:cNvPr id="59" name="Shape 57"/>
          <p:cNvSpPr/>
          <p:nvPr/>
        </p:nvSpPr>
        <p:spPr>
          <a:xfrm>
            <a:off x="4027932" y="4735286"/>
            <a:ext cx="1625346" cy="489857"/>
          </a:xfrm>
          <a:prstGeom prst="rect">
            <a:avLst/>
          </a:prstGeom>
          <a:solidFill>
            <a:srgbClr val="FFFFFF"/>
          </a:solidFill>
          <a:ln w="5715">
            <a:solidFill>
              <a:srgbClr val="D8E0EA"/>
            </a:solidFill>
            <a:prstDash val="solid"/>
          </a:ln>
        </p:spPr>
      </p:sp>
      <p:sp>
        <p:nvSpPr>
          <p:cNvPr id="60" name="Text 58"/>
          <p:cNvSpPr/>
          <p:nvPr/>
        </p:nvSpPr>
        <p:spPr>
          <a:xfrm>
            <a:off x="4046220" y="4762718"/>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8,450</a:t>
            </a:r>
            <a:endParaRPr lang="en-US" sz="780" dirty="0"/>
          </a:p>
        </p:txBody>
      </p:sp>
      <p:sp>
        <p:nvSpPr>
          <p:cNvPr id="61" name="Shape 59"/>
          <p:cNvSpPr/>
          <p:nvPr/>
        </p:nvSpPr>
        <p:spPr>
          <a:xfrm>
            <a:off x="5653278" y="4735286"/>
            <a:ext cx="1625346" cy="489857"/>
          </a:xfrm>
          <a:prstGeom prst="rect">
            <a:avLst/>
          </a:prstGeom>
          <a:solidFill>
            <a:srgbClr val="FFFFFF"/>
          </a:solidFill>
          <a:ln w="5715">
            <a:solidFill>
              <a:srgbClr val="D8E0EA"/>
            </a:solidFill>
            <a:prstDash val="solid"/>
          </a:ln>
        </p:spPr>
      </p:sp>
      <p:sp>
        <p:nvSpPr>
          <p:cNvPr id="62" name="Text 60"/>
          <p:cNvSpPr/>
          <p:nvPr/>
        </p:nvSpPr>
        <p:spPr>
          <a:xfrm>
            <a:off x="5671566" y="4762718"/>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2</a:t>
            </a:r>
            <a:endParaRPr lang="en-US" sz="780" dirty="0"/>
          </a:p>
        </p:txBody>
      </p:sp>
      <p:sp>
        <p:nvSpPr>
          <p:cNvPr id="63" name="Shape 61"/>
          <p:cNvSpPr/>
          <p:nvPr/>
        </p:nvSpPr>
        <p:spPr>
          <a:xfrm>
            <a:off x="777240" y="5225143"/>
            <a:ext cx="1625346" cy="489857"/>
          </a:xfrm>
          <a:prstGeom prst="rect">
            <a:avLst/>
          </a:prstGeom>
          <a:solidFill>
            <a:srgbClr val="FFFFFF"/>
          </a:solidFill>
          <a:ln w="5715">
            <a:solidFill>
              <a:srgbClr val="D8E0EA"/>
            </a:solidFill>
            <a:prstDash val="solid"/>
          </a:ln>
        </p:spPr>
      </p:sp>
      <p:sp>
        <p:nvSpPr>
          <p:cNvPr id="64" name="Text 62"/>
          <p:cNvSpPr/>
          <p:nvPr/>
        </p:nvSpPr>
        <p:spPr>
          <a:xfrm>
            <a:off x="795528" y="5252575"/>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65" name="Shape 63"/>
          <p:cNvSpPr/>
          <p:nvPr/>
        </p:nvSpPr>
        <p:spPr>
          <a:xfrm>
            <a:off x="2402586" y="5225143"/>
            <a:ext cx="1625346" cy="489857"/>
          </a:xfrm>
          <a:prstGeom prst="rect">
            <a:avLst/>
          </a:prstGeom>
          <a:solidFill>
            <a:srgbClr val="FFFFFF"/>
          </a:solidFill>
          <a:ln w="5715">
            <a:solidFill>
              <a:srgbClr val="D8E0EA"/>
            </a:solidFill>
            <a:prstDash val="solid"/>
          </a:ln>
        </p:spPr>
      </p:sp>
      <p:sp>
        <p:nvSpPr>
          <p:cNvPr id="66" name="Text 64"/>
          <p:cNvSpPr/>
          <p:nvPr/>
        </p:nvSpPr>
        <p:spPr>
          <a:xfrm>
            <a:off x="2420874" y="5252575"/>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Mar</a:t>
            </a:r>
            <a:endParaRPr lang="en-US" sz="780" dirty="0"/>
          </a:p>
        </p:txBody>
      </p:sp>
      <p:sp>
        <p:nvSpPr>
          <p:cNvPr id="67" name="Shape 65"/>
          <p:cNvSpPr/>
          <p:nvPr/>
        </p:nvSpPr>
        <p:spPr>
          <a:xfrm>
            <a:off x="4027932" y="5225143"/>
            <a:ext cx="1625346" cy="489857"/>
          </a:xfrm>
          <a:prstGeom prst="rect">
            <a:avLst/>
          </a:prstGeom>
          <a:solidFill>
            <a:srgbClr val="FFFFFF"/>
          </a:solidFill>
          <a:ln w="5715">
            <a:solidFill>
              <a:srgbClr val="D8E0EA"/>
            </a:solidFill>
            <a:prstDash val="solid"/>
          </a:ln>
        </p:spPr>
      </p:sp>
      <p:sp>
        <p:nvSpPr>
          <p:cNvPr id="68" name="Text 66"/>
          <p:cNvSpPr/>
          <p:nvPr/>
        </p:nvSpPr>
        <p:spPr>
          <a:xfrm>
            <a:off x="4046220" y="5252575"/>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69" name="Shape 67"/>
          <p:cNvSpPr/>
          <p:nvPr/>
        </p:nvSpPr>
        <p:spPr>
          <a:xfrm>
            <a:off x="5653278" y="5225143"/>
            <a:ext cx="1625346" cy="489857"/>
          </a:xfrm>
          <a:prstGeom prst="rect">
            <a:avLst/>
          </a:prstGeom>
          <a:solidFill>
            <a:srgbClr val="FFFFFF"/>
          </a:solidFill>
          <a:ln w="5715">
            <a:solidFill>
              <a:srgbClr val="D8E0EA"/>
            </a:solidFill>
            <a:prstDash val="solid"/>
          </a:ln>
        </p:spPr>
      </p:sp>
      <p:sp>
        <p:nvSpPr>
          <p:cNvPr id="70" name="Text 68"/>
          <p:cNvSpPr/>
          <p:nvPr/>
        </p:nvSpPr>
        <p:spPr>
          <a:xfrm>
            <a:off x="5671566" y="5252575"/>
            <a:ext cx="1588770" cy="453281"/>
          </a:xfrm>
          <a:prstGeom prst="rect">
            <a:avLst/>
          </a:prstGeom>
          <a:noFill/>
          <a:ln/>
        </p:spPr>
        <p:txBody>
          <a:bodyPr wrap="square" lIns="0" tIns="0" rIns="0" bIns="0" rtlCol="0" anchor="ctr">
            <a:normAutofit/>
          </a:bodyPr>
          <a:lstStyle/>
          <a:p>
            <a:pPr marL="0" indent="0">
              <a:buNone/>
            </a:pPr>
            <a:r>
              <a:rPr lang="en-US" sz="780" dirty="0">
                <a:solidFill>
                  <a:srgbClr val="26364A"/>
                </a:solidFill>
              </a:rPr>
              <a:t>2</a:t>
            </a:r>
            <a:endParaRPr lang="en-US" sz="780" dirty="0"/>
          </a:p>
        </p:txBody>
      </p:sp>
      <p:sp>
        <p:nvSpPr>
          <p:cNvPr id="71" name="Shape 69"/>
          <p:cNvSpPr/>
          <p:nvPr/>
        </p:nvSpPr>
        <p:spPr>
          <a:xfrm>
            <a:off x="7662672" y="1627632"/>
            <a:ext cx="3337560" cy="1051560"/>
          </a:xfrm>
          <a:prstGeom prst="roundRect">
            <a:avLst>
              <a:gd name="adj" fmla="val 6957"/>
            </a:avLst>
          </a:prstGeom>
          <a:solidFill>
            <a:srgbClr val="EAF1FF"/>
          </a:solidFill>
          <a:ln w="10160">
            <a:solidFill>
              <a:srgbClr val="E9EEF5"/>
            </a:solidFill>
            <a:prstDash val="solid"/>
          </a:ln>
        </p:spPr>
      </p:sp>
      <p:sp>
        <p:nvSpPr>
          <p:cNvPr id="72" name="Text 70"/>
          <p:cNvSpPr/>
          <p:nvPr/>
        </p:nvSpPr>
        <p:spPr>
          <a:xfrm>
            <a:off x="7827264" y="1764792"/>
            <a:ext cx="30083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Primary key / identifier</a:t>
            </a:r>
            <a:endParaRPr lang="en-US" sz="1500" dirty="0"/>
          </a:p>
        </p:txBody>
      </p:sp>
      <p:sp>
        <p:nvSpPr>
          <p:cNvPr id="73" name="Text 71"/>
          <p:cNvSpPr/>
          <p:nvPr/>
        </p:nvSpPr>
        <p:spPr>
          <a:xfrm>
            <a:off x="7827264" y="2103120"/>
            <a:ext cx="3008376" cy="4480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CustomerID + Month uniquely identifies each row.</a:t>
            </a:r>
            <a:endParaRPr lang="en-US" sz="1150" dirty="0"/>
          </a:p>
        </p:txBody>
      </p:sp>
      <p:sp>
        <p:nvSpPr>
          <p:cNvPr id="74" name="Shape 72"/>
          <p:cNvSpPr/>
          <p:nvPr/>
        </p:nvSpPr>
        <p:spPr>
          <a:xfrm>
            <a:off x="7662672" y="2852928"/>
            <a:ext cx="3337560" cy="1051560"/>
          </a:xfrm>
          <a:prstGeom prst="roundRect">
            <a:avLst>
              <a:gd name="adj" fmla="val 6957"/>
            </a:avLst>
          </a:prstGeom>
          <a:solidFill>
            <a:srgbClr val="E6F7F5"/>
          </a:solidFill>
          <a:ln w="10160">
            <a:solidFill>
              <a:srgbClr val="E9EEF5"/>
            </a:solidFill>
            <a:prstDash val="solid"/>
          </a:ln>
        </p:spPr>
      </p:sp>
      <p:sp>
        <p:nvSpPr>
          <p:cNvPr id="75" name="Text 73"/>
          <p:cNvSpPr/>
          <p:nvPr/>
        </p:nvSpPr>
        <p:spPr>
          <a:xfrm>
            <a:off x="7827264" y="2990088"/>
            <a:ext cx="30083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Grain</a:t>
            </a:r>
            <a:endParaRPr lang="en-US" sz="1500" dirty="0"/>
          </a:p>
        </p:txBody>
      </p:sp>
      <p:sp>
        <p:nvSpPr>
          <p:cNvPr id="76" name="Text 74"/>
          <p:cNvSpPr/>
          <p:nvPr/>
        </p:nvSpPr>
        <p:spPr>
          <a:xfrm>
            <a:off x="7827264" y="3328416"/>
            <a:ext cx="3008376" cy="4480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One row = one customer in one month.</a:t>
            </a:r>
            <a:endParaRPr lang="en-US" sz="1150" dirty="0"/>
          </a:p>
        </p:txBody>
      </p:sp>
      <p:sp>
        <p:nvSpPr>
          <p:cNvPr id="77" name="Shape 75"/>
          <p:cNvSpPr/>
          <p:nvPr/>
        </p:nvSpPr>
        <p:spPr>
          <a:xfrm>
            <a:off x="7662672" y="4078224"/>
            <a:ext cx="3337560" cy="1051560"/>
          </a:xfrm>
          <a:prstGeom prst="roundRect">
            <a:avLst>
              <a:gd name="adj" fmla="val 6957"/>
            </a:avLst>
          </a:prstGeom>
          <a:solidFill>
            <a:srgbClr val="FDECEC"/>
          </a:solidFill>
          <a:ln w="10160">
            <a:solidFill>
              <a:srgbClr val="E9EEF5"/>
            </a:solidFill>
            <a:prstDash val="solid"/>
          </a:ln>
        </p:spPr>
      </p:sp>
      <p:sp>
        <p:nvSpPr>
          <p:cNvPr id="78" name="Text 76"/>
          <p:cNvSpPr/>
          <p:nvPr/>
        </p:nvSpPr>
        <p:spPr>
          <a:xfrm>
            <a:off x="7827264" y="4215384"/>
            <a:ext cx="30083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Risk of wrong grain</a:t>
            </a:r>
            <a:endParaRPr lang="en-US" sz="1500" dirty="0"/>
          </a:p>
        </p:txBody>
      </p:sp>
      <p:sp>
        <p:nvSpPr>
          <p:cNvPr id="79" name="Text 77"/>
          <p:cNvSpPr/>
          <p:nvPr/>
        </p:nvSpPr>
        <p:spPr>
          <a:xfrm>
            <a:off x="7827264" y="4553712"/>
            <a:ext cx="3008376" cy="4480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Averaging balances at the wrong level can double-count customers.</a:t>
            </a:r>
            <a:endParaRPr lang="en-US" sz="1150" dirty="0"/>
          </a:p>
        </p:txBody>
      </p:sp>
      <p:sp>
        <p:nvSpPr>
          <p:cNvPr id="80"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Observation, variable, value: three simple words, three different roles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table becomes easier to reason about when these terms are explicit.</a:t>
            </a:r>
            <a:endParaRPr lang="en-US" sz="1300" dirty="0"/>
          </a:p>
        </p:txBody>
      </p:sp>
      <p:sp>
        <p:nvSpPr>
          <p:cNvPr id="7" name="Shape 5"/>
          <p:cNvSpPr/>
          <p:nvPr/>
        </p:nvSpPr>
        <p:spPr>
          <a:xfrm>
            <a:off x="1645920" y="1481328"/>
            <a:ext cx="960120" cy="960120"/>
          </a:xfrm>
          <a:prstGeom prst="ellipse">
            <a:avLst/>
          </a:prstGeom>
          <a:solidFill>
            <a:srgbClr val="2F6BFF"/>
          </a:solidFill>
          <a:ln w="12700">
            <a:solidFill>
              <a:srgbClr val="2F6BFF"/>
            </a:solidFill>
            <a:prstDash val="solid"/>
          </a:ln>
        </p:spPr>
      </p:sp>
      <p:sp>
        <p:nvSpPr>
          <p:cNvPr id="8" name="Text 6"/>
          <p:cNvSpPr/>
          <p:nvPr/>
        </p:nvSpPr>
        <p:spPr>
          <a:xfrm>
            <a:off x="1645920" y="1719072"/>
            <a:ext cx="960120" cy="27432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9" name="Shape 7"/>
          <p:cNvSpPr/>
          <p:nvPr/>
        </p:nvSpPr>
        <p:spPr>
          <a:xfrm>
            <a:off x="868680" y="2834640"/>
            <a:ext cx="2542032" cy="1828800"/>
          </a:xfrm>
          <a:prstGeom prst="roundRect">
            <a:avLst>
              <a:gd name="adj" fmla="val 400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0" name="Text 8"/>
          <p:cNvSpPr/>
          <p:nvPr/>
        </p:nvSpPr>
        <p:spPr>
          <a:xfrm>
            <a:off x="1033272" y="2971800"/>
            <a:ext cx="22128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OBSERVATION</a:t>
            </a:r>
            <a:endParaRPr lang="en-US" sz="1500" dirty="0"/>
          </a:p>
        </p:txBody>
      </p:sp>
      <p:sp>
        <p:nvSpPr>
          <p:cNvPr id="11" name="Text 9"/>
          <p:cNvSpPr/>
          <p:nvPr/>
        </p:nvSpPr>
        <p:spPr>
          <a:xfrm>
            <a:off x="1033272" y="3310128"/>
            <a:ext cx="2212848" cy="12252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unit being analysed</a:t>
            </a:r>
            <a:endParaRPr lang="en-US" sz="1150" dirty="0"/>
          </a:p>
          <a:p>
            <a:pPr marL="0" indent="0">
              <a:buNone/>
            </a:pPr>
            <a:endParaRPr lang="en-US" sz="1150" dirty="0"/>
          </a:p>
          <a:p>
            <a:pPr marL="0" indent="0">
              <a:buNone/>
            </a:pPr>
            <a:r>
              <a:rPr lang="en-US" sz="1150" dirty="0">
                <a:solidFill>
                  <a:srgbClr val="26364A"/>
                </a:solidFill>
              </a:rPr>
              <a:t>Example: Customer C1003</a:t>
            </a:r>
            <a:endParaRPr lang="en-US" sz="1150" dirty="0"/>
          </a:p>
        </p:txBody>
      </p:sp>
      <p:sp>
        <p:nvSpPr>
          <p:cNvPr id="12" name="Shape 10"/>
          <p:cNvSpPr/>
          <p:nvPr/>
        </p:nvSpPr>
        <p:spPr>
          <a:xfrm>
            <a:off x="5394960" y="1481328"/>
            <a:ext cx="960120" cy="960120"/>
          </a:xfrm>
          <a:prstGeom prst="ellipse">
            <a:avLst/>
          </a:prstGeom>
          <a:solidFill>
            <a:srgbClr val="009E9A"/>
          </a:solidFill>
          <a:ln w="12700">
            <a:solidFill>
              <a:srgbClr val="009E9A"/>
            </a:solidFill>
            <a:prstDash val="solid"/>
          </a:ln>
        </p:spPr>
      </p:sp>
      <p:sp>
        <p:nvSpPr>
          <p:cNvPr id="13" name="Text 11"/>
          <p:cNvSpPr/>
          <p:nvPr/>
        </p:nvSpPr>
        <p:spPr>
          <a:xfrm>
            <a:off x="5394960" y="1719072"/>
            <a:ext cx="960120" cy="27432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4" name="Shape 12"/>
          <p:cNvSpPr/>
          <p:nvPr/>
        </p:nvSpPr>
        <p:spPr>
          <a:xfrm>
            <a:off x="4617720" y="2834640"/>
            <a:ext cx="2542032" cy="1828800"/>
          </a:xfrm>
          <a:prstGeom prst="roundRect">
            <a:avLst>
              <a:gd name="adj" fmla="val 400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5" name="Text 13"/>
          <p:cNvSpPr/>
          <p:nvPr/>
        </p:nvSpPr>
        <p:spPr>
          <a:xfrm>
            <a:off x="4782312" y="2971800"/>
            <a:ext cx="22128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VARIABLE</a:t>
            </a:r>
            <a:endParaRPr lang="en-US" sz="1500" dirty="0"/>
          </a:p>
        </p:txBody>
      </p:sp>
      <p:sp>
        <p:nvSpPr>
          <p:cNvPr id="16" name="Text 14"/>
          <p:cNvSpPr/>
          <p:nvPr/>
        </p:nvSpPr>
        <p:spPr>
          <a:xfrm>
            <a:off x="4782312" y="3310128"/>
            <a:ext cx="2212848" cy="12252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measured attribute</a:t>
            </a:r>
            <a:endParaRPr lang="en-US" sz="1150" dirty="0"/>
          </a:p>
          <a:p>
            <a:pPr marL="0" indent="0">
              <a:buNone/>
            </a:pPr>
            <a:endParaRPr lang="en-US" sz="1150" dirty="0"/>
          </a:p>
          <a:p>
            <a:pPr marL="0" indent="0">
              <a:buNone/>
            </a:pPr>
            <a:r>
              <a:rPr lang="en-US" sz="1150" dirty="0">
                <a:solidFill>
                  <a:srgbClr val="26364A"/>
                </a:solidFill>
              </a:rPr>
              <a:t>Example: AnnualIncome</a:t>
            </a:r>
            <a:endParaRPr lang="en-US" sz="1150" dirty="0"/>
          </a:p>
        </p:txBody>
      </p:sp>
      <p:sp>
        <p:nvSpPr>
          <p:cNvPr id="17" name="Shape 15"/>
          <p:cNvSpPr/>
          <p:nvPr/>
        </p:nvSpPr>
        <p:spPr>
          <a:xfrm>
            <a:off x="9144000" y="1481328"/>
            <a:ext cx="960120" cy="960120"/>
          </a:xfrm>
          <a:prstGeom prst="ellipse">
            <a:avLst/>
          </a:prstGeom>
          <a:solidFill>
            <a:srgbClr val="F59E0B"/>
          </a:solidFill>
          <a:ln w="12700">
            <a:solidFill>
              <a:srgbClr val="F59E0B"/>
            </a:solidFill>
            <a:prstDash val="solid"/>
          </a:ln>
        </p:spPr>
      </p:sp>
      <p:sp>
        <p:nvSpPr>
          <p:cNvPr id="18" name="Text 16"/>
          <p:cNvSpPr/>
          <p:nvPr/>
        </p:nvSpPr>
        <p:spPr>
          <a:xfrm>
            <a:off x="9144000" y="1719072"/>
            <a:ext cx="960120" cy="27432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9" name="Shape 17"/>
          <p:cNvSpPr/>
          <p:nvPr/>
        </p:nvSpPr>
        <p:spPr>
          <a:xfrm>
            <a:off x="8366760" y="2834640"/>
            <a:ext cx="2542032" cy="1828800"/>
          </a:xfrm>
          <a:prstGeom prst="roundRect">
            <a:avLst>
              <a:gd name="adj" fmla="val 400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0" name="Text 18"/>
          <p:cNvSpPr/>
          <p:nvPr/>
        </p:nvSpPr>
        <p:spPr>
          <a:xfrm>
            <a:off x="8531352" y="2971800"/>
            <a:ext cx="22128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VALUE</a:t>
            </a:r>
            <a:endParaRPr lang="en-US" sz="1500" dirty="0"/>
          </a:p>
        </p:txBody>
      </p:sp>
      <p:sp>
        <p:nvSpPr>
          <p:cNvPr id="21" name="Text 19"/>
          <p:cNvSpPr/>
          <p:nvPr/>
        </p:nvSpPr>
        <p:spPr>
          <a:xfrm>
            <a:off x="8531352" y="3310128"/>
            <a:ext cx="2212848" cy="12252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concrete measurement</a:t>
            </a:r>
            <a:endParaRPr lang="en-US" sz="1150" dirty="0"/>
          </a:p>
          <a:p>
            <a:pPr marL="0" indent="0">
              <a:buNone/>
            </a:pPr>
            <a:endParaRPr lang="en-US" sz="1150" dirty="0"/>
          </a:p>
          <a:p>
            <a:pPr marL="0" indent="0">
              <a:buNone/>
            </a:pPr>
            <a:r>
              <a:rPr lang="en-US" sz="1150" dirty="0">
                <a:solidFill>
                  <a:srgbClr val="26364A"/>
                </a:solidFill>
              </a:rPr>
              <a:t>Example: €92,000</a:t>
            </a:r>
            <a:endParaRPr lang="en-US" sz="1150" dirty="0"/>
          </a:p>
        </p:txBody>
      </p:sp>
      <p:sp>
        <p:nvSpPr>
          <p:cNvPr id="22" name="Shape 20"/>
          <p:cNvSpPr/>
          <p:nvPr/>
        </p:nvSpPr>
        <p:spPr>
          <a:xfrm>
            <a:off x="1508760" y="5257800"/>
            <a:ext cx="9144000" cy="548640"/>
          </a:xfrm>
          <a:prstGeom prst="roundRect">
            <a:avLst>
              <a:gd name="adj" fmla="val 8333"/>
            </a:avLst>
          </a:prstGeom>
          <a:solidFill>
            <a:srgbClr val="FFFFFF"/>
          </a:solidFill>
          <a:ln w="15240">
            <a:solidFill>
              <a:srgbClr val="217346"/>
            </a:solidFill>
            <a:prstDash val="solid"/>
          </a:ln>
        </p:spPr>
      </p:sp>
      <p:sp>
        <p:nvSpPr>
          <p:cNvPr id="23" name="Shape 21"/>
          <p:cNvSpPr/>
          <p:nvPr/>
        </p:nvSpPr>
        <p:spPr>
          <a:xfrm>
            <a:off x="1508760" y="5257800"/>
            <a:ext cx="73152" cy="548640"/>
          </a:xfrm>
          <a:prstGeom prst="rect">
            <a:avLst/>
          </a:prstGeom>
          <a:solidFill>
            <a:srgbClr val="217346"/>
          </a:solidFill>
          <a:ln w="12700">
            <a:solidFill>
              <a:srgbClr val="217346"/>
            </a:solidFill>
            <a:prstDash val="solid"/>
          </a:ln>
        </p:spPr>
      </p:sp>
      <p:sp>
        <p:nvSpPr>
          <p:cNvPr id="24" name="Text 22"/>
          <p:cNvSpPr/>
          <p:nvPr/>
        </p:nvSpPr>
        <p:spPr>
          <a:xfrm>
            <a:off x="1673352" y="5367528"/>
            <a:ext cx="8887968" cy="329184"/>
          </a:xfrm>
          <a:prstGeom prst="rect">
            <a:avLst/>
          </a:prstGeom>
          <a:noFill/>
          <a:ln/>
        </p:spPr>
        <p:txBody>
          <a:bodyPr wrap="square" lIns="0" tIns="0" rIns="0" bIns="0" rtlCol="0" anchor="ctr">
            <a:normAutofit/>
          </a:bodyPr>
          <a:lstStyle/>
          <a:p>
            <a:pPr marL="0" indent="0">
              <a:buNone/>
            </a:pPr>
            <a:r>
              <a:rPr lang="en-US" sz="1150" b="1" dirty="0">
                <a:solidFill>
                  <a:srgbClr val="0B1F33"/>
                </a:solidFill>
              </a:rPr>
              <a:t>In Excel: rows usually represent observations, columns variables, and cells values.</a:t>
            </a:r>
            <a:endParaRPr lang="en-US" sz="1150" dirty="0"/>
          </a:p>
        </p:txBody>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What makes tabular data analysis-ready?</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clean table is a model of the business process, not merely a rectangular range.</a:t>
            </a:r>
            <a:endParaRPr lang="en-US" sz="1300" dirty="0"/>
          </a:p>
        </p:txBody>
      </p:sp>
      <p:sp>
        <p:nvSpPr>
          <p:cNvPr id="7" name="Shape 5"/>
          <p:cNvSpPr/>
          <p:nvPr/>
        </p:nvSpPr>
        <p:spPr>
          <a:xfrm>
            <a:off x="694944" y="1618488"/>
            <a:ext cx="310896" cy="310896"/>
          </a:xfrm>
          <a:prstGeom prst="ellipse">
            <a:avLst/>
          </a:prstGeom>
          <a:solidFill>
            <a:srgbClr val="2DAA74"/>
          </a:solidFill>
          <a:ln w="12700">
            <a:solidFill>
              <a:srgbClr val="2DAA74"/>
            </a:solidFill>
            <a:prstDash val="solid"/>
          </a:ln>
        </p:spPr>
      </p:sp>
      <p:sp>
        <p:nvSpPr>
          <p:cNvPr id="8" name="Text 6"/>
          <p:cNvSpPr/>
          <p:nvPr/>
        </p:nvSpPr>
        <p:spPr>
          <a:xfrm>
            <a:off x="694944" y="1613916"/>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9" name="Text 7"/>
          <p:cNvSpPr/>
          <p:nvPr/>
        </p:nvSpPr>
        <p:spPr>
          <a:xfrm>
            <a:off x="1170432" y="1490472"/>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One row, one observation</a:t>
            </a:r>
            <a:endParaRPr lang="en-US" sz="1300" dirty="0"/>
          </a:p>
        </p:txBody>
      </p:sp>
      <p:sp>
        <p:nvSpPr>
          <p:cNvPr id="10" name="Text 8"/>
          <p:cNvSpPr/>
          <p:nvPr/>
        </p:nvSpPr>
        <p:spPr>
          <a:xfrm>
            <a:off x="1170432" y="1856232"/>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No merged cells; no subtotals inside the data area.</a:t>
            </a:r>
            <a:endParaRPr lang="en-US" sz="1100" dirty="0"/>
          </a:p>
        </p:txBody>
      </p:sp>
      <p:sp>
        <p:nvSpPr>
          <p:cNvPr id="11" name="Shape 9"/>
          <p:cNvSpPr/>
          <p:nvPr/>
        </p:nvSpPr>
        <p:spPr>
          <a:xfrm>
            <a:off x="6272784" y="1618488"/>
            <a:ext cx="310896" cy="310896"/>
          </a:xfrm>
          <a:prstGeom prst="ellipse">
            <a:avLst/>
          </a:prstGeom>
          <a:solidFill>
            <a:srgbClr val="2DAA74"/>
          </a:solidFill>
          <a:ln w="12700">
            <a:solidFill>
              <a:srgbClr val="2DAA74"/>
            </a:solidFill>
            <a:prstDash val="solid"/>
          </a:ln>
        </p:spPr>
      </p:sp>
      <p:sp>
        <p:nvSpPr>
          <p:cNvPr id="12" name="Text 10"/>
          <p:cNvSpPr/>
          <p:nvPr/>
        </p:nvSpPr>
        <p:spPr>
          <a:xfrm>
            <a:off x="6272784" y="1613916"/>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3" name="Text 11"/>
          <p:cNvSpPr/>
          <p:nvPr/>
        </p:nvSpPr>
        <p:spPr>
          <a:xfrm>
            <a:off x="6748272" y="1490472"/>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One column, one variable</a:t>
            </a:r>
            <a:endParaRPr lang="en-US" sz="1300" dirty="0"/>
          </a:p>
        </p:txBody>
      </p:sp>
      <p:sp>
        <p:nvSpPr>
          <p:cNvPr id="14" name="Text 12"/>
          <p:cNvSpPr/>
          <p:nvPr/>
        </p:nvSpPr>
        <p:spPr>
          <a:xfrm>
            <a:off x="6748272" y="1856232"/>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Do not mix currency, text and comments in the same field.</a:t>
            </a:r>
            <a:endParaRPr lang="en-US" sz="1100" dirty="0"/>
          </a:p>
        </p:txBody>
      </p:sp>
      <p:sp>
        <p:nvSpPr>
          <p:cNvPr id="15" name="Shape 13"/>
          <p:cNvSpPr/>
          <p:nvPr/>
        </p:nvSpPr>
        <p:spPr>
          <a:xfrm>
            <a:off x="694944" y="2971800"/>
            <a:ext cx="310896" cy="310896"/>
          </a:xfrm>
          <a:prstGeom prst="ellipse">
            <a:avLst/>
          </a:prstGeom>
          <a:solidFill>
            <a:srgbClr val="2DAA74"/>
          </a:solidFill>
          <a:ln w="12700">
            <a:solidFill>
              <a:srgbClr val="2DAA74"/>
            </a:solidFill>
            <a:prstDash val="solid"/>
          </a:ln>
        </p:spPr>
      </p:sp>
      <p:sp>
        <p:nvSpPr>
          <p:cNvPr id="16" name="Text 14"/>
          <p:cNvSpPr/>
          <p:nvPr/>
        </p:nvSpPr>
        <p:spPr>
          <a:xfrm>
            <a:off x="694944" y="2967228"/>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7" name="Text 15"/>
          <p:cNvSpPr/>
          <p:nvPr/>
        </p:nvSpPr>
        <p:spPr>
          <a:xfrm>
            <a:off x="1170432" y="2843784"/>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Consistent units</a:t>
            </a:r>
            <a:endParaRPr lang="en-US" sz="1300" dirty="0"/>
          </a:p>
        </p:txBody>
      </p:sp>
      <p:sp>
        <p:nvSpPr>
          <p:cNvPr id="18" name="Text 16"/>
          <p:cNvSpPr/>
          <p:nvPr/>
        </p:nvSpPr>
        <p:spPr>
          <a:xfrm>
            <a:off x="1170432" y="3209544"/>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EUR vs thousands of EUR must be explicit.</a:t>
            </a:r>
            <a:endParaRPr lang="en-US" sz="1100" dirty="0"/>
          </a:p>
        </p:txBody>
      </p:sp>
      <p:sp>
        <p:nvSpPr>
          <p:cNvPr id="19" name="Shape 17"/>
          <p:cNvSpPr/>
          <p:nvPr/>
        </p:nvSpPr>
        <p:spPr>
          <a:xfrm>
            <a:off x="6272784" y="2971800"/>
            <a:ext cx="310896" cy="310896"/>
          </a:xfrm>
          <a:prstGeom prst="ellipse">
            <a:avLst/>
          </a:prstGeom>
          <a:solidFill>
            <a:srgbClr val="2DAA74"/>
          </a:solidFill>
          <a:ln w="12700">
            <a:solidFill>
              <a:srgbClr val="2DAA74"/>
            </a:solidFill>
            <a:prstDash val="solid"/>
          </a:ln>
        </p:spPr>
      </p:sp>
      <p:sp>
        <p:nvSpPr>
          <p:cNvPr id="20" name="Text 18"/>
          <p:cNvSpPr/>
          <p:nvPr/>
        </p:nvSpPr>
        <p:spPr>
          <a:xfrm>
            <a:off x="6272784" y="2967228"/>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1" name="Text 19"/>
          <p:cNvSpPr/>
          <p:nvPr/>
        </p:nvSpPr>
        <p:spPr>
          <a:xfrm>
            <a:off x="6748272" y="2843784"/>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Stable categories</a:t>
            </a:r>
            <a:endParaRPr lang="en-US" sz="1300" dirty="0"/>
          </a:p>
        </p:txBody>
      </p:sp>
      <p:sp>
        <p:nvSpPr>
          <p:cNvPr id="22" name="Text 20"/>
          <p:cNvSpPr/>
          <p:nvPr/>
        </p:nvSpPr>
        <p:spPr>
          <a:xfrm>
            <a:off x="6748272" y="3209544"/>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“Retail”, “RETAIL”, “retail” should not be three categories.</a:t>
            </a:r>
            <a:endParaRPr lang="en-US" sz="1100" dirty="0"/>
          </a:p>
        </p:txBody>
      </p:sp>
      <p:sp>
        <p:nvSpPr>
          <p:cNvPr id="23" name="Shape 21"/>
          <p:cNvSpPr/>
          <p:nvPr/>
        </p:nvSpPr>
        <p:spPr>
          <a:xfrm>
            <a:off x="694944" y="4325112"/>
            <a:ext cx="310896" cy="310896"/>
          </a:xfrm>
          <a:prstGeom prst="ellipse">
            <a:avLst/>
          </a:prstGeom>
          <a:solidFill>
            <a:srgbClr val="2DAA74"/>
          </a:solidFill>
          <a:ln w="12700">
            <a:solidFill>
              <a:srgbClr val="2DAA74"/>
            </a:solidFill>
            <a:prstDash val="solid"/>
          </a:ln>
        </p:spPr>
      </p:sp>
      <p:sp>
        <p:nvSpPr>
          <p:cNvPr id="24" name="Text 22"/>
          <p:cNvSpPr/>
          <p:nvPr/>
        </p:nvSpPr>
        <p:spPr>
          <a:xfrm>
            <a:off x="694944" y="4320540"/>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5" name="Text 23"/>
          <p:cNvSpPr/>
          <p:nvPr/>
        </p:nvSpPr>
        <p:spPr>
          <a:xfrm>
            <a:off x="1170432" y="4197096"/>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Explicit missing values</a:t>
            </a:r>
            <a:endParaRPr lang="en-US" sz="1300" dirty="0"/>
          </a:p>
        </p:txBody>
      </p:sp>
      <p:sp>
        <p:nvSpPr>
          <p:cNvPr id="26" name="Text 24"/>
          <p:cNvSpPr/>
          <p:nvPr/>
        </p:nvSpPr>
        <p:spPr>
          <a:xfrm>
            <a:off x="1170432" y="4562856"/>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Blank ≠ zero ≠ not applicable.</a:t>
            </a:r>
            <a:endParaRPr lang="en-US" sz="1100" dirty="0"/>
          </a:p>
        </p:txBody>
      </p:sp>
      <p:sp>
        <p:nvSpPr>
          <p:cNvPr id="27" name="Shape 25"/>
          <p:cNvSpPr/>
          <p:nvPr/>
        </p:nvSpPr>
        <p:spPr>
          <a:xfrm>
            <a:off x="6272784" y="4325112"/>
            <a:ext cx="310896" cy="310896"/>
          </a:xfrm>
          <a:prstGeom prst="ellipse">
            <a:avLst/>
          </a:prstGeom>
          <a:solidFill>
            <a:srgbClr val="2DAA74"/>
          </a:solidFill>
          <a:ln w="12700">
            <a:solidFill>
              <a:srgbClr val="2DAA74"/>
            </a:solidFill>
            <a:prstDash val="solid"/>
          </a:ln>
        </p:spPr>
      </p:sp>
      <p:sp>
        <p:nvSpPr>
          <p:cNvPr id="28" name="Text 26"/>
          <p:cNvSpPr/>
          <p:nvPr/>
        </p:nvSpPr>
        <p:spPr>
          <a:xfrm>
            <a:off x="6272784" y="4320540"/>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9" name="Text 27"/>
          <p:cNvSpPr/>
          <p:nvPr/>
        </p:nvSpPr>
        <p:spPr>
          <a:xfrm>
            <a:off x="6748272" y="4197096"/>
            <a:ext cx="2377440" cy="292608"/>
          </a:xfrm>
          <a:prstGeom prst="rect">
            <a:avLst/>
          </a:prstGeom>
          <a:noFill/>
          <a:ln/>
        </p:spPr>
        <p:txBody>
          <a:bodyPr wrap="square" lIns="0" tIns="0" rIns="0" bIns="0" rtlCol="0" anchor="ctr"/>
          <a:lstStyle/>
          <a:p>
            <a:pPr marL="0" indent="0">
              <a:buNone/>
            </a:pPr>
            <a:r>
              <a:rPr lang="en-US" sz="1300" b="1" dirty="0">
                <a:solidFill>
                  <a:srgbClr val="0B1F33"/>
                </a:solidFill>
              </a:rPr>
              <a:t>Traceable definitions</a:t>
            </a:r>
            <a:endParaRPr lang="en-US" sz="1300" dirty="0"/>
          </a:p>
        </p:txBody>
      </p:sp>
      <p:sp>
        <p:nvSpPr>
          <p:cNvPr id="30" name="Text 28"/>
          <p:cNvSpPr/>
          <p:nvPr/>
        </p:nvSpPr>
        <p:spPr>
          <a:xfrm>
            <a:off x="6748272" y="4562856"/>
            <a:ext cx="4526280" cy="438912"/>
          </a:xfrm>
          <a:prstGeom prst="rect">
            <a:avLst/>
          </a:prstGeom>
          <a:noFill/>
          <a:ln/>
        </p:spPr>
        <p:txBody>
          <a:bodyPr wrap="square" lIns="0" tIns="0" rIns="0" bIns="0" rtlCol="0" anchor="ctr">
            <a:normAutofit/>
          </a:bodyPr>
          <a:lstStyle/>
          <a:p>
            <a:pPr marL="0" indent="0">
              <a:buNone/>
            </a:pPr>
            <a:r>
              <a:rPr lang="en-US" sz="1100" dirty="0">
                <a:solidFill>
                  <a:srgbClr val="26364A"/>
                </a:solidFill>
              </a:rPr>
              <a:t>Every field has a business meaning and owner.</a:t>
            </a:r>
            <a:endParaRPr lang="en-US" sz="1100" dirty="0"/>
          </a:p>
        </p:txBody>
      </p:sp>
      <p:sp>
        <p:nvSpPr>
          <p:cNvPr id="31" name="Shape 29"/>
          <p:cNvSpPr/>
          <p:nvPr/>
        </p:nvSpPr>
        <p:spPr>
          <a:xfrm>
            <a:off x="2852928" y="5687568"/>
            <a:ext cx="6446520" cy="420624"/>
          </a:xfrm>
          <a:prstGeom prst="roundRect">
            <a:avLst>
              <a:gd name="adj" fmla="val 10870"/>
            </a:avLst>
          </a:prstGeom>
          <a:solidFill>
            <a:srgbClr val="F8FBF9"/>
          </a:solidFill>
          <a:ln w="12700">
            <a:solidFill>
              <a:srgbClr val="217346"/>
            </a:solidFill>
            <a:prstDash val="solid"/>
          </a:ln>
        </p:spPr>
      </p:sp>
      <p:sp>
        <p:nvSpPr>
          <p:cNvPr id="32" name="Text 30"/>
          <p:cNvSpPr/>
          <p:nvPr/>
        </p:nvSpPr>
        <p:spPr>
          <a:xfrm>
            <a:off x="2962656" y="5769864"/>
            <a:ext cx="622706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Tip: convert ranges to an Excel Table (Ctrl+T) before serious EDA.</a:t>
            </a:r>
            <a:endParaRPr lang="en-US" sz="1050" dirty="0"/>
          </a:p>
        </p:txBody>
      </p:sp>
      <p:sp>
        <p:nvSpPr>
          <p:cNvPr id="33"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5448"/>
            <a:ext cx="4114800" cy="228600"/>
          </a:xfrm>
          <a:prstGeom prst="rect">
            <a:avLst/>
          </a:prstGeom>
          <a:noFill/>
        </p:spPr>
        <p:txBody>
          <a:bodyPr wrap="none" lIns="18288" tIns="9144" rIns="18288" bIns="9144" anchor="ctr">
            <a:spAutoFit/>
          </a:bodyPr>
          <a:lstStyle/>
          <a:p>
            <a:pPr algn="l"/>
            <a:r>
              <a:rPr sz="1000" b="1">
                <a:solidFill>
                  <a:srgbClr val="009E9A"/>
                </a:solidFill>
                <a:latin typeface="Aptos"/>
              </a:rPr>
              <a:t>02 · DATA &amp; TYPES</a:t>
            </a:r>
          </a:p>
        </p:txBody>
      </p:sp>
      <p:sp>
        <p:nvSpPr>
          <p:cNvPr id="3" name="TextBox 2"/>
          <p:cNvSpPr txBox="1"/>
          <p:nvPr/>
        </p:nvSpPr>
        <p:spPr>
          <a:xfrm>
            <a:off x="457200" y="438912"/>
            <a:ext cx="10789920" cy="502920"/>
          </a:xfrm>
          <a:prstGeom prst="rect">
            <a:avLst/>
          </a:prstGeom>
          <a:noFill/>
        </p:spPr>
        <p:txBody>
          <a:bodyPr wrap="none" lIns="18288" tIns="9144" rIns="18288" bIns="9144" anchor="ctr">
            <a:spAutoFit/>
          </a:bodyPr>
          <a:lstStyle/>
          <a:p>
            <a:pPr algn="l"/>
            <a:r>
              <a:rPr sz="2600" b="1">
                <a:solidFill>
                  <a:srgbClr val="0B1F33"/>
                </a:solidFill>
                <a:latin typeface="Aptos"/>
              </a:rPr>
              <a:t>Why convert a range to an Excel Table?</a:t>
            </a:r>
          </a:p>
        </p:txBody>
      </p:sp>
      <p:sp>
        <p:nvSpPr>
          <p:cNvPr id="4" name="TextBox 3"/>
          <p:cNvSpPr txBox="1"/>
          <p:nvPr/>
        </p:nvSpPr>
        <p:spPr>
          <a:xfrm>
            <a:off x="457200" y="1005840"/>
            <a:ext cx="10972800" cy="347472"/>
          </a:xfrm>
          <a:prstGeom prst="rect">
            <a:avLst/>
          </a:prstGeom>
          <a:noFill/>
        </p:spPr>
        <p:txBody>
          <a:bodyPr wrap="none" lIns="18288" tIns="9144" rIns="18288" bIns="9144" anchor="ctr">
            <a:spAutoFit/>
          </a:bodyPr>
          <a:lstStyle/>
          <a:p>
            <a:pPr algn="l"/>
            <a:r>
              <a:rPr sz="1400" b="0">
                <a:solidFill>
                  <a:srgbClr val="5C6C84"/>
                </a:solidFill>
                <a:latin typeface="Aptos"/>
              </a:rPr>
              <a:t>Before starting EDA, turn a normal cell range into a formal Excel Table (Ctrl+T).</a:t>
            </a:r>
          </a:p>
        </p:txBody>
      </p:sp>
      <p:sp>
        <p:nvSpPr>
          <p:cNvPr id="5" name="Rounded Rectangle 4"/>
          <p:cNvSpPr/>
          <p:nvPr/>
        </p:nvSpPr>
        <p:spPr>
          <a:xfrm>
            <a:off x="594360" y="1572768"/>
            <a:ext cx="3840480" cy="36118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755648"/>
            <a:ext cx="3291840" cy="292608"/>
          </a:xfrm>
          <a:prstGeom prst="rect">
            <a:avLst/>
          </a:prstGeom>
          <a:noFill/>
        </p:spPr>
        <p:txBody>
          <a:bodyPr wrap="none" lIns="18288" tIns="9144" rIns="18288" bIns="9144" anchor="ctr">
            <a:spAutoFit/>
          </a:bodyPr>
          <a:lstStyle/>
          <a:p>
            <a:pPr algn="l"/>
            <a:r>
              <a:rPr sz="1500" b="1">
                <a:solidFill>
                  <a:srgbClr val="0B1F33"/>
                </a:solidFill>
                <a:latin typeface="Aptos"/>
              </a:rPr>
              <a:t>NORMAL RANGE</a:t>
            </a:r>
          </a:p>
        </p:txBody>
      </p:sp>
      <p:sp>
        <p:nvSpPr>
          <p:cNvPr id="7" name="TextBox 6"/>
          <p:cNvSpPr txBox="1"/>
          <p:nvPr/>
        </p:nvSpPr>
        <p:spPr>
          <a:xfrm>
            <a:off x="841248" y="2084831"/>
            <a:ext cx="3246120" cy="402336"/>
          </a:xfrm>
          <a:prstGeom prst="rect">
            <a:avLst/>
          </a:prstGeom>
          <a:noFill/>
        </p:spPr>
        <p:txBody>
          <a:bodyPr wrap="none" lIns="18288" tIns="9144" rIns="18288" bIns="9144" anchor="ctr">
            <a:spAutoFit/>
          </a:bodyPr>
          <a:lstStyle/>
          <a:p>
            <a:pPr algn="l"/>
            <a:r>
              <a:rPr sz="1400" b="0">
                <a:solidFill>
                  <a:srgbClr val="5C6C84"/>
                </a:solidFill>
                <a:latin typeface="Aptos"/>
              </a:rPr>
              <a:t>Example:  A1:F1000</a:t>
            </a:r>
          </a:p>
        </p:txBody>
      </p:sp>
      <p:sp>
        <p:nvSpPr>
          <p:cNvPr id="8" name="Rectangle 7"/>
          <p:cNvSpPr/>
          <p:nvPr/>
        </p:nvSpPr>
        <p:spPr>
          <a:xfrm>
            <a:off x="868680" y="2679192"/>
            <a:ext cx="530352" cy="329184"/>
          </a:xfrm>
          <a:prstGeom prst="rect">
            <a:avLst/>
          </a:prstGeom>
          <a:solidFill>
            <a:srgbClr val="EBF3FA"/>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99031" y="2679192"/>
            <a:ext cx="530352" cy="329184"/>
          </a:xfrm>
          <a:prstGeom prst="rect">
            <a:avLst/>
          </a:prstGeom>
          <a:solidFill>
            <a:srgbClr val="EBF3FA"/>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929384" y="2679192"/>
            <a:ext cx="530352" cy="329184"/>
          </a:xfrm>
          <a:prstGeom prst="rect">
            <a:avLst/>
          </a:prstGeom>
          <a:solidFill>
            <a:srgbClr val="EBF3FA"/>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59735" y="2679192"/>
            <a:ext cx="530352" cy="329184"/>
          </a:xfrm>
          <a:prstGeom prst="rect">
            <a:avLst/>
          </a:prstGeom>
          <a:solidFill>
            <a:srgbClr val="EBF3FA"/>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90087" y="2679192"/>
            <a:ext cx="530352" cy="329184"/>
          </a:xfrm>
          <a:prstGeom prst="rect">
            <a:avLst/>
          </a:prstGeom>
          <a:solidFill>
            <a:srgbClr val="EBF3FA"/>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68680" y="3008376"/>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399031" y="3008376"/>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929384" y="3008376"/>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59735" y="3008376"/>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90087" y="3008376"/>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68680" y="3337560"/>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399031" y="3337560"/>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929384" y="3337560"/>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459735" y="3337560"/>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990087" y="3337560"/>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 y="3666744"/>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399031" y="3666744"/>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929384" y="3666744"/>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459735" y="3666744"/>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990087" y="3666744"/>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8680" y="3995928"/>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399031" y="3995928"/>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929384" y="3995928"/>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459735" y="3995928"/>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990087" y="3995928"/>
            <a:ext cx="530352" cy="329184"/>
          </a:xfrm>
          <a:prstGeom prst="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8680" y="2679192"/>
            <a:ext cx="530352" cy="329184"/>
          </a:xfrm>
          <a:prstGeom prst="rect">
            <a:avLst/>
          </a:prstGeom>
          <a:noFill/>
        </p:spPr>
        <p:txBody>
          <a:bodyPr wrap="none" lIns="18288" tIns="9144" rIns="18288" bIns="9144" anchor="ctr">
            <a:spAutoFit/>
          </a:bodyPr>
          <a:lstStyle/>
          <a:p>
            <a:pPr algn="ctr"/>
            <a:r>
              <a:rPr sz="750" b="1">
                <a:solidFill>
                  <a:srgbClr val="0B1F33"/>
                </a:solidFill>
                <a:latin typeface="Aptos"/>
              </a:rPr>
              <a:t>ID</a:t>
            </a:r>
          </a:p>
        </p:txBody>
      </p:sp>
      <p:sp>
        <p:nvSpPr>
          <p:cNvPr id="34" name="TextBox 33"/>
          <p:cNvSpPr txBox="1"/>
          <p:nvPr/>
        </p:nvSpPr>
        <p:spPr>
          <a:xfrm>
            <a:off x="1399031" y="2679192"/>
            <a:ext cx="530352" cy="329184"/>
          </a:xfrm>
          <a:prstGeom prst="rect">
            <a:avLst/>
          </a:prstGeom>
          <a:noFill/>
        </p:spPr>
        <p:txBody>
          <a:bodyPr wrap="none" lIns="18288" tIns="9144" rIns="18288" bIns="9144" anchor="ctr">
            <a:spAutoFit/>
          </a:bodyPr>
          <a:lstStyle/>
          <a:p>
            <a:pPr algn="ctr"/>
            <a:r>
              <a:rPr sz="750" b="1">
                <a:solidFill>
                  <a:srgbClr val="0B1F33"/>
                </a:solidFill>
                <a:latin typeface="Aptos"/>
              </a:rPr>
              <a:t>Age</a:t>
            </a:r>
          </a:p>
        </p:txBody>
      </p:sp>
      <p:sp>
        <p:nvSpPr>
          <p:cNvPr id="35" name="TextBox 34"/>
          <p:cNvSpPr txBox="1"/>
          <p:nvPr/>
        </p:nvSpPr>
        <p:spPr>
          <a:xfrm>
            <a:off x="1929384" y="2679192"/>
            <a:ext cx="530352" cy="329184"/>
          </a:xfrm>
          <a:prstGeom prst="rect">
            <a:avLst/>
          </a:prstGeom>
          <a:noFill/>
        </p:spPr>
        <p:txBody>
          <a:bodyPr wrap="none" lIns="18288" tIns="9144" rIns="18288" bIns="9144" anchor="ctr">
            <a:spAutoFit/>
          </a:bodyPr>
          <a:lstStyle/>
          <a:p>
            <a:pPr algn="ctr"/>
            <a:r>
              <a:rPr sz="750" b="1">
                <a:solidFill>
                  <a:srgbClr val="0B1F33"/>
                </a:solidFill>
                <a:latin typeface="Aptos"/>
              </a:rPr>
              <a:t>Income</a:t>
            </a:r>
          </a:p>
        </p:txBody>
      </p:sp>
      <p:sp>
        <p:nvSpPr>
          <p:cNvPr id="36" name="TextBox 35"/>
          <p:cNvSpPr txBox="1"/>
          <p:nvPr/>
        </p:nvSpPr>
        <p:spPr>
          <a:xfrm>
            <a:off x="2459735" y="2679192"/>
            <a:ext cx="530352" cy="329184"/>
          </a:xfrm>
          <a:prstGeom prst="rect">
            <a:avLst/>
          </a:prstGeom>
          <a:noFill/>
        </p:spPr>
        <p:txBody>
          <a:bodyPr wrap="none" lIns="18288" tIns="9144" rIns="18288" bIns="9144" anchor="ctr">
            <a:spAutoFit/>
          </a:bodyPr>
          <a:lstStyle/>
          <a:p>
            <a:pPr algn="ctr"/>
            <a:r>
              <a:rPr sz="750" b="1">
                <a:solidFill>
                  <a:srgbClr val="0B1F33"/>
                </a:solidFill>
                <a:latin typeface="Aptos"/>
              </a:rPr>
              <a:t>Bal.</a:t>
            </a:r>
          </a:p>
        </p:txBody>
      </p:sp>
      <p:sp>
        <p:nvSpPr>
          <p:cNvPr id="37" name="TextBox 36"/>
          <p:cNvSpPr txBox="1"/>
          <p:nvPr/>
        </p:nvSpPr>
        <p:spPr>
          <a:xfrm>
            <a:off x="2990087" y="2679192"/>
            <a:ext cx="530352" cy="329184"/>
          </a:xfrm>
          <a:prstGeom prst="rect">
            <a:avLst/>
          </a:prstGeom>
          <a:noFill/>
        </p:spPr>
        <p:txBody>
          <a:bodyPr wrap="none" lIns="18288" tIns="9144" rIns="18288" bIns="9144" anchor="ctr">
            <a:spAutoFit/>
          </a:bodyPr>
          <a:lstStyle/>
          <a:p>
            <a:pPr algn="ctr"/>
            <a:r>
              <a:rPr sz="750" b="1">
                <a:solidFill>
                  <a:srgbClr val="0B1F33"/>
                </a:solidFill>
                <a:latin typeface="Aptos"/>
              </a:rPr>
              <a:t>Seg.</a:t>
            </a:r>
          </a:p>
        </p:txBody>
      </p:sp>
      <p:sp>
        <p:nvSpPr>
          <p:cNvPr id="38" name="TextBox 37"/>
          <p:cNvSpPr txBox="1"/>
          <p:nvPr/>
        </p:nvSpPr>
        <p:spPr>
          <a:xfrm>
            <a:off x="868680" y="3008376"/>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C01</a:t>
            </a:r>
          </a:p>
        </p:txBody>
      </p:sp>
      <p:sp>
        <p:nvSpPr>
          <p:cNvPr id="39" name="TextBox 38"/>
          <p:cNvSpPr txBox="1"/>
          <p:nvPr/>
        </p:nvSpPr>
        <p:spPr>
          <a:xfrm>
            <a:off x="1399031" y="3008376"/>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42</a:t>
            </a:r>
          </a:p>
        </p:txBody>
      </p:sp>
      <p:sp>
        <p:nvSpPr>
          <p:cNvPr id="40" name="TextBox 39"/>
          <p:cNvSpPr txBox="1"/>
          <p:nvPr/>
        </p:nvSpPr>
        <p:spPr>
          <a:xfrm>
            <a:off x="1929384" y="3008376"/>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65k</a:t>
            </a:r>
          </a:p>
        </p:txBody>
      </p:sp>
      <p:sp>
        <p:nvSpPr>
          <p:cNvPr id="41" name="TextBox 40"/>
          <p:cNvSpPr txBox="1"/>
          <p:nvPr/>
        </p:nvSpPr>
        <p:spPr>
          <a:xfrm>
            <a:off x="2459735" y="3008376"/>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12.5k</a:t>
            </a:r>
          </a:p>
        </p:txBody>
      </p:sp>
      <p:sp>
        <p:nvSpPr>
          <p:cNvPr id="42" name="TextBox 41"/>
          <p:cNvSpPr txBox="1"/>
          <p:nvPr/>
        </p:nvSpPr>
        <p:spPr>
          <a:xfrm>
            <a:off x="2990087" y="3008376"/>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A</a:t>
            </a:r>
          </a:p>
        </p:txBody>
      </p:sp>
      <p:sp>
        <p:nvSpPr>
          <p:cNvPr id="43" name="TextBox 42"/>
          <p:cNvSpPr txBox="1"/>
          <p:nvPr/>
        </p:nvSpPr>
        <p:spPr>
          <a:xfrm>
            <a:off x="868680" y="3337560"/>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C02</a:t>
            </a:r>
          </a:p>
        </p:txBody>
      </p:sp>
      <p:sp>
        <p:nvSpPr>
          <p:cNvPr id="44" name="TextBox 43"/>
          <p:cNvSpPr txBox="1"/>
          <p:nvPr/>
        </p:nvSpPr>
        <p:spPr>
          <a:xfrm>
            <a:off x="1399031" y="3337560"/>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35</a:t>
            </a:r>
          </a:p>
        </p:txBody>
      </p:sp>
      <p:sp>
        <p:nvSpPr>
          <p:cNvPr id="45" name="TextBox 44"/>
          <p:cNvSpPr txBox="1"/>
          <p:nvPr/>
        </p:nvSpPr>
        <p:spPr>
          <a:xfrm>
            <a:off x="1929384" y="3337560"/>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54k</a:t>
            </a:r>
          </a:p>
        </p:txBody>
      </p:sp>
      <p:sp>
        <p:nvSpPr>
          <p:cNvPr id="46" name="TextBox 45"/>
          <p:cNvSpPr txBox="1"/>
          <p:nvPr/>
        </p:nvSpPr>
        <p:spPr>
          <a:xfrm>
            <a:off x="2459735" y="3337560"/>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8.2k</a:t>
            </a:r>
          </a:p>
        </p:txBody>
      </p:sp>
      <p:sp>
        <p:nvSpPr>
          <p:cNvPr id="47" name="TextBox 46"/>
          <p:cNvSpPr txBox="1"/>
          <p:nvPr/>
        </p:nvSpPr>
        <p:spPr>
          <a:xfrm>
            <a:off x="2990087" y="3337560"/>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M</a:t>
            </a:r>
          </a:p>
        </p:txBody>
      </p:sp>
      <p:sp>
        <p:nvSpPr>
          <p:cNvPr id="48" name="TextBox 47"/>
          <p:cNvSpPr txBox="1"/>
          <p:nvPr/>
        </p:nvSpPr>
        <p:spPr>
          <a:xfrm>
            <a:off x="868680" y="3666744"/>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C03</a:t>
            </a:r>
          </a:p>
        </p:txBody>
      </p:sp>
      <p:sp>
        <p:nvSpPr>
          <p:cNvPr id="49" name="TextBox 48"/>
          <p:cNvSpPr txBox="1"/>
          <p:nvPr/>
        </p:nvSpPr>
        <p:spPr>
          <a:xfrm>
            <a:off x="1399031" y="3666744"/>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61</a:t>
            </a:r>
          </a:p>
        </p:txBody>
      </p:sp>
      <p:sp>
        <p:nvSpPr>
          <p:cNvPr id="50" name="TextBox 49"/>
          <p:cNvSpPr txBox="1"/>
          <p:nvPr/>
        </p:nvSpPr>
        <p:spPr>
          <a:xfrm>
            <a:off x="1929384" y="3666744"/>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92k</a:t>
            </a:r>
          </a:p>
        </p:txBody>
      </p:sp>
      <p:sp>
        <p:nvSpPr>
          <p:cNvPr id="51" name="TextBox 50"/>
          <p:cNvSpPr txBox="1"/>
          <p:nvPr/>
        </p:nvSpPr>
        <p:spPr>
          <a:xfrm>
            <a:off x="2459735" y="3666744"/>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45.5k</a:t>
            </a:r>
          </a:p>
        </p:txBody>
      </p:sp>
      <p:sp>
        <p:nvSpPr>
          <p:cNvPr id="52" name="TextBox 51"/>
          <p:cNvSpPr txBox="1"/>
          <p:nvPr/>
        </p:nvSpPr>
        <p:spPr>
          <a:xfrm>
            <a:off x="2990087" y="3666744"/>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A</a:t>
            </a:r>
          </a:p>
        </p:txBody>
      </p:sp>
      <p:sp>
        <p:nvSpPr>
          <p:cNvPr id="53" name="TextBox 52"/>
          <p:cNvSpPr txBox="1"/>
          <p:nvPr/>
        </p:nvSpPr>
        <p:spPr>
          <a:xfrm>
            <a:off x="868680" y="3995928"/>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C04</a:t>
            </a:r>
          </a:p>
        </p:txBody>
      </p:sp>
      <p:sp>
        <p:nvSpPr>
          <p:cNvPr id="54" name="TextBox 53"/>
          <p:cNvSpPr txBox="1"/>
          <p:nvPr/>
        </p:nvSpPr>
        <p:spPr>
          <a:xfrm>
            <a:off x="1399031" y="3995928"/>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29</a:t>
            </a:r>
          </a:p>
        </p:txBody>
      </p:sp>
      <p:sp>
        <p:nvSpPr>
          <p:cNvPr id="55" name="TextBox 54"/>
          <p:cNvSpPr txBox="1"/>
          <p:nvPr/>
        </p:nvSpPr>
        <p:spPr>
          <a:xfrm>
            <a:off x="1929384" y="3995928"/>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a:t>
            </a:r>
          </a:p>
        </p:txBody>
      </p:sp>
      <p:sp>
        <p:nvSpPr>
          <p:cNvPr id="56" name="TextBox 55"/>
          <p:cNvSpPr txBox="1"/>
          <p:nvPr/>
        </p:nvSpPr>
        <p:spPr>
          <a:xfrm>
            <a:off x="2459735" y="3995928"/>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3.2k</a:t>
            </a:r>
          </a:p>
        </p:txBody>
      </p:sp>
      <p:sp>
        <p:nvSpPr>
          <p:cNvPr id="57" name="TextBox 56"/>
          <p:cNvSpPr txBox="1"/>
          <p:nvPr/>
        </p:nvSpPr>
        <p:spPr>
          <a:xfrm>
            <a:off x="2990087" y="3995928"/>
            <a:ext cx="530352" cy="329184"/>
          </a:xfrm>
          <a:prstGeom prst="rect">
            <a:avLst/>
          </a:prstGeom>
          <a:noFill/>
        </p:spPr>
        <p:txBody>
          <a:bodyPr wrap="none" lIns="18288" tIns="9144" rIns="18288" bIns="9144" anchor="ctr">
            <a:spAutoFit/>
          </a:bodyPr>
          <a:lstStyle/>
          <a:p>
            <a:pPr algn="ctr"/>
            <a:r>
              <a:rPr sz="750" b="0">
                <a:solidFill>
                  <a:srgbClr val="5C6C84"/>
                </a:solidFill>
                <a:latin typeface="Aptos"/>
              </a:rPr>
              <a:t>M</a:t>
            </a:r>
          </a:p>
        </p:txBody>
      </p:sp>
      <p:sp>
        <p:nvSpPr>
          <p:cNvPr id="58" name="TextBox 57"/>
          <p:cNvSpPr txBox="1"/>
          <p:nvPr/>
        </p:nvSpPr>
        <p:spPr>
          <a:xfrm>
            <a:off x="850392" y="4517136"/>
            <a:ext cx="3200400" cy="438912"/>
          </a:xfrm>
          <a:prstGeom prst="rect">
            <a:avLst/>
          </a:prstGeom>
          <a:noFill/>
        </p:spPr>
        <p:txBody>
          <a:bodyPr wrap="none" lIns="18288" tIns="9144" rIns="18288" bIns="9144" anchor="ctr">
            <a:spAutoFit/>
          </a:bodyPr>
          <a:lstStyle/>
          <a:p>
            <a:pPr algn="l"/>
            <a:r>
              <a:rPr sz="1200" b="0">
                <a:solidFill>
                  <a:srgbClr val="0B1F33"/>
                </a:solidFill>
                <a:latin typeface="Aptos"/>
              </a:rPr>
              <a:t>Typical formula:
=AVERAGE(D2:D1000)</a:t>
            </a:r>
          </a:p>
        </p:txBody>
      </p:sp>
      <p:sp>
        <p:nvSpPr>
          <p:cNvPr id="59" name="Chevron 58"/>
          <p:cNvSpPr/>
          <p:nvPr/>
        </p:nvSpPr>
        <p:spPr>
          <a:xfrm>
            <a:off x="4681728" y="2852928"/>
            <a:ext cx="685800" cy="1051560"/>
          </a:xfrm>
          <a:prstGeom prst="chevron">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526280" y="3950208"/>
            <a:ext cx="1005840" cy="365760"/>
          </a:xfrm>
          <a:prstGeom prst="rect">
            <a:avLst/>
          </a:prstGeom>
          <a:noFill/>
        </p:spPr>
        <p:txBody>
          <a:bodyPr wrap="none" lIns="18288" tIns="9144" rIns="18288" bIns="9144" anchor="ctr">
            <a:spAutoFit/>
          </a:bodyPr>
          <a:lstStyle/>
          <a:p>
            <a:pPr algn="ctr"/>
            <a:r>
              <a:rPr sz="1200" b="1">
                <a:solidFill>
                  <a:srgbClr val="009E9A"/>
                </a:solidFill>
                <a:latin typeface="Aptos"/>
              </a:rPr>
              <a:t>Ctrl+T</a:t>
            </a:r>
          </a:p>
        </p:txBody>
      </p:sp>
      <p:sp>
        <p:nvSpPr>
          <p:cNvPr id="61" name="Rounded Rectangle 60"/>
          <p:cNvSpPr/>
          <p:nvPr/>
        </p:nvSpPr>
        <p:spPr>
          <a:xfrm>
            <a:off x="5532120" y="1572768"/>
            <a:ext cx="5989320" cy="3611880"/>
          </a:xfrm>
          <a:prstGeom prst="roundRect">
            <a:avLst/>
          </a:prstGeom>
          <a:solidFill>
            <a:srgbClr val="FFFFFF"/>
          </a:solidFill>
          <a:ln w="17780">
            <a:solidFill>
              <a:srgbClr val="3469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806440" y="1755648"/>
            <a:ext cx="3474720" cy="292608"/>
          </a:xfrm>
          <a:prstGeom prst="rect">
            <a:avLst/>
          </a:prstGeom>
          <a:noFill/>
        </p:spPr>
        <p:txBody>
          <a:bodyPr wrap="none" lIns="18288" tIns="9144" rIns="18288" bIns="9144" anchor="ctr">
            <a:spAutoFit/>
          </a:bodyPr>
          <a:lstStyle/>
          <a:p>
            <a:pPr algn="l"/>
            <a:r>
              <a:rPr sz="1500" b="1">
                <a:solidFill>
                  <a:srgbClr val="0B1F33"/>
                </a:solidFill>
                <a:latin typeface="Aptos"/>
              </a:rPr>
              <a:t>EXCEL TABLE</a:t>
            </a:r>
          </a:p>
        </p:txBody>
      </p:sp>
      <p:sp>
        <p:nvSpPr>
          <p:cNvPr id="63" name="TextBox 62"/>
          <p:cNvSpPr txBox="1"/>
          <p:nvPr/>
        </p:nvSpPr>
        <p:spPr>
          <a:xfrm>
            <a:off x="5806440" y="2084831"/>
            <a:ext cx="5303520" cy="402336"/>
          </a:xfrm>
          <a:prstGeom prst="rect">
            <a:avLst/>
          </a:prstGeom>
          <a:noFill/>
        </p:spPr>
        <p:txBody>
          <a:bodyPr wrap="none" lIns="18288" tIns="9144" rIns="18288" bIns="9144" anchor="ctr">
            <a:spAutoFit/>
          </a:bodyPr>
          <a:lstStyle/>
          <a:p>
            <a:pPr algn="l"/>
            <a:r>
              <a:rPr sz="1400" b="0">
                <a:solidFill>
                  <a:srgbClr val="5C6C84"/>
                </a:solidFill>
                <a:latin typeface="Aptos"/>
              </a:rPr>
              <a:t>A structured object designed for analysis</a:t>
            </a:r>
          </a:p>
        </p:txBody>
      </p:sp>
      <p:sp>
        <p:nvSpPr>
          <p:cNvPr id="64" name="Oval 63"/>
          <p:cNvSpPr/>
          <p:nvPr/>
        </p:nvSpPr>
        <p:spPr>
          <a:xfrm>
            <a:off x="5833872" y="2715768"/>
            <a:ext cx="109728" cy="109728"/>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035040" y="2670048"/>
            <a:ext cx="1783080" cy="228600"/>
          </a:xfrm>
          <a:prstGeom prst="rect">
            <a:avLst/>
          </a:prstGeom>
          <a:noFill/>
        </p:spPr>
        <p:txBody>
          <a:bodyPr wrap="none" lIns="18288" tIns="9144" rIns="18288" bIns="9144" anchor="ctr">
            <a:spAutoFit/>
          </a:bodyPr>
          <a:lstStyle/>
          <a:p>
            <a:pPr algn="l"/>
            <a:r>
              <a:rPr sz="1150" b="1">
                <a:solidFill>
                  <a:srgbClr val="0B1F33"/>
                </a:solidFill>
                <a:latin typeface="Aptos"/>
              </a:rPr>
              <a:t>Stable headers</a:t>
            </a:r>
          </a:p>
        </p:txBody>
      </p:sp>
      <p:sp>
        <p:nvSpPr>
          <p:cNvPr id="66" name="TextBox 65"/>
          <p:cNvSpPr txBox="1"/>
          <p:nvPr/>
        </p:nvSpPr>
        <p:spPr>
          <a:xfrm>
            <a:off x="7790688" y="2670048"/>
            <a:ext cx="3246120" cy="256032"/>
          </a:xfrm>
          <a:prstGeom prst="rect">
            <a:avLst/>
          </a:prstGeom>
          <a:noFill/>
        </p:spPr>
        <p:txBody>
          <a:bodyPr wrap="none" lIns="18288" tIns="9144" rIns="18288" bIns="9144" anchor="ctr">
            <a:spAutoFit/>
          </a:bodyPr>
          <a:lstStyle/>
          <a:p>
            <a:pPr algn="l"/>
            <a:r>
              <a:rPr sz="1050" b="0">
                <a:solidFill>
                  <a:srgbClr val="5C6C84"/>
                </a:solidFill>
                <a:latin typeface="Aptos"/>
              </a:rPr>
              <a:t>Column names remain explicit and usable.</a:t>
            </a:r>
          </a:p>
        </p:txBody>
      </p:sp>
      <p:sp>
        <p:nvSpPr>
          <p:cNvPr id="67" name="Oval 66"/>
          <p:cNvSpPr/>
          <p:nvPr/>
        </p:nvSpPr>
        <p:spPr>
          <a:xfrm>
            <a:off x="5833872" y="3246120"/>
            <a:ext cx="109728" cy="109728"/>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035040" y="3200400"/>
            <a:ext cx="1783080" cy="228600"/>
          </a:xfrm>
          <a:prstGeom prst="rect">
            <a:avLst/>
          </a:prstGeom>
          <a:noFill/>
        </p:spPr>
        <p:txBody>
          <a:bodyPr wrap="none" lIns="18288" tIns="9144" rIns="18288" bIns="9144" anchor="ctr">
            <a:spAutoFit/>
          </a:bodyPr>
          <a:lstStyle/>
          <a:p>
            <a:pPr algn="l"/>
            <a:r>
              <a:rPr sz="1150" b="1">
                <a:solidFill>
                  <a:srgbClr val="0B1F33"/>
                </a:solidFill>
                <a:latin typeface="Aptos"/>
              </a:rPr>
              <a:t>Built-in filters</a:t>
            </a:r>
          </a:p>
        </p:txBody>
      </p:sp>
      <p:sp>
        <p:nvSpPr>
          <p:cNvPr id="69" name="TextBox 68"/>
          <p:cNvSpPr txBox="1"/>
          <p:nvPr/>
        </p:nvSpPr>
        <p:spPr>
          <a:xfrm>
            <a:off x="7790688" y="3200400"/>
            <a:ext cx="3246120" cy="256032"/>
          </a:xfrm>
          <a:prstGeom prst="rect">
            <a:avLst/>
          </a:prstGeom>
          <a:noFill/>
        </p:spPr>
        <p:txBody>
          <a:bodyPr wrap="none" lIns="18288" tIns="9144" rIns="18288" bIns="9144" anchor="ctr">
            <a:spAutoFit/>
          </a:bodyPr>
          <a:lstStyle/>
          <a:p>
            <a:pPr algn="l"/>
            <a:r>
              <a:rPr sz="1050" b="0">
                <a:solidFill>
                  <a:srgbClr val="5C6C84"/>
                </a:solidFill>
                <a:latin typeface="Aptos"/>
              </a:rPr>
              <a:t>Sort and filter every column immediately.</a:t>
            </a:r>
          </a:p>
        </p:txBody>
      </p:sp>
      <p:sp>
        <p:nvSpPr>
          <p:cNvPr id="70" name="Oval 69"/>
          <p:cNvSpPr/>
          <p:nvPr/>
        </p:nvSpPr>
        <p:spPr>
          <a:xfrm>
            <a:off x="5833872" y="3776472"/>
            <a:ext cx="109728" cy="109728"/>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35040" y="3730752"/>
            <a:ext cx="1783080" cy="228600"/>
          </a:xfrm>
          <a:prstGeom prst="rect">
            <a:avLst/>
          </a:prstGeom>
          <a:noFill/>
        </p:spPr>
        <p:txBody>
          <a:bodyPr wrap="none" lIns="18288" tIns="9144" rIns="18288" bIns="9144" anchor="ctr">
            <a:spAutoFit/>
          </a:bodyPr>
          <a:lstStyle/>
          <a:p>
            <a:pPr algn="l"/>
            <a:r>
              <a:rPr sz="1150" b="1">
                <a:solidFill>
                  <a:srgbClr val="0B1F33"/>
                </a:solidFill>
                <a:latin typeface="Aptos"/>
              </a:rPr>
              <a:t>Automatic expansion</a:t>
            </a:r>
          </a:p>
        </p:txBody>
      </p:sp>
      <p:sp>
        <p:nvSpPr>
          <p:cNvPr id="72" name="TextBox 71"/>
          <p:cNvSpPr txBox="1"/>
          <p:nvPr/>
        </p:nvSpPr>
        <p:spPr>
          <a:xfrm>
            <a:off x="7790688" y="3730752"/>
            <a:ext cx="3246120" cy="256032"/>
          </a:xfrm>
          <a:prstGeom prst="rect">
            <a:avLst/>
          </a:prstGeom>
          <a:noFill/>
        </p:spPr>
        <p:txBody>
          <a:bodyPr wrap="none" lIns="18288" tIns="9144" rIns="18288" bIns="9144" anchor="ctr">
            <a:spAutoFit/>
          </a:bodyPr>
          <a:lstStyle/>
          <a:p>
            <a:pPr algn="l"/>
            <a:r>
              <a:rPr sz="1050" b="0">
                <a:solidFill>
                  <a:srgbClr val="5C6C84"/>
                </a:solidFill>
                <a:latin typeface="Aptos"/>
              </a:rPr>
              <a:t>New rows and formulas are included automatically.</a:t>
            </a:r>
          </a:p>
        </p:txBody>
      </p:sp>
      <p:sp>
        <p:nvSpPr>
          <p:cNvPr id="73" name="Oval 72"/>
          <p:cNvSpPr/>
          <p:nvPr/>
        </p:nvSpPr>
        <p:spPr>
          <a:xfrm>
            <a:off x="5833872" y="4306824"/>
            <a:ext cx="109728" cy="109728"/>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035040" y="4261104"/>
            <a:ext cx="1783080" cy="228600"/>
          </a:xfrm>
          <a:prstGeom prst="rect">
            <a:avLst/>
          </a:prstGeom>
          <a:noFill/>
        </p:spPr>
        <p:txBody>
          <a:bodyPr wrap="none" lIns="18288" tIns="9144" rIns="18288" bIns="9144" anchor="ctr">
            <a:spAutoFit/>
          </a:bodyPr>
          <a:lstStyle/>
          <a:p>
            <a:pPr algn="l"/>
            <a:r>
              <a:rPr sz="1150" b="1">
                <a:solidFill>
                  <a:srgbClr val="0B1F33"/>
                </a:solidFill>
                <a:latin typeface="Aptos"/>
              </a:rPr>
              <a:t>Structured references</a:t>
            </a:r>
          </a:p>
        </p:txBody>
      </p:sp>
      <p:sp>
        <p:nvSpPr>
          <p:cNvPr id="75" name="TextBox 74"/>
          <p:cNvSpPr txBox="1"/>
          <p:nvPr/>
        </p:nvSpPr>
        <p:spPr>
          <a:xfrm>
            <a:off x="7790688" y="4261104"/>
            <a:ext cx="3246120" cy="256032"/>
          </a:xfrm>
          <a:prstGeom prst="rect">
            <a:avLst/>
          </a:prstGeom>
          <a:noFill/>
        </p:spPr>
        <p:txBody>
          <a:bodyPr wrap="none" lIns="18288" tIns="9144" rIns="18288" bIns="9144" anchor="ctr">
            <a:spAutoFit/>
          </a:bodyPr>
          <a:lstStyle/>
          <a:p>
            <a:pPr algn="l"/>
            <a:r>
              <a:rPr sz="1050" b="0">
                <a:solidFill>
                  <a:srgbClr val="5C6C84"/>
                </a:solidFill>
                <a:latin typeface="Aptos"/>
              </a:rPr>
              <a:t>Use readable formulas such as  Table1[Balance].</a:t>
            </a:r>
          </a:p>
        </p:txBody>
      </p:sp>
      <p:sp>
        <p:nvSpPr>
          <p:cNvPr id="76" name="Rounded Rectangle 75"/>
          <p:cNvSpPr/>
          <p:nvPr/>
        </p:nvSpPr>
        <p:spPr>
          <a:xfrm>
            <a:off x="5815584" y="4590288"/>
            <a:ext cx="5257800" cy="420624"/>
          </a:xfrm>
          <a:prstGeom prst="roundRect">
            <a:avLst/>
          </a:prstGeom>
          <a:solidFill>
            <a:srgbClr val="F1F8F4"/>
          </a:solidFill>
          <a:ln>
            <a:solidFill>
              <a:srgbClr val="BADB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989320" y="4645152"/>
            <a:ext cx="4892040" cy="274320"/>
          </a:xfrm>
          <a:prstGeom prst="rect">
            <a:avLst/>
          </a:prstGeom>
          <a:noFill/>
        </p:spPr>
        <p:txBody>
          <a:bodyPr wrap="none" lIns="18288" tIns="9144" rIns="18288" bIns="9144" anchor="ctr">
            <a:spAutoFit/>
          </a:bodyPr>
          <a:lstStyle/>
          <a:p>
            <a:pPr algn="l"/>
            <a:r>
              <a:rPr sz="1300" b="1">
                <a:solidFill>
                  <a:srgbClr val="217E50"/>
                </a:solidFill>
                <a:latin typeface="Aptos Mono"/>
              </a:rPr>
              <a:t>=AVERAGE(Table1[Balance])</a:t>
            </a:r>
          </a:p>
        </p:txBody>
      </p:sp>
      <p:sp>
        <p:nvSpPr>
          <p:cNvPr id="78" name="Rounded Rectangle 77"/>
          <p:cNvSpPr/>
          <p:nvPr/>
        </p:nvSpPr>
        <p:spPr>
          <a:xfrm>
            <a:off x="594360" y="5513832"/>
            <a:ext cx="10927080" cy="8412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41248" y="5650992"/>
            <a:ext cx="10424160" cy="475488"/>
          </a:xfrm>
          <a:prstGeom prst="rect">
            <a:avLst/>
          </a:prstGeom>
          <a:noFill/>
        </p:spPr>
        <p:txBody>
          <a:bodyPr wrap="none" lIns="18288" tIns="9144" rIns="18288" bIns="9144" anchor="ctr">
            <a:spAutoFit/>
          </a:bodyPr>
          <a:lstStyle/>
          <a:p>
            <a:pPr algn="ctr"/>
            <a:r>
              <a:rPr sz="1700" b="1">
                <a:solidFill>
                  <a:srgbClr val="FFFFFF"/>
                </a:solidFill>
                <a:latin typeface="Aptos"/>
              </a:rPr>
              <a:t>For EDA, an Excel Table makes the analysis more robust, readable and less error-prone.</a:t>
            </a:r>
          </a:p>
        </p:txBody>
      </p:sp>
      <p:sp>
        <p:nvSpPr>
          <p:cNvPr id="80" name="Slide Number Placeholder 0">
            <a:extLst>
              <a:ext uri="{FF2B5EF4-FFF2-40B4-BE49-F238E27FC236}">
                <a16:creationId xmlns:a16="http://schemas.microsoft.com/office/drawing/2014/main" id="{7F5BA953-5F33-E816-F8DC-6E1920C8C07B}"/>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5448"/>
            <a:ext cx="4114800" cy="228600"/>
          </a:xfrm>
          <a:prstGeom prst="rect">
            <a:avLst/>
          </a:prstGeom>
          <a:noFill/>
        </p:spPr>
        <p:txBody>
          <a:bodyPr wrap="none" lIns="27432" tIns="9144" rIns="27432" bIns="9144" anchor="ctr">
            <a:spAutoFit/>
          </a:bodyPr>
          <a:lstStyle/>
          <a:p>
            <a:pPr algn="l"/>
            <a:r>
              <a:rPr sz="1000" b="1">
                <a:solidFill>
                  <a:srgbClr val="009E9A"/>
                </a:solidFill>
                <a:latin typeface="Aptos"/>
              </a:rPr>
              <a:t>02 · DATA &amp; TYPES</a:t>
            </a:r>
          </a:p>
        </p:txBody>
      </p:sp>
      <p:sp>
        <p:nvSpPr>
          <p:cNvPr id="3" name="TextBox 2"/>
          <p:cNvSpPr txBox="1"/>
          <p:nvPr/>
        </p:nvSpPr>
        <p:spPr>
          <a:xfrm>
            <a:off x="457200" y="438912"/>
            <a:ext cx="10789920" cy="502920"/>
          </a:xfrm>
          <a:prstGeom prst="rect">
            <a:avLst/>
          </a:prstGeom>
          <a:noFill/>
        </p:spPr>
        <p:txBody>
          <a:bodyPr wrap="none" lIns="27432" tIns="9144" rIns="27432" bIns="9144" anchor="ctr">
            <a:spAutoFit/>
          </a:bodyPr>
          <a:lstStyle/>
          <a:p>
            <a:pPr algn="l"/>
            <a:r>
              <a:rPr sz="2600" b="1">
                <a:solidFill>
                  <a:srgbClr val="0B1F33"/>
                </a:solidFill>
                <a:latin typeface="Aptos"/>
              </a:rPr>
              <a:t>How to convert an Excel Table back to a range</a:t>
            </a:r>
          </a:p>
        </p:txBody>
      </p:sp>
      <p:sp>
        <p:nvSpPr>
          <p:cNvPr id="4" name="TextBox 3"/>
          <p:cNvSpPr txBox="1"/>
          <p:nvPr/>
        </p:nvSpPr>
        <p:spPr>
          <a:xfrm>
            <a:off x="457200" y="1005840"/>
            <a:ext cx="10972800" cy="347472"/>
          </a:xfrm>
          <a:prstGeom prst="rect">
            <a:avLst/>
          </a:prstGeom>
          <a:noFill/>
        </p:spPr>
        <p:txBody>
          <a:bodyPr wrap="none" lIns="27432" tIns="9144" rIns="27432" bIns="9144" anchor="ctr">
            <a:spAutoFit/>
          </a:bodyPr>
          <a:lstStyle/>
          <a:p>
            <a:pPr algn="l"/>
            <a:r>
              <a:rPr sz="1400" b="0">
                <a:solidFill>
                  <a:srgbClr val="5C6C84"/>
                </a:solidFill>
                <a:latin typeface="Aptos"/>
              </a:rPr>
              <a:t>The data are preserved; only the Table structure is removed.</a:t>
            </a:r>
          </a:p>
        </p:txBody>
      </p:sp>
      <p:sp>
        <p:nvSpPr>
          <p:cNvPr id="5" name="Rounded Rectangle 4"/>
          <p:cNvSpPr/>
          <p:nvPr/>
        </p:nvSpPr>
        <p:spPr>
          <a:xfrm>
            <a:off x="658368" y="1627632"/>
            <a:ext cx="6583680" cy="80467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9536" y="1783080"/>
            <a:ext cx="493776" cy="493776"/>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1783080"/>
            <a:ext cx="493776" cy="493776"/>
          </a:xfrm>
          <a:prstGeom prst="rect">
            <a:avLst/>
          </a:prstGeom>
          <a:noFill/>
        </p:spPr>
        <p:txBody>
          <a:bodyPr wrap="none" lIns="27432" tIns="9144" rIns="27432" bIns="9144" anchor="ctr">
            <a:spAutoFit/>
          </a:bodyPr>
          <a:lstStyle/>
          <a:p>
            <a:pPr algn="ctr"/>
            <a:r>
              <a:rPr sz="1500" b="1">
                <a:solidFill>
                  <a:srgbClr val="FFFFFF"/>
                </a:solidFill>
                <a:latin typeface="Aptos"/>
              </a:rPr>
              <a:t>1</a:t>
            </a:r>
          </a:p>
        </p:txBody>
      </p:sp>
      <p:sp>
        <p:nvSpPr>
          <p:cNvPr id="8" name="TextBox 7"/>
          <p:cNvSpPr txBox="1"/>
          <p:nvPr/>
        </p:nvSpPr>
        <p:spPr>
          <a:xfrm>
            <a:off x="1572768" y="1737360"/>
            <a:ext cx="1874519" cy="256032"/>
          </a:xfrm>
          <a:prstGeom prst="rect">
            <a:avLst/>
          </a:prstGeom>
          <a:noFill/>
        </p:spPr>
        <p:txBody>
          <a:bodyPr wrap="none" lIns="27432" tIns="9144" rIns="27432" bIns="9144" anchor="ctr">
            <a:spAutoFit/>
          </a:bodyPr>
          <a:lstStyle/>
          <a:p>
            <a:pPr algn="l"/>
            <a:r>
              <a:rPr sz="1300" b="1">
                <a:solidFill>
                  <a:srgbClr val="0B1F33"/>
                </a:solidFill>
                <a:latin typeface="Aptos"/>
              </a:rPr>
              <a:t>Select the Table</a:t>
            </a:r>
          </a:p>
        </p:txBody>
      </p:sp>
      <p:sp>
        <p:nvSpPr>
          <p:cNvPr id="9" name="TextBox 8"/>
          <p:cNvSpPr txBox="1"/>
          <p:nvPr/>
        </p:nvSpPr>
        <p:spPr>
          <a:xfrm>
            <a:off x="3438144" y="1737360"/>
            <a:ext cx="3429000" cy="502920"/>
          </a:xfrm>
          <a:prstGeom prst="rect">
            <a:avLst/>
          </a:prstGeom>
          <a:noFill/>
        </p:spPr>
        <p:txBody>
          <a:bodyPr wrap="none" lIns="27432" tIns="9144" rIns="27432" bIns="9144" anchor="ctr">
            <a:spAutoFit/>
          </a:bodyPr>
          <a:lstStyle/>
          <a:p>
            <a:pPr algn="l"/>
            <a:r>
              <a:rPr sz="1150" b="0">
                <a:solidFill>
                  <a:srgbClr val="5C6C84"/>
                </a:solidFill>
                <a:latin typeface="Aptos"/>
              </a:rPr>
              <a:t>Click any cell inside the Excel Table.</a:t>
            </a:r>
          </a:p>
        </p:txBody>
      </p:sp>
      <p:sp>
        <p:nvSpPr>
          <p:cNvPr id="10" name="Rounded Rectangle 9"/>
          <p:cNvSpPr/>
          <p:nvPr/>
        </p:nvSpPr>
        <p:spPr>
          <a:xfrm>
            <a:off x="658368" y="2560320"/>
            <a:ext cx="6583680" cy="80467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59536" y="2715768"/>
            <a:ext cx="493776" cy="493776"/>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715768"/>
            <a:ext cx="493776" cy="493776"/>
          </a:xfrm>
          <a:prstGeom prst="rect">
            <a:avLst/>
          </a:prstGeom>
          <a:noFill/>
        </p:spPr>
        <p:txBody>
          <a:bodyPr wrap="none" lIns="27432" tIns="9144" rIns="27432" bIns="9144" anchor="ctr">
            <a:spAutoFit/>
          </a:bodyPr>
          <a:lstStyle/>
          <a:p>
            <a:pPr algn="ctr"/>
            <a:r>
              <a:rPr sz="1500" b="1">
                <a:solidFill>
                  <a:srgbClr val="FFFFFF"/>
                </a:solidFill>
                <a:latin typeface="Aptos"/>
              </a:rPr>
              <a:t>2</a:t>
            </a:r>
          </a:p>
        </p:txBody>
      </p:sp>
      <p:sp>
        <p:nvSpPr>
          <p:cNvPr id="13" name="TextBox 12"/>
          <p:cNvSpPr txBox="1"/>
          <p:nvPr/>
        </p:nvSpPr>
        <p:spPr>
          <a:xfrm>
            <a:off x="1572768" y="2670048"/>
            <a:ext cx="1874519" cy="256032"/>
          </a:xfrm>
          <a:prstGeom prst="rect">
            <a:avLst/>
          </a:prstGeom>
          <a:noFill/>
        </p:spPr>
        <p:txBody>
          <a:bodyPr wrap="none" lIns="27432" tIns="9144" rIns="27432" bIns="9144" anchor="ctr">
            <a:spAutoFit/>
          </a:bodyPr>
          <a:lstStyle/>
          <a:p>
            <a:pPr algn="l"/>
            <a:r>
              <a:rPr sz="1300" b="1">
                <a:solidFill>
                  <a:srgbClr val="0B1F33"/>
                </a:solidFill>
                <a:latin typeface="Aptos"/>
              </a:rPr>
              <a:t>Open Table Design</a:t>
            </a:r>
          </a:p>
        </p:txBody>
      </p:sp>
      <p:sp>
        <p:nvSpPr>
          <p:cNvPr id="14" name="TextBox 13"/>
          <p:cNvSpPr txBox="1"/>
          <p:nvPr/>
        </p:nvSpPr>
        <p:spPr>
          <a:xfrm>
            <a:off x="3438144" y="2670048"/>
            <a:ext cx="3429000" cy="502920"/>
          </a:xfrm>
          <a:prstGeom prst="rect">
            <a:avLst/>
          </a:prstGeom>
          <a:noFill/>
        </p:spPr>
        <p:txBody>
          <a:bodyPr wrap="none" lIns="27432" tIns="9144" rIns="27432" bIns="9144" anchor="ctr">
            <a:spAutoFit/>
          </a:bodyPr>
          <a:lstStyle/>
          <a:p>
            <a:pPr algn="l"/>
            <a:r>
              <a:rPr sz="1150" b="0">
                <a:solidFill>
                  <a:srgbClr val="5C6C84"/>
                </a:solidFill>
                <a:latin typeface="Aptos"/>
              </a:rPr>
              <a:t>The Table Design tab appears on the Ribbon.</a:t>
            </a:r>
          </a:p>
        </p:txBody>
      </p:sp>
      <p:sp>
        <p:nvSpPr>
          <p:cNvPr id="15" name="Rounded Rectangle 14"/>
          <p:cNvSpPr/>
          <p:nvPr/>
        </p:nvSpPr>
        <p:spPr>
          <a:xfrm>
            <a:off x="658368" y="3493008"/>
            <a:ext cx="6583680" cy="80467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9536" y="3648456"/>
            <a:ext cx="493776" cy="493776"/>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3648456"/>
            <a:ext cx="493776" cy="493776"/>
          </a:xfrm>
          <a:prstGeom prst="rect">
            <a:avLst/>
          </a:prstGeom>
          <a:noFill/>
        </p:spPr>
        <p:txBody>
          <a:bodyPr wrap="none" lIns="27432" tIns="9144" rIns="27432" bIns="9144" anchor="ctr">
            <a:spAutoFit/>
          </a:bodyPr>
          <a:lstStyle/>
          <a:p>
            <a:pPr algn="ctr"/>
            <a:r>
              <a:rPr sz="1500" b="1">
                <a:solidFill>
                  <a:srgbClr val="FFFFFF"/>
                </a:solidFill>
                <a:latin typeface="Aptos"/>
              </a:rPr>
              <a:t>3</a:t>
            </a:r>
          </a:p>
        </p:txBody>
      </p:sp>
      <p:sp>
        <p:nvSpPr>
          <p:cNvPr id="18" name="TextBox 17"/>
          <p:cNvSpPr txBox="1"/>
          <p:nvPr/>
        </p:nvSpPr>
        <p:spPr>
          <a:xfrm>
            <a:off x="1572768" y="3602736"/>
            <a:ext cx="1874519" cy="256032"/>
          </a:xfrm>
          <a:prstGeom prst="rect">
            <a:avLst/>
          </a:prstGeom>
          <a:noFill/>
        </p:spPr>
        <p:txBody>
          <a:bodyPr wrap="none" lIns="27432" tIns="9144" rIns="27432" bIns="9144" anchor="ctr">
            <a:spAutoFit/>
          </a:bodyPr>
          <a:lstStyle/>
          <a:p>
            <a:pPr algn="l"/>
            <a:r>
              <a:rPr sz="1300" b="1">
                <a:solidFill>
                  <a:srgbClr val="0B1F33"/>
                </a:solidFill>
                <a:latin typeface="Aptos"/>
              </a:rPr>
              <a:t>Convert to Range</a:t>
            </a:r>
          </a:p>
        </p:txBody>
      </p:sp>
      <p:sp>
        <p:nvSpPr>
          <p:cNvPr id="19" name="TextBox 18"/>
          <p:cNvSpPr txBox="1"/>
          <p:nvPr/>
        </p:nvSpPr>
        <p:spPr>
          <a:xfrm>
            <a:off x="3438144" y="3602736"/>
            <a:ext cx="3429000" cy="502920"/>
          </a:xfrm>
          <a:prstGeom prst="rect">
            <a:avLst/>
          </a:prstGeom>
          <a:noFill/>
        </p:spPr>
        <p:txBody>
          <a:bodyPr wrap="none" lIns="27432" tIns="9144" rIns="27432" bIns="9144" anchor="ctr">
            <a:spAutoFit/>
          </a:bodyPr>
          <a:lstStyle/>
          <a:p>
            <a:pPr algn="l"/>
            <a:r>
              <a:rPr sz="1150" b="0">
                <a:solidFill>
                  <a:srgbClr val="5C6C84"/>
                </a:solidFill>
                <a:latin typeface="Aptos"/>
              </a:rPr>
              <a:t>Choose  Table Design → Convert to Range.</a:t>
            </a:r>
          </a:p>
        </p:txBody>
      </p:sp>
      <p:sp>
        <p:nvSpPr>
          <p:cNvPr id="20" name="Rounded Rectangle 19"/>
          <p:cNvSpPr/>
          <p:nvPr/>
        </p:nvSpPr>
        <p:spPr>
          <a:xfrm>
            <a:off x="658368" y="4425696"/>
            <a:ext cx="6583680" cy="80467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59536" y="4581144"/>
            <a:ext cx="493776" cy="493776"/>
          </a:xfrm>
          <a:prstGeom prst="ellipse">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 y="4581144"/>
            <a:ext cx="493776" cy="493776"/>
          </a:xfrm>
          <a:prstGeom prst="rect">
            <a:avLst/>
          </a:prstGeom>
          <a:noFill/>
        </p:spPr>
        <p:txBody>
          <a:bodyPr wrap="none" lIns="27432" tIns="9144" rIns="27432" bIns="9144" anchor="ctr">
            <a:spAutoFit/>
          </a:bodyPr>
          <a:lstStyle/>
          <a:p>
            <a:pPr algn="ctr"/>
            <a:r>
              <a:rPr sz="1500" b="1">
                <a:solidFill>
                  <a:srgbClr val="FFFFFF"/>
                </a:solidFill>
                <a:latin typeface="Aptos"/>
              </a:rPr>
              <a:t>4</a:t>
            </a:r>
          </a:p>
        </p:txBody>
      </p:sp>
      <p:sp>
        <p:nvSpPr>
          <p:cNvPr id="23" name="TextBox 22"/>
          <p:cNvSpPr txBox="1"/>
          <p:nvPr/>
        </p:nvSpPr>
        <p:spPr>
          <a:xfrm>
            <a:off x="1572768" y="4535424"/>
            <a:ext cx="1874519" cy="256032"/>
          </a:xfrm>
          <a:prstGeom prst="rect">
            <a:avLst/>
          </a:prstGeom>
          <a:noFill/>
        </p:spPr>
        <p:txBody>
          <a:bodyPr wrap="none" lIns="27432" tIns="9144" rIns="27432" bIns="9144" anchor="ctr">
            <a:spAutoFit/>
          </a:bodyPr>
          <a:lstStyle/>
          <a:p>
            <a:pPr algn="l"/>
            <a:r>
              <a:rPr sz="1300" b="1">
                <a:solidFill>
                  <a:srgbClr val="0B1F33"/>
                </a:solidFill>
                <a:latin typeface="Aptos"/>
              </a:rPr>
              <a:t>Confirm</a:t>
            </a:r>
          </a:p>
        </p:txBody>
      </p:sp>
      <p:sp>
        <p:nvSpPr>
          <p:cNvPr id="24" name="TextBox 23"/>
          <p:cNvSpPr txBox="1"/>
          <p:nvPr/>
        </p:nvSpPr>
        <p:spPr>
          <a:xfrm>
            <a:off x="3438144" y="4535424"/>
            <a:ext cx="3429000" cy="502920"/>
          </a:xfrm>
          <a:prstGeom prst="rect">
            <a:avLst/>
          </a:prstGeom>
          <a:noFill/>
        </p:spPr>
        <p:txBody>
          <a:bodyPr wrap="none" lIns="27432" tIns="9144" rIns="27432" bIns="9144" anchor="ctr">
            <a:spAutoFit/>
          </a:bodyPr>
          <a:lstStyle/>
          <a:p>
            <a:pPr algn="l"/>
            <a:r>
              <a:rPr sz="1150" b="0">
                <a:solidFill>
                  <a:srgbClr val="5C6C84"/>
                </a:solidFill>
                <a:latin typeface="Aptos"/>
              </a:rPr>
              <a:t>When Excel asks for confirmation, click Yes.</a:t>
            </a:r>
          </a:p>
        </p:txBody>
      </p:sp>
      <p:sp>
        <p:nvSpPr>
          <p:cNvPr id="25" name="Rounded Rectangle 24"/>
          <p:cNvSpPr/>
          <p:nvPr/>
        </p:nvSpPr>
        <p:spPr>
          <a:xfrm>
            <a:off x="7635240" y="1627632"/>
            <a:ext cx="3886200" cy="3657600"/>
          </a:xfrm>
          <a:prstGeom prst="roundRect">
            <a:avLst/>
          </a:prstGeom>
          <a:solidFill>
            <a:srgbClr val="FFFFFF"/>
          </a:solidFill>
          <a:ln w="16510">
            <a:solidFill>
              <a:srgbClr val="3469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73568" y="1874519"/>
            <a:ext cx="3200400" cy="310896"/>
          </a:xfrm>
          <a:prstGeom prst="rect">
            <a:avLst/>
          </a:prstGeom>
          <a:noFill/>
        </p:spPr>
        <p:txBody>
          <a:bodyPr wrap="none" lIns="27432" tIns="9144" rIns="27432" bIns="9144" anchor="ctr">
            <a:spAutoFit/>
          </a:bodyPr>
          <a:lstStyle/>
          <a:p>
            <a:pPr algn="l"/>
            <a:r>
              <a:rPr sz="1600" b="1">
                <a:solidFill>
                  <a:srgbClr val="0B1F33"/>
                </a:solidFill>
                <a:latin typeface="Aptos"/>
              </a:rPr>
              <a:t>What changes?</a:t>
            </a:r>
          </a:p>
        </p:txBody>
      </p:sp>
      <p:sp>
        <p:nvSpPr>
          <p:cNvPr id="27" name="TextBox 26"/>
          <p:cNvSpPr txBox="1"/>
          <p:nvPr/>
        </p:nvSpPr>
        <p:spPr>
          <a:xfrm>
            <a:off x="7973568" y="2404872"/>
            <a:ext cx="1325880" cy="320040"/>
          </a:xfrm>
          <a:prstGeom prst="rect">
            <a:avLst/>
          </a:prstGeom>
          <a:noFill/>
        </p:spPr>
        <p:txBody>
          <a:bodyPr wrap="none" lIns="27432" tIns="9144" rIns="27432" bIns="9144" anchor="ctr">
            <a:spAutoFit/>
          </a:bodyPr>
          <a:lstStyle/>
          <a:p>
            <a:pPr algn="ctr"/>
            <a:r>
              <a:rPr sz="1400" b="1">
                <a:solidFill>
                  <a:srgbClr val="009E9A"/>
                </a:solidFill>
                <a:latin typeface="Aptos"/>
              </a:rPr>
              <a:t>Excel Table</a:t>
            </a:r>
          </a:p>
        </p:txBody>
      </p:sp>
      <p:sp>
        <p:nvSpPr>
          <p:cNvPr id="28" name="Down Arrow 27"/>
          <p:cNvSpPr/>
          <p:nvPr/>
        </p:nvSpPr>
        <p:spPr>
          <a:xfrm>
            <a:off x="8412480" y="2798064"/>
            <a:ext cx="438912" cy="566928"/>
          </a:xfrm>
          <a:prstGeom prst="downArrow">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73568" y="3438144"/>
            <a:ext cx="1325880" cy="320040"/>
          </a:xfrm>
          <a:prstGeom prst="rect">
            <a:avLst/>
          </a:prstGeom>
          <a:noFill/>
        </p:spPr>
        <p:txBody>
          <a:bodyPr wrap="none" lIns="27432" tIns="9144" rIns="27432" bIns="9144" anchor="ctr">
            <a:spAutoFit/>
          </a:bodyPr>
          <a:lstStyle/>
          <a:p>
            <a:pPr algn="ctr"/>
            <a:r>
              <a:rPr sz="1400" b="1">
                <a:solidFill>
                  <a:srgbClr val="0B1F33"/>
                </a:solidFill>
                <a:latin typeface="Aptos"/>
              </a:rPr>
              <a:t>Normal range</a:t>
            </a:r>
          </a:p>
        </p:txBody>
      </p:sp>
      <p:sp>
        <p:nvSpPr>
          <p:cNvPr id="30" name="TextBox 29"/>
          <p:cNvSpPr txBox="1"/>
          <p:nvPr/>
        </p:nvSpPr>
        <p:spPr>
          <a:xfrm>
            <a:off x="9464040" y="2286000"/>
            <a:ext cx="1600200" cy="274320"/>
          </a:xfrm>
          <a:prstGeom prst="rect">
            <a:avLst/>
          </a:prstGeom>
          <a:noFill/>
        </p:spPr>
        <p:txBody>
          <a:bodyPr wrap="none" lIns="27432" tIns="9144" rIns="27432" bIns="9144" anchor="ctr">
            <a:spAutoFit/>
          </a:bodyPr>
          <a:lstStyle/>
          <a:p>
            <a:pPr algn="l"/>
            <a:r>
              <a:rPr sz="1100" b="1">
                <a:solidFill>
                  <a:srgbClr val="0B1F33"/>
                </a:solidFill>
                <a:latin typeface="Aptos"/>
              </a:rPr>
              <a:t>Data remain</a:t>
            </a:r>
          </a:p>
        </p:txBody>
      </p:sp>
      <p:sp>
        <p:nvSpPr>
          <p:cNvPr id="31" name="TextBox 30"/>
          <p:cNvSpPr txBox="1"/>
          <p:nvPr/>
        </p:nvSpPr>
        <p:spPr>
          <a:xfrm>
            <a:off x="9464040" y="2578608"/>
            <a:ext cx="1600200" cy="512064"/>
          </a:xfrm>
          <a:prstGeom prst="rect">
            <a:avLst/>
          </a:prstGeom>
          <a:noFill/>
        </p:spPr>
        <p:txBody>
          <a:bodyPr wrap="none" lIns="27432" tIns="9144" rIns="27432" bIns="9144" anchor="ctr">
            <a:spAutoFit/>
          </a:bodyPr>
          <a:lstStyle/>
          <a:p>
            <a:pPr algn="l"/>
            <a:r>
              <a:rPr sz="1050" b="0">
                <a:solidFill>
                  <a:srgbClr val="5C6C84"/>
                </a:solidFill>
                <a:latin typeface="Aptos"/>
              </a:rPr>
              <a:t>Values and formulas are preserved.</a:t>
            </a:r>
          </a:p>
        </p:txBody>
      </p:sp>
      <p:sp>
        <p:nvSpPr>
          <p:cNvPr id="32" name="TextBox 31"/>
          <p:cNvSpPr txBox="1"/>
          <p:nvPr/>
        </p:nvSpPr>
        <p:spPr>
          <a:xfrm>
            <a:off x="9464040" y="3273552"/>
            <a:ext cx="1600200" cy="274320"/>
          </a:xfrm>
          <a:prstGeom prst="rect">
            <a:avLst/>
          </a:prstGeom>
          <a:noFill/>
        </p:spPr>
        <p:txBody>
          <a:bodyPr wrap="none" lIns="27432" tIns="9144" rIns="27432" bIns="9144" anchor="ctr">
            <a:spAutoFit/>
          </a:bodyPr>
          <a:lstStyle/>
          <a:p>
            <a:pPr algn="l"/>
            <a:r>
              <a:rPr sz="1100" b="1">
                <a:solidFill>
                  <a:srgbClr val="0B1F33"/>
                </a:solidFill>
                <a:latin typeface="Aptos"/>
              </a:rPr>
              <a:t>Formatting</a:t>
            </a:r>
          </a:p>
        </p:txBody>
      </p:sp>
      <p:sp>
        <p:nvSpPr>
          <p:cNvPr id="33" name="TextBox 32"/>
          <p:cNvSpPr txBox="1"/>
          <p:nvPr/>
        </p:nvSpPr>
        <p:spPr>
          <a:xfrm>
            <a:off x="9464040" y="3566160"/>
            <a:ext cx="1600200" cy="512064"/>
          </a:xfrm>
          <a:prstGeom prst="rect">
            <a:avLst/>
          </a:prstGeom>
          <a:noFill/>
        </p:spPr>
        <p:txBody>
          <a:bodyPr wrap="none" lIns="27432" tIns="9144" rIns="27432" bIns="9144" anchor="ctr">
            <a:spAutoFit/>
          </a:bodyPr>
          <a:lstStyle/>
          <a:p>
            <a:pPr algn="l"/>
            <a:r>
              <a:rPr sz="1050" b="0">
                <a:solidFill>
                  <a:srgbClr val="5C6C84"/>
                </a:solidFill>
                <a:latin typeface="Aptos"/>
              </a:rPr>
              <a:t>Table formatting usually remains.</a:t>
            </a:r>
          </a:p>
        </p:txBody>
      </p:sp>
      <p:sp>
        <p:nvSpPr>
          <p:cNvPr id="34" name="TextBox 33"/>
          <p:cNvSpPr txBox="1"/>
          <p:nvPr/>
        </p:nvSpPr>
        <p:spPr>
          <a:xfrm>
            <a:off x="9464040" y="4261104"/>
            <a:ext cx="1600200" cy="274320"/>
          </a:xfrm>
          <a:prstGeom prst="rect">
            <a:avLst/>
          </a:prstGeom>
          <a:noFill/>
        </p:spPr>
        <p:txBody>
          <a:bodyPr wrap="none" lIns="27432" tIns="9144" rIns="27432" bIns="9144" anchor="ctr">
            <a:spAutoFit/>
          </a:bodyPr>
          <a:lstStyle/>
          <a:p>
            <a:pPr algn="l"/>
            <a:r>
              <a:rPr sz="1100" b="1">
                <a:solidFill>
                  <a:srgbClr val="0B1F33"/>
                </a:solidFill>
                <a:latin typeface="Aptos"/>
              </a:rPr>
              <a:t>Table features</a:t>
            </a:r>
          </a:p>
        </p:txBody>
      </p:sp>
      <p:sp>
        <p:nvSpPr>
          <p:cNvPr id="35" name="TextBox 34"/>
          <p:cNvSpPr txBox="1"/>
          <p:nvPr/>
        </p:nvSpPr>
        <p:spPr>
          <a:xfrm>
            <a:off x="9464040" y="4553712"/>
            <a:ext cx="1868424" cy="512064"/>
          </a:xfrm>
          <a:prstGeom prst="rect">
            <a:avLst/>
          </a:prstGeom>
          <a:noFill/>
        </p:spPr>
        <p:txBody>
          <a:bodyPr wrap="square" lIns="27432" tIns="9144" rIns="27432" bIns="9144" anchor="ctr">
            <a:spAutoFit/>
          </a:bodyPr>
          <a:lstStyle/>
          <a:p>
            <a:pPr algn="l"/>
            <a:r>
              <a:rPr sz="1050" b="0">
                <a:solidFill>
                  <a:srgbClr val="5C6C84"/>
                </a:solidFill>
                <a:latin typeface="Aptos"/>
              </a:rPr>
              <a:t>Automatic expansion and structured Table behavior are removed.</a:t>
            </a:r>
          </a:p>
        </p:txBody>
      </p:sp>
      <p:sp>
        <p:nvSpPr>
          <p:cNvPr id="36" name="Rounded Rectangle 35"/>
          <p:cNvSpPr/>
          <p:nvPr/>
        </p:nvSpPr>
        <p:spPr>
          <a:xfrm>
            <a:off x="658368" y="5577840"/>
            <a:ext cx="10863072" cy="713232"/>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8680" y="5687568"/>
            <a:ext cx="10424160" cy="457200"/>
          </a:xfrm>
          <a:prstGeom prst="rect">
            <a:avLst/>
          </a:prstGeom>
          <a:noFill/>
        </p:spPr>
        <p:txBody>
          <a:bodyPr wrap="none" lIns="27432" tIns="9144" rIns="27432" bIns="9144" anchor="ctr">
            <a:spAutoFit/>
          </a:bodyPr>
          <a:lstStyle/>
          <a:p>
            <a:pPr algn="ctr"/>
            <a:r>
              <a:rPr sz="1550" b="1">
                <a:solidFill>
                  <a:srgbClr val="FFFFFF"/>
                </a:solidFill>
                <a:latin typeface="Aptos"/>
              </a:rPr>
              <a:t>Range  →  Ctrl+T  →  Excel Table  →  Table Design &gt; Convert to Range  →  Range</a:t>
            </a:r>
          </a:p>
        </p:txBody>
      </p:sp>
      <p:sp>
        <p:nvSpPr>
          <p:cNvPr id="38" name="Slide Number Placeholder 0">
            <a:extLst>
              <a:ext uri="{FF2B5EF4-FFF2-40B4-BE49-F238E27FC236}">
                <a16:creationId xmlns:a16="http://schemas.microsoft.com/office/drawing/2014/main" id="{A1AA491D-46D8-9AF2-CF04-2C4AC3690793}"/>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Data types: meaning comes before formatting</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 type determines which operations are meaningful — and which are nonsense.</a:t>
            </a:r>
            <a:endParaRPr lang="en-US" sz="1300" dirty="0"/>
          </a:p>
        </p:txBody>
      </p:sp>
      <p:sp>
        <p:nvSpPr>
          <p:cNvPr id="7" name="Shape 5"/>
          <p:cNvSpPr/>
          <p:nvPr/>
        </p:nvSpPr>
        <p:spPr>
          <a:xfrm>
            <a:off x="676656" y="1517904"/>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841248" y="1655064"/>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Numeric</a:t>
            </a:r>
            <a:endParaRPr lang="en-US" sz="1500" dirty="0"/>
          </a:p>
        </p:txBody>
      </p:sp>
      <p:sp>
        <p:nvSpPr>
          <p:cNvPr id="9" name="Text 7"/>
          <p:cNvSpPr/>
          <p:nvPr/>
        </p:nvSpPr>
        <p:spPr>
          <a:xfrm>
            <a:off x="841248" y="1993392"/>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Measured quantities</a:t>
            </a:r>
            <a:endParaRPr lang="en-US" sz="1150" dirty="0"/>
          </a:p>
          <a:p>
            <a:pPr marL="0" indent="0">
              <a:buNone/>
            </a:pPr>
            <a:endParaRPr lang="en-US" sz="1150" dirty="0"/>
          </a:p>
          <a:p>
            <a:pPr marL="0" indent="0">
              <a:buNone/>
            </a:pPr>
            <a:r>
              <a:rPr lang="en-US" sz="1150" dirty="0">
                <a:solidFill>
                  <a:srgbClr val="26364A"/>
                </a:solidFill>
              </a:rPr>
              <a:t>Balance, age, income, interest rate</a:t>
            </a:r>
            <a:endParaRPr lang="en-US" sz="1150" dirty="0"/>
          </a:p>
        </p:txBody>
      </p:sp>
      <p:sp>
        <p:nvSpPr>
          <p:cNvPr id="10" name="Shape 8"/>
          <p:cNvSpPr/>
          <p:nvPr/>
        </p:nvSpPr>
        <p:spPr>
          <a:xfrm>
            <a:off x="676656" y="1517904"/>
            <a:ext cx="82296" cy="1618488"/>
          </a:xfrm>
          <a:prstGeom prst="rect">
            <a:avLst/>
          </a:prstGeom>
          <a:solidFill>
            <a:srgbClr val="2F6BFF"/>
          </a:solidFill>
          <a:ln w="12700">
            <a:solidFill>
              <a:srgbClr val="2F6BFF"/>
            </a:solidFill>
            <a:prstDash val="solid"/>
          </a:ln>
        </p:spPr>
      </p:sp>
      <p:sp>
        <p:nvSpPr>
          <p:cNvPr id="11" name="Shape 9"/>
          <p:cNvSpPr/>
          <p:nvPr/>
        </p:nvSpPr>
        <p:spPr>
          <a:xfrm>
            <a:off x="4425696" y="1517904"/>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2" name="Text 10"/>
          <p:cNvSpPr/>
          <p:nvPr/>
        </p:nvSpPr>
        <p:spPr>
          <a:xfrm>
            <a:off x="4590288" y="1655064"/>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Categorical</a:t>
            </a:r>
            <a:endParaRPr lang="en-US" sz="1500" dirty="0"/>
          </a:p>
        </p:txBody>
      </p:sp>
      <p:sp>
        <p:nvSpPr>
          <p:cNvPr id="13" name="Text 11"/>
          <p:cNvSpPr/>
          <p:nvPr/>
        </p:nvSpPr>
        <p:spPr>
          <a:xfrm>
            <a:off x="4590288" y="1993392"/>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Labels / groups</a:t>
            </a:r>
            <a:endParaRPr lang="en-US" sz="1150" dirty="0"/>
          </a:p>
          <a:p>
            <a:pPr marL="0" indent="0">
              <a:buNone/>
            </a:pPr>
            <a:endParaRPr lang="en-US" sz="1150" dirty="0"/>
          </a:p>
          <a:p>
            <a:pPr marL="0" indent="0">
              <a:buNone/>
            </a:pPr>
            <a:r>
              <a:rPr lang="en-US" sz="1150" dirty="0">
                <a:solidFill>
                  <a:srgbClr val="26364A"/>
                </a:solidFill>
              </a:rPr>
              <a:t>Segment, product type, branch</a:t>
            </a:r>
            <a:endParaRPr lang="en-US" sz="1150" dirty="0"/>
          </a:p>
        </p:txBody>
      </p:sp>
      <p:sp>
        <p:nvSpPr>
          <p:cNvPr id="14" name="Shape 12"/>
          <p:cNvSpPr/>
          <p:nvPr/>
        </p:nvSpPr>
        <p:spPr>
          <a:xfrm>
            <a:off x="4425696" y="1517904"/>
            <a:ext cx="82296" cy="1618488"/>
          </a:xfrm>
          <a:prstGeom prst="rect">
            <a:avLst/>
          </a:prstGeom>
          <a:solidFill>
            <a:srgbClr val="009E9A"/>
          </a:solidFill>
          <a:ln w="12700">
            <a:solidFill>
              <a:srgbClr val="009E9A"/>
            </a:solidFill>
            <a:prstDash val="solid"/>
          </a:ln>
        </p:spPr>
      </p:sp>
      <p:sp>
        <p:nvSpPr>
          <p:cNvPr id="15" name="Shape 13"/>
          <p:cNvSpPr/>
          <p:nvPr/>
        </p:nvSpPr>
        <p:spPr>
          <a:xfrm>
            <a:off x="8174736" y="1517904"/>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6" name="Text 14"/>
          <p:cNvSpPr/>
          <p:nvPr/>
        </p:nvSpPr>
        <p:spPr>
          <a:xfrm>
            <a:off x="8339328" y="1655064"/>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Boolean / binary</a:t>
            </a:r>
            <a:endParaRPr lang="en-US" sz="1500" dirty="0"/>
          </a:p>
        </p:txBody>
      </p:sp>
      <p:sp>
        <p:nvSpPr>
          <p:cNvPr id="17" name="Text 15"/>
          <p:cNvSpPr/>
          <p:nvPr/>
        </p:nvSpPr>
        <p:spPr>
          <a:xfrm>
            <a:off x="8339328" y="1993392"/>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Two states</a:t>
            </a:r>
            <a:endParaRPr lang="en-US" sz="1150" dirty="0"/>
          </a:p>
          <a:p>
            <a:pPr marL="0" indent="0">
              <a:buNone/>
            </a:pPr>
            <a:endParaRPr lang="en-US" sz="1150" dirty="0"/>
          </a:p>
          <a:p>
            <a:pPr marL="0" indent="0">
              <a:buNone/>
            </a:pPr>
            <a:r>
              <a:rPr lang="en-US" sz="1150" dirty="0">
                <a:solidFill>
                  <a:srgbClr val="26364A"/>
                </a:solidFill>
              </a:rPr>
              <a:t>Default yes/no, active/inactive</a:t>
            </a:r>
            <a:endParaRPr lang="en-US" sz="1150" dirty="0"/>
          </a:p>
        </p:txBody>
      </p:sp>
      <p:sp>
        <p:nvSpPr>
          <p:cNvPr id="18" name="Shape 16"/>
          <p:cNvSpPr/>
          <p:nvPr/>
        </p:nvSpPr>
        <p:spPr>
          <a:xfrm>
            <a:off x="8174736" y="1517904"/>
            <a:ext cx="82296" cy="1618488"/>
          </a:xfrm>
          <a:prstGeom prst="rect">
            <a:avLst/>
          </a:prstGeom>
          <a:solidFill>
            <a:srgbClr val="2DAA74"/>
          </a:solidFill>
          <a:ln w="12700">
            <a:solidFill>
              <a:srgbClr val="2DAA74"/>
            </a:solidFill>
            <a:prstDash val="solid"/>
          </a:ln>
        </p:spPr>
      </p:sp>
      <p:sp>
        <p:nvSpPr>
          <p:cNvPr id="19" name="Shape 17"/>
          <p:cNvSpPr/>
          <p:nvPr/>
        </p:nvSpPr>
        <p:spPr>
          <a:xfrm>
            <a:off x="676656" y="3511296"/>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0" name="Text 18"/>
          <p:cNvSpPr/>
          <p:nvPr/>
        </p:nvSpPr>
        <p:spPr>
          <a:xfrm>
            <a:off x="841248" y="3648456"/>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Date / time</a:t>
            </a:r>
            <a:endParaRPr lang="en-US" sz="1500" dirty="0"/>
          </a:p>
        </p:txBody>
      </p:sp>
      <p:sp>
        <p:nvSpPr>
          <p:cNvPr id="21" name="Text 19"/>
          <p:cNvSpPr/>
          <p:nvPr/>
        </p:nvSpPr>
        <p:spPr>
          <a:xfrm>
            <a:off x="841248" y="3986784"/>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Time coordinates</a:t>
            </a:r>
            <a:endParaRPr lang="en-US" sz="1150" dirty="0"/>
          </a:p>
          <a:p>
            <a:pPr marL="0" indent="0">
              <a:buNone/>
            </a:pPr>
            <a:endParaRPr lang="en-US" sz="1150" dirty="0"/>
          </a:p>
          <a:p>
            <a:pPr marL="0" indent="0">
              <a:buNone/>
            </a:pPr>
            <a:r>
              <a:rPr lang="en-US" sz="1150" dirty="0">
                <a:solidFill>
                  <a:srgbClr val="26364A"/>
                </a:solidFill>
              </a:rPr>
              <a:t>Transaction date, month-end</a:t>
            </a:r>
            <a:endParaRPr lang="en-US" sz="1150" dirty="0"/>
          </a:p>
        </p:txBody>
      </p:sp>
      <p:sp>
        <p:nvSpPr>
          <p:cNvPr id="22" name="Shape 20"/>
          <p:cNvSpPr/>
          <p:nvPr/>
        </p:nvSpPr>
        <p:spPr>
          <a:xfrm>
            <a:off x="676656" y="3511296"/>
            <a:ext cx="82296" cy="1618488"/>
          </a:xfrm>
          <a:prstGeom prst="rect">
            <a:avLst/>
          </a:prstGeom>
          <a:solidFill>
            <a:srgbClr val="F59E0B"/>
          </a:solidFill>
          <a:ln w="12700">
            <a:solidFill>
              <a:srgbClr val="F59E0B"/>
            </a:solidFill>
            <a:prstDash val="solid"/>
          </a:ln>
        </p:spPr>
      </p:sp>
      <p:sp>
        <p:nvSpPr>
          <p:cNvPr id="23" name="Shape 21"/>
          <p:cNvSpPr/>
          <p:nvPr/>
        </p:nvSpPr>
        <p:spPr>
          <a:xfrm>
            <a:off x="4425696" y="3511296"/>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4" name="Text 22"/>
          <p:cNvSpPr/>
          <p:nvPr/>
        </p:nvSpPr>
        <p:spPr>
          <a:xfrm>
            <a:off x="4590288" y="3648456"/>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Text</a:t>
            </a:r>
            <a:endParaRPr lang="en-US" sz="1500" dirty="0"/>
          </a:p>
        </p:txBody>
      </p:sp>
      <p:sp>
        <p:nvSpPr>
          <p:cNvPr id="25" name="Text 23"/>
          <p:cNvSpPr/>
          <p:nvPr/>
        </p:nvSpPr>
        <p:spPr>
          <a:xfrm>
            <a:off x="4590288" y="3986784"/>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Free-form strings</a:t>
            </a:r>
            <a:endParaRPr lang="en-US" sz="1150" dirty="0"/>
          </a:p>
          <a:p>
            <a:pPr marL="0" indent="0">
              <a:buNone/>
            </a:pPr>
            <a:endParaRPr lang="en-US" sz="1150" dirty="0"/>
          </a:p>
          <a:p>
            <a:pPr marL="0" indent="0">
              <a:buNone/>
            </a:pPr>
            <a:r>
              <a:rPr lang="en-US" sz="1150" dirty="0">
                <a:solidFill>
                  <a:srgbClr val="26364A"/>
                </a:solidFill>
              </a:rPr>
              <a:t>Comments, descriptions, notes</a:t>
            </a:r>
            <a:endParaRPr lang="en-US" sz="1150" dirty="0"/>
          </a:p>
        </p:txBody>
      </p:sp>
      <p:sp>
        <p:nvSpPr>
          <p:cNvPr id="26" name="Shape 24"/>
          <p:cNvSpPr/>
          <p:nvPr/>
        </p:nvSpPr>
        <p:spPr>
          <a:xfrm>
            <a:off x="4425696" y="3511296"/>
            <a:ext cx="82296" cy="1618488"/>
          </a:xfrm>
          <a:prstGeom prst="rect">
            <a:avLst/>
          </a:prstGeom>
          <a:solidFill>
            <a:srgbClr val="7A5AF8"/>
          </a:solidFill>
          <a:ln w="12700">
            <a:solidFill>
              <a:srgbClr val="7A5AF8"/>
            </a:solidFill>
            <a:prstDash val="solid"/>
          </a:ln>
        </p:spPr>
      </p:sp>
      <p:sp>
        <p:nvSpPr>
          <p:cNvPr id="27" name="Shape 25"/>
          <p:cNvSpPr/>
          <p:nvPr/>
        </p:nvSpPr>
        <p:spPr>
          <a:xfrm>
            <a:off x="8174736" y="3511296"/>
            <a:ext cx="3401568" cy="1618488"/>
          </a:xfrm>
          <a:prstGeom prst="roundRect">
            <a:avLst>
              <a:gd name="adj" fmla="val 452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8" name="Text 26"/>
          <p:cNvSpPr/>
          <p:nvPr/>
        </p:nvSpPr>
        <p:spPr>
          <a:xfrm>
            <a:off x="8339328" y="3648456"/>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Identifier</a:t>
            </a:r>
            <a:endParaRPr lang="en-US" sz="1500" dirty="0"/>
          </a:p>
        </p:txBody>
      </p:sp>
      <p:sp>
        <p:nvSpPr>
          <p:cNvPr id="29" name="Text 27"/>
          <p:cNvSpPr/>
          <p:nvPr/>
        </p:nvSpPr>
        <p:spPr>
          <a:xfrm>
            <a:off x="8339328" y="3986784"/>
            <a:ext cx="3072384" cy="101498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Keys, not quantities</a:t>
            </a:r>
            <a:endParaRPr lang="en-US" sz="1150" dirty="0"/>
          </a:p>
          <a:p>
            <a:pPr marL="0" indent="0">
              <a:buNone/>
            </a:pPr>
            <a:endParaRPr lang="en-US" sz="1150" dirty="0"/>
          </a:p>
          <a:p>
            <a:pPr marL="0" indent="0">
              <a:buNone/>
            </a:pPr>
            <a:r>
              <a:rPr lang="en-US" sz="1150" dirty="0">
                <a:solidFill>
                  <a:srgbClr val="26364A"/>
                </a:solidFill>
              </a:rPr>
              <a:t>CustomerID, IBAN, account number</a:t>
            </a:r>
            <a:endParaRPr lang="en-US" sz="1150" dirty="0"/>
          </a:p>
        </p:txBody>
      </p:sp>
      <p:sp>
        <p:nvSpPr>
          <p:cNvPr id="30" name="Shape 28"/>
          <p:cNvSpPr/>
          <p:nvPr/>
        </p:nvSpPr>
        <p:spPr>
          <a:xfrm>
            <a:off x="8174736" y="3511296"/>
            <a:ext cx="82296" cy="1618488"/>
          </a:xfrm>
          <a:prstGeom prst="rect">
            <a:avLst/>
          </a:prstGeom>
          <a:solidFill>
            <a:srgbClr val="D94F4F"/>
          </a:solidFill>
          <a:ln w="12700">
            <a:solidFill>
              <a:srgbClr val="D94F4F"/>
            </a:solidFill>
            <a:prstDash val="solid"/>
          </a:ln>
        </p:spPr>
      </p:sp>
      <p:sp>
        <p:nvSpPr>
          <p:cNvPr id="31" name="Shape 29"/>
          <p:cNvSpPr/>
          <p:nvPr/>
        </p:nvSpPr>
        <p:spPr>
          <a:xfrm>
            <a:off x="1097280" y="5650992"/>
            <a:ext cx="10012680" cy="566928"/>
          </a:xfrm>
          <a:prstGeom prst="roundRect">
            <a:avLst>
              <a:gd name="adj" fmla="val 8065"/>
            </a:avLst>
          </a:prstGeom>
          <a:solidFill>
            <a:srgbClr val="FFFFFF"/>
          </a:solidFill>
          <a:ln w="15240">
            <a:solidFill>
              <a:srgbClr val="D94F4F"/>
            </a:solidFill>
            <a:prstDash val="solid"/>
          </a:ln>
        </p:spPr>
      </p:sp>
      <p:sp>
        <p:nvSpPr>
          <p:cNvPr id="32" name="Shape 30"/>
          <p:cNvSpPr/>
          <p:nvPr/>
        </p:nvSpPr>
        <p:spPr>
          <a:xfrm>
            <a:off x="1097280" y="5650992"/>
            <a:ext cx="73152" cy="566928"/>
          </a:xfrm>
          <a:prstGeom prst="rect">
            <a:avLst/>
          </a:prstGeom>
          <a:solidFill>
            <a:srgbClr val="D94F4F"/>
          </a:solidFill>
          <a:ln w="12700">
            <a:solidFill>
              <a:srgbClr val="D94F4F"/>
            </a:solidFill>
            <a:prstDash val="solid"/>
          </a:ln>
        </p:spPr>
      </p:sp>
      <p:sp>
        <p:nvSpPr>
          <p:cNvPr id="33" name="Text 31"/>
          <p:cNvSpPr/>
          <p:nvPr/>
        </p:nvSpPr>
        <p:spPr>
          <a:xfrm>
            <a:off x="1261872" y="5760720"/>
            <a:ext cx="9756648" cy="347472"/>
          </a:xfrm>
          <a:prstGeom prst="rect">
            <a:avLst/>
          </a:prstGeom>
          <a:noFill/>
          <a:ln/>
        </p:spPr>
        <p:txBody>
          <a:bodyPr wrap="square" lIns="0" tIns="0" rIns="0" bIns="0" rtlCol="0" anchor="ctr">
            <a:normAutofit/>
          </a:bodyPr>
          <a:lstStyle/>
          <a:p>
            <a:pPr marL="0" indent="0">
              <a:buNone/>
            </a:pPr>
            <a:r>
              <a:rPr lang="en-US" sz="1150" b="1" dirty="0">
                <a:solidFill>
                  <a:srgbClr val="0B1F33"/>
                </a:solidFill>
              </a:rPr>
              <a:t>A CustomerID that contains digits is still an identifier, not a numeric measurement.</a:t>
            </a:r>
            <a:endParaRPr lang="en-US" sz="1150" dirty="0"/>
          </a:p>
        </p:txBody>
      </p:sp>
      <p:sp>
        <p:nvSpPr>
          <p:cNvPr id="3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Numeric data: discrete and continuous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Both are numeric, but the measurement scale and distribution may differ.</a:t>
            </a:r>
            <a:endParaRPr lang="en-US" sz="1300" dirty="0"/>
          </a:p>
        </p:txBody>
      </p:sp>
      <p:sp>
        <p:nvSpPr>
          <p:cNvPr id="7" name="Shape 5"/>
          <p:cNvSpPr/>
          <p:nvPr/>
        </p:nvSpPr>
        <p:spPr>
          <a:xfrm>
            <a:off x="713232" y="1490472"/>
            <a:ext cx="5166360" cy="1874520"/>
          </a:xfrm>
          <a:prstGeom prst="roundRect">
            <a:avLst>
              <a:gd name="adj" fmla="val 3902"/>
            </a:avLst>
          </a:prstGeom>
          <a:solidFill>
            <a:srgbClr val="EAF1FF"/>
          </a:solidFill>
          <a:ln w="10160">
            <a:solidFill>
              <a:srgbClr val="E9EEF5"/>
            </a:solidFill>
            <a:prstDash val="solid"/>
          </a:ln>
        </p:spPr>
      </p:sp>
      <p:sp>
        <p:nvSpPr>
          <p:cNvPr id="8" name="Text 6"/>
          <p:cNvSpPr/>
          <p:nvPr/>
        </p:nvSpPr>
        <p:spPr>
          <a:xfrm>
            <a:off x="877824" y="1627632"/>
            <a:ext cx="48371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Discrete numeric variables</a:t>
            </a:r>
            <a:endParaRPr lang="en-US" sz="1500" dirty="0"/>
          </a:p>
        </p:txBody>
      </p:sp>
      <p:sp>
        <p:nvSpPr>
          <p:cNvPr id="9" name="Text 7"/>
          <p:cNvSpPr/>
          <p:nvPr/>
        </p:nvSpPr>
        <p:spPr>
          <a:xfrm>
            <a:off x="877824" y="1965960"/>
            <a:ext cx="4837176" cy="12710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Countable values, often integers.</a:t>
            </a:r>
            <a:endParaRPr lang="en-US" sz="1150" dirty="0"/>
          </a:p>
          <a:p>
            <a:pPr marL="0" indent="0">
              <a:buNone/>
            </a:pPr>
            <a:endParaRPr lang="en-US" sz="1150" dirty="0"/>
          </a:p>
          <a:p>
            <a:pPr marL="0" indent="0">
              <a:buNone/>
            </a:pPr>
            <a:r>
              <a:rPr lang="en-US" sz="1150" dirty="0">
                <a:solidFill>
                  <a:srgbClr val="26364A"/>
                </a:solidFill>
              </a:rPr>
              <a:t>Examples: number of products, missed payments, complaints.</a:t>
            </a:r>
            <a:endParaRPr lang="en-US" sz="1150" dirty="0"/>
          </a:p>
        </p:txBody>
      </p:sp>
      <p:sp>
        <p:nvSpPr>
          <p:cNvPr id="10" name="Shape 8"/>
          <p:cNvSpPr/>
          <p:nvPr/>
        </p:nvSpPr>
        <p:spPr>
          <a:xfrm>
            <a:off x="6309360" y="1490472"/>
            <a:ext cx="5166360" cy="1874520"/>
          </a:xfrm>
          <a:prstGeom prst="roundRect">
            <a:avLst>
              <a:gd name="adj" fmla="val 3902"/>
            </a:avLst>
          </a:prstGeom>
          <a:solidFill>
            <a:srgbClr val="E6F7F5"/>
          </a:solidFill>
          <a:ln w="10160">
            <a:solidFill>
              <a:srgbClr val="E9EEF5"/>
            </a:solidFill>
            <a:prstDash val="solid"/>
          </a:ln>
        </p:spPr>
      </p:sp>
      <p:sp>
        <p:nvSpPr>
          <p:cNvPr id="11" name="Text 9"/>
          <p:cNvSpPr/>
          <p:nvPr/>
        </p:nvSpPr>
        <p:spPr>
          <a:xfrm>
            <a:off x="6473952" y="1627632"/>
            <a:ext cx="48371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Continuous numeric variables</a:t>
            </a:r>
            <a:endParaRPr lang="en-US" sz="1500" dirty="0"/>
          </a:p>
        </p:txBody>
      </p:sp>
      <p:sp>
        <p:nvSpPr>
          <p:cNvPr id="12" name="Text 10"/>
          <p:cNvSpPr/>
          <p:nvPr/>
        </p:nvSpPr>
        <p:spPr>
          <a:xfrm>
            <a:off x="6473952" y="1965960"/>
            <a:ext cx="4837176" cy="12710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Measurements on a scale.</a:t>
            </a:r>
            <a:endParaRPr lang="en-US" sz="1150" dirty="0"/>
          </a:p>
          <a:p>
            <a:pPr marL="0" indent="0">
              <a:buNone/>
            </a:pPr>
            <a:endParaRPr lang="en-US" sz="1150" dirty="0"/>
          </a:p>
          <a:p>
            <a:pPr marL="0" indent="0">
              <a:buNone/>
            </a:pPr>
            <a:r>
              <a:rPr lang="en-US" sz="1150" dirty="0">
                <a:solidFill>
                  <a:srgbClr val="26364A"/>
                </a:solidFill>
              </a:rPr>
              <a:t>Examples: balance, income, amount, duration, interest rate.</a:t>
            </a:r>
            <a:endParaRPr lang="en-US" sz="1150" dirty="0"/>
          </a:p>
        </p:txBody>
      </p:sp>
      <p:sp>
        <p:nvSpPr>
          <p:cNvPr id="13" name="Shape 11"/>
          <p:cNvSpPr/>
          <p:nvPr/>
        </p:nvSpPr>
        <p:spPr>
          <a:xfrm>
            <a:off x="1261872" y="5285232"/>
            <a:ext cx="3291840" cy="0"/>
          </a:xfrm>
          <a:prstGeom prst="line">
            <a:avLst/>
          </a:prstGeom>
          <a:noFill/>
          <a:ln w="12700">
            <a:solidFill>
              <a:srgbClr val="AEB8C5"/>
            </a:solidFill>
            <a:prstDash val="solid"/>
          </a:ln>
        </p:spPr>
      </p:sp>
      <p:sp>
        <p:nvSpPr>
          <p:cNvPr id="14" name="Shape 12"/>
          <p:cNvSpPr/>
          <p:nvPr/>
        </p:nvSpPr>
        <p:spPr>
          <a:xfrm>
            <a:off x="1261872" y="4078224"/>
            <a:ext cx="0" cy="1207008"/>
          </a:xfrm>
          <a:prstGeom prst="line">
            <a:avLst/>
          </a:prstGeom>
          <a:noFill/>
          <a:ln w="12700">
            <a:solidFill>
              <a:srgbClr val="AEB8C5"/>
            </a:solidFill>
            <a:prstDash val="solid"/>
          </a:ln>
        </p:spPr>
      </p:sp>
      <p:sp>
        <p:nvSpPr>
          <p:cNvPr id="15" name="Shape 13"/>
          <p:cNvSpPr/>
          <p:nvPr/>
        </p:nvSpPr>
        <p:spPr>
          <a:xfrm>
            <a:off x="1280160" y="4983480"/>
            <a:ext cx="621792" cy="301752"/>
          </a:xfrm>
          <a:prstGeom prst="rect">
            <a:avLst/>
          </a:prstGeom>
          <a:solidFill>
            <a:srgbClr val="2F6BFF">
              <a:alpha val="85000"/>
            </a:srgbClr>
          </a:solidFill>
          <a:ln w="6350">
            <a:solidFill>
              <a:srgbClr val="2F6BFF">
                <a:alpha val="85000"/>
              </a:srgbClr>
            </a:solidFill>
            <a:prstDash val="solid"/>
          </a:ln>
        </p:spPr>
      </p:sp>
      <p:sp>
        <p:nvSpPr>
          <p:cNvPr id="16" name="Shape 14"/>
          <p:cNvSpPr/>
          <p:nvPr/>
        </p:nvSpPr>
        <p:spPr>
          <a:xfrm>
            <a:off x="1938528" y="4530852"/>
            <a:ext cx="621792" cy="754380"/>
          </a:xfrm>
          <a:prstGeom prst="rect">
            <a:avLst/>
          </a:prstGeom>
          <a:solidFill>
            <a:srgbClr val="2F6BFF">
              <a:alpha val="85000"/>
            </a:srgbClr>
          </a:solidFill>
          <a:ln w="6350">
            <a:solidFill>
              <a:srgbClr val="2F6BFF">
                <a:alpha val="85000"/>
              </a:srgbClr>
            </a:solidFill>
            <a:prstDash val="solid"/>
          </a:ln>
        </p:spPr>
      </p:sp>
      <p:sp>
        <p:nvSpPr>
          <p:cNvPr id="17" name="Shape 15"/>
          <p:cNvSpPr/>
          <p:nvPr/>
        </p:nvSpPr>
        <p:spPr>
          <a:xfrm>
            <a:off x="2596896" y="4078224"/>
            <a:ext cx="621792" cy="1207008"/>
          </a:xfrm>
          <a:prstGeom prst="rect">
            <a:avLst/>
          </a:prstGeom>
          <a:solidFill>
            <a:srgbClr val="2F6BFF">
              <a:alpha val="85000"/>
            </a:srgbClr>
          </a:solidFill>
          <a:ln w="6350">
            <a:solidFill>
              <a:srgbClr val="2F6BFF">
                <a:alpha val="85000"/>
              </a:srgbClr>
            </a:solidFill>
            <a:prstDash val="solid"/>
          </a:ln>
        </p:spPr>
      </p:sp>
      <p:sp>
        <p:nvSpPr>
          <p:cNvPr id="18" name="Shape 16"/>
          <p:cNvSpPr/>
          <p:nvPr/>
        </p:nvSpPr>
        <p:spPr>
          <a:xfrm>
            <a:off x="3255264" y="4681728"/>
            <a:ext cx="621792" cy="603504"/>
          </a:xfrm>
          <a:prstGeom prst="rect">
            <a:avLst/>
          </a:prstGeom>
          <a:solidFill>
            <a:srgbClr val="2F6BFF">
              <a:alpha val="85000"/>
            </a:srgbClr>
          </a:solidFill>
          <a:ln w="6350">
            <a:solidFill>
              <a:srgbClr val="2F6BFF">
                <a:alpha val="85000"/>
              </a:srgbClr>
            </a:solidFill>
            <a:prstDash val="solid"/>
          </a:ln>
        </p:spPr>
      </p:sp>
      <p:sp>
        <p:nvSpPr>
          <p:cNvPr id="19" name="Shape 17"/>
          <p:cNvSpPr/>
          <p:nvPr/>
        </p:nvSpPr>
        <p:spPr>
          <a:xfrm>
            <a:off x="3913632" y="4983480"/>
            <a:ext cx="621792" cy="301752"/>
          </a:xfrm>
          <a:prstGeom prst="rect">
            <a:avLst/>
          </a:prstGeom>
          <a:solidFill>
            <a:srgbClr val="2F6BFF">
              <a:alpha val="85000"/>
            </a:srgbClr>
          </a:solidFill>
          <a:ln w="6350">
            <a:solidFill>
              <a:srgbClr val="2F6BFF">
                <a:alpha val="85000"/>
              </a:srgbClr>
            </a:solidFill>
            <a:prstDash val="solid"/>
          </a:ln>
        </p:spPr>
      </p:sp>
      <p:sp>
        <p:nvSpPr>
          <p:cNvPr id="20" name="Text 18"/>
          <p:cNvSpPr/>
          <p:nvPr/>
        </p:nvSpPr>
        <p:spPr>
          <a:xfrm>
            <a:off x="1133856" y="5440680"/>
            <a:ext cx="3657600" cy="228600"/>
          </a:xfrm>
          <a:prstGeom prst="rect">
            <a:avLst/>
          </a:prstGeom>
          <a:noFill/>
          <a:ln/>
        </p:spPr>
        <p:txBody>
          <a:bodyPr wrap="square" lIns="0" tIns="0" rIns="0" bIns="0" rtlCol="0" anchor="ctr"/>
          <a:lstStyle/>
          <a:p>
            <a:pPr marL="0" indent="0" algn="ctr">
              <a:buNone/>
            </a:pPr>
            <a:r>
              <a:rPr lang="en-US" sz="1050" dirty="0">
                <a:solidFill>
                  <a:srgbClr val="667085"/>
                </a:solidFill>
              </a:rPr>
              <a:t>Discrete: Products per customer</a:t>
            </a:r>
            <a:endParaRPr lang="en-US" sz="1050" dirty="0"/>
          </a:p>
        </p:txBody>
      </p:sp>
      <p:sp>
        <p:nvSpPr>
          <p:cNvPr id="21" name="Shape 19"/>
          <p:cNvSpPr/>
          <p:nvPr/>
        </p:nvSpPr>
        <p:spPr>
          <a:xfrm>
            <a:off x="6967728" y="5285232"/>
            <a:ext cx="3291840" cy="0"/>
          </a:xfrm>
          <a:prstGeom prst="line">
            <a:avLst/>
          </a:prstGeom>
          <a:noFill/>
          <a:ln w="12700">
            <a:solidFill>
              <a:srgbClr val="AEB8C5"/>
            </a:solidFill>
            <a:prstDash val="solid"/>
          </a:ln>
        </p:spPr>
      </p:sp>
      <p:sp>
        <p:nvSpPr>
          <p:cNvPr id="22" name="Shape 20"/>
          <p:cNvSpPr/>
          <p:nvPr/>
        </p:nvSpPr>
        <p:spPr>
          <a:xfrm>
            <a:off x="6967728" y="4078224"/>
            <a:ext cx="0" cy="1207008"/>
          </a:xfrm>
          <a:prstGeom prst="line">
            <a:avLst/>
          </a:prstGeom>
          <a:noFill/>
          <a:ln w="12700">
            <a:solidFill>
              <a:srgbClr val="AEB8C5"/>
            </a:solidFill>
            <a:prstDash val="solid"/>
          </a:ln>
        </p:spPr>
      </p:sp>
      <p:sp>
        <p:nvSpPr>
          <p:cNvPr id="23" name="Shape 21"/>
          <p:cNvSpPr/>
          <p:nvPr/>
        </p:nvSpPr>
        <p:spPr>
          <a:xfrm>
            <a:off x="6986016" y="5151120"/>
            <a:ext cx="292608" cy="134112"/>
          </a:xfrm>
          <a:prstGeom prst="rect">
            <a:avLst/>
          </a:prstGeom>
          <a:solidFill>
            <a:srgbClr val="009E9A">
              <a:alpha val="85000"/>
            </a:srgbClr>
          </a:solidFill>
          <a:ln w="6350">
            <a:solidFill>
              <a:srgbClr val="009E9A">
                <a:alpha val="85000"/>
              </a:srgbClr>
            </a:solidFill>
            <a:prstDash val="solid"/>
          </a:ln>
        </p:spPr>
      </p:sp>
      <p:sp>
        <p:nvSpPr>
          <p:cNvPr id="24" name="Shape 22"/>
          <p:cNvSpPr/>
          <p:nvPr/>
        </p:nvSpPr>
        <p:spPr>
          <a:xfrm>
            <a:off x="7315200" y="5017008"/>
            <a:ext cx="292608" cy="268224"/>
          </a:xfrm>
          <a:prstGeom prst="rect">
            <a:avLst/>
          </a:prstGeom>
          <a:solidFill>
            <a:srgbClr val="009E9A">
              <a:alpha val="85000"/>
            </a:srgbClr>
          </a:solidFill>
          <a:ln w="6350">
            <a:solidFill>
              <a:srgbClr val="009E9A">
                <a:alpha val="85000"/>
              </a:srgbClr>
            </a:solidFill>
            <a:prstDash val="solid"/>
          </a:ln>
        </p:spPr>
      </p:sp>
      <p:sp>
        <p:nvSpPr>
          <p:cNvPr id="25" name="Shape 23"/>
          <p:cNvSpPr/>
          <p:nvPr/>
        </p:nvSpPr>
        <p:spPr>
          <a:xfrm>
            <a:off x="7644384" y="4748784"/>
            <a:ext cx="292608" cy="536448"/>
          </a:xfrm>
          <a:prstGeom prst="rect">
            <a:avLst/>
          </a:prstGeom>
          <a:solidFill>
            <a:srgbClr val="009E9A">
              <a:alpha val="85000"/>
            </a:srgbClr>
          </a:solidFill>
          <a:ln w="6350">
            <a:solidFill>
              <a:srgbClr val="009E9A">
                <a:alpha val="85000"/>
              </a:srgbClr>
            </a:solidFill>
            <a:prstDash val="solid"/>
          </a:ln>
        </p:spPr>
      </p:sp>
      <p:sp>
        <p:nvSpPr>
          <p:cNvPr id="26" name="Shape 24"/>
          <p:cNvSpPr/>
          <p:nvPr/>
        </p:nvSpPr>
        <p:spPr>
          <a:xfrm>
            <a:off x="7973568" y="4346448"/>
            <a:ext cx="292608" cy="938784"/>
          </a:xfrm>
          <a:prstGeom prst="rect">
            <a:avLst/>
          </a:prstGeom>
          <a:solidFill>
            <a:srgbClr val="009E9A">
              <a:alpha val="85000"/>
            </a:srgbClr>
          </a:solidFill>
          <a:ln w="6350">
            <a:solidFill>
              <a:srgbClr val="009E9A">
                <a:alpha val="85000"/>
              </a:srgbClr>
            </a:solidFill>
            <a:prstDash val="solid"/>
          </a:ln>
        </p:spPr>
      </p:sp>
      <p:sp>
        <p:nvSpPr>
          <p:cNvPr id="27" name="Shape 25"/>
          <p:cNvSpPr/>
          <p:nvPr/>
        </p:nvSpPr>
        <p:spPr>
          <a:xfrm>
            <a:off x="8302752" y="4078224"/>
            <a:ext cx="292608" cy="1207008"/>
          </a:xfrm>
          <a:prstGeom prst="rect">
            <a:avLst/>
          </a:prstGeom>
          <a:solidFill>
            <a:srgbClr val="009E9A">
              <a:alpha val="85000"/>
            </a:srgbClr>
          </a:solidFill>
          <a:ln w="6350">
            <a:solidFill>
              <a:srgbClr val="009E9A">
                <a:alpha val="85000"/>
              </a:srgbClr>
            </a:solidFill>
            <a:prstDash val="solid"/>
          </a:ln>
        </p:spPr>
      </p:sp>
      <p:sp>
        <p:nvSpPr>
          <p:cNvPr id="28" name="Shape 26"/>
          <p:cNvSpPr/>
          <p:nvPr/>
        </p:nvSpPr>
        <p:spPr>
          <a:xfrm>
            <a:off x="8631936" y="4212336"/>
            <a:ext cx="292608" cy="1072896"/>
          </a:xfrm>
          <a:prstGeom prst="rect">
            <a:avLst/>
          </a:prstGeom>
          <a:solidFill>
            <a:srgbClr val="009E9A">
              <a:alpha val="85000"/>
            </a:srgbClr>
          </a:solidFill>
          <a:ln w="6350">
            <a:solidFill>
              <a:srgbClr val="009E9A">
                <a:alpha val="85000"/>
              </a:srgbClr>
            </a:solidFill>
            <a:prstDash val="solid"/>
          </a:ln>
        </p:spPr>
      </p:sp>
      <p:sp>
        <p:nvSpPr>
          <p:cNvPr id="29" name="Shape 27"/>
          <p:cNvSpPr/>
          <p:nvPr/>
        </p:nvSpPr>
        <p:spPr>
          <a:xfrm>
            <a:off x="8961120" y="4614672"/>
            <a:ext cx="292608" cy="670560"/>
          </a:xfrm>
          <a:prstGeom prst="rect">
            <a:avLst/>
          </a:prstGeom>
          <a:solidFill>
            <a:srgbClr val="009E9A">
              <a:alpha val="85000"/>
            </a:srgbClr>
          </a:solidFill>
          <a:ln w="6350">
            <a:solidFill>
              <a:srgbClr val="009E9A">
                <a:alpha val="85000"/>
              </a:srgbClr>
            </a:solidFill>
            <a:prstDash val="solid"/>
          </a:ln>
        </p:spPr>
      </p:sp>
      <p:sp>
        <p:nvSpPr>
          <p:cNvPr id="30" name="Shape 28"/>
          <p:cNvSpPr/>
          <p:nvPr/>
        </p:nvSpPr>
        <p:spPr>
          <a:xfrm>
            <a:off x="9290304" y="4882896"/>
            <a:ext cx="292608" cy="402336"/>
          </a:xfrm>
          <a:prstGeom prst="rect">
            <a:avLst/>
          </a:prstGeom>
          <a:solidFill>
            <a:srgbClr val="009E9A">
              <a:alpha val="85000"/>
            </a:srgbClr>
          </a:solidFill>
          <a:ln w="6350">
            <a:solidFill>
              <a:srgbClr val="009E9A">
                <a:alpha val="85000"/>
              </a:srgbClr>
            </a:solidFill>
            <a:prstDash val="solid"/>
          </a:ln>
        </p:spPr>
      </p:sp>
      <p:sp>
        <p:nvSpPr>
          <p:cNvPr id="31" name="Shape 29"/>
          <p:cNvSpPr/>
          <p:nvPr/>
        </p:nvSpPr>
        <p:spPr>
          <a:xfrm>
            <a:off x="9619488" y="5017008"/>
            <a:ext cx="292608" cy="268224"/>
          </a:xfrm>
          <a:prstGeom prst="rect">
            <a:avLst/>
          </a:prstGeom>
          <a:solidFill>
            <a:srgbClr val="009E9A">
              <a:alpha val="85000"/>
            </a:srgbClr>
          </a:solidFill>
          <a:ln w="6350">
            <a:solidFill>
              <a:srgbClr val="009E9A">
                <a:alpha val="85000"/>
              </a:srgbClr>
            </a:solidFill>
            <a:prstDash val="solid"/>
          </a:ln>
        </p:spPr>
      </p:sp>
      <p:sp>
        <p:nvSpPr>
          <p:cNvPr id="32" name="Shape 30"/>
          <p:cNvSpPr/>
          <p:nvPr/>
        </p:nvSpPr>
        <p:spPr>
          <a:xfrm>
            <a:off x="9948672" y="5151120"/>
            <a:ext cx="292608" cy="134112"/>
          </a:xfrm>
          <a:prstGeom prst="rect">
            <a:avLst/>
          </a:prstGeom>
          <a:solidFill>
            <a:srgbClr val="009E9A">
              <a:alpha val="85000"/>
            </a:srgbClr>
          </a:solidFill>
          <a:ln w="6350">
            <a:solidFill>
              <a:srgbClr val="009E9A">
                <a:alpha val="85000"/>
              </a:srgbClr>
            </a:solidFill>
            <a:prstDash val="solid"/>
          </a:ln>
        </p:spPr>
      </p:sp>
      <p:sp>
        <p:nvSpPr>
          <p:cNvPr id="33" name="Text 31"/>
          <p:cNvSpPr/>
          <p:nvPr/>
        </p:nvSpPr>
        <p:spPr>
          <a:xfrm>
            <a:off x="6839712" y="5440680"/>
            <a:ext cx="3657600" cy="228600"/>
          </a:xfrm>
          <a:prstGeom prst="rect">
            <a:avLst/>
          </a:prstGeom>
          <a:noFill/>
          <a:ln/>
        </p:spPr>
        <p:txBody>
          <a:bodyPr wrap="square" lIns="0" tIns="0" rIns="0" bIns="0" rtlCol="0" anchor="ctr"/>
          <a:lstStyle/>
          <a:p>
            <a:pPr marL="0" indent="0" algn="ctr">
              <a:buNone/>
            </a:pPr>
            <a:r>
              <a:rPr lang="en-US" sz="1050" dirty="0">
                <a:solidFill>
                  <a:srgbClr val="667085"/>
                </a:solidFill>
              </a:rPr>
              <a:t>Continuous: Account balance</a:t>
            </a:r>
            <a:endParaRPr lang="en-US" sz="1050" dirty="0"/>
          </a:p>
        </p:txBody>
      </p:sp>
      <p:sp>
        <p:nvSpPr>
          <p:cNvPr id="34" name="Shape 32"/>
          <p:cNvSpPr/>
          <p:nvPr/>
        </p:nvSpPr>
        <p:spPr>
          <a:xfrm>
            <a:off x="1993392" y="5833872"/>
            <a:ext cx="8138160" cy="420624"/>
          </a:xfrm>
          <a:prstGeom prst="roundRect">
            <a:avLst>
              <a:gd name="adj" fmla="val 10870"/>
            </a:avLst>
          </a:prstGeom>
          <a:solidFill>
            <a:srgbClr val="F8FBF9"/>
          </a:solidFill>
          <a:ln w="12700">
            <a:solidFill>
              <a:srgbClr val="217346"/>
            </a:solidFill>
            <a:prstDash val="solid"/>
          </a:ln>
        </p:spPr>
      </p:sp>
      <p:sp>
        <p:nvSpPr>
          <p:cNvPr id="35" name="Text 33"/>
          <p:cNvSpPr/>
          <p:nvPr/>
        </p:nvSpPr>
        <p:spPr>
          <a:xfrm>
            <a:off x="2103120" y="5916168"/>
            <a:ext cx="791870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=AVERAGE(Table1[Balance])     =MEDIAN(Table1[Balance])     =STDEV.S(Table1[Balance])</a:t>
            </a:r>
            <a:endParaRPr lang="en-US" sz="1050" dirty="0"/>
          </a:p>
        </p:txBody>
      </p:sp>
      <p:sp>
        <p:nvSpPr>
          <p:cNvPr id="3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Categorical data: nominal, ordinal and binary</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Categories can be labels, ordered levels or two-state flags.</a:t>
            </a:r>
            <a:endParaRPr lang="en-US" sz="1300" dirty="0"/>
          </a:p>
        </p:txBody>
      </p:sp>
      <p:sp>
        <p:nvSpPr>
          <p:cNvPr id="7" name="Shape 5"/>
          <p:cNvSpPr/>
          <p:nvPr/>
        </p:nvSpPr>
        <p:spPr>
          <a:xfrm>
            <a:off x="713232" y="1572768"/>
            <a:ext cx="3383280" cy="2286000"/>
          </a:xfrm>
          <a:prstGeom prst="roundRect">
            <a:avLst>
              <a:gd name="adj" fmla="val 3200"/>
            </a:avLst>
          </a:prstGeom>
          <a:solidFill>
            <a:srgbClr val="EAF1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877824" y="1709928"/>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Nominal</a:t>
            </a:r>
            <a:endParaRPr lang="en-US" sz="1500" dirty="0"/>
          </a:p>
        </p:txBody>
      </p:sp>
      <p:sp>
        <p:nvSpPr>
          <p:cNvPr id="9" name="Text 7"/>
          <p:cNvSpPr/>
          <p:nvPr/>
        </p:nvSpPr>
        <p:spPr>
          <a:xfrm>
            <a:off x="877824" y="2048256"/>
            <a:ext cx="3054096" cy="1682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No intrinsic order</a:t>
            </a:r>
            <a:endParaRPr lang="en-US" sz="1150" dirty="0"/>
          </a:p>
          <a:p>
            <a:pPr marL="0" indent="0">
              <a:buNone/>
            </a:pPr>
            <a:endParaRPr lang="en-US" sz="1150" dirty="0"/>
          </a:p>
          <a:p>
            <a:pPr marL="0" indent="0">
              <a:buNone/>
            </a:pPr>
            <a:r>
              <a:rPr lang="en-US" sz="1150" dirty="0">
                <a:solidFill>
                  <a:srgbClr val="26364A"/>
                </a:solidFill>
              </a:rPr>
              <a:t>Region: North / South</a:t>
            </a:r>
            <a:endParaRPr lang="en-US" sz="1150" dirty="0"/>
          </a:p>
          <a:p>
            <a:pPr marL="0" indent="0">
              <a:buNone/>
            </a:pPr>
            <a:r>
              <a:rPr lang="en-US" sz="1150" dirty="0">
                <a:solidFill>
                  <a:srgbClr val="26364A"/>
                </a:solidFill>
              </a:rPr>
              <a:t>Product: Card / Mortgage / Loan</a:t>
            </a:r>
            <a:endParaRPr lang="en-US" sz="1150" dirty="0"/>
          </a:p>
        </p:txBody>
      </p:sp>
      <p:sp>
        <p:nvSpPr>
          <p:cNvPr id="10" name="Shape 8"/>
          <p:cNvSpPr/>
          <p:nvPr/>
        </p:nvSpPr>
        <p:spPr>
          <a:xfrm>
            <a:off x="4462272" y="1572768"/>
            <a:ext cx="3383280" cy="2286000"/>
          </a:xfrm>
          <a:prstGeom prst="roundRect">
            <a:avLst>
              <a:gd name="adj" fmla="val 3200"/>
            </a:avLst>
          </a:prstGeom>
          <a:solidFill>
            <a:srgbClr val="F1EDFF"/>
          </a:solidFill>
          <a:ln w="10160">
            <a:solidFill>
              <a:srgbClr val="E9EEF5"/>
            </a:solidFill>
            <a:prstDash val="solid"/>
          </a:ln>
          <a:effectLst>
            <a:outerShdw blurRad="25400" dist="50800" dir="2700000" algn="bl" rotWithShape="0">
              <a:srgbClr val="B9C4D1">
                <a:alpha val="15000"/>
              </a:srgbClr>
            </a:outerShdw>
          </a:effectLst>
        </p:spPr>
      </p:sp>
      <p:sp>
        <p:nvSpPr>
          <p:cNvPr id="11" name="Text 9"/>
          <p:cNvSpPr/>
          <p:nvPr/>
        </p:nvSpPr>
        <p:spPr>
          <a:xfrm>
            <a:off x="4626864" y="1709928"/>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Ordinal</a:t>
            </a:r>
            <a:endParaRPr lang="en-US" sz="1500" dirty="0"/>
          </a:p>
        </p:txBody>
      </p:sp>
      <p:sp>
        <p:nvSpPr>
          <p:cNvPr id="12" name="Text 10"/>
          <p:cNvSpPr/>
          <p:nvPr/>
        </p:nvSpPr>
        <p:spPr>
          <a:xfrm>
            <a:off x="4626864" y="2048256"/>
            <a:ext cx="3054096" cy="1682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Meaningful order</a:t>
            </a:r>
            <a:endParaRPr lang="en-US" sz="1150" dirty="0"/>
          </a:p>
          <a:p>
            <a:pPr marL="0" indent="0">
              <a:buNone/>
            </a:pPr>
            <a:endParaRPr lang="en-US" sz="1150" dirty="0"/>
          </a:p>
          <a:p>
            <a:pPr marL="0" indent="0">
              <a:buNone/>
            </a:pPr>
            <a:r>
              <a:rPr lang="en-US" sz="1150" dirty="0">
                <a:solidFill>
                  <a:srgbClr val="26364A"/>
                </a:solidFill>
              </a:rPr>
              <a:t>Risk grade: Low / Medium / High</a:t>
            </a:r>
            <a:endParaRPr lang="en-US" sz="1150" dirty="0"/>
          </a:p>
          <a:p>
            <a:pPr marL="0" indent="0">
              <a:buNone/>
            </a:pPr>
            <a:r>
              <a:rPr lang="en-US" sz="1150" dirty="0">
                <a:solidFill>
                  <a:srgbClr val="26364A"/>
                </a:solidFill>
              </a:rPr>
              <a:t>Satisfaction: 1…5</a:t>
            </a:r>
            <a:endParaRPr lang="en-US" sz="1150" dirty="0"/>
          </a:p>
        </p:txBody>
      </p:sp>
      <p:sp>
        <p:nvSpPr>
          <p:cNvPr id="13" name="Shape 11"/>
          <p:cNvSpPr/>
          <p:nvPr/>
        </p:nvSpPr>
        <p:spPr>
          <a:xfrm>
            <a:off x="8211312" y="1572768"/>
            <a:ext cx="3383280" cy="2286000"/>
          </a:xfrm>
          <a:prstGeom prst="roundRect">
            <a:avLst>
              <a:gd name="adj" fmla="val 3200"/>
            </a:avLst>
          </a:prstGeom>
          <a:solidFill>
            <a:srgbClr val="EAF7EF"/>
          </a:solidFill>
          <a:ln w="10160">
            <a:solidFill>
              <a:srgbClr val="E9EEF5"/>
            </a:solidFill>
            <a:prstDash val="solid"/>
          </a:ln>
          <a:effectLst>
            <a:outerShdw blurRad="25400" dist="50800" dir="2700000" algn="bl" rotWithShape="0">
              <a:srgbClr val="B9C4D1">
                <a:alpha val="15000"/>
              </a:srgbClr>
            </a:outerShdw>
          </a:effectLst>
        </p:spPr>
      </p:sp>
      <p:sp>
        <p:nvSpPr>
          <p:cNvPr id="14" name="Text 12"/>
          <p:cNvSpPr/>
          <p:nvPr/>
        </p:nvSpPr>
        <p:spPr>
          <a:xfrm>
            <a:off x="8375904" y="1709928"/>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Binary</a:t>
            </a:r>
            <a:endParaRPr lang="en-US" sz="1500" dirty="0"/>
          </a:p>
        </p:txBody>
      </p:sp>
      <p:sp>
        <p:nvSpPr>
          <p:cNvPr id="15" name="Text 13"/>
          <p:cNvSpPr/>
          <p:nvPr/>
        </p:nvSpPr>
        <p:spPr>
          <a:xfrm>
            <a:off x="8375904" y="2048256"/>
            <a:ext cx="3054096" cy="1682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Exactly two states</a:t>
            </a:r>
            <a:endParaRPr lang="en-US" sz="1150" dirty="0"/>
          </a:p>
          <a:p>
            <a:pPr marL="0" indent="0">
              <a:buNone/>
            </a:pPr>
            <a:endParaRPr lang="en-US" sz="1150" dirty="0"/>
          </a:p>
          <a:p>
            <a:pPr marL="0" indent="0">
              <a:buNone/>
            </a:pPr>
            <a:r>
              <a:rPr lang="en-US" sz="1150" dirty="0">
                <a:solidFill>
                  <a:srgbClr val="26364A"/>
                </a:solidFill>
              </a:rPr>
              <a:t>Default: Yes / No</a:t>
            </a:r>
            <a:endParaRPr lang="en-US" sz="1150" dirty="0"/>
          </a:p>
          <a:p>
            <a:pPr marL="0" indent="0">
              <a:buNone/>
            </a:pPr>
            <a:r>
              <a:rPr lang="en-US" sz="1150" dirty="0">
                <a:solidFill>
                  <a:srgbClr val="26364A"/>
                </a:solidFill>
              </a:rPr>
              <a:t>Active: 1 / 0</a:t>
            </a:r>
            <a:endParaRPr lang="en-US" sz="1150" dirty="0"/>
          </a:p>
        </p:txBody>
      </p:sp>
      <p:sp>
        <p:nvSpPr>
          <p:cNvPr id="16" name="Text 14"/>
          <p:cNvSpPr/>
          <p:nvPr/>
        </p:nvSpPr>
        <p:spPr>
          <a:xfrm>
            <a:off x="749808" y="4315968"/>
            <a:ext cx="1920240" cy="274320"/>
          </a:xfrm>
          <a:prstGeom prst="rect">
            <a:avLst/>
          </a:prstGeom>
          <a:noFill/>
          <a:ln/>
        </p:spPr>
        <p:txBody>
          <a:bodyPr wrap="square" lIns="0" tIns="0" rIns="0" bIns="0" rtlCol="0" anchor="ctr"/>
          <a:lstStyle/>
          <a:p>
            <a:pPr marL="0" indent="0">
              <a:buNone/>
            </a:pPr>
            <a:r>
              <a:rPr lang="en-US" sz="1500" b="1" dirty="0">
                <a:solidFill>
                  <a:srgbClr val="0B1F33"/>
                </a:solidFill>
              </a:rPr>
              <a:t>Excel implications</a:t>
            </a:r>
            <a:endParaRPr lang="en-US" sz="1500" dirty="0"/>
          </a:p>
        </p:txBody>
      </p:sp>
      <p:sp>
        <p:nvSpPr>
          <p:cNvPr id="17" name="Shape 15"/>
          <p:cNvSpPr/>
          <p:nvPr/>
        </p:nvSpPr>
        <p:spPr>
          <a:xfrm>
            <a:off x="804672" y="4773168"/>
            <a:ext cx="100584" cy="100584"/>
          </a:xfrm>
          <a:prstGeom prst="ellipse">
            <a:avLst/>
          </a:prstGeom>
          <a:solidFill>
            <a:srgbClr val="009E9A"/>
          </a:solidFill>
          <a:ln w="12700">
            <a:solidFill>
              <a:srgbClr val="009E9A"/>
            </a:solidFill>
            <a:prstDash val="solid"/>
          </a:ln>
        </p:spPr>
      </p:sp>
      <p:sp>
        <p:nvSpPr>
          <p:cNvPr id="18" name="Text 16"/>
          <p:cNvSpPr/>
          <p:nvPr/>
        </p:nvSpPr>
        <p:spPr>
          <a:xfrm>
            <a:off x="1005840" y="4681728"/>
            <a:ext cx="10085832" cy="411480"/>
          </a:xfrm>
          <a:prstGeom prst="rect">
            <a:avLst/>
          </a:prstGeom>
          <a:noFill/>
          <a:ln/>
        </p:spPr>
        <p:txBody>
          <a:bodyPr wrap="square" lIns="0" tIns="0" rIns="0" bIns="0" rtlCol="0" anchor="ctr">
            <a:normAutofit/>
          </a:bodyPr>
          <a:lstStyle/>
          <a:p>
            <a:pPr marL="0" indent="0">
              <a:buNone/>
            </a:pPr>
            <a:r>
              <a:rPr lang="en-US" sz="1300" dirty="0">
                <a:solidFill>
                  <a:srgbClr val="26364A"/>
                </a:solidFill>
              </a:rPr>
              <a:t>Use Data Validation lists to control allowed categories.</a:t>
            </a:r>
            <a:endParaRPr lang="en-US" sz="1300" dirty="0"/>
          </a:p>
        </p:txBody>
      </p:sp>
      <p:sp>
        <p:nvSpPr>
          <p:cNvPr id="19" name="Shape 17"/>
          <p:cNvSpPr/>
          <p:nvPr/>
        </p:nvSpPr>
        <p:spPr>
          <a:xfrm>
            <a:off x="804672" y="5184648"/>
            <a:ext cx="100584" cy="100584"/>
          </a:xfrm>
          <a:prstGeom prst="ellipse">
            <a:avLst/>
          </a:prstGeom>
          <a:solidFill>
            <a:srgbClr val="009E9A"/>
          </a:solidFill>
          <a:ln w="12700">
            <a:solidFill>
              <a:srgbClr val="009E9A"/>
            </a:solidFill>
            <a:prstDash val="solid"/>
          </a:ln>
        </p:spPr>
      </p:sp>
      <p:sp>
        <p:nvSpPr>
          <p:cNvPr id="20" name="Text 18"/>
          <p:cNvSpPr/>
          <p:nvPr/>
        </p:nvSpPr>
        <p:spPr>
          <a:xfrm>
            <a:off x="1005840" y="5093208"/>
            <a:ext cx="10085832" cy="411480"/>
          </a:xfrm>
          <a:prstGeom prst="rect">
            <a:avLst/>
          </a:prstGeom>
          <a:noFill/>
          <a:ln/>
        </p:spPr>
        <p:txBody>
          <a:bodyPr wrap="square" lIns="0" tIns="0" rIns="0" bIns="0" rtlCol="0" anchor="ctr">
            <a:normAutofit/>
          </a:bodyPr>
          <a:lstStyle/>
          <a:p>
            <a:pPr marL="0" indent="0">
              <a:buNone/>
            </a:pPr>
            <a:r>
              <a:rPr lang="en-US" sz="1300" dirty="0">
                <a:solidFill>
                  <a:srgbClr val="26364A"/>
                </a:solidFill>
              </a:rPr>
              <a:t>Use PivotTables to compare counts, averages and rates across groups.</a:t>
            </a:r>
            <a:endParaRPr lang="en-US" sz="1300" dirty="0"/>
          </a:p>
        </p:txBody>
      </p:sp>
      <p:sp>
        <p:nvSpPr>
          <p:cNvPr id="21" name="Shape 19"/>
          <p:cNvSpPr/>
          <p:nvPr/>
        </p:nvSpPr>
        <p:spPr>
          <a:xfrm>
            <a:off x="804672" y="5596128"/>
            <a:ext cx="100584" cy="100584"/>
          </a:xfrm>
          <a:prstGeom prst="ellipse">
            <a:avLst/>
          </a:prstGeom>
          <a:solidFill>
            <a:srgbClr val="009E9A"/>
          </a:solidFill>
          <a:ln w="12700">
            <a:solidFill>
              <a:srgbClr val="009E9A"/>
            </a:solidFill>
            <a:prstDash val="solid"/>
          </a:ln>
        </p:spPr>
      </p:sp>
      <p:sp>
        <p:nvSpPr>
          <p:cNvPr id="22" name="Text 20"/>
          <p:cNvSpPr/>
          <p:nvPr/>
        </p:nvSpPr>
        <p:spPr>
          <a:xfrm>
            <a:off x="1005840" y="5504688"/>
            <a:ext cx="10085832" cy="411480"/>
          </a:xfrm>
          <a:prstGeom prst="rect">
            <a:avLst/>
          </a:prstGeom>
          <a:noFill/>
          <a:ln/>
        </p:spPr>
        <p:txBody>
          <a:bodyPr wrap="square" lIns="0" tIns="0" rIns="0" bIns="0" rtlCol="0" anchor="ctr">
            <a:normAutofit/>
          </a:bodyPr>
          <a:lstStyle/>
          <a:p>
            <a:pPr marL="0" indent="0">
              <a:buNone/>
            </a:pPr>
            <a:r>
              <a:rPr lang="en-US" sz="1300" dirty="0">
                <a:solidFill>
                  <a:srgbClr val="26364A"/>
                </a:solidFill>
              </a:rPr>
              <a:t>Do not average arbitrary codes (e.g., Region 1, 2, 3).</a:t>
            </a:r>
            <a:endParaRPr lang="en-US" sz="1300" dirty="0"/>
          </a:p>
        </p:txBody>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46304"/>
          </a:xfrm>
          <a:prstGeom prst="rect">
            <a:avLst/>
          </a:prstGeom>
          <a:solidFill>
            <a:srgbClr val="0B2239"/>
          </a:solidFill>
          <a:ln>
            <a:solidFill>
              <a:srgbClr val="0B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6072" y="356616"/>
            <a:ext cx="2743200" cy="219456"/>
          </a:xfrm>
          <a:prstGeom prst="rect">
            <a:avLst/>
          </a:prstGeom>
          <a:noFill/>
        </p:spPr>
        <p:txBody>
          <a:bodyPr wrap="none" lIns="0" tIns="0" rIns="0" bIns="0" anchor="ctr">
            <a:spAutoFit/>
          </a:bodyPr>
          <a:lstStyle/>
          <a:p>
            <a:pPr algn="l"/>
            <a:r>
              <a:rPr sz="1050" b="1" i="0" dirty="0">
                <a:solidFill>
                  <a:srgbClr val="009E9A"/>
                </a:solidFill>
                <a:latin typeface="Aptos"/>
              </a:rPr>
              <a:t>02 · DATA &amp; TYPES</a:t>
            </a:r>
          </a:p>
        </p:txBody>
      </p:sp>
      <p:sp>
        <p:nvSpPr>
          <p:cNvPr id="4" name="TextBox 3"/>
          <p:cNvSpPr txBox="1"/>
          <p:nvPr/>
        </p:nvSpPr>
        <p:spPr>
          <a:xfrm>
            <a:off x="576072" y="640080"/>
            <a:ext cx="10972800" cy="384048"/>
          </a:xfrm>
          <a:prstGeom prst="rect">
            <a:avLst/>
          </a:prstGeom>
          <a:noFill/>
        </p:spPr>
        <p:txBody>
          <a:bodyPr wrap="none" lIns="0" tIns="0" rIns="0" bIns="0" anchor="ctr">
            <a:spAutoFit/>
          </a:bodyPr>
          <a:lstStyle/>
          <a:p>
            <a:pPr algn="l"/>
            <a:r>
              <a:rPr sz="2550" b="1" i="0">
                <a:solidFill>
                  <a:srgbClr val="0B2239"/>
                </a:solidFill>
                <a:latin typeface="Aptos"/>
              </a:rPr>
              <a:t>Data types: qualitative and quantitative</a:t>
            </a:r>
          </a:p>
        </p:txBody>
      </p:sp>
      <p:sp>
        <p:nvSpPr>
          <p:cNvPr id="5" name="TextBox 4"/>
          <p:cNvSpPr txBox="1"/>
          <p:nvPr/>
        </p:nvSpPr>
        <p:spPr>
          <a:xfrm>
            <a:off x="585216" y="1078992"/>
            <a:ext cx="10972800" cy="274320"/>
          </a:xfrm>
          <a:prstGeom prst="rect">
            <a:avLst/>
          </a:prstGeom>
          <a:noFill/>
        </p:spPr>
        <p:txBody>
          <a:bodyPr wrap="none" lIns="0" tIns="0" rIns="0" bIns="0" anchor="ctr">
            <a:spAutoFit/>
          </a:bodyPr>
          <a:lstStyle/>
          <a:p>
            <a:pPr algn="l"/>
            <a:r>
              <a:rPr sz="1220" b="0" i="0">
                <a:solidFill>
                  <a:srgbClr val="66758A"/>
                </a:solidFill>
                <a:latin typeface="Aptos"/>
              </a:rPr>
              <a:t>A practical taxonomy for structured (tabular) data — with examples and software mappings.</a:t>
            </a:r>
          </a:p>
        </p:txBody>
      </p:sp>
      <p:sp>
        <p:nvSpPr>
          <p:cNvPr id="6" name="Rounded Rectangle 5"/>
          <p:cNvSpPr/>
          <p:nvPr/>
        </p:nvSpPr>
        <p:spPr>
          <a:xfrm>
            <a:off x="4700016" y="1490472"/>
            <a:ext cx="2834640" cy="512064"/>
          </a:xfrm>
          <a:prstGeom prst="roundRect">
            <a:avLst/>
          </a:prstGeom>
          <a:solidFill>
            <a:srgbClr val="FFFFFF"/>
          </a:solidFill>
          <a:ln w="12700">
            <a:solidFill>
              <a:srgbClr val="B8C5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92040" y="1609344"/>
            <a:ext cx="2450592" cy="201168"/>
          </a:xfrm>
          <a:prstGeom prst="rect">
            <a:avLst/>
          </a:prstGeom>
          <a:noFill/>
        </p:spPr>
        <p:txBody>
          <a:bodyPr wrap="none" lIns="0" tIns="0" rIns="0" bIns="0" anchor="ctr">
            <a:spAutoFit/>
          </a:bodyPr>
          <a:lstStyle/>
          <a:p>
            <a:pPr algn="ctr"/>
            <a:r>
              <a:rPr sz="1150" b="1" i="0">
                <a:solidFill>
                  <a:srgbClr val="0B2239"/>
                </a:solidFill>
                <a:latin typeface="Aptos"/>
              </a:rPr>
              <a:t>VARIABLES IN TABULAR DATA</a:t>
            </a:r>
          </a:p>
        </p:txBody>
      </p:sp>
      <p:sp>
        <p:nvSpPr>
          <p:cNvPr id="8" name="Rounded Rectangle 7"/>
          <p:cNvSpPr/>
          <p:nvPr/>
        </p:nvSpPr>
        <p:spPr>
          <a:xfrm>
            <a:off x="566928" y="2221992"/>
            <a:ext cx="5239512" cy="1051560"/>
          </a:xfrm>
          <a:prstGeom prst="roundRect">
            <a:avLst/>
          </a:prstGeom>
          <a:solidFill>
            <a:srgbClr val="E8F6F3"/>
          </a:solidFill>
          <a:ln w="12700">
            <a:solidFill>
              <a:srgbClr val="BF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2221992"/>
            <a:ext cx="91440" cy="1051560"/>
          </a:xfrm>
          <a:prstGeom prst="rect">
            <a:avLst/>
          </a:prstGeom>
          <a:solidFill>
            <a:srgbClr val="009E9A"/>
          </a:solidFill>
          <a:ln>
            <a:solidFill>
              <a:srgbClr val="00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331720"/>
            <a:ext cx="2240280" cy="228600"/>
          </a:xfrm>
          <a:prstGeom prst="rect">
            <a:avLst/>
          </a:prstGeom>
          <a:noFill/>
        </p:spPr>
        <p:txBody>
          <a:bodyPr wrap="none" lIns="0" tIns="0" rIns="0" bIns="0" anchor="ctr">
            <a:spAutoFit/>
          </a:bodyPr>
          <a:lstStyle/>
          <a:p>
            <a:pPr algn="l"/>
            <a:r>
              <a:rPr sz="1500" b="1" i="0">
                <a:solidFill>
                  <a:srgbClr val="0B2239"/>
                </a:solidFill>
                <a:latin typeface="Aptos"/>
              </a:rPr>
              <a:t>QUALITATIVE DATA</a:t>
            </a:r>
          </a:p>
        </p:txBody>
      </p:sp>
      <p:sp>
        <p:nvSpPr>
          <p:cNvPr id="11" name="TextBox 10"/>
          <p:cNvSpPr txBox="1"/>
          <p:nvPr/>
        </p:nvSpPr>
        <p:spPr>
          <a:xfrm>
            <a:off x="804672" y="2615184"/>
            <a:ext cx="2103120" cy="182880"/>
          </a:xfrm>
          <a:prstGeom prst="rect">
            <a:avLst/>
          </a:prstGeom>
          <a:noFill/>
        </p:spPr>
        <p:txBody>
          <a:bodyPr wrap="none" lIns="0" tIns="0" rIns="0" bIns="0" anchor="ctr">
            <a:spAutoFit/>
          </a:bodyPr>
          <a:lstStyle/>
          <a:p>
            <a:pPr algn="l"/>
            <a:r>
              <a:rPr sz="1019" b="1" i="0">
                <a:solidFill>
                  <a:srgbClr val="009E9A"/>
                </a:solidFill>
                <a:latin typeface="Aptos"/>
              </a:rPr>
              <a:t>aka categorical</a:t>
            </a:r>
          </a:p>
        </p:txBody>
      </p:sp>
      <p:sp>
        <p:nvSpPr>
          <p:cNvPr id="12" name="TextBox 11"/>
          <p:cNvSpPr txBox="1"/>
          <p:nvPr/>
        </p:nvSpPr>
        <p:spPr>
          <a:xfrm>
            <a:off x="2779776" y="2444876"/>
            <a:ext cx="2734056" cy="590931"/>
          </a:xfrm>
          <a:prstGeom prst="rect">
            <a:avLst/>
          </a:prstGeom>
          <a:noFill/>
        </p:spPr>
        <p:txBody>
          <a:bodyPr wrap="square" lIns="0" tIns="0" rIns="0" bIns="0" anchor="ctr">
            <a:spAutoFit/>
          </a:bodyPr>
          <a:lstStyle/>
          <a:p>
            <a:pPr algn="l"/>
            <a:r>
              <a:rPr sz="960" b="0" i="0" dirty="0">
                <a:solidFill>
                  <a:srgbClr val="0B2239"/>
                </a:solidFill>
                <a:latin typeface="Aptos"/>
              </a:rPr>
              <a:t>Values are labels or classes. The set of possible values is often finite and relatively small. Numeric operations such as sums or divisions are not meaningful.</a:t>
            </a:r>
          </a:p>
        </p:txBody>
      </p:sp>
      <p:sp>
        <p:nvSpPr>
          <p:cNvPr id="13" name="Rounded Rectangle 12"/>
          <p:cNvSpPr/>
          <p:nvPr/>
        </p:nvSpPr>
        <p:spPr>
          <a:xfrm>
            <a:off x="6382512" y="2221992"/>
            <a:ext cx="5239512" cy="1051560"/>
          </a:xfrm>
          <a:prstGeom prst="roundRect">
            <a:avLst/>
          </a:prstGeom>
          <a:solidFill>
            <a:srgbClr val="EAF0FF"/>
          </a:solidFill>
          <a:ln w="12700">
            <a:solidFill>
              <a:srgbClr val="C8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82512" y="2221992"/>
            <a:ext cx="91440" cy="1051560"/>
          </a:xfrm>
          <a:prstGeom prst="rect">
            <a:avLst/>
          </a:prstGeom>
          <a:solidFill>
            <a:srgbClr val="3F6DF6"/>
          </a:solidFill>
          <a:ln>
            <a:solidFill>
              <a:srgbClr val="3F6D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20256" y="2331720"/>
            <a:ext cx="2423160" cy="228600"/>
          </a:xfrm>
          <a:prstGeom prst="rect">
            <a:avLst/>
          </a:prstGeom>
          <a:noFill/>
        </p:spPr>
        <p:txBody>
          <a:bodyPr wrap="none" lIns="0" tIns="0" rIns="0" bIns="0" anchor="ctr">
            <a:spAutoFit/>
          </a:bodyPr>
          <a:lstStyle/>
          <a:p>
            <a:pPr algn="l"/>
            <a:r>
              <a:rPr sz="1460" b="1" i="0">
                <a:solidFill>
                  <a:srgbClr val="0B2239"/>
                </a:solidFill>
                <a:latin typeface="Aptos"/>
              </a:rPr>
              <a:t>QUANTITATIVE DATA</a:t>
            </a:r>
          </a:p>
        </p:txBody>
      </p:sp>
      <p:sp>
        <p:nvSpPr>
          <p:cNvPr id="16" name="TextBox 15"/>
          <p:cNvSpPr txBox="1"/>
          <p:nvPr/>
        </p:nvSpPr>
        <p:spPr>
          <a:xfrm>
            <a:off x="6620256" y="2615184"/>
            <a:ext cx="2103120" cy="182880"/>
          </a:xfrm>
          <a:prstGeom prst="rect">
            <a:avLst/>
          </a:prstGeom>
          <a:noFill/>
        </p:spPr>
        <p:txBody>
          <a:bodyPr wrap="none" lIns="0" tIns="0" rIns="0" bIns="0" anchor="ctr">
            <a:spAutoFit/>
          </a:bodyPr>
          <a:lstStyle/>
          <a:p>
            <a:pPr algn="l"/>
            <a:r>
              <a:rPr sz="1019" b="1" i="0">
                <a:solidFill>
                  <a:srgbClr val="3F6DF6"/>
                </a:solidFill>
                <a:latin typeface="Aptos"/>
              </a:rPr>
              <a:t>aka numeric</a:t>
            </a:r>
          </a:p>
        </p:txBody>
      </p:sp>
      <p:sp>
        <p:nvSpPr>
          <p:cNvPr id="17" name="TextBox 16"/>
          <p:cNvSpPr txBox="1"/>
          <p:nvPr/>
        </p:nvSpPr>
        <p:spPr>
          <a:xfrm>
            <a:off x="8910828" y="2512457"/>
            <a:ext cx="2578608" cy="443198"/>
          </a:xfrm>
          <a:prstGeom prst="rect">
            <a:avLst/>
          </a:prstGeom>
          <a:noFill/>
        </p:spPr>
        <p:txBody>
          <a:bodyPr wrap="square" lIns="0" tIns="0" rIns="0" bIns="0" anchor="ctr">
            <a:spAutoFit/>
          </a:bodyPr>
          <a:lstStyle/>
          <a:p>
            <a:pPr algn="l"/>
            <a:r>
              <a:rPr sz="960" b="0" i="0" dirty="0">
                <a:solidFill>
                  <a:srgbClr val="0B2239"/>
                </a:solidFill>
                <a:latin typeface="Aptos"/>
              </a:rPr>
              <a:t>Values represent quantities. Arithmetic and distances are meaningful. The theoretical set of possible values may be very large or infinite.</a:t>
            </a:r>
          </a:p>
        </p:txBody>
      </p:sp>
      <p:cxnSp>
        <p:nvCxnSpPr>
          <p:cNvPr id="18" name="Connector 17"/>
          <p:cNvCxnSpPr/>
          <p:nvPr/>
        </p:nvCxnSpPr>
        <p:spPr>
          <a:xfrm flipH="1">
            <a:off x="3172968" y="2002536"/>
            <a:ext cx="2450592" cy="219456"/>
          </a:xfrm>
          <a:prstGeom prst="line">
            <a:avLst/>
          </a:prstGeom>
          <a:ln w="21590">
            <a:solidFill>
              <a:srgbClr val="009E9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601968" y="2002536"/>
            <a:ext cx="2459736" cy="219456"/>
          </a:xfrm>
          <a:prstGeom prst="line">
            <a:avLst/>
          </a:prstGeom>
          <a:ln w="21590">
            <a:solidFill>
              <a:srgbClr val="3F6DF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66928" y="3547872"/>
            <a:ext cx="2496312" cy="1472184"/>
          </a:xfrm>
          <a:prstGeom prst="roundRect">
            <a:avLst/>
          </a:prstGeom>
          <a:solidFill>
            <a:srgbClr val="FFFFFF"/>
          </a:solidFill>
          <a:ln w="12700">
            <a:solidFill>
              <a:srgbClr val="DD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68096" y="3694176"/>
            <a:ext cx="868680" cy="256032"/>
          </a:xfrm>
          <a:prstGeom prst="roundRect">
            <a:avLst/>
          </a:prstGeom>
          <a:solidFill>
            <a:srgbClr val="E8F6F3"/>
          </a:solidFill>
          <a:ln w="12700">
            <a:solidFill>
              <a:srgbClr val="E8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59" y="3703320"/>
            <a:ext cx="758952" cy="219456"/>
          </a:xfrm>
          <a:prstGeom prst="rect">
            <a:avLst/>
          </a:prstGeom>
          <a:noFill/>
        </p:spPr>
        <p:txBody>
          <a:bodyPr wrap="none" lIns="0" tIns="0" rIns="0" bIns="0" anchor="ctr">
            <a:spAutoFit/>
          </a:bodyPr>
          <a:lstStyle/>
          <a:p>
            <a:pPr algn="ctr"/>
            <a:r>
              <a:rPr sz="850" b="1" i="0">
                <a:solidFill>
                  <a:srgbClr val="009E9A"/>
                </a:solidFill>
                <a:latin typeface="Aptos"/>
              </a:rPr>
              <a:t>NOMINAL</a:t>
            </a:r>
          </a:p>
        </p:txBody>
      </p:sp>
      <p:sp>
        <p:nvSpPr>
          <p:cNvPr id="23" name="TextBox 22"/>
          <p:cNvSpPr txBox="1"/>
          <p:nvPr/>
        </p:nvSpPr>
        <p:spPr>
          <a:xfrm>
            <a:off x="768096" y="4005072"/>
            <a:ext cx="2093976" cy="219456"/>
          </a:xfrm>
          <a:prstGeom prst="rect">
            <a:avLst/>
          </a:prstGeom>
          <a:noFill/>
        </p:spPr>
        <p:txBody>
          <a:bodyPr wrap="none" lIns="0" tIns="0" rIns="0" bIns="0" anchor="ctr">
            <a:spAutoFit/>
          </a:bodyPr>
          <a:lstStyle/>
          <a:p>
            <a:pPr algn="l"/>
            <a:r>
              <a:rPr sz="1170" b="1" i="0">
                <a:solidFill>
                  <a:srgbClr val="0B2239"/>
                </a:solidFill>
                <a:latin typeface="Aptos"/>
              </a:rPr>
              <a:t>Unordered categories</a:t>
            </a:r>
          </a:p>
        </p:txBody>
      </p:sp>
      <p:sp>
        <p:nvSpPr>
          <p:cNvPr id="24" name="TextBox 23"/>
          <p:cNvSpPr txBox="1"/>
          <p:nvPr/>
        </p:nvSpPr>
        <p:spPr>
          <a:xfrm>
            <a:off x="768096" y="4261104"/>
            <a:ext cx="2093976" cy="310896"/>
          </a:xfrm>
          <a:prstGeom prst="rect">
            <a:avLst/>
          </a:prstGeom>
          <a:noFill/>
        </p:spPr>
        <p:txBody>
          <a:bodyPr wrap="none" lIns="0" tIns="0" rIns="0" bIns="0" anchor="ctr">
            <a:spAutoFit/>
          </a:bodyPr>
          <a:lstStyle/>
          <a:p>
            <a:pPr algn="l"/>
            <a:r>
              <a:rPr sz="919" b="0" i="0">
                <a:solidFill>
                  <a:srgbClr val="66758A"/>
                </a:solidFill>
                <a:latin typeface="Aptos"/>
              </a:rPr>
              <a:t>No intrinsic ranking between values.</a:t>
            </a:r>
          </a:p>
        </p:txBody>
      </p:sp>
      <p:sp>
        <p:nvSpPr>
          <p:cNvPr id="25" name="TextBox 24"/>
          <p:cNvSpPr txBox="1"/>
          <p:nvPr/>
        </p:nvSpPr>
        <p:spPr>
          <a:xfrm>
            <a:off x="768096" y="4608576"/>
            <a:ext cx="2208186" cy="274320"/>
          </a:xfrm>
          <a:prstGeom prst="rect">
            <a:avLst/>
          </a:prstGeom>
          <a:noFill/>
        </p:spPr>
        <p:txBody>
          <a:bodyPr wrap="square" lIns="0" tIns="0" rIns="0" bIns="0" anchor="ctr">
            <a:spAutoFit/>
          </a:bodyPr>
          <a:lstStyle/>
          <a:p>
            <a:pPr algn="l"/>
            <a:r>
              <a:rPr sz="900" b="0" i="0">
                <a:solidFill>
                  <a:srgbClr val="0B2239"/>
                </a:solidFill>
                <a:latin typeface="Aptos"/>
              </a:rPr>
              <a:t>Examples: ZIP code, eye color, region, product type</a:t>
            </a:r>
          </a:p>
        </p:txBody>
      </p:sp>
      <p:sp>
        <p:nvSpPr>
          <p:cNvPr id="26" name="Rounded Rectangle 25"/>
          <p:cNvSpPr/>
          <p:nvPr/>
        </p:nvSpPr>
        <p:spPr>
          <a:xfrm>
            <a:off x="3328416" y="3547872"/>
            <a:ext cx="2496312" cy="1472184"/>
          </a:xfrm>
          <a:prstGeom prst="roundRect">
            <a:avLst/>
          </a:prstGeom>
          <a:solidFill>
            <a:srgbClr val="FFFFFF"/>
          </a:solidFill>
          <a:ln w="12700">
            <a:solidFill>
              <a:srgbClr val="DD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529584" y="3694176"/>
            <a:ext cx="868680" cy="256032"/>
          </a:xfrm>
          <a:prstGeom prst="roundRect">
            <a:avLst/>
          </a:prstGeom>
          <a:solidFill>
            <a:srgbClr val="F1ECFF"/>
          </a:solidFill>
          <a:ln w="12700">
            <a:solidFill>
              <a:srgbClr val="F1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84448" y="3703320"/>
            <a:ext cx="758952" cy="219456"/>
          </a:xfrm>
          <a:prstGeom prst="rect">
            <a:avLst/>
          </a:prstGeom>
          <a:noFill/>
        </p:spPr>
        <p:txBody>
          <a:bodyPr wrap="none" lIns="0" tIns="0" rIns="0" bIns="0" anchor="ctr">
            <a:spAutoFit/>
          </a:bodyPr>
          <a:lstStyle/>
          <a:p>
            <a:pPr algn="ctr"/>
            <a:r>
              <a:rPr sz="850" b="1" i="0">
                <a:solidFill>
                  <a:srgbClr val="7C59E8"/>
                </a:solidFill>
                <a:latin typeface="Aptos"/>
              </a:rPr>
              <a:t>ORDINAL</a:t>
            </a:r>
          </a:p>
        </p:txBody>
      </p:sp>
      <p:sp>
        <p:nvSpPr>
          <p:cNvPr id="29" name="TextBox 28"/>
          <p:cNvSpPr txBox="1"/>
          <p:nvPr/>
        </p:nvSpPr>
        <p:spPr>
          <a:xfrm>
            <a:off x="3529584" y="4005072"/>
            <a:ext cx="2093976" cy="219456"/>
          </a:xfrm>
          <a:prstGeom prst="rect">
            <a:avLst/>
          </a:prstGeom>
          <a:noFill/>
        </p:spPr>
        <p:txBody>
          <a:bodyPr wrap="none" lIns="0" tIns="0" rIns="0" bIns="0" anchor="ctr">
            <a:spAutoFit/>
          </a:bodyPr>
          <a:lstStyle/>
          <a:p>
            <a:pPr algn="l"/>
            <a:r>
              <a:rPr sz="1170" b="1" i="0">
                <a:solidFill>
                  <a:srgbClr val="0B2239"/>
                </a:solidFill>
                <a:latin typeface="Aptos"/>
              </a:rPr>
              <a:t>Ordered categories</a:t>
            </a:r>
          </a:p>
        </p:txBody>
      </p:sp>
      <p:sp>
        <p:nvSpPr>
          <p:cNvPr id="30" name="TextBox 29"/>
          <p:cNvSpPr txBox="1"/>
          <p:nvPr/>
        </p:nvSpPr>
        <p:spPr>
          <a:xfrm>
            <a:off x="3529583" y="4275103"/>
            <a:ext cx="2198863" cy="282898"/>
          </a:xfrm>
          <a:prstGeom prst="rect">
            <a:avLst/>
          </a:prstGeom>
          <a:noFill/>
        </p:spPr>
        <p:txBody>
          <a:bodyPr wrap="square" lIns="0" tIns="0" rIns="0" bIns="0" anchor="ctr">
            <a:spAutoFit/>
          </a:bodyPr>
          <a:lstStyle/>
          <a:p>
            <a:pPr algn="l"/>
            <a:r>
              <a:rPr sz="919" b="0" i="0" dirty="0">
                <a:solidFill>
                  <a:srgbClr val="66758A"/>
                </a:solidFill>
                <a:latin typeface="Aptos"/>
              </a:rPr>
              <a:t>Values have an order, but gaps are not numeric distances.</a:t>
            </a:r>
          </a:p>
        </p:txBody>
      </p:sp>
      <p:sp>
        <p:nvSpPr>
          <p:cNvPr id="31" name="TextBox 30"/>
          <p:cNvSpPr txBox="1"/>
          <p:nvPr/>
        </p:nvSpPr>
        <p:spPr>
          <a:xfrm>
            <a:off x="3529584" y="4608576"/>
            <a:ext cx="2093976" cy="274320"/>
          </a:xfrm>
          <a:prstGeom prst="rect">
            <a:avLst/>
          </a:prstGeom>
          <a:noFill/>
        </p:spPr>
        <p:txBody>
          <a:bodyPr wrap="none" lIns="0" tIns="0" rIns="0" bIns="0" anchor="ctr">
            <a:spAutoFit/>
          </a:bodyPr>
          <a:lstStyle/>
          <a:p>
            <a:pPr algn="l"/>
            <a:r>
              <a:rPr sz="900" b="0" i="0">
                <a:solidFill>
                  <a:srgbClr val="0B2239"/>
                </a:solidFill>
                <a:latin typeface="Aptos"/>
              </a:rPr>
              <a:t>Examples: rating, risk class, customer tier</a:t>
            </a:r>
          </a:p>
        </p:txBody>
      </p:sp>
      <p:sp>
        <p:nvSpPr>
          <p:cNvPr id="32" name="Rounded Rectangle 31"/>
          <p:cNvSpPr/>
          <p:nvPr/>
        </p:nvSpPr>
        <p:spPr>
          <a:xfrm>
            <a:off x="6382512" y="3547872"/>
            <a:ext cx="2496312" cy="1472184"/>
          </a:xfrm>
          <a:prstGeom prst="roundRect">
            <a:avLst/>
          </a:prstGeom>
          <a:solidFill>
            <a:srgbClr val="FFFFFF"/>
          </a:solidFill>
          <a:ln w="12700">
            <a:solidFill>
              <a:srgbClr val="DD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583680" y="3694176"/>
            <a:ext cx="868680" cy="256032"/>
          </a:xfrm>
          <a:prstGeom prst="roundRect">
            <a:avLst/>
          </a:prstGeom>
          <a:solidFill>
            <a:srgbClr val="FFF4DB"/>
          </a:solidFill>
          <a:ln w="12700">
            <a:solidFill>
              <a:srgbClr val="FFF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38544" y="3703320"/>
            <a:ext cx="758952" cy="219456"/>
          </a:xfrm>
          <a:prstGeom prst="rect">
            <a:avLst/>
          </a:prstGeom>
          <a:noFill/>
        </p:spPr>
        <p:txBody>
          <a:bodyPr wrap="none" lIns="0" tIns="0" rIns="0" bIns="0" anchor="ctr">
            <a:spAutoFit/>
          </a:bodyPr>
          <a:lstStyle/>
          <a:p>
            <a:pPr algn="ctr"/>
            <a:r>
              <a:rPr sz="850" b="1" i="0">
                <a:solidFill>
                  <a:srgbClr val="F4A000"/>
                </a:solidFill>
                <a:latin typeface="Aptos"/>
              </a:rPr>
              <a:t>DISCRETE</a:t>
            </a:r>
          </a:p>
        </p:txBody>
      </p:sp>
      <p:sp>
        <p:nvSpPr>
          <p:cNvPr id="35" name="TextBox 34"/>
          <p:cNvSpPr txBox="1"/>
          <p:nvPr/>
        </p:nvSpPr>
        <p:spPr>
          <a:xfrm>
            <a:off x="6583680" y="4005072"/>
            <a:ext cx="2093976" cy="219456"/>
          </a:xfrm>
          <a:prstGeom prst="rect">
            <a:avLst/>
          </a:prstGeom>
          <a:noFill/>
        </p:spPr>
        <p:txBody>
          <a:bodyPr wrap="none" lIns="0" tIns="0" rIns="0" bIns="0" anchor="ctr">
            <a:spAutoFit/>
          </a:bodyPr>
          <a:lstStyle/>
          <a:p>
            <a:pPr algn="l"/>
            <a:r>
              <a:rPr sz="1170" b="1" i="0">
                <a:solidFill>
                  <a:srgbClr val="0B2239"/>
                </a:solidFill>
                <a:latin typeface="Aptos"/>
              </a:rPr>
              <a:t>Counts</a:t>
            </a:r>
          </a:p>
        </p:txBody>
      </p:sp>
      <p:sp>
        <p:nvSpPr>
          <p:cNvPr id="36" name="TextBox 35"/>
          <p:cNvSpPr txBox="1"/>
          <p:nvPr/>
        </p:nvSpPr>
        <p:spPr>
          <a:xfrm>
            <a:off x="6583680" y="4261104"/>
            <a:ext cx="2093976" cy="310896"/>
          </a:xfrm>
          <a:prstGeom prst="rect">
            <a:avLst/>
          </a:prstGeom>
          <a:noFill/>
        </p:spPr>
        <p:txBody>
          <a:bodyPr wrap="none" lIns="0" tIns="0" rIns="0" bIns="0" anchor="ctr">
            <a:spAutoFit/>
          </a:bodyPr>
          <a:lstStyle/>
          <a:p>
            <a:pPr algn="l"/>
            <a:r>
              <a:rPr sz="919" b="0" i="0">
                <a:solidFill>
                  <a:srgbClr val="66758A"/>
                </a:solidFill>
                <a:latin typeface="Aptos"/>
              </a:rPr>
              <a:t>Typically integer-valued observations.</a:t>
            </a:r>
          </a:p>
        </p:txBody>
      </p:sp>
      <p:sp>
        <p:nvSpPr>
          <p:cNvPr id="37" name="TextBox 36"/>
          <p:cNvSpPr txBox="1"/>
          <p:nvPr/>
        </p:nvSpPr>
        <p:spPr>
          <a:xfrm>
            <a:off x="6583680" y="4608576"/>
            <a:ext cx="2139696" cy="274320"/>
          </a:xfrm>
          <a:prstGeom prst="rect">
            <a:avLst/>
          </a:prstGeom>
          <a:noFill/>
        </p:spPr>
        <p:txBody>
          <a:bodyPr wrap="square" lIns="0" tIns="0" rIns="0" bIns="0" anchor="ctr">
            <a:spAutoFit/>
          </a:bodyPr>
          <a:lstStyle/>
          <a:p>
            <a:pPr algn="l"/>
            <a:r>
              <a:rPr sz="900" b="0" i="0" dirty="0">
                <a:solidFill>
                  <a:srgbClr val="0B2239"/>
                </a:solidFill>
                <a:latin typeface="Aptos"/>
              </a:rPr>
              <a:t>Examples: # children, # transactions, # defects</a:t>
            </a:r>
          </a:p>
        </p:txBody>
      </p:sp>
      <p:sp>
        <p:nvSpPr>
          <p:cNvPr id="38" name="Rounded Rectangle 37"/>
          <p:cNvSpPr/>
          <p:nvPr/>
        </p:nvSpPr>
        <p:spPr>
          <a:xfrm>
            <a:off x="9144000" y="3547872"/>
            <a:ext cx="2478024" cy="1472184"/>
          </a:xfrm>
          <a:prstGeom prst="roundRect">
            <a:avLst/>
          </a:prstGeom>
          <a:solidFill>
            <a:srgbClr val="FFFFFF"/>
          </a:solidFill>
          <a:ln w="12700">
            <a:solidFill>
              <a:srgbClr val="DD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345168" y="3694176"/>
            <a:ext cx="1051560" cy="256032"/>
          </a:xfrm>
          <a:prstGeom prst="roundRect">
            <a:avLst/>
          </a:prstGeom>
          <a:solidFill>
            <a:srgbClr val="FDEEEE"/>
          </a:solidFill>
          <a:ln w="12700">
            <a:solidFill>
              <a:srgbClr val="FD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400032" y="3703320"/>
            <a:ext cx="941831" cy="219456"/>
          </a:xfrm>
          <a:prstGeom prst="rect">
            <a:avLst/>
          </a:prstGeom>
          <a:noFill/>
        </p:spPr>
        <p:txBody>
          <a:bodyPr wrap="none" lIns="0" tIns="0" rIns="0" bIns="0" anchor="ctr">
            <a:spAutoFit/>
          </a:bodyPr>
          <a:lstStyle/>
          <a:p>
            <a:pPr algn="ctr"/>
            <a:r>
              <a:rPr sz="850" b="1" i="0">
                <a:solidFill>
                  <a:srgbClr val="D9534F"/>
                </a:solidFill>
                <a:latin typeface="Aptos"/>
              </a:rPr>
              <a:t>CONTINUOUS</a:t>
            </a:r>
          </a:p>
        </p:txBody>
      </p:sp>
      <p:sp>
        <p:nvSpPr>
          <p:cNvPr id="41" name="TextBox 40"/>
          <p:cNvSpPr txBox="1"/>
          <p:nvPr/>
        </p:nvSpPr>
        <p:spPr>
          <a:xfrm>
            <a:off x="9345168" y="4005072"/>
            <a:ext cx="2075688" cy="219456"/>
          </a:xfrm>
          <a:prstGeom prst="rect">
            <a:avLst/>
          </a:prstGeom>
          <a:noFill/>
        </p:spPr>
        <p:txBody>
          <a:bodyPr wrap="none" lIns="0" tIns="0" rIns="0" bIns="0" anchor="ctr">
            <a:spAutoFit/>
          </a:bodyPr>
          <a:lstStyle/>
          <a:p>
            <a:pPr algn="l"/>
            <a:r>
              <a:rPr sz="1170" b="1" i="0">
                <a:solidFill>
                  <a:srgbClr val="0B2239"/>
                </a:solidFill>
                <a:latin typeface="Aptos"/>
              </a:rPr>
              <a:t>Measurements</a:t>
            </a:r>
          </a:p>
        </p:txBody>
      </p:sp>
      <p:sp>
        <p:nvSpPr>
          <p:cNvPr id="42" name="TextBox 41"/>
          <p:cNvSpPr txBox="1"/>
          <p:nvPr/>
        </p:nvSpPr>
        <p:spPr>
          <a:xfrm>
            <a:off x="9345168" y="4275103"/>
            <a:ext cx="2144268" cy="282898"/>
          </a:xfrm>
          <a:prstGeom prst="rect">
            <a:avLst/>
          </a:prstGeom>
          <a:noFill/>
        </p:spPr>
        <p:txBody>
          <a:bodyPr wrap="square" lIns="0" tIns="0" rIns="0" bIns="0" anchor="ctr">
            <a:spAutoFit/>
          </a:bodyPr>
          <a:lstStyle/>
          <a:p>
            <a:pPr algn="l"/>
            <a:r>
              <a:rPr sz="919" b="0" i="0">
                <a:solidFill>
                  <a:srgbClr val="66758A"/>
                </a:solidFill>
                <a:latin typeface="Aptos"/>
              </a:rPr>
              <a:t>Can take any value within an interval, conceptually.</a:t>
            </a:r>
          </a:p>
        </p:txBody>
      </p:sp>
      <p:sp>
        <p:nvSpPr>
          <p:cNvPr id="43" name="TextBox 42"/>
          <p:cNvSpPr txBox="1"/>
          <p:nvPr/>
        </p:nvSpPr>
        <p:spPr>
          <a:xfrm>
            <a:off x="9345168" y="4608576"/>
            <a:ext cx="2203704" cy="274320"/>
          </a:xfrm>
          <a:prstGeom prst="rect">
            <a:avLst/>
          </a:prstGeom>
          <a:noFill/>
        </p:spPr>
        <p:txBody>
          <a:bodyPr wrap="square" lIns="0" tIns="0" rIns="0" bIns="0" anchor="ctr">
            <a:spAutoFit/>
          </a:bodyPr>
          <a:lstStyle/>
          <a:p>
            <a:pPr algn="l"/>
            <a:r>
              <a:rPr sz="900" b="0" i="0" dirty="0">
                <a:solidFill>
                  <a:srgbClr val="0B2239"/>
                </a:solidFill>
                <a:latin typeface="Aptos"/>
              </a:rPr>
              <a:t>Examples: temperature, height, balance, interest rate</a:t>
            </a:r>
          </a:p>
        </p:txBody>
      </p:sp>
      <p:cxnSp>
        <p:nvCxnSpPr>
          <p:cNvPr id="44" name="Connector 43"/>
          <p:cNvCxnSpPr/>
          <p:nvPr/>
        </p:nvCxnSpPr>
        <p:spPr>
          <a:xfrm>
            <a:off x="3182112" y="3273552"/>
            <a:ext cx="0" cy="164592"/>
          </a:xfrm>
          <a:prstGeom prst="line">
            <a:avLst/>
          </a:prstGeom>
          <a:ln w="17780">
            <a:solidFill>
              <a:srgbClr val="AFCFC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819656" y="3438144"/>
            <a:ext cx="2743200" cy="0"/>
          </a:xfrm>
          <a:prstGeom prst="line">
            <a:avLst/>
          </a:prstGeom>
          <a:ln w="17780">
            <a:solidFill>
              <a:srgbClr val="AFCFC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819656" y="3438144"/>
            <a:ext cx="0" cy="109728"/>
          </a:xfrm>
          <a:prstGeom prst="line">
            <a:avLst/>
          </a:prstGeom>
          <a:ln w="17780">
            <a:solidFill>
              <a:srgbClr val="AFCFC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562856" y="3438144"/>
            <a:ext cx="0" cy="109728"/>
          </a:xfrm>
          <a:prstGeom prst="line">
            <a:avLst/>
          </a:prstGeom>
          <a:ln w="17780">
            <a:solidFill>
              <a:srgbClr val="AFCFC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997696" y="3273552"/>
            <a:ext cx="0" cy="164592"/>
          </a:xfrm>
          <a:prstGeom prst="line">
            <a:avLst/>
          </a:prstGeom>
          <a:ln w="17780">
            <a:solidFill>
              <a:srgbClr val="B8C8F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626096" y="3438144"/>
            <a:ext cx="2752344" cy="0"/>
          </a:xfrm>
          <a:prstGeom prst="line">
            <a:avLst/>
          </a:prstGeom>
          <a:ln w="17780">
            <a:solidFill>
              <a:srgbClr val="B8C8F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626096" y="3438144"/>
            <a:ext cx="0" cy="109728"/>
          </a:xfrm>
          <a:prstGeom prst="line">
            <a:avLst/>
          </a:prstGeom>
          <a:ln w="17780">
            <a:solidFill>
              <a:srgbClr val="B8C8F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378440" y="3438144"/>
            <a:ext cx="0" cy="109728"/>
          </a:xfrm>
          <a:prstGeom prst="line">
            <a:avLst/>
          </a:prstGeom>
          <a:ln w="17780">
            <a:solidFill>
              <a:srgbClr val="B8C8F8"/>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566928" y="5230368"/>
            <a:ext cx="7342631" cy="603504"/>
          </a:xfrm>
          <a:prstGeom prst="roundRect">
            <a:avLst/>
          </a:prstGeom>
          <a:solidFill>
            <a:srgbClr val="FFFFFF"/>
          </a:solidFill>
          <a:ln w="12700">
            <a:solidFill>
              <a:srgbClr val="DD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68096" y="5357689"/>
            <a:ext cx="1569340" cy="156838"/>
          </a:xfrm>
          <a:prstGeom prst="rect">
            <a:avLst/>
          </a:prstGeom>
          <a:noFill/>
        </p:spPr>
        <p:txBody>
          <a:bodyPr wrap="none" lIns="0" tIns="0" rIns="0" bIns="0" anchor="ctr">
            <a:spAutoFit/>
          </a:bodyPr>
          <a:lstStyle/>
          <a:p>
            <a:pPr algn="l"/>
            <a:r>
              <a:rPr sz="1019" b="1" i="0" dirty="0">
                <a:solidFill>
                  <a:srgbClr val="0B2239"/>
                </a:solidFill>
                <a:latin typeface="Aptos"/>
              </a:rPr>
              <a:t>Software mapping</a:t>
            </a:r>
            <a:r>
              <a:rPr lang="it-IT" sz="1019" b="1" i="0" dirty="0">
                <a:solidFill>
                  <a:srgbClr val="0B2239"/>
                </a:solidFill>
                <a:latin typeface="Aptos"/>
              </a:rPr>
              <a:t> in Excel</a:t>
            </a:r>
            <a:endParaRPr sz="1019" b="1" i="0" dirty="0">
              <a:solidFill>
                <a:srgbClr val="0B2239"/>
              </a:solidFill>
              <a:latin typeface="Aptos"/>
            </a:endParaRPr>
          </a:p>
        </p:txBody>
      </p:sp>
      <p:sp>
        <p:nvSpPr>
          <p:cNvPr id="54" name="TextBox 53"/>
          <p:cNvSpPr txBox="1"/>
          <p:nvPr/>
        </p:nvSpPr>
        <p:spPr>
          <a:xfrm>
            <a:off x="2657718" y="5363825"/>
            <a:ext cx="902490" cy="135422"/>
          </a:xfrm>
          <a:prstGeom prst="rect">
            <a:avLst/>
          </a:prstGeom>
          <a:noFill/>
        </p:spPr>
        <p:txBody>
          <a:bodyPr wrap="none" lIns="0" tIns="0" rIns="0" bIns="0" anchor="ctr">
            <a:spAutoFit/>
          </a:bodyPr>
          <a:lstStyle/>
          <a:p>
            <a:pPr algn="ctr"/>
            <a:r>
              <a:rPr lang="it-IT" sz="880" b="1" i="0" dirty="0">
                <a:solidFill>
                  <a:srgbClr val="009E9A"/>
                </a:solidFill>
                <a:latin typeface="Aptos"/>
              </a:rPr>
              <a:t>See the </a:t>
            </a:r>
            <a:r>
              <a:rPr lang="it-IT" sz="880" b="1" i="0" dirty="0" err="1">
                <a:solidFill>
                  <a:srgbClr val="009E9A"/>
                </a:solidFill>
                <a:latin typeface="Aptos"/>
              </a:rPr>
              <a:t>next</a:t>
            </a:r>
            <a:r>
              <a:rPr lang="it-IT" sz="880" b="1" i="0" dirty="0">
                <a:solidFill>
                  <a:srgbClr val="009E9A"/>
                </a:solidFill>
                <a:latin typeface="Aptos"/>
              </a:rPr>
              <a:t> slide</a:t>
            </a:r>
            <a:endParaRPr sz="880" b="1" i="0" dirty="0">
              <a:solidFill>
                <a:srgbClr val="009E9A"/>
              </a:solidFill>
              <a:latin typeface="Aptos"/>
            </a:endParaRPr>
          </a:p>
        </p:txBody>
      </p:sp>
      <p:sp>
        <p:nvSpPr>
          <p:cNvPr id="57" name="Rounded Rectangle 56"/>
          <p:cNvSpPr/>
          <p:nvPr/>
        </p:nvSpPr>
        <p:spPr>
          <a:xfrm>
            <a:off x="8156448" y="5230368"/>
            <a:ext cx="3465576" cy="603504"/>
          </a:xfrm>
          <a:prstGeom prst="roundRect">
            <a:avLst/>
          </a:prstGeom>
          <a:solidFill>
            <a:srgbClr val="FFFDF7"/>
          </a:solidFill>
          <a:ln w="12700">
            <a:solidFill>
              <a:srgbClr val="F0C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156448" y="5230368"/>
            <a:ext cx="73152" cy="603504"/>
          </a:xfrm>
          <a:prstGeom prst="rect">
            <a:avLst/>
          </a:prstGeom>
          <a:solidFill>
            <a:srgbClr val="F4A000"/>
          </a:solidFill>
          <a:ln>
            <a:solidFill>
              <a:srgbClr val="F4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57616" y="5294376"/>
            <a:ext cx="704088" cy="182880"/>
          </a:xfrm>
          <a:prstGeom prst="rect">
            <a:avLst/>
          </a:prstGeom>
          <a:noFill/>
        </p:spPr>
        <p:txBody>
          <a:bodyPr wrap="none" lIns="0" tIns="0" rIns="0" bIns="0" anchor="ctr">
            <a:spAutoFit/>
          </a:bodyPr>
          <a:lstStyle/>
          <a:p>
            <a:pPr algn="l"/>
            <a:r>
              <a:rPr sz="950" b="1" i="0">
                <a:solidFill>
                  <a:srgbClr val="F4A000"/>
                </a:solidFill>
                <a:latin typeface="Aptos"/>
              </a:rPr>
              <a:t>Important:</a:t>
            </a:r>
          </a:p>
        </p:txBody>
      </p:sp>
      <p:sp>
        <p:nvSpPr>
          <p:cNvPr id="60" name="TextBox 59"/>
          <p:cNvSpPr txBox="1"/>
          <p:nvPr/>
        </p:nvSpPr>
        <p:spPr>
          <a:xfrm>
            <a:off x="9061704" y="5325035"/>
            <a:ext cx="2418588" cy="410882"/>
          </a:xfrm>
          <a:prstGeom prst="rect">
            <a:avLst/>
          </a:prstGeom>
          <a:noFill/>
        </p:spPr>
        <p:txBody>
          <a:bodyPr wrap="square" lIns="0" tIns="0" rIns="0" bIns="0" anchor="ctr">
            <a:spAutoFit/>
          </a:bodyPr>
          <a:lstStyle/>
          <a:p>
            <a:pPr algn="l"/>
            <a:r>
              <a:rPr sz="890" b="1" i="0" dirty="0">
                <a:solidFill>
                  <a:srgbClr val="0B2239"/>
                </a:solidFill>
                <a:latin typeface="Aptos"/>
              </a:rPr>
              <a:t>A numeric-looking code is not necessarily numeric data. ZIP code and </a:t>
            </a:r>
            <a:r>
              <a:rPr sz="890" b="1" i="0" dirty="0" err="1">
                <a:solidFill>
                  <a:srgbClr val="0B2239"/>
                </a:solidFill>
                <a:latin typeface="Aptos"/>
              </a:rPr>
              <a:t>Customer_ID</a:t>
            </a:r>
            <a:r>
              <a:rPr sz="890" b="1" i="0" dirty="0">
                <a:solidFill>
                  <a:srgbClr val="0B2239"/>
                </a:solidFill>
                <a:latin typeface="Aptos"/>
              </a:rPr>
              <a:t> are identifiers.</a:t>
            </a:r>
          </a:p>
        </p:txBody>
      </p:sp>
      <p:sp>
        <p:nvSpPr>
          <p:cNvPr id="61" name="TextBox 60"/>
          <p:cNvSpPr txBox="1"/>
          <p:nvPr/>
        </p:nvSpPr>
        <p:spPr>
          <a:xfrm>
            <a:off x="585216" y="6007608"/>
            <a:ext cx="10972800" cy="274320"/>
          </a:xfrm>
          <a:prstGeom prst="rect">
            <a:avLst/>
          </a:prstGeom>
          <a:noFill/>
        </p:spPr>
        <p:txBody>
          <a:bodyPr wrap="none" lIns="0" tIns="0" rIns="0" bIns="0" anchor="ctr">
            <a:spAutoFit/>
          </a:bodyPr>
          <a:lstStyle/>
          <a:p>
            <a:pPr algn="l"/>
            <a:r>
              <a:rPr sz="1010" b="0" i="1">
                <a:solidFill>
                  <a:srgbClr val="66758A"/>
                </a:solidFill>
                <a:latin typeface="Aptos"/>
              </a:rPr>
              <a:t>Key idea: data type is about meaning and valid operations — not only about how a value is formatted in Excel.</a:t>
            </a:r>
          </a:p>
        </p:txBody>
      </p:sp>
      <p:cxnSp>
        <p:nvCxnSpPr>
          <p:cNvPr id="62" name="Connector 61"/>
          <p:cNvCxnSpPr/>
          <p:nvPr/>
        </p:nvCxnSpPr>
        <p:spPr>
          <a:xfrm>
            <a:off x="502920" y="6556248"/>
            <a:ext cx="11292840" cy="0"/>
          </a:xfrm>
          <a:prstGeom prst="line">
            <a:avLst/>
          </a:prstGeom>
          <a:ln w="10160">
            <a:solidFill>
              <a:srgbClr val="D8E0E8"/>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30352" y="6583680"/>
            <a:ext cx="4206240" cy="137160"/>
          </a:xfrm>
          <a:prstGeom prst="rect">
            <a:avLst/>
          </a:prstGeom>
          <a:noFill/>
        </p:spPr>
        <p:txBody>
          <a:bodyPr wrap="none" lIns="0" tIns="0" rIns="0" bIns="0" anchor="ctr">
            <a:spAutoFit/>
          </a:bodyPr>
          <a:lstStyle/>
          <a:p>
            <a:pPr algn="l"/>
            <a:r>
              <a:rPr sz="780" b="0" i="0">
                <a:solidFill>
                  <a:srgbClr val="66758A"/>
                </a:solidFill>
                <a:latin typeface="Aptos"/>
              </a:rPr>
              <a:t>Data Science with Excel · Banking Analysts</a:t>
            </a:r>
          </a:p>
        </p:txBody>
      </p:sp>
      <p:sp>
        <p:nvSpPr>
          <p:cNvPr id="67" name="Slide Number Placeholder 0">
            <a:extLst>
              <a:ext uri="{FF2B5EF4-FFF2-40B4-BE49-F238E27FC236}">
                <a16:creationId xmlns:a16="http://schemas.microsoft.com/office/drawing/2014/main" id="{6D71DBB6-16EB-CDE4-14D4-49D41CCD428D}"/>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502920"/>
            <a:ext cx="8046720" cy="502920"/>
          </a:xfrm>
          <a:prstGeom prst="rect">
            <a:avLst/>
          </a:prstGeom>
          <a:noFill/>
          <a:ln/>
        </p:spPr>
        <p:txBody>
          <a:bodyPr wrap="square" lIns="0" tIns="0" rIns="0" bIns="0" rtlCol="0" anchor="ct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Statistical Data Types vs Excel Data Types</a:t>
            </a:r>
            <a:endParaRPr lang="en-US" sz="2400" dirty="0"/>
          </a:p>
        </p:txBody>
      </p:sp>
      <p:sp>
        <p:nvSpPr>
          <p:cNvPr id="3" name="Text 1"/>
          <p:cNvSpPr/>
          <p:nvPr/>
        </p:nvSpPr>
        <p:spPr>
          <a:xfrm>
            <a:off x="502920" y="987552"/>
            <a:ext cx="9875520" cy="320040"/>
          </a:xfrm>
          <a:prstGeom prst="rect">
            <a:avLst/>
          </a:prstGeom>
          <a:noFill/>
          <a:ln/>
        </p:spPr>
        <p:txBody>
          <a:bodyPr wrap="square" lIns="0" tIns="0" rIns="0" bIns="0" rtlCol="0" anchor="ctr"/>
          <a:lstStyle/>
          <a:p>
            <a:pPr marL="0" indent="0">
              <a:buNone/>
            </a:pPr>
            <a:r>
              <a:rPr lang="en-US" sz="1150" dirty="0">
                <a:solidFill>
                  <a:srgbClr val="5B6773"/>
                </a:solidFill>
                <a:latin typeface="Aptos" pitchFamily="34" charset="0"/>
                <a:ea typeface="Aptos" pitchFamily="34" charset="-122"/>
                <a:cs typeface="Aptos" pitchFamily="34" charset="-120"/>
              </a:rPr>
              <a:t>Excel stores values using technical cell types. The analyst assigns the statistical meaning.</a:t>
            </a:r>
            <a:endParaRPr lang="en-US" sz="1150" dirty="0"/>
          </a:p>
        </p:txBody>
      </p:sp>
      <p:sp>
        <p:nvSpPr>
          <p:cNvPr id="4" name="Shape 2"/>
          <p:cNvSpPr/>
          <p:nvPr/>
        </p:nvSpPr>
        <p:spPr>
          <a:xfrm>
            <a:off x="502920" y="1417320"/>
            <a:ext cx="7726680" cy="4434840"/>
          </a:xfrm>
          <a:prstGeom prst="roundRect">
            <a:avLst>
              <a:gd name="adj" fmla="val 1649"/>
            </a:avLst>
          </a:prstGeom>
          <a:solidFill>
            <a:srgbClr val="FFFFFF"/>
          </a:solidFill>
          <a:ln w="12700">
            <a:solidFill>
              <a:srgbClr val="D8E0E7"/>
            </a:solidFill>
            <a:prstDash val="solid"/>
          </a:ln>
        </p:spPr>
      </p:sp>
      <p:sp>
        <p:nvSpPr>
          <p:cNvPr id="5" name="Shape 3"/>
          <p:cNvSpPr/>
          <p:nvPr/>
        </p:nvSpPr>
        <p:spPr>
          <a:xfrm>
            <a:off x="685800" y="1627632"/>
            <a:ext cx="2057400" cy="411480"/>
          </a:xfrm>
          <a:prstGeom prst="rect">
            <a:avLst/>
          </a:prstGeom>
          <a:solidFill>
            <a:srgbClr val="0B6B5A"/>
          </a:solidFill>
          <a:ln w="12700">
            <a:solidFill>
              <a:srgbClr val="0B6B5A"/>
            </a:solidFill>
            <a:prstDash val="solid"/>
          </a:ln>
        </p:spPr>
      </p:sp>
      <p:sp>
        <p:nvSpPr>
          <p:cNvPr id="6" name="Text 4"/>
          <p:cNvSpPr/>
          <p:nvPr/>
        </p:nvSpPr>
        <p:spPr>
          <a:xfrm>
            <a:off x="758952" y="1728216"/>
            <a:ext cx="1911096" cy="182880"/>
          </a:xfrm>
          <a:prstGeom prst="rect">
            <a:avLst/>
          </a:prstGeom>
          <a:noFill/>
          <a:ln/>
        </p:spPr>
        <p:txBody>
          <a:bodyPr wrap="square" lIns="0" tIns="0" rIns="0" bIns="0" rtlCol="0" anchor="ctr"/>
          <a:lstStyle/>
          <a:p>
            <a:pPr marL="0" indent="0" algn="l">
              <a:buNone/>
            </a:pPr>
            <a:r>
              <a:rPr lang="en-US" sz="950" b="1" dirty="0">
                <a:solidFill>
                  <a:srgbClr val="FFFFFF"/>
                </a:solidFill>
                <a:latin typeface="Aptos" pitchFamily="34" charset="0"/>
                <a:ea typeface="Aptos" pitchFamily="34" charset="-122"/>
                <a:cs typeface="Aptos" pitchFamily="34" charset="-120"/>
              </a:rPr>
              <a:t>Statistical data type</a:t>
            </a:r>
            <a:endParaRPr lang="en-US" sz="950" dirty="0"/>
          </a:p>
        </p:txBody>
      </p:sp>
      <p:sp>
        <p:nvSpPr>
          <p:cNvPr id="7" name="Shape 5"/>
          <p:cNvSpPr/>
          <p:nvPr/>
        </p:nvSpPr>
        <p:spPr>
          <a:xfrm>
            <a:off x="2743200" y="1627632"/>
            <a:ext cx="2103120" cy="411480"/>
          </a:xfrm>
          <a:prstGeom prst="rect">
            <a:avLst/>
          </a:prstGeom>
          <a:solidFill>
            <a:srgbClr val="0B6B5A"/>
          </a:solidFill>
          <a:ln w="12700">
            <a:solidFill>
              <a:srgbClr val="0B6B5A"/>
            </a:solidFill>
            <a:prstDash val="solid"/>
          </a:ln>
        </p:spPr>
      </p:sp>
      <p:sp>
        <p:nvSpPr>
          <p:cNvPr id="8" name="Text 6"/>
          <p:cNvSpPr/>
          <p:nvPr/>
        </p:nvSpPr>
        <p:spPr>
          <a:xfrm>
            <a:off x="2816352" y="1728216"/>
            <a:ext cx="1956816"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Meaning</a:t>
            </a:r>
            <a:endParaRPr lang="en-US" sz="950" dirty="0"/>
          </a:p>
        </p:txBody>
      </p:sp>
      <p:sp>
        <p:nvSpPr>
          <p:cNvPr id="9" name="Shape 7"/>
          <p:cNvSpPr/>
          <p:nvPr/>
        </p:nvSpPr>
        <p:spPr>
          <a:xfrm>
            <a:off x="4846320" y="1627632"/>
            <a:ext cx="1691640" cy="411480"/>
          </a:xfrm>
          <a:prstGeom prst="rect">
            <a:avLst/>
          </a:prstGeom>
          <a:solidFill>
            <a:srgbClr val="0B6B5A"/>
          </a:solidFill>
          <a:ln w="12700">
            <a:solidFill>
              <a:srgbClr val="0B6B5A"/>
            </a:solidFill>
            <a:prstDash val="solid"/>
          </a:ln>
        </p:spPr>
      </p:sp>
      <p:sp>
        <p:nvSpPr>
          <p:cNvPr id="10" name="Text 8"/>
          <p:cNvSpPr/>
          <p:nvPr/>
        </p:nvSpPr>
        <p:spPr>
          <a:xfrm>
            <a:off x="4919472" y="1728216"/>
            <a:ext cx="1545336"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Typical Excel storage</a:t>
            </a:r>
            <a:endParaRPr lang="en-US" sz="950" dirty="0"/>
          </a:p>
        </p:txBody>
      </p:sp>
      <p:sp>
        <p:nvSpPr>
          <p:cNvPr id="11" name="Shape 9"/>
          <p:cNvSpPr/>
          <p:nvPr/>
        </p:nvSpPr>
        <p:spPr>
          <a:xfrm>
            <a:off x="6537960" y="1627632"/>
            <a:ext cx="1508760" cy="411480"/>
          </a:xfrm>
          <a:prstGeom prst="rect">
            <a:avLst/>
          </a:prstGeom>
          <a:solidFill>
            <a:srgbClr val="0B6B5A"/>
          </a:solidFill>
          <a:ln w="12700">
            <a:solidFill>
              <a:srgbClr val="0B6B5A"/>
            </a:solidFill>
            <a:prstDash val="solid"/>
          </a:ln>
        </p:spPr>
      </p:sp>
      <p:sp>
        <p:nvSpPr>
          <p:cNvPr id="12" name="Text 10"/>
          <p:cNvSpPr/>
          <p:nvPr/>
        </p:nvSpPr>
        <p:spPr>
          <a:xfrm>
            <a:off x="6611112" y="1728216"/>
            <a:ext cx="1362456"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Example</a:t>
            </a:r>
            <a:endParaRPr lang="en-US" sz="950" dirty="0"/>
          </a:p>
        </p:txBody>
      </p:sp>
      <p:sp>
        <p:nvSpPr>
          <p:cNvPr id="13" name="Shape 11"/>
          <p:cNvSpPr/>
          <p:nvPr/>
        </p:nvSpPr>
        <p:spPr>
          <a:xfrm>
            <a:off x="685800" y="2039112"/>
            <a:ext cx="7360920" cy="429768"/>
          </a:xfrm>
          <a:prstGeom prst="rect">
            <a:avLst/>
          </a:prstGeom>
          <a:solidFill>
            <a:srgbClr val="F8FBFA"/>
          </a:solidFill>
          <a:ln w="5080">
            <a:solidFill>
              <a:srgbClr val="E6ECEF"/>
            </a:solidFill>
            <a:prstDash val="solid"/>
          </a:ln>
        </p:spPr>
      </p:sp>
      <p:sp>
        <p:nvSpPr>
          <p:cNvPr id="14" name="Text 12"/>
          <p:cNvSpPr/>
          <p:nvPr/>
        </p:nvSpPr>
        <p:spPr>
          <a:xfrm>
            <a:off x="758952" y="2121408"/>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Nominal categorical</a:t>
            </a:r>
            <a:endParaRPr lang="en-US" sz="880" dirty="0"/>
          </a:p>
        </p:txBody>
      </p:sp>
      <p:sp>
        <p:nvSpPr>
          <p:cNvPr id="15" name="Text 13"/>
          <p:cNvSpPr/>
          <p:nvPr/>
        </p:nvSpPr>
        <p:spPr>
          <a:xfrm>
            <a:off x="2816352" y="2121408"/>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Labels with no inherent order</a:t>
            </a:r>
            <a:endParaRPr lang="en-US" sz="880" dirty="0"/>
          </a:p>
        </p:txBody>
      </p:sp>
      <p:sp>
        <p:nvSpPr>
          <p:cNvPr id="16" name="Text 14"/>
          <p:cNvSpPr/>
          <p:nvPr/>
        </p:nvSpPr>
        <p:spPr>
          <a:xfrm>
            <a:off x="4919472" y="2121408"/>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Text</a:t>
            </a:r>
            <a:endParaRPr lang="en-US" sz="880" dirty="0"/>
          </a:p>
        </p:txBody>
      </p:sp>
      <p:sp>
        <p:nvSpPr>
          <p:cNvPr id="17" name="Text 15"/>
          <p:cNvSpPr/>
          <p:nvPr/>
        </p:nvSpPr>
        <p:spPr>
          <a:xfrm>
            <a:off x="6611112" y="2121408"/>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Region = "Lombardy"</a:t>
            </a:r>
            <a:endParaRPr lang="en-US" sz="880" dirty="0"/>
          </a:p>
        </p:txBody>
      </p:sp>
      <p:sp>
        <p:nvSpPr>
          <p:cNvPr id="18" name="Shape 16"/>
          <p:cNvSpPr/>
          <p:nvPr/>
        </p:nvSpPr>
        <p:spPr>
          <a:xfrm>
            <a:off x="685800" y="2468880"/>
            <a:ext cx="7360920" cy="429768"/>
          </a:xfrm>
          <a:prstGeom prst="rect">
            <a:avLst/>
          </a:prstGeom>
          <a:solidFill>
            <a:srgbClr val="FFFFFF"/>
          </a:solidFill>
          <a:ln w="5080">
            <a:solidFill>
              <a:srgbClr val="E6ECEF"/>
            </a:solidFill>
            <a:prstDash val="solid"/>
          </a:ln>
        </p:spPr>
      </p:sp>
      <p:sp>
        <p:nvSpPr>
          <p:cNvPr id="19" name="Text 17"/>
          <p:cNvSpPr/>
          <p:nvPr/>
        </p:nvSpPr>
        <p:spPr>
          <a:xfrm>
            <a:off x="758952" y="2551176"/>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Ordinal categorical</a:t>
            </a:r>
            <a:endParaRPr lang="en-US" sz="880" dirty="0"/>
          </a:p>
        </p:txBody>
      </p:sp>
      <p:sp>
        <p:nvSpPr>
          <p:cNvPr id="20" name="Text 18"/>
          <p:cNvSpPr/>
          <p:nvPr/>
        </p:nvSpPr>
        <p:spPr>
          <a:xfrm>
            <a:off x="2816352" y="2551176"/>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Categories with a meaningful order</a:t>
            </a:r>
            <a:endParaRPr lang="en-US" sz="880" dirty="0"/>
          </a:p>
        </p:txBody>
      </p:sp>
      <p:sp>
        <p:nvSpPr>
          <p:cNvPr id="21" name="Text 19"/>
          <p:cNvSpPr/>
          <p:nvPr/>
        </p:nvSpPr>
        <p:spPr>
          <a:xfrm>
            <a:off x="4919472" y="2551176"/>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Text or coded Number</a:t>
            </a:r>
            <a:endParaRPr lang="en-US" sz="880" dirty="0"/>
          </a:p>
        </p:txBody>
      </p:sp>
      <p:sp>
        <p:nvSpPr>
          <p:cNvPr id="22" name="Text 20"/>
          <p:cNvSpPr/>
          <p:nvPr/>
        </p:nvSpPr>
        <p:spPr>
          <a:xfrm>
            <a:off x="6611112" y="2551176"/>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Low / Medium / High</a:t>
            </a:r>
            <a:endParaRPr lang="en-US" sz="880" dirty="0"/>
          </a:p>
        </p:txBody>
      </p:sp>
      <p:sp>
        <p:nvSpPr>
          <p:cNvPr id="23" name="Shape 21"/>
          <p:cNvSpPr/>
          <p:nvPr/>
        </p:nvSpPr>
        <p:spPr>
          <a:xfrm>
            <a:off x="685800" y="2898648"/>
            <a:ext cx="7360920" cy="429768"/>
          </a:xfrm>
          <a:prstGeom prst="rect">
            <a:avLst/>
          </a:prstGeom>
          <a:solidFill>
            <a:srgbClr val="F8FBFA"/>
          </a:solidFill>
          <a:ln w="5080">
            <a:solidFill>
              <a:srgbClr val="E6ECEF"/>
            </a:solidFill>
            <a:prstDash val="solid"/>
          </a:ln>
        </p:spPr>
      </p:sp>
      <p:sp>
        <p:nvSpPr>
          <p:cNvPr id="24" name="Text 22"/>
          <p:cNvSpPr/>
          <p:nvPr/>
        </p:nvSpPr>
        <p:spPr>
          <a:xfrm>
            <a:off x="758952" y="2980944"/>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Discrete numeric</a:t>
            </a:r>
            <a:endParaRPr lang="en-US" sz="880" dirty="0"/>
          </a:p>
        </p:txBody>
      </p:sp>
      <p:sp>
        <p:nvSpPr>
          <p:cNvPr id="25" name="Text 23"/>
          <p:cNvSpPr/>
          <p:nvPr/>
        </p:nvSpPr>
        <p:spPr>
          <a:xfrm>
            <a:off x="2816352" y="2980944"/>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Counts; integer-valued measurements</a:t>
            </a:r>
            <a:endParaRPr lang="en-US" sz="880" dirty="0"/>
          </a:p>
        </p:txBody>
      </p:sp>
      <p:sp>
        <p:nvSpPr>
          <p:cNvPr id="26" name="Text 24"/>
          <p:cNvSpPr/>
          <p:nvPr/>
        </p:nvSpPr>
        <p:spPr>
          <a:xfrm>
            <a:off x="4919472" y="2980944"/>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Number (integer value)</a:t>
            </a:r>
            <a:endParaRPr lang="en-US" sz="880" dirty="0"/>
          </a:p>
        </p:txBody>
      </p:sp>
      <p:sp>
        <p:nvSpPr>
          <p:cNvPr id="27" name="Text 25"/>
          <p:cNvSpPr/>
          <p:nvPr/>
        </p:nvSpPr>
        <p:spPr>
          <a:xfrm>
            <a:off x="6611112" y="2980944"/>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Num_Products = 4</a:t>
            </a:r>
            <a:endParaRPr lang="en-US" sz="880" dirty="0"/>
          </a:p>
        </p:txBody>
      </p:sp>
      <p:sp>
        <p:nvSpPr>
          <p:cNvPr id="28" name="Shape 26"/>
          <p:cNvSpPr/>
          <p:nvPr/>
        </p:nvSpPr>
        <p:spPr>
          <a:xfrm>
            <a:off x="685800" y="3328416"/>
            <a:ext cx="7360920" cy="429768"/>
          </a:xfrm>
          <a:prstGeom prst="rect">
            <a:avLst/>
          </a:prstGeom>
          <a:solidFill>
            <a:srgbClr val="FFFFFF"/>
          </a:solidFill>
          <a:ln w="5080">
            <a:solidFill>
              <a:srgbClr val="E6ECEF"/>
            </a:solidFill>
            <a:prstDash val="solid"/>
          </a:ln>
        </p:spPr>
      </p:sp>
      <p:sp>
        <p:nvSpPr>
          <p:cNvPr id="29" name="Text 27"/>
          <p:cNvSpPr/>
          <p:nvPr/>
        </p:nvSpPr>
        <p:spPr>
          <a:xfrm>
            <a:off x="758952" y="3410712"/>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Continuous numeric</a:t>
            </a:r>
            <a:endParaRPr lang="en-US" sz="880" dirty="0"/>
          </a:p>
        </p:txBody>
      </p:sp>
      <p:sp>
        <p:nvSpPr>
          <p:cNvPr id="30" name="Text 28"/>
          <p:cNvSpPr/>
          <p:nvPr/>
        </p:nvSpPr>
        <p:spPr>
          <a:xfrm>
            <a:off x="2816352" y="3410712"/>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Measurements on a continuous scale</a:t>
            </a:r>
            <a:endParaRPr lang="en-US" sz="880" dirty="0"/>
          </a:p>
        </p:txBody>
      </p:sp>
      <p:sp>
        <p:nvSpPr>
          <p:cNvPr id="31" name="Text 29"/>
          <p:cNvSpPr/>
          <p:nvPr/>
        </p:nvSpPr>
        <p:spPr>
          <a:xfrm>
            <a:off x="4919472" y="3410712"/>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Number (decimal value)</a:t>
            </a:r>
            <a:endParaRPr lang="en-US" sz="880" dirty="0"/>
          </a:p>
        </p:txBody>
      </p:sp>
      <p:sp>
        <p:nvSpPr>
          <p:cNvPr id="32" name="Text 30"/>
          <p:cNvSpPr/>
          <p:nvPr/>
        </p:nvSpPr>
        <p:spPr>
          <a:xfrm>
            <a:off x="6611112" y="3410712"/>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Balance = 5,823.47</a:t>
            </a:r>
            <a:endParaRPr lang="en-US" sz="880" dirty="0"/>
          </a:p>
        </p:txBody>
      </p:sp>
      <p:sp>
        <p:nvSpPr>
          <p:cNvPr id="33" name="Shape 31"/>
          <p:cNvSpPr/>
          <p:nvPr/>
        </p:nvSpPr>
        <p:spPr>
          <a:xfrm>
            <a:off x="685800" y="3758184"/>
            <a:ext cx="7360920" cy="429768"/>
          </a:xfrm>
          <a:prstGeom prst="rect">
            <a:avLst/>
          </a:prstGeom>
          <a:solidFill>
            <a:srgbClr val="F8FBFA"/>
          </a:solidFill>
          <a:ln w="5080">
            <a:solidFill>
              <a:srgbClr val="E6ECEF"/>
            </a:solidFill>
            <a:prstDash val="solid"/>
          </a:ln>
        </p:spPr>
      </p:sp>
      <p:sp>
        <p:nvSpPr>
          <p:cNvPr id="34" name="Text 32"/>
          <p:cNvSpPr/>
          <p:nvPr/>
        </p:nvSpPr>
        <p:spPr>
          <a:xfrm>
            <a:off x="758952" y="3840480"/>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Binary / Boolean</a:t>
            </a:r>
            <a:endParaRPr lang="en-US" sz="880" dirty="0"/>
          </a:p>
        </p:txBody>
      </p:sp>
      <p:sp>
        <p:nvSpPr>
          <p:cNvPr id="35" name="Text 33"/>
          <p:cNvSpPr/>
          <p:nvPr/>
        </p:nvSpPr>
        <p:spPr>
          <a:xfrm>
            <a:off x="2816352" y="3840480"/>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Two possible states</a:t>
            </a:r>
            <a:endParaRPr lang="en-US" sz="880" dirty="0"/>
          </a:p>
        </p:txBody>
      </p:sp>
      <p:sp>
        <p:nvSpPr>
          <p:cNvPr id="36" name="Text 34"/>
          <p:cNvSpPr/>
          <p:nvPr/>
        </p:nvSpPr>
        <p:spPr>
          <a:xfrm>
            <a:off x="4919472" y="3840480"/>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TRUE/FALSE or 0/1</a:t>
            </a:r>
            <a:endParaRPr lang="en-US" sz="880" dirty="0"/>
          </a:p>
        </p:txBody>
      </p:sp>
      <p:sp>
        <p:nvSpPr>
          <p:cNvPr id="37" name="Text 35"/>
          <p:cNvSpPr/>
          <p:nvPr/>
        </p:nvSpPr>
        <p:spPr>
          <a:xfrm>
            <a:off x="6611112" y="3840480"/>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Defaulted = FALSE</a:t>
            </a:r>
            <a:endParaRPr lang="en-US" sz="880" dirty="0"/>
          </a:p>
        </p:txBody>
      </p:sp>
      <p:sp>
        <p:nvSpPr>
          <p:cNvPr id="38" name="Shape 36"/>
          <p:cNvSpPr/>
          <p:nvPr/>
        </p:nvSpPr>
        <p:spPr>
          <a:xfrm>
            <a:off x="685800" y="4187952"/>
            <a:ext cx="7360920" cy="429768"/>
          </a:xfrm>
          <a:prstGeom prst="rect">
            <a:avLst/>
          </a:prstGeom>
          <a:solidFill>
            <a:srgbClr val="FFFFFF"/>
          </a:solidFill>
          <a:ln w="5080">
            <a:solidFill>
              <a:srgbClr val="E6ECEF"/>
            </a:solidFill>
            <a:prstDash val="solid"/>
          </a:ln>
        </p:spPr>
      </p:sp>
      <p:sp>
        <p:nvSpPr>
          <p:cNvPr id="39" name="Text 37"/>
          <p:cNvSpPr/>
          <p:nvPr/>
        </p:nvSpPr>
        <p:spPr>
          <a:xfrm>
            <a:off x="758952" y="4270248"/>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Date / Time</a:t>
            </a:r>
            <a:endParaRPr lang="en-US" sz="880" dirty="0"/>
          </a:p>
        </p:txBody>
      </p:sp>
      <p:sp>
        <p:nvSpPr>
          <p:cNvPr id="40" name="Text 38"/>
          <p:cNvSpPr/>
          <p:nvPr/>
        </p:nvSpPr>
        <p:spPr>
          <a:xfrm>
            <a:off x="2816352" y="4270248"/>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Temporal values</a:t>
            </a:r>
            <a:endParaRPr lang="en-US" sz="880" dirty="0"/>
          </a:p>
        </p:txBody>
      </p:sp>
      <p:sp>
        <p:nvSpPr>
          <p:cNvPr id="41" name="Text 39"/>
          <p:cNvSpPr/>
          <p:nvPr/>
        </p:nvSpPr>
        <p:spPr>
          <a:xfrm>
            <a:off x="4919472" y="4270248"/>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Date/Time*</a:t>
            </a:r>
            <a:endParaRPr lang="en-US" sz="880" dirty="0"/>
          </a:p>
        </p:txBody>
      </p:sp>
      <p:sp>
        <p:nvSpPr>
          <p:cNvPr id="42" name="Text 40"/>
          <p:cNvSpPr/>
          <p:nvPr/>
        </p:nvSpPr>
        <p:spPr>
          <a:xfrm>
            <a:off x="6611112" y="4270248"/>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13/09/2026</a:t>
            </a:r>
            <a:endParaRPr lang="en-US" sz="880" dirty="0"/>
          </a:p>
        </p:txBody>
      </p:sp>
      <p:sp>
        <p:nvSpPr>
          <p:cNvPr id="43" name="Shape 41"/>
          <p:cNvSpPr/>
          <p:nvPr/>
        </p:nvSpPr>
        <p:spPr>
          <a:xfrm>
            <a:off x="685800" y="4617720"/>
            <a:ext cx="7360920" cy="429768"/>
          </a:xfrm>
          <a:prstGeom prst="rect">
            <a:avLst/>
          </a:prstGeom>
          <a:solidFill>
            <a:srgbClr val="F8FBFA"/>
          </a:solidFill>
          <a:ln w="5080">
            <a:solidFill>
              <a:srgbClr val="E6ECEF"/>
            </a:solidFill>
            <a:prstDash val="solid"/>
          </a:ln>
        </p:spPr>
      </p:sp>
      <p:sp>
        <p:nvSpPr>
          <p:cNvPr id="44" name="Text 42"/>
          <p:cNvSpPr/>
          <p:nvPr/>
        </p:nvSpPr>
        <p:spPr>
          <a:xfrm>
            <a:off x="758952" y="4700016"/>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Identifier</a:t>
            </a:r>
            <a:endParaRPr lang="en-US" sz="880" dirty="0"/>
          </a:p>
        </p:txBody>
      </p:sp>
      <p:sp>
        <p:nvSpPr>
          <p:cNvPr id="45" name="Text 43"/>
          <p:cNvSpPr/>
          <p:nvPr/>
        </p:nvSpPr>
        <p:spPr>
          <a:xfrm>
            <a:off x="2816352" y="4700016"/>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A code, not a quantity</a:t>
            </a:r>
            <a:endParaRPr lang="en-US" sz="880" dirty="0"/>
          </a:p>
        </p:txBody>
      </p:sp>
      <p:sp>
        <p:nvSpPr>
          <p:cNvPr id="46" name="Text 44"/>
          <p:cNvSpPr/>
          <p:nvPr/>
        </p:nvSpPr>
        <p:spPr>
          <a:xfrm>
            <a:off x="4919472" y="4700016"/>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Usually Text</a:t>
            </a:r>
            <a:endParaRPr lang="en-US" sz="880" dirty="0"/>
          </a:p>
        </p:txBody>
      </p:sp>
      <p:sp>
        <p:nvSpPr>
          <p:cNvPr id="47" name="Text 45"/>
          <p:cNvSpPr/>
          <p:nvPr/>
        </p:nvSpPr>
        <p:spPr>
          <a:xfrm>
            <a:off x="6611112" y="4700016"/>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Customer_ID = "CL00015"</a:t>
            </a:r>
            <a:endParaRPr lang="en-US" sz="880" dirty="0"/>
          </a:p>
        </p:txBody>
      </p:sp>
      <p:sp>
        <p:nvSpPr>
          <p:cNvPr id="48" name="Shape 46"/>
          <p:cNvSpPr/>
          <p:nvPr/>
        </p:nvSpPr>
        <p:spPr>
          <a:xfrm>
            <a:off x="685800" y="5047488"/>
            <a:ext cx="7360920" cy="429768"/>
          </a:xfrm>
          <a:prstGeom prst="rect">
            <a:avLst/>
          </a:prstGeom>
          <a:solidFill>
            <a:srgbClr val="FFFFFF"/>
          </a:solidFill>
          <a:ln w="5080">
            <a:solidFill>
              <a:srgbClr val="E6ECEF"/>
            </a:solidFill>
            <a:prstDash val="solid"/>
          </a:ln>
        </p:spPr>
      </p:sp>
      <p:sp>
        <p:nvSpPr>
          <p:cNvPr id="49" name="Text 47"/>
          <p:cNvSpPr/>
          <p:nvPr/>
        </p:nvSpPr>
        <p:spPr>
          <a:xfrm>
            <a:off x="758952" y="5129784"/>
            <a:ext cx="191109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Missing value</a:t>
            </a:r>
            <a:endParaRPr lang="en-US" sz="880" dirty="0"/>
          </a:p>
        </p:txBody>
      </p:sp>
      <p:sp>
        <p:nvSpPr>
          <p:cNvPr id="50" name="Text 48"/>
          <p:cNvSpPr/>
          <p:nvPr/>
        </p:nvSpPr>
        <p:spPr>
          <a:xfrm>
            <a:off x="2816352" y="5129784"/>
            <a:ext cx="195681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Unknown / not recorded</a:t>
            </a:r>
            <a:endParaRPr lang="en-US" sz="880" dirty="0"/>
          </a:p>
        </p:txBody>
      </p:sp>
      <p:sp>
        <p:nvSpPr>
          <p:cNvPr id="51" name="Text 49"/>
          <p:cNvSpPr/>
          <p:nvPr/>
        </p:nvSpPr>
        <p:spPr>
          <a:xfrm>
            <a:off x="4919472" y="5129784"/>
            <a:ext cx="1545336" cy="228600"/>
          </a:xfrm>
          <a:prstGeom prst="rect">
            <a:avLst/>
          </a:prstGeom>
          <a:noFill/>
          <a:ln/>
        </p:spPr>
        <p:txBody>
          <a:bodyPr wrap="square" lIns="0" tIns="0" rIns="0" bIns="0" rtlCol="0" anchor="ctr"/>
          <a:lstStyle/>
          <a:p>
            <a:pPr marL="0" indent="0" algn="ctr">
              <a:buNone/>
            </a:pPr>
            <a:r>
              <a:rPr lang="en-US" sz="880" b="1" dirty="0">
                <a:solidFill>
                  <a:srgbClr val="0B6B5A"/>
                </a:solidFill>
                <a:latin typeface="Aptos" pitchFamily="34" charset="0"/>
                <a:ea typeface="Aptos" pitchFamily="34" charset="-122"/>
                <a:cs typeface="Aptos" pitchFamily="34" charset="-120"/>
              </a:rPr>
              <a:t>Blank cell</a:t>
            </a:r>
            <a:endParaRPr lang="en-US" sz="880" dirty="0"/>
          </a:p>
        </p:txBody>
      </p:sp>
      <p:sp>
        <p:nvSpPr>
          <p:cNvPr id="52" name="Text 50"/>
          <p:cNvSpPr/>
          <p:nvPr/>
        </p:nvSpPr>
        <p:spPr>
          <a:xfrm>
            <a:off x="6611112" y="5129784"/>
            <a:ext cx="1362456" cy="228600"/>
          </a:xfrm>
          <a:prstGeom prst="rect">
            <a:avLst/>
          </a:prstGeom>
          <a:noFill/>
          <a:ln/>
        </p:spPr>
        <p:txBody>
          <a:bodyPr wrap="square" lIns="0" tIns="0" rIns="0" bIns="0" rtlCol="0" anchor="ctr"/>
          <a:lstStyle/>
          <a:p>
            <a:pPr marL="0" indent="0" algn="l">
              <a:buNone/>
            </a:pPr>
            <a:r>
              <a:rPr lang="en-US" sz="880" dirty="0">
                <a:solidFill>
                  <a:srgbClr val="25313C"/>
                </a:solidFill>
                <a:latin typeface="Aptos" pitchFamily="34" charset="0"/>
                <a:ea typeface="Aptos" pitchFamily="34" charset="-122"/>
                <a:cs typeface="Aptos" pitchFamily="34" charset="-120"/>
              </a:rPr>
              <a:t>empty cell</a:t>
            </a:r>
            <a:endParaRPr lang="en-US" sz="880" dirty="0"/>
          </a:p>
        </p:txBody>
      </p:sp>
      <p:sp>
        <p:nvSpPr>
          <p:cNvPr id="53" name="Text 51"/>
          <p:cNvSpPr/>
          <p:nvPr/>
        </p:nvSpPr>
        <p:spPr>
          <a:xfrm>
            <a:off x="685800" y="5550408"/>
            <a:ext cx="7315200" cy="182880"/>
          </a:xfrm>
          <a:prstGeom prst="rect">
            <a:avLst/>
          </a:prstGeom>
          <a:noFill/>
          <a:ln/>
        </p:spPr>
        <p:txBody>
          <a:bodyPr wrap="square" lIns="0" tIns="0" rIns="0" bIns="0" rtlCol="0" anchor="ctr"/>
          <a:lstStyle/>
          <a:p>
            <a:pPr marL="0" indent="0">
              <a:buNone/>
            </a:pPr>
            <a:r>
              <a:rPr lang="en-US" sz="740" i="1" dirty="0">
                <a:solidFill>
                  <a:srgbClr val="6B7785"/>
                </a:solidFill>
                <a:latin typeface="Aptos" pitchFamily="34" charset="0"/>
                <a:ea typeface="Aptos" pitchFamily="34" charset="-122"/>
                <a:cs typeface="Aptos" pitchFamily="34" charset="-120"/>
              </a:rPr>
              <a:t>* Excel stores dates/times internally as serial numbers, but formats them as dates/times.</a:t>
            </a:r>
            <a:endParaRPr lang="en-US" sz="740" dirty="0"/>
          </a:p>
        </p:txBody>
      </p:sp>
      <p:sp>
        <p:nvSpPr>
          <p:cNvPr id="54" name="Shape 52"/>
          <p:cNvSpPr/>
          <p:nvPr/>
        </p:nvSpPr>
        <p:spPr>
          <a:xfrm>
            <a:off x="8485632" y="1417320"/>
            <a:ext cx="3154680" cy="1143000"/>
          </a:xfrm>
          <a:prstGeom prst="roundRect">
            <a:avLst>
              <a:gd name="adj" fmla="val 6400"/>
            </a:avLst>
          </a:prstGeom>
          <a:solidFill>
            <a:srgbClr val="E8F5F1"/>
          </a:solidFill>
          <a:ln w="12700">
            <a:solidFill>
              <a:srgbClr val="B7DDD3"/>
            </a:solidFill>
            <a:prstDash val="solid"/>
          </a:ln>
        </p:spPr>
      </p:sp>
      <p:sp>
        <p:nvSpPr>
          <p:cNvPr id="55" name="Text 53"/>
          <p:cNvSpPr/>
          <p:nvPr/>
        </p:nvSpPr>
        <p:spPr>
          <a:xfrm>
            <a:off x="8705088" y="1627632"/>
            <a:ext cx="822960" cy="182880"/>
          </a:xfrm>
          <a:prstGeom prst="rect">
            <a:avLst/>
          </a:prstGeom>
          <a:noFill/>
          <a:ln/>
        </p:spPr>
        <p:txBody>
          <a:bodyPr wrap="square" lIns="0" tIns="0" rIns="0" bIns="0" rtlCol="0" anchor="ctr"/>
          <a:lstStyle/>
          <a:p>
            <a:pPr marL="0" indent="0">
              <a:buNone/>
            </a:pPr>
            <a:r>
              <a:rPr lang="en-US" sz="800" b="1" dirty="0">
                <a:solidFill>
                  <a:srgbClr val="0A8F6A"/>
                </a:solidFill>
                <a:latin typeface="Aptos" pitchFamily="34" charset="0"/>
                <a:ea typeface="Aptos" pitchFamily="34" charset="-122"/>
                <a:cs typeface="Aptos" pitchFamily="34" charset="-120"/>
              </a:rPr>
              <a:t>KEY IDEA</a:t>
            </a:r>
            <a:endParaRPr lang="en-US" sz="800" dirty="0"/>
          </a:p>
        </p:txBody>
      </p:sp>
      <p:sp>
        <p:nvSpPr>
          <p:cNvPr id="56" name="Text 54"/>
          <p:cNvSpPr/>
          <p:nvPr/>
        </p:nvSpPr>
        <p:spPr>
          <a:xfrm>
            <a:off x="8705088" y="1883664"/>
            <a:ext cx="2651760" cy="457200"/>
          </a:xfrm>
          <a:prstGeom prst="rect">
            <a:avLst/>
          </a:prstGeom>
          <a:noFill/>
          <a:ln/>
        </p:spPr>
        <p:txBody>
          <a:bodyPr wrap="square" lIns="0" tIns="0" rIns="0" bIns="0" rtlCol="0" anchor="ctr"/>
          <a:lstStyle/>
          <a:p>
            <a:pPr marL="0" indent="0">
              <a:buNone/>
            </a:pPr>
            <a:r>
              <a:rPr lang="en-US" sz="1600" b="1" dirty="0">
                <a:solidFill>
                  <a:srgbClr val="12324A"/>
                </a:solidFill>
                <a:latin typeface="Aptos Display" pitchFamily="34" charset="0"/>
                <a:ea typeface="Aptos Display" pitchFamily="34" charset="-122"/>
                <a:cs typeface="Aptos Display" pitchFamily="34" charset="-120"/>
              </a:rPr>
              <a:t>Excel data type ≠ statistical data type</a:t>
            </a:r>
            <a:endParaRPr lang="en-US" sz="1600" dirty="0"/>
          </a:p>
        </p:txBody>
      </p:sp>
      <p:sp>
        <p:nvSpPr>
          <p:cNvPr id="57" name="Shape 55"/>
          <p:cNvSpPr/>
          <p:nvPr/>
        </p:nvSpPr>
        <p:spPr>
          <a:xfrm>
            <a:off x="8485632" y="2724912"/>
            <a:ext cx="3154680" cy="1325880"/>
          </a:xfrm>
          <a:prstGeom prst="roundRect">
            <a:avLst>
              <a:gd name="adj" fmla="val 5517"/>
            </a:avLst>
          </a:prstGeom>
          <a:solidFill>
            <a:srgbClr val="FFF6E6"/>
          </a:solidFill>
          <a:ln w="12700">
            <a:solidFill>
              <a:srgbClr val="F1D49A"/>
            </a:solidFill>
            <a:prstDash val="solid"/>
          </a:ln>
        </p:spPr>
      </p:sp>
      <p:sp>
        <p:nvSpPr>
          <p:cNvPr id="58" name="Text 56"/>
          <p:cNvSpPr/>
          <p:nvPr/>
        </p:nvSpPr>
        <p:spPr>
          <a:xfrm>
            <a:off x="8705088" y="2907792"/>
            <a:ext cx="2286000" cy="182880"/>
          </a:xfrm>
          <a:prstGeom prst="rect">
            <a:avLst/>
          </a:prstGeom>
          <a:noFill/>
          <a:ln/>
        </p:spPr>
        <p:txBody>
          <a:bodyPr wrap="square" lIns="0" tIns="0" rIns="0" bIns="0" rtlCol="0" anchor="ctr"/>
          <a:lstStyle/>
          <a:p>
            <a:pPr marL="0" indent="0">
              <a:buNone/>
            </a:pPr>
            <a:r>
              <a:rPr lang="en-US" sz="800" b="1" dirty="0">
                <a:solidFill>
                  <a:srgbClr val="9B6A00"/>
                </a:solidFill>
                <a:latin typeface="Aptos" pitchFamily="34" charset="0"/>
                <a:ea typeface="Aptos" pitchFamily="34" charset="-122"/>
                <a:cs typeface="Aptos" pitchFamily="34" charset="-120"/>
              </a:rPr>
              <a:t>EXAMPLE 1 — ORDINAL CODES</a:t>
            </a:r>
            <a:endParaRPr lang="en-US" sz="800" dirty="0"/>
          </a:p>
        </p:txBody>
      </p:sp>
      <p:sp>
        <p:nvSpPr>
          <p:cNvPr id="59" name="Text 57"/>
          <p:cNvSpPr/>
          <p:nvPr/>
        </p:nvSpPr>
        <p:spPr>
          <a:xfrm>
            <a:off x="8705088" y="3182112"/>
            <a:ext cx="2560320" cy="228600"/>
          </a:xfrm>
          <a:prstGeom prst="rect">
            <a:avLst/>
          </a:prstGeom>
          <a:noFill/>
          <a:ln/>
        </p:spPr>
        <p:txBody>
          <a:bodyPr wrap="square" lIns="0" tIns="0" rIns="0" bIns="0" rtlCol="0" anchor="ctr"/>
          <a:lstStyle/>
          <a:p>
            <a:pPr marL="0" indent="0">
              <a:buNone/>
            </a:pPr>
            <a:r>
              <a:rPr lang="en-US" sz="1100" b="1" dirty="0">
                <a:solidFill>
                  <a:srgbClr val="3A4650"/>
                </a:solidFill>
                <a:latin typeface="Aptos" pitchFamily="34" charset="0"/>
                <a:ea typeface="Aptos" pitchFamily="34" charset="-122"/>
                <a:cs typeface="Aptos" pitchFamily="34" charset="-120"/>
              </a:rPr>
              <a:t>1 = Low   2 = Medium   3 = High</a:t>
            </a:r>
            <a:endParaRPr lang="en-US" sz="1100" dirty="0"/>
          </a:p>
        </p:txBody>
      </p:sp>
      <p:sp>
        <p:nvSpPr>
          <p:cNvPr id="60" name="Text 58"/>
          <p:cNvSpPr/>
          <p:nvPr/>
        </p:nvSpPr>
        <p:spPr>
          <a:xfrm>
            <a:off x="8705088" y="3456432"/>
            <a:ext cx="2606040" cy="438912"/>
          </a:xfrm>
          <a:prstGeom prst="rect">
            <a:avLst/>
          </a:prstGeom>
          <a:noFill/>
          <a:ln/>
        </p:spPr>
        <p:txBody>
          <a:bodyPr wrap="square" lIns="0" tIns="0" rIns="0" bIns="0" rtlCol="0" anchor="ctr"/>
          <a:lstStyle/>
          <a:p>
            <a:pPr marL="0" indent="0">
              <a:buNone/>
            </a:pPr>
            <a:r>
              <a:rPr lang="en-US" sz="830" dirty="0">
                <a:solidFill>
                  <a:srgbClr val="5B6773"/>
                </a:solidFill>
                <a:latin typeface="Aptos" pitchFamily="34" charset="0"/>
                <a:ea typeface="Aptos" pitchFamily="34" charset="-122"/>
                <a:cs typeface="Aptos" pitchFamily="34" charset="-120"/>
              </a:rPr>
              <a:t>Excel sees numbers; the analyst sees ordered categories. An average may be mathematically possible but analytically questionable.</a:t>
            </a:r>
            <a:endParaRPr lang="en-US" sz="830" dirty="0"/>
          </a:p>
        </p:txBody>
      </p:sp>
      <p:sp>
        <p:nvSpPr>
          <p:cNvPr id="61" name="Shape 59"/>
          <p:cNvSpPr/>
          <p:nvPr/>
        </p:nvSpPr>
        <p:spPr>
          <a:xfrm>
            <a:off x="8485632" y="4224528"/>
            <a:ext cx="3154680" cy="1325880"/>
          </a:xfrm>
          <a:prstGeom prst="roundRect">
            <a:avLst>
              <a:gd name="adj" fmla="val 5517"/>
            </a:avLst>
          </a:prstGeom>
          <a:solidFill>
            <a:srgbClr val="EEF3FB"/>
          </a:solidFill>
          <a:ln w="12700">
            <a:solidFill>
              <a:srgbClr val="C9D7EE"/>
            </a:solidFill>
            <a:prstDash val="solid"/>
          </a:ln>
        </p:spPr>
      </p:sp>
      <p:sp>
        <p:nvSpPr>
          <p:cNvPr id="62" name="Text 60"/>
          <p:cNvSpPr/>
          <p:nvPr/>
        </p:nvSpPr>
        <p:spPr>
          <a:xfrm>
            <a:off x="8705088" y="4407408"/>
            <a:ext cx="2011680" cy="182880"/>
          </a:xfrm>
          <a:prstGeom prst="rect">
            <a:avLst/>
          </a:prstGeom>
          <a:noFill/>
          <a:ln/>
        </p:spPr>
        <p:txBody>
          <a:bodyPr wrap="square" lIns="0" tIns="0" rIns="0" bIns="0" rtlCol="0" anchor="ctr"/>
          <a:lstStyle/>
          <a:p>
            <a:pPr marL="0" indent="0">
              <a:buNone/>
            </a:pPr>
            <a:r>
              <a:rPr lang="en-US" sz="800" b="1" dirty="0">
                <a:solidFill>
                  <a:srgbClr val="4C6FA8"/>
                </a:solidFill>
                <a:latin typeface="Aptos" pitchFamily="34" charset="0"/>
                <a:ea typeface="Aptos" pitchFamily="34" charset="-122"/>
                <a:cs typeface="Aptos" pitchFamily="34" charset="-120"/>
              </a:rPr>
              <a:t>EXAMPLE 2 — IDENTIFIERS</a:t>
            </a:r>
            <a:endParaRPr lang="en-US" sz="800" dirty="0"/>
          </a:p>
        </p:txBody>
      </p:sp>
      <p:sp>
        <p:nvSpPr>
          <p:cNvPr id="63" name="Text 61"/>
          <p:cNvSpPr/>
          <p:nvPr/>
        </p:nvSpPr>
        <p:spPr>
          <a:xfrm>
            <a:off x="8705088" y="4663440"/>
            <a:ext cx="2560320" cy="228600"/>
          </a:xfrm>
          <a:prstGeom prst="rect">
            <a:avLst/>
          </a:prstGeom>
          <a:noFill/>
          <a:ln/>
        </p:spPr>
        <p:txBody>
          <a:bodyPr wrap="square" lIns="0" tIns="0" rIns="0" bIns="0" rtlCol="0" anchor="ctr"/>
          <a:lstStyle/>
          <a:p>
            <a:pPr marL="0" indent="0">
              <a:buNone/>
            </a:pPr>
            <a:r>
              <a:rPr lang="en-US" sz="1070" b="1" dirty="0">
                <a:solidFill>
                  <a:srgbClr val="3A4650"/>
                </a:solidFill>
                <a:latin typeface="Aptos" pitchFamily="34" charset="0"/>
                <a:ea typeface="Aptos" pitchFamily="34" charset="-122"/>
                <a:cs typeface="Aptos" pitchFamily="34" charset="-120"/>
              </a:rPr>
              <a:t>ZIP = 10121   Account = 000173</a:t>
            </a:r>
            <a:endParaRPr lang="en-US" sz="1070" dirty="0"/>
          </a:p>
        </p:txBody>
      </p:sp>
      <p:sp>
        <p:nvSpPr>
          <p:cNvPr id="64" name="Text 62"/>
          <p:cNvSpPr/>
          <p:nvPr/>
        </p:nvSpPr>
        <p:spPr>
          <a:xfrm>
            <a:off x="8705088" y="4937760"/>
            <a:ext cx="2560320" cy="393192"/>
          </a:xfrm>
          <a:prstGeom prst="rect">
            <a:avLst/>
          </a:prstGeom>
          <a:noFill/>
          <a:ln/>
        </p:spPr>
        <p:txBody>
          <a:bodyPr wrap="square" lIns="0" tIns="0" rIns="0" bIns="0" rtlCol="0" anchor="ctr"/>
          <a:lstStyle/>
          <a:p>
            <a:pPr marL="0" indent="0">
              <a:buNone/>
            </a:pPr>
            <a:r>
              <a:rPr lang="en-US" sz="840" dirty="0">
                <a:solidFill>
                  <a:srgbClr val="5B6773"/>
                </a:solidFill>
                <a:latin typeface="Aptos" pitchFamily="34" charset="0"/>
                <a:ea typeface="Aptos" pitchFamily="34" charset="-122"/>
                <a:cs typeface="Aptos" pitchFamily="34" charset="-120"/>
              </a:rPr>
              <a:t>They look numeric, but they are labels. Store them as Text when leading zeros or code semantics matter.</a:t>
            </a:r>
            <a:endParaRPr lang="en-US" sz="840" dirty="0"/>
          </a:p>
        </p:txBody>
      </p:sp>
      <p:sp>
        <p:nvSpPr>
          <p:cNvPr id="65" name="Shape 63"/>
          <p:cNvSpPr/>
          <p:nvPr/>
        </p:nvSpPr>
        <p:spPr>
          <a:xfrm>
            <a:off x="502920" y="5989320"/>
            <a:ext cx="11137392" cy="393192"/>
          </a:xfrm>
          <a:prstGeom prst="roundRect">
            <a:avLst>
              <a:gd name="adj" fmla="val 11628"/>
            </a:avLst>
          </a:prstGeom>
          <a:solidFill>
            <a:srgbClr val="FFFFFF"/>
          </a:solidFill>
          <a:ln w="12700">
            <a:solidFill>
              <a:srgbClr val="AFC8BF"/>
            </a:solidFill>
            <a:prstDash val="solid"/>
          </a:ln>
        </p:spPr>
      </p:sp>
      <p:sp>
        <p:nvSpPr>
          <p:cNvPr id="66" name="Text 64"/>
          <p:cNvSpPr/>
          <p:nvPr/>
        </p:nvSpPr>
        <p:spPr>
          <a:xfrm>
            <a:off x="713232" y="6089904"/>
            <a:ext cx="10744200" cy="164592"/>
          </a:xfrm>
          <a:prstGeom prst="rect">
            <a:avLst/>
          </a:prstGeom>
          <a:noFill/>
          <a:ln/>
        </p:spPr>
        <p:txBody>
          <a:bodyPr wrap="square" lIns="0" tIns="0" rIns="0" bIns="0" rtlCol="0" anchor="ctr"/>
          <a:lstStyle/>
          <a:p>
            <a:pPr marL="0" indent="0" algn="ctr">
              <a:buNone/>
            </a:pPr>
            <a:r>
              <a:rPr lang="en-US" sz="930" b="1" dirty="0">
                <a:solidFill>
                  <a:srgbClr val="0B6B5A"/>
                </a:solidFill>
                <a:latin typeface="Aptos" pitchFamily="34" charset="0"/>
                <a:ea typeface="Aptos" pitchFamily="34" charset="-122"/>
                <a:cs typeface="Aptos" pitchFamily="34" charset="-120"/>
              </a:rPr>
              <a:t>Analyst rule: determine the variable’s meaning first; only then decide the Excel representation and the valid operations.</a:t>
            </a:r>
            <a:endParaRPr lang="en-US" sz="930" dirty="0"/>
          </a:p>
        </p:txBody>
      </p:sp>
      <p:sp>
        <p:nvSpPr>
          <p:cNvPr id="68" name="Rettangolo con angoli arrotondati 67">
            <a:extLst>
              <a:ext uri="{FF2B5EF4-FFF2-40B4-BE49-F238E27FC236}">
                <a16:creationId xmlns:a16="http://schemas.microsoft.com/office/drawing/2014/main" id="{2E1572C7-42A2-5495-E5C5-35896A06B568}"/>
              </a:ext>
            </a:extLst>
          </p:cNvPr>
          <p:cNvSpPr/>
          <p:nvPr/>
        </p:nvSpPr>
        <p:spPr>
          <a:xfrm>
            <a:off x="8549640" y="1810512"/>
            <a:ext cx="2715768" cy="658368"/>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Slide Number Placeholder 0">
            <a:extLst>
              <a:ext uri="{FF2B5EF4-FFF2-40B4-BE49-F238E27FC236}">
                <a16:creationId xmlns:a16="http://schemas.microsoft.com/office/drawing/2014/main" id="{55AA15C0-D249-6316-D1FB-8230DE21EE35}"/>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27</a:t>
            </a:fld>
            <a:endParaRPr lang="en-US"/>
          </a:p>
        </p:txBody>
      </p:sp>
      <p:sp>
        <p:nvSpPr>
          <p:cNvPr id="71" name="TextBox 2">
            <a:extLst>
              <a:ext uri="{FF2B5EF4-FFF2-40B4-BE49-F238E27FC236}">
                <a16:creationId xmlns:a16="http://schemas.microsoft.com/office/drawing/2014/main" id="{B861FE96-8CFA-4A95-656C-EBB7C8B3E71D}"/>
              </a:ext>
            </a:extLst>
          </p:cNvPr>
          <p:cNvSpPr txBox="1"/>
          <p:nvPr/>
        </p:nvSpPr>
        <p:spPr>
          <a:xfrm>
            <a:off x="576072" y="356616"/>
            <a:ext cx="2743200" cy="219456"/>
          </a:xfrm>
          <a:prstGeom prst="rect">
            <a:avLst/>
          </a:prstGeom>
          <a:noFill/>
        </p:spPr>
        <p:txBody>
          <a:bodyPr wrap="none" lIns="0" tIns="0" rIns="0" bIns="0" anchor="ctr">
            <a:spAutoFit/>
          </a:bodyPr>
          <a:lstStyle/>
          <a:p>
            <a:pPr algn="l"/>
            <a:r>
              <a:rPr sz="1050" b="1" i="0" dirty="0">
                <a:solidFill>
                  <a:srgbClr val="009E9A"/>
                </a:solidFill>
                <a:latin typeface="Aptos"/>
              </a:rPr>
              <a:t>02 · DATA &amp; TYPES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5C9EEEF-1924-BC30-07A6-31AFA07521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9206" y="1687887"/>
            <a:ext cx="6067425" cy="326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0">
            <a:extLst>
              <a:ext uri="{FF2B5EF4-FFF2-40B4-BE49-F238E27FC236}">
                <a16:creationId xmlns:a16="http://schemas.microsoft.com/office/drawing/2014/main" id="{E1C0E471-4D89-B38C-F530-7AF3BFC367EC}"/>
              </a:ext>
            </a:extLst>
          </p:cNvPr>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9" name="Text 1">
            <a:extLst>
              <a:ext uri="{FF2B5EF4-FFF2-40B4-BE49-F238E27FC236}">
                <a16:creationId xmlns:a16="http://schemas.microsoft.com/office/drawing/2014/main" id="{C789D5CF-2CFD-7858-F386-9BD9DCB841A1}"/>
              </a:ext>
            </a:extLst>
          </p:cNvPr>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Numerical vs Categorical Data </a:t>
            </a:r>
            <a:r>
              <a:rPr lang="en-US" sz="2600" b="1" dirty="0" err="1">
                <a:solidFill>
                  <a:srgbClr val="0B1F33"/>
                </a:solidFill>
                <a:latin typeface="Aptos Display" pitchFamily="34" charset="0"/>
                <a:ea typeface="Aptos Display" pitchFamily="34" charset="-122"/>
                <a:cs typeface="Aptos Display" pitchFamily="34" charset="-120"/>
              </a:rPr>
              <a:t>Tyypes</a:t>
            </a:r>
            <a:endParaRPr lang="en-US" sz="2600" dirty="0"/>
          </a:p>
        </p:txBody>
      </p:sp>
      <p:sp>
        <p:nvSpPr>
          <p:cNvPr id="11" name="Text 4">
            <a:extLst>
              <a:ext uri="{FF2B5EF4-FFF2-40B4-BE49-F238E27FC236}">
                <a16:creationId xmlns:a16="http://schemas.microsoft.com/office/drawing/2014/main" id="{B9ABCEC8-F516-10B3-17AF-82C758BA3D4B}"/>
              </a:ext>
            </a:extLst>
          </p:cNvPr>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Not every column that looks like a number should be treated as a number.</a:t>
            </a:r>
            <a:endParaRPr lang="en-US" sz="1300" dirty="0"/>
          </a:p>
        </p:txBody>
      </p:sp>
      <p:sp>
        <p:nvSpPr>
          <p:cNvPr id="12" name="Slide Number Placeholder 0">
            <a:extLst>
              <a:ext uri="{FF2B5EF4-FFF2-40B4-BE49-F238E27FC236}">
                <a16:creationId xmlns:a16="http://schemas.microsoft.com/office/drawing/2014/main" id="{FF82E2EC-67D8-7231-23E5-D726A2CE8932}"/>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28</a:t>
            </a:fld>
            <a:endParaRPr lang="en-US"/>
          </a:p>
        </p:txBody>
      </p:sp>
    </p:spTree>
    <p:extLst>
      <p:ext uri="{BB962C8B-B14F-4D97-AF65-F5344CB8AC3E}">
        <p14:creationId xmlns:p14="http://schemas.microsoft.com/office/powerpoint/2010/main" val="3509868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Dates, text and identifiers need special care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Not every column that looks like a number should be treated as a number.</a:t>
            </a:r>
            <a:endParaRPr lang="en-US" sz="1300" dirty="0"/>
          </a:p>
        </p:txBody>
      </p:sp>
      <p:sp>
        <p:nvSpPr>
          <p:cNvPr id="7" name="Shape 5"/>
          <p:cNvSpPr/>
          <p:nvPr/>
        </p:nvSpPr>
        <p:spPr>
          <a:xfrm>
            <a:off x="749808" y="1554480"/>
            <a:ext cx="2286000" cy="566928"/>
          </a:xfrm>
          <a:prstGeom prst="rect">
            <a:avLst/>
          </a:prstGeom>
          <a:solidFill>
            <a:srgbClr val="173B57"/>
          </a:solidFill>
          <a:ln w="3810">
            <a:solidFill>
              <a:srgbClr val="FFFFFF"/>
            </a:solidFill>
            <a:prstDash val="solid"/>
          </a:ln>
        </p:spPr>
      </p:sp>
      <p:sp>
        <p:nvSpPr>
          <p:cNvPr id="8" name="Text 6"/>
          <p:cNvSpPr/>
          <p:nvPr/>
        </p:nvSpPr>
        <p:spPr>
          <a:xfrm>
            <a:off x="859536" y="1709928"/>
            <a:ext cx="2066544" cy="201168"/>
          </a:xfrm>
          <a:prstGeom prst="rect">
            <a:avLst/>
          </a:prstGeom>
          <a:noFill/>
          <a:ln/>
        </p:spPr>
        <p:txBody>
          <a:bodyPr wrap="square" lIns="0" tIns="0" rIns="0" bIns="0" rtlCol="0" anchor="ctr"/>
          <a:lstStyle/>
          <a:p>
            <a:pPr marL="0" indent="0">
              <a:buNone/>
            </a:pPr>
            <a:r>
              <a:rPr lang="en-US" sz="1100" b="1" dirty="0">
                <a:solidFill>
                  <a:srgbClr val="FFFFFF"/>
                </a:solidFill>
              </a:rPr>
              <a:t>Example</a:t>
            </a:r>
            <a:endParaRPr lang="en-US" sz="1100" dirty="0"/>
          </a:p>
        </p:txBody>
      </p:sp>
      <p:sp>
        <p:nvSpPr>
          <p:cNvPr id="9" name="Shape 7"/>
          <p:cNvSpPr/>
          <p:nvPr/>
        </p:nvSpPr>
        <p:spPr>
          <a:xfrm>
            <a:off x="3035808" y="1554480"/>
            <a:ext cx="2560320" cy="566928"/>
          </a:xfrm>
          <a:prstGeom prst="rect">
            <a:avLst/>
          </a:prstGeom>
          <a:solidFill>
            <a:srgbClr val="173B57"/>
          </a:solidFill>
          <a:ln w="3810">
            <a:solidFill>
              <a:srgbClr val="FFFFFF"/>
            </a:solidFill>
            <a:prstDash val="solid"/>
          </a:ln>
        </p:spPr>
      </p:sp>
      <p:sp>
        <p:nvSpPr>
          <p:cNvPr id="10" name="Text 8"/>
          <p:cNvSpPr/>
          <p:nvPr/>
        </p:nvSpPr>
        <p:spPr>
          <a:xfrm>
            <a:off x="3145536" y="1709928"/>
            <a:ext cx="2340864" cy="201168"/>
          </a:xfrm>
          <a:prstGeom prst="rect">
            <a:avLst/>
          </a:prstGeom>
          <a:noFill/>
          <a:ln/>
        </p:spPr>
        <p:txBody>
          <a:bodyPr wrap="square" lIns="0" tIns="0" rIns="0" bIns="0" rtlCol="0" anchor="ctr"/>
          <a:lstStyle/>
          <a:p>
            <a:pPr marL="0" indent="0">
              <a:buNone/>
            </a:pPr>
            <a:r>
              <a:rPr lang="en-US" sz="1100" b="1" dirty="0">
                <a:solidFill>
                  <a:srgbClr val="FFFFFF"/>
                </a:solidFill>
              </a:rPr>
              <a:t>Semantic type</a:t>
            </a:r>
            <a:endParaRPr lang="en-US" sz="1100" dirty="0"/>
          </a:p>
        </p:txBody>
      </p:sp>
      <p:sp>
        <p:nvSpPr>
          <p:cNvPr id="11" name="Shape 9"/>
          <p:cNvSpPr/>
          <p:nvPr/>
        </p:nvSpPr>
        <p:spPr>
          <a:xfrm>
            <a:off x="5596128" y="1554480"/>
            <a:ext cx="5577840" cy="566928"/>
          </a:xfrm>
          <a:prstGeom prst="rect">
            <a:avLst/>
          </a:prstGeom>
          <a:solidFill>
            <a:srgbClr val="173B57"/>
          </a:solidFill>
          <a:ln w="3810">
            <a:solidFill>
              <a:srgbClr val="FFFFFF"/>
            </a:solidFill>
            <a:prstDash val="solid"/>
          </a:ln>
        </p:spPr>
      </p:sp>
      <p:sp>
        <p:nvSpPr>
          <p:cNvPr id="12" name="Text 10"/>
          <p:cNvSpPr/>
          <p:nvPr/>
        </p:nvSpPr>
        <p:spPr>
          <a:xfrm>
            <a:off x="5705856" y="1709928"/>
            <a:ext cx="5358384" cy="201168"/>
          </a:xfrm>
          <a:prstGeom prst="rect">
            <a:avLst/>
          </a:prstGeom>
          <a:noFill/>
          <a:ln/>
        </p:spPr>
        <p:txBody>
          <a:bodyPr wrap="square" lIns="0" tIns="0" rIns="0" bIns="0" rtlCol="0" anchor="ctr"/>
          <a:lstStyle/>
          <a:p>
            <a:pPr marL="0" indent="0">
              <a:buNone/>
            </a:pPr>
            <a:r>
              <a:rPr lang="en-US" sz="1100" b="1" dirty="0">
                <a:solidFill>
                  <a:srgbClr val="FFFFFF"/>
                </a:solidFill>
              </a:rPr>
              <a:t>Appropriate analysis</a:t>
            </a:r>
            <a:endParaRPr lang="en-US" sz="1100" dirty="0"/>
          </a:p>
        </p:txBody>
      </p:sp>
      <p:sp>
        <p:nvSpPr>
          <p:cNvPr id="13" name="Shape 11"/>
          <p:cNvSpPr/>
          <p:nvPr/>
        </p:nvSpPr>
        <p:spPr>
          <a:xfrm>
            <a:off x="749808" y="2121408"/>
            <a:ext cx="2286000" cy="713232"/>
          </a:xfrm>
          <a:prstGeom prst="rect">
            <a:avLst/>
          </a:prstGeom>
          <a:solidFill>
            <a:srgbClr val="FFFFFF"/>
          </a:solidFill>
          <a:ln w="5080">
            <a:solidFill>
              <a:srgbClr val="D8E0EA"/>
            </a:solidFill>
            <a:prstDash val="solid"/>
          </a:ln>
        </p:spPr>
      </p:sp>
      <p:sp>
        <p:nvSpPr>
          <p:cNvPr id="14" name="Text 12"/>
          <p:cNvSpPr/>
          <p:nvPr/>
        </p:nvSpPr>
        <p:spPr>
          <a:xfrm>
            <a:off x="859536" y="2267712"/>
            <a:ext cx="206654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2026-08-31</a:t>
            </a:r>
            <a:endParaRPr lang="en-US" sz="1060" dirty="0"/>
          </a:p>
        </p:txBody>
      </p:sp>
      <p:sp>
        <p:nvSpPr>
          <p:cNvPr id="15" name="Shape 13"/>
          <p:cNvSpPr/>
          <p:nvPr/>
        </p:nvSpPr>
        <p:spPr>
          <a:xfrm>
            <a:off x="3035808" y="2121408"/>
            <a:ext cx="2560320" cy="713232"/>
          </a:xfrm>
          <a:prstGeom prst="rect">
            <a:avLst/>
          </a:prstGeom>
          <a:solidFill>
            <a:srgbClr val="FFFFFF"/>
          </a:solidFill>
          <a:ln w="5080">
            <a:solidFill>
              <a:srgbClr val="D8E0EA"/>
            </a:solidFill>
            <a:prstDash val="solid"/>
          </a:ln>
        </p:spPr>
      </p:sp>
      <p:sp>
        <p:nvSpPr>
          <p:cNvPr id="16" name="Text 14"/>
          <p:cNvSpPr/>
          <p:nvPr/>
        </p:nvSpPr>
        <p:spPr>
          <a:xfrm>
            <a:off x="3145536" y="2267712"/>
            <a:ext cx="2340864" cy="365760"/>
          </a:xfrm>
          <a:prstGeom prst="rect">
            <a:avLst/>
          </a:prstGeom>
          <a:noFill/>
          <a:ln/>
        </p:spPr>
        <p:txBody>
          <a:bodyPr wrap="square" lIns="0" tIns="0" rIns="0" bIns="0" rtlCol="0" anchor="ctr">
            <a:normAutofit/>
          </a:bodyPr>
          <a:lstStyle/>
          <a:p>
            <a:pPr marL="0" indent="0">
              <a:buNone/>
            </a:pPr>
            <a:r>
              <a:rPr lang="en-US" sz="1060" b="1" dirty="0">
                <a:solidFill>
                  <a:srgbClr val="0B1F33"/>
                </a:solidFill>
              </a:rPr>
              <a:t>Date</a:t>
            </a:r>
            <a:endParaRPr lang="en-US" sz="1060" dirty="0"/>
          </a:p>
        </p:txBody>
      </p:sp>
      <p:sp>
        <p:nvSpPr>
          <p:cNvPr id="17" name="Shape 15"/>
          <p:cNvSpPr/>
          <p:nvPr/>
        </p:nvSpPr>
        <p:spPr>
          <a:xfrm>
            <a:off x="5596128" y="2121408"/>
            <a:ext cx="5577840" cy="713232"/>
          </a:xfrm>
          <a:prstGeom prst="rect">
            <a:avLst/>
          </a:prstGeom>
          <a:solidFill>
            <a:srgbClr val="FFFFFF"/>
          </a:solidFill>
          <a:ln w="5080">
            <a:solidFill>
              <a:srgbClr val="D8E0EA"/>
            </a:solidFill>
            <a:prstDash val="solid"/>
          </a:ln>
        </p:spPr>
      </p:sp>
      <p:sp>
        <p:nvSpPr>
          <p:cNvPr id="18" name="Text 16"/>
          <p:cNvSpPr/>
          <p:nvPr/>
        </p:nvSpPr>
        <p:spPr>
          <a:xfrm>
            <a:off x="5705856" y="2267712"/>
            <a:ext cx="535838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Sort, group by month/quarter, compute intervals</a:t>
            </a:r>
            <a:endParaRPr lang="en-US" sz="1060" dirty="0"/>
          </a:p>
        </p:txBody>
      </p:sp>
      <p:sp>
        <p:nvSpPr>
          <p:cNvPr id="19" name="Shape 17"/>
          <p:cNvSpPr/>
          <p:nvPr/>
        </p:nvSpPr>
        <p:spPr>
          <a:xfrm>
            <a:off x="749808" y="2834640"/>
            <a:ext cx="2286000" cy="713232"/>
          </a:xfrm>
          <a:prstGeom prst="rect">
            <a:avLst/>
          </a:prstGeom>
          <a:solidFill>
            <a:srgbClr val="F2F5F9"/>
          </a:solidFill>
          <a:ln w="5080">
            <a:solidFill>
              <a:srgbClr val="D8E0EA"/>
            </a:solidFill>
            <a:prstDash val="solid"/>
          </a:ln>
        </p:spPr>
      </p:sp>
      <p:sp>
        <p:nvSpPr>
          <p:cNvPr id="20" name="Text 18"/>
          <p:cNvSpPr/>
          <p:nvPr/>
        </p:nvSpPr>
        <p:spPr>
          <a:xfrm>
            <a:off x="859536" y="2980944"/>
            <a:ext cx="206654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C100245</a:t>
            </a:r>
            <a:endParaRPr lang="en-US" sz="1060" dirty="0"/>
          </a:p>
        </p:txBody>
      </p:sp>
      <p:sp>
        <p:nvSpPr>
          <p:cNvPr id="21" name="Shape 19"/>
          <p:cNvSpPr/>
          <p:nvPr/>
        </p:nvSpPr>
        <p:spPr>
          <a:xfrm>
            <a:off x="3035808" y="2834640"/>
            <a:ext cx="2560320" cy="713232"/>
          </a:xfrm>
          <a:prstGeom prst="rect">
            <a:avLst/>
          </a:prstGeom>
          <a:solidFill>
            <a:srgbClr val="F2F5F9"/>
          </a:solidFill>
          <a:ln w="5080">
            <a:solidFill>
              <a:srgbClr val="D8E0EA"/>
            </a:solidFill>
            <a:prstDash val="solid"/>
          </a:ln>
        </p:spPr>
      </p:sp>
      <p:sp>
        <p:nvSpPr>
          <p:cNvPr id="22" name="Text 20"/>
          <p:cNvSpPr/>
          <p:nvPr/>
        </p:nvSpPr>
        <p:spPr>
          <a:xfrm>
            <a:off x="3145536" y="2980944"/>
            <a:ext cx="2340864" cy="365760"/>
          </a:xfrm>
          <a:prstGeom prst="rect">
            <a:avLst/>
          </a:prstGeom>
          <a:noFill/>
          <a:ln/>
        </p:spPr>
        <p:txBody>
          <a:bodyPr wrap="square" lIns="0" tIns="0" rIns="0" bIns="0" rtlCol="0" anchor="ctr">
            <a:normAutofit/>
          </a:bodyPr>
          <a:lstStyle/>
          <a:p>
            <a:pPr marL="0" indent="0">
              <a:buNone/>
            </a:pPr>
            <a:r>
              <a:rPr lang="en-US" sz="1060" b="1" dirty="0">
                <a:solidFill>
                  <a:srgbClr val="0B1F33"/>
                </a:solidFill>
              </a:rPr>
              <a:t>Identifier</a:t>
            </a:r>
            <a:endParaRPr lang="en-US" sz="1060" dirty="0"/>
          </a:p>
        </p:txBody>
      </p:sp>
      <p:sp>
        <p:nvSpPr>
          <p:cNvPr id="23" name="Shape 21"/>
          <p:cNvSpPr/>
          <p:nvPr/>
        </p:nvSpPr>
        <p:spPr>
          <a:xfrm>
            <a:off x="5596128" y="2834640"/>
            <a:ext cx="5577840" cy="713232"/>
          </a:xfrm>
          <a:prstGeom prst="rect">
            <a:avLst/>
          </a:prstGeom>
          <a:solidFill>
            <a:srgbClr val="F2F5F9"/>
          </a:solidFill>
          <a:ln w="5080">
            <a:solidFill>
              <a:srgbClr val="D8E0EA"/>
            </a:solidFill>
            <a:prstDash val="solid"/>
          </a:ln>
        </p:spPr>
      </p:sp>
      <p:sp>
        <p:nvSpPr>
          <p:cNvPr id="24" name="Text 22"/>
          <p:cNvSpPr/>
          <p:nvPr/>
        </p:nvSpPr>
        <p:spPr>
          <a:xfrm>
            <a:off x="5705856" y="2980944"/>
            <a:ext cx="535838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Join / lookup key — never average it</a:t>
            </a:r>
            <a:endParaRPr lang="en-US" sz="1060" dirty="0"/>
          </a:p>
        </p:txBody>
      </p:sp>
      <p:sp>
        <p:nvSpPr>
          <p:cNvPr id="25" name="Shape 23"/>
          <p:cNvSpPr/>
          <p:nvPr/>
        </p:nvSpPr>
        <p:spPr>
          <a:xfrm>
            <a:off x="749808" y="3547872"/>
            <a:ext cx="2286000" cy="713232"/>
          </a:xfrm>
          <a:prstGeom prst="rect">
            <a:avLst/>
          </a:prstGeom>
          <a:solidFill>
            <a:srgbClr val="FFFFFF"/>
          </a:solidFill>
          <a:ln w="5080">
            <a:solidFill>
              <a:srgbClr val="D8E0EA"/>
            </a:solidFill>
            <a:prstDash val="solid"/>
          </a:ln>
        </p:spPr>
      </p:sp>
      <p:sp>
        <p:nvSpPr>
          <p:cNvPr id="26" name="Text 24"/>
          <p:cNvSpPr/>
          <p:nvPr/>
        </p:nvSpPr>
        <p:spPr>
          <a:xfrm>
            <a:off x="859536" y="3694176"/>
            <a:ext cx="206654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0012345678</a:t>
            </a:r>
            <a:endParaRPr lang="en-US" sz="1060" dirty="0"/>
          </a:p>
        </p:txBody>
      </p:sp>
      <p:sp>
        <p:nvSpPr>
          <p:cNvPr id="27" name="Shape 25"/>
          <p:cNvSpPr/>
          <p:nvPr/>
        </p:nvSpPr>
        <p:spPr>
          <a:xfrm>
            <a:off x="3035808" y="3547872"/>
            <a:ext cx="2560320" cy="713232"/>
          </a:xfrm>
          <a:prstGeom prst="rect">
            <a:avLst/>
          </a:prstGeom>
          <a:solidFill>
            <a:srgbClr val="FFFFFF"/>
          </a:solidFill>
          <a:ln w="5080">
            <a:solidFill>
              <a:srgbClr val="D8E0EA"/>
            </a:solidFill>
            <a:prstDash val="solid"/>
          </a:ln>
        </p:spPr>
      </p:sp>
      <p:sp>
        <p:nvSpPr>
          <p:cNvPr id="28" name="Text 26"/>
          <p:cNvSpPr/>
          <p:nvPr/>
        </p:nvSpPr>
        <p:spPr>
          <a:xfrm>
            <a:off x="3145536" y="3694176"/>
            <a:ext cx="2340864" cy="365760"/>
          </a:xfrm>
          <a:prstGeom prst="rect">
            <a:avLst/>
          </a:prstGeom>
          <a:noFill/>
          <a:ln/>
        </p:spPr>
        <p:txBody>
          <a:bodyPr wrap="square" lIns="0" tIns="0" rIns="0" bIns="0" rtlCol="0" anchor="ctr">
            <a:normAutofit/>
          </a:bodyPr>
          <a:lstStyle/>
          <a:p>
            <a:pPr marL="0" indent="0">
              <a:buNone/>
            </a:pPr>
            <a:r>
              <a:rPr lang="en-US" sz="1060" b="1" dirty="0">
                <a:solidFill>
                  <a:srgbClr val="0B1F33"/>
                </a:solidFill>
              </a:rPr>
              <a:t>Identifier stored as text</a:t>
            </a:r>
            <a:endParaRPr lang="en-US" sz="1060" dirty="0"/>
          </a:p>
        </p:txBody>
      </p:sp>
      <p:sp>
        <p:nvSpPr>
          <p:cNvPr id="29" name="Shape 27"/>
          <p:cNvSpPr/>
          <p:nvPr/>
        </p:nvSpPr>
        <p:spPr>
          <a:xfrm>
            <a:off x="5596128" y="3547872"/>
            <a:ext cx="5577840" cy="713232"/>
          </a:xfrm>
          <a:prstGeom prst="rect">
            <a:avLst/>
          </a:prstGeom>
          <a:solidFill>
            <a:srgbClr val="FFFFFF"/>
          </a:solidFill>
          <a:ln w="5080">
            <a:solidFill>
              <a:srgbClr val="D8E0EA"/>
            </a:solidFill>
            <a:prstDash val="solid"/>
          </a:ln>
        </p:spPr>
      </p:sp>
      <p:sp>
        <p:nvSpPr>
          <p:cNvPr id="30" name="Text 28"/>
          <p:cNvSpPr/>
          <p:nvPr/>
        </p:nvSpPr>
        <p:spPr>
          <a:xfrm>
            <a:off x="5705856" y="3694176"/>
            <a:ext cx="535838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Leading zeros matter</a:t>
            </a:r>
            <a:endParaRPr lang="en-US" sz="1060" dirty="0"/>
          </a:p>
        </p:txBody>
      </p:sp>
      <p:sp>
        <p:nvSpPr>
          <p:cNvPr id="31" name="Shape 29"/>
          <p:cNvSpPr/>
          <p:nvPr/>
        </p:nvSpPr>
        <p:spPr>
          <a:xfrm>
            <a:off x="749808" y="4261104"/>
            <a:ext cx="2286000" cy="713232"/>
          </a:xfrm>
          <a:prstGeom prst="rect">
            <a:avLst/>
          </a:prstGeom>
          <a:solidFill>
            <a:srgbClr val="F2F5F9"/>
          </a:solidFill>
          <a:ln w="5080">
            <a:solidFill>
              <a:srgbClr val="D8E0EA"/>
            </a:solidFill>
            <a:prstDash val="solid"/>
          </a:ln>
        </p:spPr>
      </p:sp>
      <p:sp>
        <p:nvSpPr>
          <p:cNvPr id="32" name="Text 30"/>
          <p:cNvSpPr/>
          <p:nvPr/>
        </p:nvSpPr>
        <p:spPr>
          <a:xfrm>
            <a:off x="859536" y="4407408"/>
            <a:ext cx="206654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“Mortgage renewal”</a:t>
            </a:r>
            <a:endParaRPr lang="en-US" sz="1060" dirty="0"/>
          </a:p>
        </p:txBody>
      </p:sp>
      <p:sp>
        <p:nvSpPr>
          <p:cNvPr id="33" name="Shape 31"/>
          <p:cNvSpPr/>
          <p:nvPr/>
        </p:nvSpPr>
        <p:spPr>
          <a:xfrm>
            <a:off x="3035808" y="4261104"/>
            <a:ext cx="2560320" cy="713232"/>
          </a:xfrm>
          <a:prstGeom prst="rect">
            <a:avLst/>
          </a:prstGeom>
          <a:solidFill>
            <a:srgbClr val="F2F5F9"/>
          </a:solidFill>
          <a:ln w="5080">
            <a:solidFill>
              <a:srgbClr val="D8E0EA"/>
            </a:solidFill>
            <a:prstDash val="solid"/>
          </a:ln>
        </p:spPr>
      </p:sp>
      <p:sp>
        <p:nvSpPr>
          <p:cNvPr id="34" name="Text 32"/>
          <p:cNvSpPr/>
          <p:nvPr/>
        </p:nvSpPr>
        <p:spPr>
          <a:xfrm>
            <a:off x="3145536" y="4407408"/>
            <a:ext cx="2340864" cy="365760"/>
          </a:xfrm>
          <a:prstGeom prst="rect">
            <a:avLst/>
          </a:prstGeom>
          <a:noFill/>
          <a:ln/>
        </p:spPr>
        <p:txBody>
          <a:bodyPr wrap="square" lIns="0" tIns="0" rIns="0" bIns="0" rtlCol="0" anchor="ctr">
            <a:normAutofit/>
          </a:bodyPr>
          <a:lstStyle/>
          <a:p>
            <a:pPr marL="0" indent="0">
              <a:buNone/>
            </a:pPr>
            <a:r>
              <a:rPr lang="en-US" sz="1060" b="1" dirty="0">
                <a:solidFill>
                  <a:srgbClr val="0B1F33"/>
                </a:solidFill>
              </a:rPr>
              <a:t>Text</a:t>
            </a:r>
            <a:endParaRPr lang="en-US" sz="1060" dirty="0"/>
          </a:p>
        </p:txBody>
      </p:sp>
      <p:sp>
        <p:nvSpPr>
          <p:cNvPr id="35" name="Shape 33"/>
          <p:cNvSpPr/>
          <p:nvPr/>
        </p:nvSpPr>
        <p:spPr>
          <a:xfrm>
            <a:off x="5596128" y="4261104"/>
            <a:ext cx="5577840" cy="713232"/>
          </a:xfrm>
          <a:prstGeom prst="rect">
            <a:avLst/>
          </a:prstGeom>
          <a:solidFill>
            <a:srgbClr val="F2F5F9"/>
          </a:solidFill>
          <a:ln w="5080">
            <a:solidFill>
              <a:srgbClr val="D8E0EA"/>
            </a:solidFill>
            <a:prstDash val="solid"/>
          </a:ln>
        </p:spPr>
      </p:sp>
      <p:sp>
        <p:nvSpPr>
          <p:cNvPr id="36" name="Text 34"/>
          <p:cNvSpPr/>
          <p:nvPr/>
        </p:nvSpPr>
        <p:spPr>
          <a:xfrm>
            <a:off x="5705856" y="4407408"/>
            <a:ext cx="535838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Search, classify, count terms</a:t>
            </a:r>
            <a:endParaRPr lang="en-US" sz="1060" dirty="0"/>
          </a:p>
        </p:txBody>
      </p:sp>
      <p:sp>
        <p:nvSpPr>
          <p:cNvPr id="37" name="Shape 35"/>
          <p:cNvSpPr/>
          <p:nvPr/>
        </p:nvSpPr>
        <p:spPr>
          <a:xfrm>
            <a:off x="749808" y="4974336"/>
            <a:ext cx="2286000" cy="713232"/>
          </a:xfrm>
          <a:prstGeom prst="rect">
            <a:avLst/>
          </a:prstGeom>
          <a:solidFill>
            <a:srgbClr val="FFFFFF"/>
          </a:solidFill>
          <a:ln w="5080">
            <a:solidFill>
              <a:srgbClr val="D8E0EA"/>
            </a:solidFill>
            <a:prstDash val="solid"/>
          </a:ln>
        </p:spPr>
      </p:sp>
      <p:sp>
        <p:nvSpPr>
          <p:cNvPr id="38" name="Text 36"/>
          <p:cNvSpPr/>
          <p:nvPr/>
        </p:nvSpPr>
        <p:spPr>
          <a:xfrm>
            <a:off x="859536" y="5120640"/>
            <a:ext cx="206654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12.5%</a:t>
            </a:r>
            <a:endParaRPr lang="en-US" sz="1060" dirty="0"/>
          </a:p>
        </p:txBody>
      </p:sp>
      <p:sp>
        <p:nvSpPr>
          <p:cNvPr id="39" name="Shape 37"/>
          <p:cNvSpPr/>
          <p:nvPr/>
        </p:nvSpPr>
        <p:spPr>
          <a:xfrm>
            <a:off x="3035808" y="4974336"/>
            <a:ext cx="2560320" cy="713232"/>
          </a:xfrm>
          <a:prstGeom prst="rect">
            <a:avLst/>
          </a:prstGeom>
          <a:solidFill>
            <a:srgbClr val="FFFFFF"/>
          </a:solidFill>
          <a:ln w="5080">
            <a:solidFill>
              <a:srgbClr val="D8E0EA"/>
            </a:solidFill>
            <a:prstDash val="solid"/>
          </a:ln>
        </p:spPr>
      </p:sp>
      <p:sp>
        <p:nvSpPr>
          <p:cNvPr id="40" name="Text 38"/>
          <p:cNvSpPr/>
          <p:nvPr/>
        </p:nvSpPr>
        <p:spPr>
          <a:xfrm>
            <a:off x="3145536" y="5120640"/>
            <a:ext cx="2340864" cy="365760"/>
          </a:xfrm>
          <a:prstGeom prst="rect">
            <a:avLst/>
          </a:prstGeom>
          <a:noFill/>
          <a:ln/>
        </p:spPr>
        <p:txBody>
          <a:bodyPr wrap="square" lIns="0" tIns="0" rIns="0" bIns="0" rtlCol="0" anchor="ctr">
            <a:normAutofit/>
          </a:bodyPr>
          <a:lstStyle/>
          <a:p>
            <a:pPr marL="0" indent="0">
              <a:buNone/>
            </a:pPr>
            <a:r>
              <a:rPr lang="en-US" sz="1060" b="1" dirty="0">
                <a:solidFill>
                  <a:srgbClr val="0B1F33"/>
                </a:solidFill>
              </a:rPr>
              <a:t>Numeric rate</a:t>
            </a:r>
            <a:endParaRPr lang="en-US" sz="1060" dirty="0"/>
          </a:p>
        </p:txBody>
      </p:sp>
      <p:sp>
        <p:nvSpPr>
          <p:cNvPr id="41" name="Shape 39"/>
          <p:cNvSpPr/>
          <p:nvPr/>
        </p:nvSpPr>
        <p:spPr>
          <a:xfrm>
            <a:off x="5596128" y="4974336"/>
            <a:ext cx="5577840" cy="713232"/>
          </a:xfrm>
          <a:prstGeom prst="rect">
            <a:avLst/>
          </a:prstGeom>
          <a:solidFill>
            <a:srgbClr val="FFFFFF"/>
          </a:solidFill>
          <a:ln w="5080">
            <a:solidFill>
              <a:srgbClr val="D8E0EA"/>
            </a:solidFill>
            <a:prstDash val="solid"/>
          </a:ln>
        </p:spPr>
      </p:sp>
      <p:sp>
        <p:nvSpPr>
          <p:cNvPr id="42" name="Text 40"/>
          <p:cNvSpPr/>
          <p:nvPr/>
        </p:nvSpPr>
        <p:spPr>
          <a:xfrm>
            <a:off x="5705856" y="5120640"/>
            <a:ext cx="5358384" cy="365760"/>
          </a:xfrm>
          <a:prstGeom prst="rect">
            <a:avLst/>
          </a:prstGeom>
          <a:noFill/>
          <a:ln/>
        </p:spPr>
        <p:txBody>
          <a:bodyPr wrap="square" lIns="0" tIns="0" rIns="0" bIns="0" rtlCol="0" anchor="ctr">
            <a:normAutofit/>
          </a:bodyPr>
          <a:lstStyle/>
          <a:p>
            <a:pPr marL="0" indent="0">
              <a:buNone/>
            </a:pPr>
            <a:r>
              <a:rPr lang="en-US" sz="1060" dirty="0">
                <a:solidFill>
                  <a:srgbClr val="26364A"/>
                </a:solidFill>
              </a:rPr>
              <a:t>Store as 0.125; display as percentage</a:t>
            </a:r>
            <a:endParaRPr lang="en-US" sz="1060" dirty="0"/>
          </a:p>
        </p:txBody>
      </p:sp>
      <p:sp>
        <p:nvSpPr>
          <p:cNvPr id="43" name="Shape 41"/>
          <p:cNvSpPr/>
          <p:nvPr/>
        </p:nvSpPr>
        <p:spPr>
          <a:xfrm>
            <a:off x="1325880" y="5833872"/>
            <a:ext cx="9418320" cy="502920"/>
          </a:xfrm>
          <a:prstGeom prst="roundRect">
            <a:avLst>
              <a:gd name="adj" fmla="val 9091"/>
            </a:avLst>
          </a:prstGeom>
          <a:solidFill>
            <a:srgbClr val="FFFFFF"/>
          </a:solidFill>
          <a:ln w="15240">
            <a:solidFill>
              <a:srgbClr val="F59E0B"/>
            </a:solidFill>
            <a:prstDash val="solid"/>
          </a:ln>
        </p:spPr>
      </p:sp>
      <p:sp>
        <p:nvSpPr>
          <p:cNvPr id="44" name="Shape 42"/>
          <p:cNvSpPr/>
          <p:nvPr/>
        </p:nvSpPr>
        <p:spPr>
          <a:xfrm>
            <a:off x="1325880" y="5833872"/>
            <a:ext cx="73152" cy="502920"/>
          </a:xfrm>
          <a:prstGeom prst="rect">
            <a:avLst/>
          </a:prstGeom>
          <a:solidFill>
            <a:srgbClr val="F59E0B"/>
          </a:solidFill>
          <a:ln w="12700">
            <a:solidFill>
              <a:srgbClr val="F59E0B"/>
            </a:solidFill>
            <a:prstDash val="solid"/>
          </a:ln>
        </p:spPr>
      </p:sp>
      <p:sp>
        <p:nvSpPr>
          <p:cNvPr id="45" name="Text 43"/>
          <p:cNvSpPr/>
          <p:nvPr/>
        </p:nvSpPr>
        <p:spPr>
          <a:xfrm>
            <a:off x="1490472" y="5943600"/>
            <a:ext cx="9162288" cy="283464"/>
          </a:xfrm>
          <a:prstGeom prst="rect">
            <a:avLst/>
          </a:prstGeom>
          <a:noFill/>
          <a:ln/>
        </p:spPr>
        <p:txBody>
          <a:bodyPr wrap="square" lIns="0" tIns="0" rIns="0" bIns="0" rtlCol="0" anchor="ctr">
            <a:normAutofit/>
          </a:bodyPr>
          <a:lstStyle/>
          <a:p>
            <a:pPr marL="0" indent="0">
              <a:buNone/>
            </a:pPr>
            <a:r>
              <a:rPr lang="en-US" sz="1150" b="1" dirty="0">
                <a:solidFill>
                  <a:srgbClr val="0B1F33"/>
                </a:solidFill>
              </a:rPr>
              <a:t>Formatting changes appearance; it does not automatically correct the underlying data type.</a:t>
            </a:r>
            <a:endParaRPr lang="en-US" sz="1150" dirty="0"/>
          </a:p>
        </p:txBody>
      </p:sp>
      <p:sp>
        <p:nvSpPr>
          <p:cNvPr id="4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02 · DATA &amp; TYPES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Common data type problems in Excel</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Many “analysis errors” are actually type errors.</a:t>
            </a:r>
            <a:endParaRPr lang="en-US" sz="1300" dirty="0"/>
          </a:p>
        </p:txBody>
      </p:sp>
      <p:sp>
        <p:nvSpPr>
          <p:cNvPr id="7" name="Shape 5"/>
          <p:cNvSpPr/>
          <p:nvPr/>
        </p:nvSpPr>
        <p:spPr>
          <a:xfrm>
            <a:off x="658368" y="1444752"/>
            <a:ext cx="6720840" cy="4526280"/>
          </a:xfrm>
          <a:prstGeom prst="roundRect">
            <a:avLst>
              <a:gd name="adj" fmla="val 1010"/>
            </a:avLst>
          </a:prstGeom>
          <a:solidFill>
            <a:srgbClr val="FFFFFF"/>
          </a:solidFill>
          <a:ln w="10160">
            <a:solidFill>
              <a:srgbClr val="AEB8C5"/>
            </a:solidFill>
            <a:prstDash val="solid"/>
          </a:ln>
        </p:spPr>
      </p:sp>
      <p:sp>
        <p:nvSpPr>
          <p:cNvPr id="8" name="Shape 6"/>
          <p:cNvSpPr/>
          <p:nvPr/>
        </p:nvSpPr>
        <p:spPr>
          <a:xfrm>
            <a:off x="658368" y="1444752"/>
            <a:ext cx="6720840" cy="329184"/>
          </a:xfrm>
          <a:prstGeom prst="rect">
            <a:avLst/>
          </a:prstGeom>
          <a:solidFill>
            <a:srgbClr val="217346"/>
          </a:solidFill>
          <a:ln w="12700">
            <a:solidFill>
              <a:srgbClr val="217346"/>
            </a:solidFill>
            <a:prstDash val="solid"/>
          </a:ln>
        </p:spPr>
      </p:sp>
      <p:sp>
        <p:nvSpPr>
          <p:cNvPr id="9" name="Shape 7"/>
          <p:cNvSpPr/>
          <p:nvPr/>
        </p:nvSpPr>
        <p:spPr>
          <a:xfrm>
            <a:off x="768096" y="1490472"/>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68096" y="1499616"/>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78992" y="1517904"/>
            <a:ext cx="6190488" cy="182880"/>
          </a:xfrm>
          <a:prstGeom prst="rect">
            <a:avLst/>
          </a:prstGeom>
          <a:noFill/>
          <a:ln/>
        </p:spPr>
        <p:txBody>
          <a:bodyPr wrap="square" lIns="0" tIns="0" rIns="0" bIns="0" rtlCol="0" anchor="ctr"/>
          <a:lstStyle/>
          <a:p>
            <a:pPr marL="0" indent="0">
              <a:buNone/>
            </a:pPr>
            <a:r>
              <a:rPr lang="en-US" sz="950" b="1" dirty="0">
                <a:solidFill>
                  <a:srgbClr val="FFFFFF"/>
                </a:solidFill>
              </a:rPr>
              <a:t>Type issues hiding in plain sight</a:t>
            </a:r>
            <a:endParaRPr lang="en-US" sz="950" dirty="0"/>
          </a:p>
        </p:txBody>
      </p:sp>
      <p:sp>
        <p:nvSpPr>
          <p:cNvPr id="12" name="Shape 10"/>
          <p:cNvSpPr/>
          <p:nvPr/>
        </p:nvSpPr>
        <p:spPr>
          <a:xfrm>
            <a:off x="713232" y="1828800"/>
            <a:ext cx="6611112" cy="292608"/>
          </a:xfrm>
          <a:prstGeom prst="rect">
            <a:avLst/>
          </a:prstGeom>
          <a:solidFill>
            <a:srgbClr val="FAFCFD"/>
          </a:solidFill>
          <a:ln w="6350">
            <a:solidFill>
              <a:srgbClr val="D8E0EA"/>
            </a:solidFill>
            <a:prstDash val="solid"/>
          </a:ln>
        </p:spPr>
      </p:sp>
      <p:sp>
        <p:nvSpPr>
          <p:cNvPr id="13" name="Text 11"/>
          <p:cNvSpPr/>
          <p:nvPr/>
        </p:nvSpPr>
        <p:spPr>
          <a:xfrm>
            <a:off x="768096" y="1892808"/>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24128" y="1883664"/>
            <a:ext cx="624535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=ISTEXT(C4)</a:t>
            </a:r>
            <a:endParaRPr lang="en-US" sz="880" dirty="0"/>
          </a:p>
        </p:txBody>
      </p:sp>
      <p:sp>
        <p:nvSpPr>
          <p:cNvPr id="15" name="Shape 13"/>
          <p:cNvSpPr/>
          <p:nvPr/>
        </p:nvSpPr>
        <p:spPr>
          <a:xfrm>
            <a:off x="722376" y="2194560"/>
            <a:ext cx="1318565" cy="740664"/>
          </a:xfrm>
          <a:prstGeom prst="rect">
            <a:avLst/>
          </a:prstGeom>
          <a:solidFill>
            <a:srgbClr val="E8F3EC"/>
          </a:solidFill>
          <a:ln w="5715">
            <a:solidFill>
              <a:srgbClr val="D8E0EA"/>
            </a:solidFill>
            <a:prstDash val="solid"/>
          </a:ln>
        </p:spPr>
      </p:sp>
      <p:sp>
        <p:nvSpPr>
          <p:cNvPr id="16" name="Text 14"/>
          <p:cNvSpPr/>
          <p:nvPr/>
        </p:nvSpPr>
        <p:spPr>
          <a:xfrm>
            <a:off x="740664" y="2221992"/>
            <a:ext cx="1281989" cy="704088"/>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CustomerID</a:t>
            </a:r>
            <a:endParaRPr lang="en-US" sz="810" dirty="0"/>
          </a:p>
        </p:txBody>
      </p:sp>
      <p:sp>
        <p:nvSpPr>
          <p:cNvPr id="17" name="Shape 15"/>
          <p:cNvSpPr/>
          <p:nvPr/>
        </p:nvSpPr>
        <p:spPr>
          <a:xfrm>
            <a:off x="2040941" y="2194560"/>
            <a:ext cx="1318565" cy="740664"/>
          </a:xfrm>
          <a:prstGeom prst="rect">
            <a:avLst/>
          </a:prstGeom>
          <a:solidFill>
            <a:srgbClr val="E8F3EC"/>
          </a:solidFill>
          <a:ln w="5715">
            <a:solidFill>
              <a:srgbClr val="D8E0EA"/>
            </a:solidFill>
            <a:prstDash val="solid"/>
          </a:ln>
        </p:spPr>
      </p:sp>
      <p:sp>
        <p:nvSpPr>
          <p:cNvPr id="18" name="Text 16"/>
          <p:cNvSpPr/>
          <p:nvPr/>
        </p:nvSpPr>
        <p:spPr>
          <a:xfrm>
            <a:off x="2059229" y="2221992"/>
            <a:ext cx="1281989" cy="704088"/>
          </a:xfrm>
          <a:prstGeom prst="rect">
            <a:avLst/>
          </a:prstGeom>
          <a:noFill/>
          <a:ln/>
        </p:spPr>
        <p:txBody>
          <a:bodyPr wrap="square" lIns="0" tIns="0" rIns="0" bIns="0" rtlCol="0" anchor="ctr">
            <a:normAutofit/>
          </a:bodyPr>
          <a:lstStyle/>
          <a:p>
            <a:pPr marL="0" indent="0">
              <a:buNone/>
            </a:pPr>
            <a:r>
              <a:rPr lang="en-US" sz="810" b="1" dirty="0">
                <a:solidFill>
                  <a:srgbClr val="0B1F33"/>
                </a:solidFill>
              </a:rPr>
              <a:t>Date</a:t>
            </a:r>
            <a:endParaRPr lang="en-US" sz="810" dirty="0"/>
          </a:p>
        </p:txBody>
      </p:sp>
      <p:sp>
        <p:nvSpPr>
          <p:cNvPr id="19" name="Shape 17"/>
          <p:cNvSpPr/>
          <p:nvPr/>
        </p:nvSpPr>
        <p:spPr>
          <a:xfrm>
            <a:off x="3359506" y="2194560"/>
            <a:ext cx="1318565" cy="740664"/>
          </a:xfrm>
          <a:prstGeom prst="rect">
            <a:avLst/>
          </a:prstGeom>
          <a:solidFill>
            <a:srgbClr val="E8F3EC"/>
          </a:solidFill>
          <a:ln w="5715">
            <a:solidFill>
              <a:srgbClr val="D8E0EA"/>
            </a:solidFill>
            <a:prstDash val="solid"/>
          </a:ln>
        </p:spPr>
      </p:sp>
      <p:sp>
        <p:nvSpPr>
          <p:cNvPr id="20" name="Text 18"/>
          <p:cNvSpPr/>
          <p:nvPr/>
        </p:nvSpPr>
        <p:spPr>
          <a:xfrm>
            <a:off x="3377794" y="2221992"/>
            <a:ext cx="1281989" cy="704088"/>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21" name="Shape 19"/>
          <p:cNvSpPr/>
          <p:nvPr/>
        </p:nvSpPr>
        <p:spPr>
          <a:xfrm>
            <a:off x="4678070" y="2194560"/>
            <a:ext cx="1318565" cy="740664"/>
          </a:xfrm>
          <a:prstGeom prst="rect">
            <a:avLst/>
          </a:prstGeom>
          <a:solidFill>
            <a:srgbClr val="E8F3EC"/>
          </a:solidFill>
          <a:ln w="5715">
            <a:solidFill>
              <a:srgbClr val="D8E0EA"/>
            </a:solidFill>
            <a:prstDash val="solid"/>
          </a:ln>
        </p:spPr>
      </p:sp>
      <p:sp>
        <p:nvSpPr>
          <p:cNvPr id="22" name="Text 20"/>
          <p:cNvSpPr/>
          <p:nvPr/>
        </p:nvSpPr>
        <p:spPr>
          <a:xfrm>
            <a:off x="4696358" y="2221992"/>
            <a:ext cx="1281989" cy="704088"/>
          </a:xfrm>
          <a:prstGeom prst="rect">
            <a:avLst/>
          </a:prstGeom>
          <a:noFill/>
          <a:ln/>
        </p:spPr>
        <p:txBody>
          <a:bodyPr wrap="square" lIns="0" tIns="0" rIns="0" bIns="0" rtlCol="0" anchor="ctr">
            <a:normAutofit/>
          </a:bodyPr>
          <a:lstStyle/>
          <a:p>
            <a:pPr marL="0" indent="0">
              <a:buNone/>
            </a:pPr>
            <a:r>
              <a:rPr lang="en-US" sz="810" b="1" dirty="0">
                <a:solidFill>
                  <a:srgbClr val="0B1F33"/>
                </a:solidFill>
              </a:rPr>
              <a:t>Rate</a:t>
            </a:r>
            <a:endParaRPr lang="en-US" sz="810" dirty="0"/>
          </a:p>
        </p:txBody>
      </p:sp>
      <p:sp>
        <p:nvSpPr>
          <p:cNvPr id="23" name="Shape 21"/>
          <p:cNvSpPr/>
          <p:nvPr/>
        </p:nvSpPr>
        <p:spPr>
          <a:xfrm>
            <a:off x="5996635" y="2194560"/>
            <a:ext cx="1318565" cy="740664"/>
          </a:xfrm>
          <a:prstGeom prst="rect">
            <a:avLst/>
          </a:prstGeom>
          <a:solidFill>
            <a:srgbClr val="E8F3EC"/>
          </a:solidFill>
          <a:ln w="5715">
            <a:solidFill>
              <a:srgbClr val="D8E0EA"/>
            </a:solidFill>
            <a:prstDash val="solid"/>
          </a:ln>
        </p:spPr>
      </p:sp>
      <p:sp>
        <p:nvSpPr>
          <p:cNvPr id="24" name="Text 22"/>
          <p:cNvSpPr/>
          <p:nvPr/>
        </p:nvSpPr>
        <p:spPr>
          <a:xfrm>
            <a:off x="6014923" y="2221992"/>
            <a:ext cx="1281989" cy="704088"/>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5" name="Shape 23"/>
          <p:cNvSpPr/>
          <p:nvPr/>
        </p:nvSpPr>
        <p:spPr>
          <a:xfrm>
            <a:off x="722376" y="2935224"/>
            <a:ext cx="1318565" cy="740664"/>
          </a:xfrm>
          <a:prstGeom prst="rect">
            <a:avLst/>
          </a:prstGeom>
          <a:solidFill>
            <a:srgbClr val="FFFFFF"/>
          </a:solidFill>
          <a:ln w="5715">
            <a:solidFill>
              <a:srgbClr val="D8E0EA"/>
            </a:solidFill>
            <a:prstDash val="solid"/>
          </a:ln>
        </p:spPr>
      </p:sp>
      <p:sp>
        <p:nvSpPr>
          <p:cNvPr id="26" name="Text 24"/>
          <p:cNvSpPr/>
          <p:nvPr/>
        </p:nvSpPr>
        <p:spPr>
          <a:xfrm>
            <a:off x="740664" y="2962656"/>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00125</a:t>
            </a:r>
            <a:endParaRPr lang="en-US" sz="780" dirty="0"/>
          </a:p>
        </p:txBody>
      </p:sp>
      <p:sp>
        <p:nvSpPr>
          <p:cNvPr id="27" name="Shape 25"/>
          <p:cNvSpPr/>
          <p:nvPr/>
        </p:nvSpPr>
        <p:spPr>
          <a:xfrm>
            <a:off x="2040941" y="2935224"/>
            <a:ext cx="1318565" cy="740664"/>
          </a:xfrm>
          <a:prstGeom prst="rect">
            <a:avLst/>
          </a:prstGeom>
          <a:solidFill>
            <a:srgbClr val="FFFFFF"/>
          </a:solidFill>
          <a:ln w="5715">
            <a:solidFill>
              <a:srgbClr val="D8E0EA"/>
            </a:solidFill>
            <a:prstDash val="solid"/>
          </a:ln>
        </p:spPr>
      </p:sp>
      <p:sp>
        <p:nvSpPr>
          <p:cNvPr id="28" name="Text 26"/>
          <p:cNvSpPr/>
          <p:nvPr/>
        </p:nvSpPr>
        <p:spPr>
          <a:xfrm>
            <a:off x="2059229" y="2962656"/>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31/08/26</a:t>
            </a:r>
            <a:endParaRPr lang="en-US" sz="780" dirty="0"/>
          </a:p>
        </p:txBody>
      </p:sp>
      <p:sp>
        <p:nvSpPr>
          <p:cNvPr id="29" name="Shape 27"/>
          <p:cNvSpPr/>
          <p:nvPr/>
        </p:nvSpPr>
        <p:spPr>
          <a:xfrm>
            <a:off x="3359506" y="2935224"/>
            <a:ext cx="1318565" cy="740664"/>
          </a:xfrm>
          <a:prstGeom prst="rect">
            <a:avLst/>
          </a:prstGeom>
          <a:solidFill>
            <a:srgbClr val="FFFFFF"/>
          </a:solidFill>
          <a:ln w="5715">
            <a:solidFill>
              <a:srgbClr val="D8E0EA"/>
            </a:solidFill>
            <a:prstDash val="solid"/>
          </a:ln>
        </p:spPr>
      </p:sp>
      <p:sp>
        <p:nvSpPr>
          <p:cNvPr id="30" name="Text 28"/>
          <p:cNvSpPr/>
          <p:nvPr/>
        </p:nvSpPr>
        <p:spPr>
          <a:xfrm>
            <a:off x="3377794" y="2962656"/>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31" name="Shape 29"/>
          <p:cNvSpPr/>
          <p:nvPr/>
        </p:nvSpPr>
        <p:spPr>
          <a:xfrm>
            <a:off x="4678070" y="2935224"/>
            <a:ext cx="1318565" cy="740664"/>
          </a:xfrm>
          <a:prstGeom prst="rect">
            <a:avLst/>
          </a:prstGeom>
          <a:solidFill>
            <a:srgbClr val="FFFFFF"/>
          </a:solidFill>
          <a:ln w="5715">
            <a:solidFill>
              <a:srgbClr val="D8E0EA"/>
            </a:solidFill>
            <a:prstDash val="solid"/>
          </a:ln>
        </p:spPr>
      </p:sp>
      <p:sp>
        <p:nvSpPr>
          <p:cNvPr id="32" name="Text 30"/>
          <p:cNvSpPr/>
          <p:nvPr/>
        </p:nvSpPr>
        <p:spPr>
          <a:xfrm>
            <a:off x="4696358" y="2962656"/>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4.25%</a:t>
            </a:r>
            <a:endParaRPr lang="en-US" sz="780" dirty="0"/>
          </a:p>
        </p:txBody>
      </p:sp>
      <p:sp>
        <p:nvSpPr>
          <p:cNvPr id="33" name="Shape 31"/>
          <p:cNvSpPr/>
          <p:nvPr/>
        </p:nvSpPr>
        <p:spPr>
          <a:xfrm>
            <a:off x="5996635" y="2935224"/>
            <a:ext cx="1318565" cy="740664"/>
          </a:xfrm>
          <a:prstGeom prst="rect">
            <a:avLst/>
          </a:prstGeom>
          <a:solidFill>
            <a:srgbClr val="FFFFFF"/>
          </a:solidFill>
          <a:ln w="5715">
            <a:solidFill>
              <a:srgbClr val="D8E0EA"/>
            </a:solidFill>
            <a:prstDash val="solid"/>
          </a:ln>
        </p:spPr>
      </p:sp>
      <p:sp>
        <p:nvSpPr>
          <p:cNvPr id="34" name="Text 32"/>
          <p:cNvSpPr/>
          <p:nvPr/>
        </p:nvSpPr>
        <p:spPr>
          <a:xfrm>
            <a:off x="6014923" y="2962656"/>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35" name="Shape 33"/>
          <p:cNvSpPr/>
          <p:nvPr/>
        </p:nvSpPr>
        <p:spPr>
          <a:xfrm>
            <a:off x="722376" y="3675888"/>
            <a:ext cx="1318565" cy="740664"/>
          </a:xfrm>
          <a:prstGeom prst="rect">
            <a:avLst/>
          </a:prstGeom>
          <a:solidFill>
            <a:srgbClr val="FFFFFF"/>
          </a:solidFill>
          <a:ln w="5715">
            <a:solidFill>
              <a:srgbClr val="D8E0EA"/>
            </a:solidFill>
            <a:prstDash val="solid"/>
          </a:ln>
        </p:spPr>
      </p:sp>
      <p:sp>
        <p:nvSpPr>
          <p:cNvPr id="36" name="Text 34"/>
          <p:cNvSpPr/>
          <p:nvPr/>
        </p:nvSpPr>
        <p:spPr>
          <a:xfrm>
            <a:off x="740664" y="3703320"/>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00126</a:t>
            </a:r>
            <a:endParaRPr lang="en-US" sz="780" dirty="0"/>
          </a:p>
        </p:txBody>
      </p:sp>
      <p:sp>
        <p:nvSpPr>
          <p:cNvPr id="37" name="Shape 35"/>
          <p:cNvSpPr/>
          <p:nvPr/>
        </p:nvSpPr>
        <p:spPr>
          <a:xfrm>
            <a:off x="2040941" y="3675888"/>
            <a:ext cx="1318565" cy="740664"/>
          </a:xfrm>
          <a:prstGeom prst="rect">
            <a:avLst/>
          </a:prstGeom>
          <a:solidFill>
            <a:srgbClr val="FFF4E2"/>
          </a:solidFill>
          <a:ln w="5715">
            <a:solidFill>
              <a:srgbClr val="D8E0EA"/>
            </a:solidFill>
            <a:prstDash val="solid"/>
          </a:ln>
        </p:spPr>
      </p:sp>
      <p:sp>
        <p:nvSpPr>
          <p:cNvPr id="38" name="Text 36"/>
          <p:cNvSpPr/>
          <p:nvPr/>
        </p:nvSpPr>
        <p:spPr>
          <a:xfrm>
            <a:off x="2059229" y="3703320"/>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08/31/26</a:t>
            </a:r>
            <a:endParaRPr lang="en-US" sz="780" dirty="0"/>
          </a:p>
        </p:txBody>
      </p:sp>
      <p:sp>
        <p:nvSpPr>
          <p:cNvPr id="39" name="Shape 37"/>
          <p:cNvSpPr/>
          <p:nvPr/>
        </p:nvSpPr>
        <p:spPr>
          <a:xfrm>
            <a:off x="3359506" y="3675888"/>
            <a:ext cx="1318565" cy="740664"/>
          </a:xfrm>
          <a:prstGeom prst="rect">
            <a:avLst/>
          </a:prstGeom>
          <a:solidFill>
            <a:srgbClr val="FFF4E2"/>
          </a:solidFill>
          <a:ln w="5715">
            <a:solidFill>
              <a:srgbClr val="D8E0EA"/>
            </a:solidFill>
            <a:prstDash val="solid"/>
          </a:ln>
        </p:spPr>
      </p:sp>
      <p:sp>
        <p:nvSpPr>
          <p:cNvPr id="40" name="Text 38"/>
          <p:cNvSpPr/>
          <p:nvPr/>
        </p:nvSpPr>
        <p:spPr>
          <a:xfrm>
            <a:off x="3377794" y="3703320"/>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41" name="Shape 39"/>
          <p:cNvSpPr/>
          <p:nvPr/>
        </p:nvSpPr>
        <p:spPr>
          <a:xfrm>
            <a:off x="4678070" y="3675888"/>
            <a:ext cx="1318565" cy="740664"/>
          </a:xfrm>
          <a:prstGeom prst="rect">
            <a:avLst/>
          </a:prstGeom>
          <a:solidFill>
            <a:srgbClr val="FFF4E2"/>
          </a:solidFill>
          <a:ln w="5715">
            <a:solidFill>
              <a:srgbClr val="D8E0EA"/>
            </a:solidFill>
            <a:prstDash val="solid"/>
          </a:ln>
        </p:spPr>
      </p:sp>
      <p:sp>
        <p:nvSpPr>
          <p:cNvPr id="42" name="Text 40"/>
          <p:cNvSpPr/>
          <p:nvPr/>
        </p:nvSpPr>
        <p:spPr>
          <a:xfrm>
            <a:off x="4696358" y="3703320"/>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0,0425</a:t>
            </a:r>
            <a:endParaRPr lang="en-US" sz="780" dirty="0"/>
          </a:p>
        </p:txBody>
      </p:sp>
      <p:sp>
        <p:nvSpPr>
          <p:cNvPr id="43" name="Shape 41"/>
          <p:cNvSpPr/>
          <p:nvPr/>
        </p:nvSpPr>
        <p:spPr>
          <a:xfrm>
            <a:off x="5996635" y="3675888"/>
            <a:ext cx="1318565" cy="740664"/>
          </a:xfrm>
          <a:prstGeom prst="rect">
            <a:avLst/>
          </a:prstGeom>
          <a:solidFill>
            <a:srgbClr val="FFFFFF"/>
          </a:solidFill>
          <a:ln w="5715">
            <a:solidFill>
              <a:srgbClr val="D8E0EA"/>
            </a:solidFill>
            <a:prstDash val="solid"/>
          </a:ln>
        </p:spPr>
      </p:sp>
      <p:sp>
        <p:nvSpPr>
          <p:cNvPr id="44" name="Text 42"/>
          <p:cNvSpPr/>
          <p:nvPr/>
        </p:nvSpPr>
        <p:spPr>
          <a:xfrm>
            <a:off x="6014923" y="3703320"/>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45" name="Shape 43"/>
          <p:cNvSpPr/>
          <p:nvPr/>
        </p:nvSpPr>
        <p:spPr>
          <a:xfrm>
            <a:off x="722376" y="4416552"/>
            <a:ext cx="1318565" cy="740664"/>
          </a:xfrm>
          <a:prstGeom prst="rect">
            <a:avLst/>
          </a:prstGeom>
          <a:solidFill>
            <a:srgbClr val="FFFFFF"/>
          </a:solidFill>
          <a:ln w="5715">
            <a:solidFill>
              <a:srgbClr val="D8E0EA"/>
            </a:solidFill>
            <a:prstDash val="solid"/>
          </a:ln>
        </p:spPr>
      </p:sp>
      <p:sp>
        <p:nvSpPr>
          <p:cNvPr id="46" name="Text 44"/>
          <p:cNvSpPr/>
          <p:nvPr/>
        </p:nvSpPr>
        <p:spPr>
          <a:xfrm>
            <a:off x="740664" y="4443984"/>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00127</a:t>
            </a:r>
            <a:endParaRPr lang="en-US" sz="780" dirty="0"/>
          </a:p>
        </p:txBody>
      </p:sp>
      <p:sp>
        <p:nvSpPr>
          <p:cNvPr id="47" name="Shape 45"/>
          <p:cNvSpPr/>
          <p:nvPr/>
        </p:nvSpPr>
        <p:spPr>
          <a:xfrm>
            <a:off x="2040941" y="4416552"/>
            <a:ext cx="1318565" cy="740664"/>
          </a:xfrm>
          <a:prstGeom prst="rect">
            <a:avLst/>
          </a:prstGeom>
          <a:solidFill>
            <a:srgbClr val="FFF4E2"/>
          </a:solidFill>
          <a:ln w="5715">
            <a:solidFill>
              <a:srgbClr val="D8E0EA"/>
            </a:solidFill>
            <a:prstDash val="solid"/>
          </a:ln>
        </p:spPr>
      </p:sp>
      <p:sp>
        <p:nvSpPr>
          <p:cNvPr id="48" name="Text 46"/>
          <p:cNvSpPr/>
          <p:nvPr/>
        </p:nvSpPr>
        <p:spPr>
          <a:xfrm>
            <a:off x="2059229" y="4443984"/>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text</a:t>
            </a:r>
            <a:endParaRPr lang="en-US" sz="780" dirty="0"/>
          </a:p>
        </p:txBody>
      </p:sp>
      <p:sp>
        <p:nvSpPr>
          <p:cNvPr id="49" name="Shape 47"/>
          <p:cNvSpPr/>
          <p:nvPr/>
        </p:nvSpPr>
        <p:spPr>
          <a:xfrm>
            <a:off x="3359506" y="4416552"/>
            <a:ext cx="1318565" cy="740664"/>
          </a:xfrm>
          <a:prstGeom prst="rect">
            <a:avLst/>
          </a:prstGeom>
          <a:solidFill>
            <a:srgbClr val="FFFFFF"/>
          </a:solidFill>
          <a:ln w="5715">
            <a:solidFill>
              <a:srgbClr val="D8E0EA"/>
            </a:solidFill>
            <a:prstDash val="solid"/>
          </a:ln>
        </p:spPr>
      </p:sp>
      <p:sp>
        <p:nvSpPr>
          <p:cNvPr id="50" name="Text 48"/>
          <p:cNvSpPr/>
          <p:nvPr/>
        </p:nvSpPr>
        <p:spPr>
          <a:xfrm>
            <a:off x="3377794" y="4443984"/>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92,000</a:t>
            </a:r>
            <a:endParaRPr lang="en-US" sz="780" dirty="0"/>
          </a:p>
        </p:txBody>
      </p:sp>
      <p:sp>
        <p:nvSpPr>
          <p:cNvPr id="51" name="Shape 49"/>
          <p:cNvSpPr/>
          <p:nvPr/>
        </p:nvSpPr>
        <p:spPr>
          <a:xfrm>
            <a:off x="4678070" y="4416552"/>
            <a:ext cx="1318565" cy="740664"/>
          </a:xfrm>
          <a:prstGeom prst="rect">
            <a:avLst/>
          </a:prstGeom>
          <a:solidFill>
            <a:srgbClr val="FFFFFF"/>
          </a:solidFill>
          <a:ln w="5715">
            <a:solidFill>
              <a:srgbClr val="D8E0EA"/>
            </a:solidFill>
            <a:prstDash val="solid"/>
          </a:ln>
        </p:spPr>
      </p:sp>
      <p:sp>
        <p:nvSpPr>
          <p:cNvPr id="52" name="Text 50"/>
          <p:cNvSpPr/>
          <p:nvPr/>
        </p:nvSpPr>
        <p:spPr>
          <a:xfrm>
            <a:off x="4696358" y="4443984"/>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4.10%</a:t>
            </a:r>
            <a:endParaRPr lang="en-US" sz="780" dirty="0"/>
          </a:p>
        </p:txBody>
      </p:sp>
      <p:sp>
        <p:nvSpPr>
          <p:cNvPr id="53" name="Shape 51"/>
          <p:cNvSpPr/>
          <p:nvPr/>
        </p:nvSpPr>
        <p:spPr>
          <a:xfrm>
            <a:off x="5996635" y="4416552"/>
            <a:ext cx="1318565" cy="740664"/>
          </a:xfrm>
          <a:prstGeom prst="rect">
            <a:avLst/>
          </a:prstGeom>
          <a:solidFill>
            <a:srgbClr val="FDECEC"/>
          </a:solidFill>
          <a:ln w="5715">
            <a:solidFill>
              <a:srgbClr val="D8E0EA"/>
            </a:solidFill>
            <a:prstDash val="solid"/>
          </a:ln>
        </p:spPr>
      </p:sp>
      <p:sp>
        <p:nvSpPr>
          <p:cNvPr id="54" name="Text 52"/>
          <p:cNvSpPr/>
          <p:nvPr/>
        </p:nvSpPr>
        <p:spPr>
          <a:xfrm>
            <a:off x="6014923" y="4443984"/>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a:t>
            </a:r>
            <a:endParaRPr lang="en-US" sz="780" dirty="0"/>
          </a:p>
        </p:txBody>
      </p:sp>
      <p:sp>
        <p:nvSpPr>
          <p:cNvPr id="55" name="Shape 53"/>
          <p:cNvSpPr/>
          <p:nvPr/>
        </p:nvSpPr>
        <p:spPr>
          <a:xfrm>
            <a:off x="722376" y="5157216"/>
            <a:ext cx="1318565" cy="740664"/>
          </a:xfrm>
          <a:prstGeom prst="rect">
            <a:avLst/>
          </a:prstGeom>
          <a:solidFill>
            <a:srgbClr val="FFFFFF"/>
          </a:solidFill>
          <a:ln w="5715">
            <a:solidFill>
              <a:srgbClr val="D8E0EA"/>
            </a:solidFill>
            <a:prstDash val="solid"/>
          </a:ln>
        </p:spPr>
      </p:sp>
      <p:sp>
        <p:nvSpPr>
          <p:cNvPr id="56" name="Text 54"/>
          <p:cNvSpPr/>
          <p:nvPr/>
        </p:nvSpPr>
        <p:spPr>
          <a:xfrm>
            <a:off x="740664" y="5184648"/>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00128</a:t>
            </a:r>
            <a:endParaRPr lang="en-US" sz="780" dirty="0"/>
          </a:p>
        </p:txBody>
      </p:sp>
      <p:sp>
        <p:nvSpPr>
          <p:cNvPr id="57" name="Shape 55"/>
          <p:cNvSpPr/>
          <p:nvPr/>
        </p:nvSpPr>
        <p:spPr>
          <a:xfrm>
            <a:off x="2040941" y="5157216"/>
            <a:ext cx="1318565" cy="740664"/>
          </a:xfrm>
          <a:prstGeom prst="rect">
            <a:avLst/>
          </a:prstGeom>
          <a:solidFill>
            <a:srgbClr val="FFFFFF"/>
          </a:solidFill>
          <a:ln w="5715">
            <a:solidFill>
              <a:srgbClr val="D8E0EA"/>
            </a:solidFill>
            <a:prstDash val="solid"/>
          </a:ln>
        </p:spPr>
      </p:sp>
      <p:sp>
        <p:nvSpPr>
          <p:cNvPr id="58" name="Text 56"/>
          <p:cNvSpPr/>
          <p:nvPr/>
        </p:nvSpPr>
        <p:spPr>
          <a:xfrm>
            <a:off x="2059229" y="5184648"/>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31/08/26</a:t>
            </a:r>
            <a:endParaRPr lang="en-US" sz="780" dirty="0"/>
          </a:p>
        </p:txBody>
      </p:sp>
      <p:sp>
        <p:nvSpPr>
          <p:cNvPr id="59" name="Shape 57"/>
          <p:cNvSpPr/>
          <p:nvPr/>
        </p:nvSpPr>
        <p:spPr>
          <a:xfrm>
            <a:off x="3359506" y="5157216"/>
            <a:ext cx="1318565" cy="740664"/>
          </a:xfrm>
          <a:prstGeom prst="rect">
            <a:avLst/>
          </a:prstGeom>
          <a:solidFill>
            <a:srgbClr val="FFF4E2"/>
          </a:solidFill>
          <a:ln w="5715">
            <a:solidFill>
              <a:srgbClr val="D8E0EA"/>
            </a:solidFill>
            <a:prstDash val="solid"/>
          </a:ln>
        </p:spPr>
      </p:sp>
      <p:sp>
        <p:nvSpPr>
          <p:cNvPr id="60" name="Text 58"/>
          <p:cNvSpPr/>
          <p:nvPr/>
        </p:nvSpPr>
        <p:spPr>
          <a:xfrm>
            <a:off x="3377794" y="5184648"/>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71k</a:t>
            </a:r>
            <a:endParaRPr lang="en-US" sz="780" dirty="0"/>
          </a:p>
        </p:txBody>
      </p:sp>
      <p:sp>
        <p:nvSpPr>
          <p:cNvPr id="61" name="Shape 59"/>
          <p:cNvSpPr/>
          <p:nvPr/>
        </p:nvSpPr>
        <p:spPr>
          <a:xfrm>
            <a:off x="4678070" y="5157216"/>
            <a:ext cx="1318565" cy="740664"/>
          </a:xfrm>
          <a:prstGeom prst="rect">
            <a:avLst/>
          </a:prstGeom>
          <a:solidFill>
            <a:srgbClr val="FFFFFF"/>
          </a:solidFill>
          <a:ln w="5715">
            <a:solidFill>
              <a:srgbClr val="D8E0EA"/>
            </a:solidFill>
            <a:prstDash val="solid"/>
          </a:ln>
        </p:spPr>
      </p:sp>
      <p:sp>
        <p:nvSpPr>
          <p:cNvPr id="62" name="Text 60"/>
          <p:cNvSpPr/>
          <p:nvPr/>
        </p:nvSpPr>
        <p:spPr>
          <a:xfrm>
            <a:off x="4696358" y="5184648"/>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4.35%</a:t>
            </a:r>
            <a:endParaRPr lang="en-US" sz="780" dirty="0"/>
          </a:p>
        </p:txBody>
      </p:sp>
      <p:sp>
        <p:nvSpPr>
          <p:cNvPr id="63" name="Shape 61"/>
          <p:cNvSpPr/>
          <p:nvPr/>
        </p:nvSpPr>
        <p:spPr>
          <a:xfrm>
            <a:off x="5996635" y="5157216"/>
            <a:ext cx="1318565" cy="740664"/>
          </a:xfrm>
          <a:prstGeom prst="rect">
            <a:avLst/>
          </a:prstGeom>
          <a:solidFill>
            <a:srgbClr val="FFFFFF"/>
          </a:solidFill>
          <a:ln w="5715">
            <a:solidFill>
              <a:srgbClr val="D8E0EA"/>
            </a:solidFill>
            <a:prstDash val="solid"/>
          </a:ln>
        </p:spPr>
      </p:sp>
      <p:sp>
        <p:nvSpPr>
          <p:cNvPr id="64" name="Text 62"/>
          <p:cNvSpPr/>
          <p:nvPr/>
        </p:nvSpPr>
        <p:spPr>
          <a:xfrm>
            <a:off x="6014923" y="5184648"/>
            <a:ext cx="1281989" cy="704088"/>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65" name="Shape 63"/>
          <p:cNvSpPr/>
          <p:nvPr/>
        </p:nvSpPr>
        <p:spPr>
          <a:xfrm>
            <a:off x="7662672" y="1536192"/>
            <a:ext cx="3520440" cy="960120"/>
          </a:xfrm>
          <a:prstGeom prst="roundRect">
            <a:avLst>
              <a:gd name="adj" fmla="val 7619"/>
            </a:avLst>
          </a:prstGeom>
          <a:solidFill>
            <a:srgbClr val="FDECEC"/>
          </a:solidFill>
          <a:ln w="10160">
            <a:solidFill>
              <a:srgbClr val="E9EEF5"/>
            </a:solidFill>
            <a:prstDash val="solid"/>
          </a:ln>
        </p:spPr>
      </p:sp>
      <p:sp>
        <p:nvSpPr>
          <p:cNvPr id="66" name="Text 64"/>
          <p:cNvSpPr/>
          <p:nvPr/>
        </p:nvSpPr>
        <p:spPr>
          <a:xfrm>
            <a:off x="7827264" y="1673352"/>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Symptoms</a:t>
            </a:r>
            <a:endParaRPr lang="en-US" sz="1500" dirty="0"/>
          </a:p>
        </p:txBody>
      </p:sp>
      <p:sp>
        <p:nvSpPr>
          <p:cNvPr id="67" name="Text 65"/>
          <p:cNvSpPr/>
          <p:nvPr/>
        </p:nvSpPr>
        <p:spPr>
          <a:xfrm>
            <a:off x="7827264" y="2011680"/>
            <a:ext cx="319125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Sort order looks wrong · SUM ignores values · dates do not group.</a:t>
            </a:r>
            <a:endParaRPr lang="en-US" sz="1150" dirty="0"/>
          </a:p>
        </p:txBody>
      </p:sp>
      <p:sp>
        <p:nvSpPr>
          <p:cNvPr id="68" name="Shape 66"/>
          <p:cNvSpPr/>
          <p:nvPr/>
        </p:nvSpPr>
        <p:spPr>
          <a:xfrm>
            <a:off x="7662672" y="2670048"/>
            <a:ext cx="3520440" cy="960120"/>
          </a:xfrm>
          <a:prstGeom prst="roundRect">
            <a:avLst>
              <a:gd name="adj" fmla="val 7619"/>
            </a:avLst>
          </a:prstGeom>
          <a:solidFill>
            <a:srgbClr val="EAF1FF"/>
          </a:solidFill>
          <a:ln w="10160">
            <a:solidFill>
              <a:srgbClr val="E9EEF5"/>
            </a:solidFill>
            <a:prstDash val="solid"/>
          </a:ln>
        </p:spPr>
      </p:sp>
      <p:sp>
        <p:nvSpPr>
          <p:cNvPr id="69" name="Text 67"/>
          <p:cNvSpPr/>
          <p:nvPr/>
        </p:nvSpPr>
        <p:spPr>
          <a:xfrm>
            <a:off x="7827264" y="2807208"/>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Checks</a:t>
            </a:r>
            <a:endParaRPr lang="en-US" sz="1500" dirty="0"/>
          </a:p>
        </p:txBody>
      </p:sp>
      <p:sp>
        <p:nvSpPr>
          <p:cNvPr id="70" name="Text 68"/>
          <p:cNvSpPr/>
          <p:nvPr/>
        </p:nvSpPr>
        <p:spPr>
          <a:xfrm>
            <a:off x="7827264" y="3145536"/>
            <a:ext cx="319125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ISTEXT · ISNUMBER · DATEVALUE · VALUE · NUMBERVALUE.</a:t>
            </a:r>
            <a:endParaRPr lang="en-US" sz="1150" dirty="0"/>
          </a:p>
        </p:txBody>
      </p:sp>
      <p:sp>
        <p:nvSpPr>
          <p:cNvPr id="71" name="Shape 69"/>
          <p:cNvSpPr/>
          <p:nvPr/>
        </p:nvSpPr>
        <p:spPr>
          <a:xfrm>
            <a:off x="7662672" y="3803904"/>
            <a:ext cx="3520440" cy="960120"/>
          </a:xfrm>
          <a:prstGeom prst="roundRect">
            <a:avLst>
              <a:gd name="adj" fmla="val 7619"/>
            </a:avLst>
          </a:prstGeom>
          <a:solidFill>
            <a:srgbClr val="EAF7EF"/>
          </a:solidFill>
          <a:ln w="10160">
            <a:solidFill>
              <a:srgbClr val="E9EEF5"/>
            </a:solidFill>
            <a:prstDash val="solid"/>
          </a:ln>
        </p:spPr>
      </p:sp>
      <p:sp>
        <p:nvSpPr>
          <p:cNvPr id="72" name="Text 70"/>
          <p:cNvSpPr/>
          <p:nvPr/>
        </p:nvSpPr>
        <p:spPr>
          <a:xfrm>
            <a:off x="7827264" y="3941064"/>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Prevention</a:t>
            </a:r>
            <a:endParaRPr lang="en-US" sz="1500" dirty="0"/>
          </a:p>
        </p:txBody>
      </p:sp>
      <p:sp>
        <p:nvSpPr>
          <p:cNvPr id="73" name="Text 71"/>
          <p:cNvSpPr/>
          <p:nvPr/>
        </p:nvSpPr>
        <p:spPr>
          <a:xfrm>
            <a:off x="7827264" y="4279392"/>
            <a:ext cx="319125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Define schema, use Tables, validation, Power Query types and controlled imports.</a:t>
            </a:r>
            <a:endParaRPr lang="en-US" sz="1150" dirty="0"/>
          </a:p>
        </p:txBody>
      </p:sp>
      <p:sp>
        <p:nvSpPr>
          <p:cNvPr id="74" name="Shape 72"/>
          <p:cNvSpPr/>
          <p:nvPr/>
        </p:nvSpPr>
        <p:spPr>
          <a:xfrm>
            <a:off x="7598664" y="5157216"/>
            <a:ext cx="3657600" cy="420624"/>
          </a:xfrm>
          <a:prstGeom prst="roundRect">
            <a:avLst>
              <a:gd name="adj" fmla="val 10870"/>
            </a:avLst>
          </a:prstGeom>
          <a:solidFill>
            <a:srgbClr val="F8FBF9"/>
          </a:solidFill>
          <a:ln w="12700">
            <a:solidFill>
              <a:srgbClr val="217346"/>
            </a:solidFill>
            <a:prstDash val="solid"/>
          </a:ln>
        </p:spPr>
      </p:sp>
      <p:sp>
        <p:nvSpPr>
          <p:cNvPr id="75" name="Text 73"/>
          <p:cNvSpPr/>
          <p:nvPr/>
        </p:nvSpPr>
        <p:spPr>
          <a:xfrm>
            <a:off x="7708392" y="5239512"/>
            <a:ext cx="3438144" cy="219456"/>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132238"/>
                </a:solidFill>
                <a:latin typeface="Aptos Mono" pitchFamily="34" charset="0"/>
                <a:ea typeface="Aptos Mono" pitchFamily="34" charset="-122"/>
                <a:cs typeface="Aptos Mono" pitchFamily="34" charset="-120"/>
              </a:rPr>
              <a:t>=ISNUMBER(C2)     =ISTEXT(C2)     =DATEVALUE(B2)     =NUMBERVALUE(C2)</a:t>
            </a:r>
            <a:endParaRPr lang="en-US" sz="1050" dirty="0"/>
          </a:p>
        </p:txBody>
      </p:sp>
      <p:sp>
        <p:nvSpPr>
          <p:cNvPr id="7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Exploratory Data Analysis (EDA): learn the data before modelling it</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EDA is a disciplined conversation with the dataset: structure → distributions → relationships → problems → hypotheses.</a:t>
            </a:r>
            <a:endParaRPr lang="en-US" sz="1300" dirty="0"/>
          </a:p>
        </p:txBody>
      </p:sp>
      <p:sp>
        <p:nvSpPr>
          <p:cNvPr id="7" name="Shape 5"/>
          <p:cNvSpPr/>
          <p:nvPr/>
        </p:nvSpPr>
        <p:spPr>
          <a:xfrm>
            <a:off x="960120" y="2057400"/>
            <a:ext cx="1938528" cy="1234440"/>
          </a:xfrm>
          <a:prstGeom prst="roundRect">
            <a:avLst>
              <a:gd name="adj" fmla="val 5926"/>
            </a:avLst>
          </a:prstGeom>
          <a:solidFill>
            <a:srgbClr val="2F6BFF">
              <a:alpha val="95000"/>
            </a:srgbClr>
          </a:solidFill>
          <a:ln w="12700">
            <a:solidFill>
              <a:srgbClr val="2F6BFF"/>
            </a:solidFill>
            <a:prstDash val="solid"/>
          </a:ln>
        </p:spPr>
      </p:sp>
      <p:sp>
        <p:nvSpPr>
          <p:cNvPr id="8" name="Text 6"/>
          <p:cNvSpPr/>
          <p:nvPr/>
        </p:nvSpPr>
        <p:spPr>
          <a:xfrm>
            <a:off x="1078992" y="2304288"/>
            <a:ext cx="1700784" cy="25603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STRUCTURE</a:t>
            </a:r>
            <a:endParaRPr lang="en-US" sz="1250" dirty="0"/>
          </a:p>
        </p:txBody>
      </p:sp>
      <p:sp>
        <p:nvSpPr>
          <p:cNvPr id="9" name="Text 7"/>
          <p:cNvSpPr/>
          <p:nvPr/>
        </p:nvSpPr>
        <p:spPr>
          <a:xfrm>
            <a:off x="1078992" y="2688336"/>
            <a:ext cx="1700784" cy="384048"/>
          </a:xfrm>
          <a:prstGeom prst="rect">
            <a:avLst/>
          </a:prstGeom>
          <a:noFill/>
          <a:ln/>
        </p:spPr>
        <p:txBody>
          <a:bodyPr wrap="square" lIns="0" tIns="0" rIns="0" bIns="0" rtlCol="0" anchor="ctr">
            <a:normAutofit/>
          </a:bodyPr>
          <a:lstStyle/>
          <a:p>
            <a:pPr marL="0" indent="0" algn="ctr">
              <a:buNone/>
            </a:pPr>
            <a:r>
              <a:rPr lang="en-US" sz="970" dirty="0">
                <a:solidFill>
                  <a:srgbClr val="FFFFFF"/>
                </a:solidFill>
              </a:rPr>
              <a:t>rows · columns · types · grain</a:t>
            </a:r>
            <a:endParaRPr lang="en-US" sz="970" dirty="0"/>
          </a:p>
        </p:txBody>
      </p:sp>
      <p:sp>
        <p:nvSpPr>
          <p:cNvPr id="10" name="Shape 8"/>
          <p:cNvSpPr/>
          <p:nvPr/>
        </p:nvSpPr>
        <p:spPr>
          <a:xfrm>
            <a:off x="3172968" y="2057400"/>
            <a:ext cx="1938528" cy="1234440"/>
          </a:xfrm>
          <a:prstGeom prst="roundRect">
            <a:avLst>
              <a:gd name="adj" fmla="val 5926"/>
            </a:avLst>
          </a:prstGeom>
          <a:solidFill>
            <a:srgbClr val="009E9A">
              <a:alpha val="95000"/>
            </a:srgbClr>
          </a:solidFill>
          <a:ln w="12700">
            <a:solidFill>
              <a:srgbClr val="009E9A"/>
            </a:solidFill>
            <a:prstDash val="solid"/>
          </a:ln>
        </p:spPr>
      </p:sp>
      <p:sp>
        <p:nvSpPr>
          <p:cNvPr id="11" name="Text 9"/>
          <p:cNvSpPr/>
          <p:nvPr/>
        </p:nvSpPr>
        <p:spPr>
          <a:xfrm>
            <a:off x="3291840" y="2304288"/>
            <a:ext cx="1700784" cy="25603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DISTRIBUTIONS</a:t>
            </a:r>
            <a:endParaRPr lang="en-US" sz="1250" dirty="0"/>
          </a:p>
        </p:txBody>
      </p:sp>
      <p:sp>
        <p:nvSpPr>
          <p:cNvPr id="12" name="Text 10"/>
          <p:cNvSpPr/>
          <p:nvPr/>
        </p:nvSpPr>
        <p:spPr>
          <a:xfrm>
            <a:off x="3291840" y="2688336"/>
            <a:ext cx="1700784" cy="384048"/>
          </a:xfrm>
          <a:prstGeom prst="rect">
            <a:avLst/>
          </a:prstGeom>
          <a:noFill/>
          <a:ln/>
        </p:spPr>
        <p:txBody>
          <a:bodyPr wrap="square" lIns="0" tIns="0" rIns="0" bIns="0" rtlCol="0" anchor="ctr">
            <a:normAutofit/>
          </a:bodyPr>
          <a:lstStyle/>
          <a:p>
            <a:pPr marL="0" indent="0" algn="ctr">
              <a:buNone/>
            </a:pPr>
            <a:r>
              <a:rPr lang="en-US" sz="970" dirty="0">
                <a:solidFill>
                  <a:srgbClr val="FFFFFF"/>
                </a:solidFill>
              </a:rPr>
              <a:t>centre · spread · shape</a:t>
            </a:r>
            <a:endParaRPr lang="en-US" sz="970" dirty="0"/>
          </a:p>
        </p:txBody>
      </p:sp>
      <p:sp>
        <p:nvSpPr>
          <p:cNvPr id="13" name="Shape 11"/>
          <p:cNvSpPr/>
          <p:nvPr/>
        </p:nvSpPr>
        <p:spPr>
          <a:xfrm>
            <a:off x="5385816" y="2057400"/>
            <a:ext cx="1938528" cy="1234440"/>
          </a:xfrm>
          <a:prstGeom prst="roundRect">
            <a:avLst>
              <a:gd name="adj" fmla="val 5926"/>
            </a:avLst>
          </a:prstGeom>
          <a:solidFill>
            <a:srgbClr val="7A5AF8">
              <a:alpha val="95000"/>
            </a:srgbClr>
          </a:solidFill>
          <a:ln w="12700">
            <a:solidFill>
              <a:srgbClr val="7A5AF8"/>
            </a:solidFill>
            <a:prstDash val="solid"/>
          </a:ln>
        </p:spPr>
      </p:sp>
      <p:sp>
        <p:nvSpPr>
          <p:cNvPr id="14" name="Text 12"/>
          <p:cNvSpPr/>
          <p:nvPr/>
        </p:nvSpPr>
        <p:spPr>
          <a:xfrm>
            <a:off x="5504688" y="2304288"/>
            <a:ext cx="1700784" cy="25603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RELATIONSHIPS</a:t>
            </a:r>
            <a:endParaRPr lang="en-US" sz="1250" dirty="0"/>
          </a:p>
        </p:txBody>
      </p:sp>
      <p:sp>
        <p:nvSpPr>
          <p:cNvPr id="15" name="Text 13"/>
          <p:cNvSpPr/>
          <p:nvPr/>
        </p:nvSpPr>
        <p:spPr>
          <a:xfrm>
            <a:off x="5504688" y="2688336"/>
            <a:ext cx="1700784" cy="384048"/>
          </a:xfrm>
          <a:prstGeom prst="rect">
            <a:avLst/>
          </a:prstGeom>
          <a:noFill/>
          <a:ln/>
        </p:spPr>
        <p:txBody>
          <a:bodyPr wrap="square" lIns="0" tIns="0" rIns="0" bIns="0" rtlCol="0" anchor="ctr">
            <a:normAutofit/>
          </a:bodyPr>
          <a:lstStyle/>
          <a:p>
            <a:pPr marL="0" indent="0" algn="ctr">
              <a:buNone/>
            </a:pPr>
            <a:r>
              <a:rPr lang="en-US" sz="970" dirty="0">
                <a:solidFill>
                  <a:srgbClr val="FFFFFF"/>
                </a:solidFill>
              </a:rPr>
              <a:t>correlation · groups · trends</a:t>
            </a:r>
            <a:endParaRPr lang="en-US" sz="970" dirty="0"/>
          </a:p>
        </p:txBody>
      </p:sp>
      <p:sp>
        <p:nvSpPr>
          <p:cNvPr id="16" name="Shape 14"/>
          <p:cNvSpPr/>
          <p:nvPr/>
        </p:nvSpPr>
        <p:spPr>
          <a:xfrm>
            <a:off x="7598664" y="2057400"/>
            <a:ext cx="1938528" cy="1234440"/>
          </a:xfrm>
          <a:prstGeom prst="roundRect">
            <a:avLst>
              <a:gd name="adj" fmla="val 5926"/>
            </a:avLst>
          </a:prstGeom>
          <a:solidFill>
            <a:srgbClr val="F59E0B">
              <a:alpha val="95000"/>
            </a:srgbClr>
          </a:solidFill>
          <a:ln w="12700">
            <a:solidFill>
              <a:srgbClr val="F59E0B"/>
            </a:solidFill>
            <a:prstDash val="solid"/>
          </a:ln>
        </p:spPr>
      </p:sp>
      <p:sp>
        <p:nvSpPr>
          <p:cNvPr id="17" name="Text 15"/>
          <p:cNvSpPr/>
          <p:nvPr/>
        </p:nvSpPr>
        <p:spPr>
          <a:xfrm>
            <a:off x="7717536" y="2304288"/>
            <a:ext cx="1700784" cy="25603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DATA ISSUES</a:t>
            </a:r>
            <a:endParaRPr lang="en-US" sz="1250" dirty="0"/>
          </a:p>
        </p:txBody>
      </p:sp>
      <p:sp>
        <p:nvSpPr>
          <p:cNvPr id="18" name="Text 16"/>
          <p:cNvSpPr/>
          <p:nvPr/>
        </p:nvSpPr>
        <p:spPr>
          <a:xfrm>
            <a:off x="7717536" y="2688336"/>
            <a:ext cx="1700784" cy="384048"/>
          </a:xfrm>
          <a:prstGeom prst="rect">
            <a:avLst/>
          </a:prstGeom>
          <a:noFill/>
          <a:ln/>
        </p:spPr>
        <p:txBody>
          <a:bodyPr wrap="square" lIns="0" tIns="0" rIns="0" bIns="0" rtlCol="0" anchor="ctr">
            <a:normAutofit/>
          </a:bodyPr>
          <a:lstStyle/>
          <a:p>
            <a:pPr marL="0" indent="0" algn="ctr">
              <a:buNone/>
            </a:pPr>
            <a:r>
              <a:rPr lang="en-US" sz="970" dirty="0">
                <a:solidFill>
                  <a:srgbClr val="FFFFFF"/>
                </a:solidFill>
              </a:rPr>
              <a:t>missing · outliers · inconsistencies</a:t>
            </a:r>
            <a:endParaRPr lang="en-US" sz="970" dirty="0"/>
          </a:p>
        </p:txBody>
      </p:sp>
      <p:sp>
        <p:nvSpPr>
          <p:cNvPr id="19" name="Shape 17"/>
          <p:cNvSpPr/>
          <p:nvPr/>
        </p:nvSpPr>
        <p:spPr>
          <a:xfrm>
            <a:off x="9811512" y="2057400"/>
            <a:ext cx="1938528" cy="1234440"/>
          </a:xfrm>
          <a:prstGeom prst="roundRect">
            <a:avLst>
              <a:gd name="adj" fmla="val 5926"/>
            </a:avLst>
          </a:prstGeom>
          <a:solidFill>
            <a:srgbClr val="2DAA74">
              <a:alpha val="95000"/>
            </a:srgbClr>
          </a:solidFill>
          <a:ln w="12700">
            <a:solidFill>
              <a:srgbClr val="2DAA74"/>
            </a:solidFill>
            <a:prstDash val="solid"/>
          </a:ln>
        </p:spPr>
      </p:sp>
      <p:sp>
        <p:nvSpPr>
          <p:cNvPr id="20" name="Text 18"/>
          <p:cNvSpPr/>
          <p:nvPr/>
        </p:nvSpPr>
        <p:spPr>
          <a:xfrm>
            <a:off x="9930384" y="2304288"/>
            <a:ext cx="1700784" cy="25603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PATTERNS</a:t>
            </a:r>
            <a:endParaRPr lang="en-US" sz="1250" dirty="0"/>
          </a:p>
        </p:txBody>
      </p:sp>
      <p:sp>
        <p:nvSpPr>
          <p:cNvPr id="21" name="Text 19"/>
          <p:cNvSpPr/>
          <p:nvPr/>
        </p:nvSpPr>
        <p:spPr>
          <a:xfrm>
            <a:off x="9930384" y="2688336"/>
            <a:ext cx="1700784" cy="384048"/>
          </a:xfrm>
          <a:prstGeom prst="rect">
            <a:avLst/>
          </a:prstGeom>
          <a:noFill/>
          <a:ln/>
        </p:spPr>
        <p:txBody>
          <a:bodyPr wrap="square" lIns="0" tIns="0" rIns="0" bIns="0" rtlCol="0" anchor="ctr">
            <a:normAutofit/>
          </a:bodyPr>
          <a:lstStyle/>
          <a:p>
            <a:pPr marL="0" indent="0" algn="ctr">
              <a:buNone/>
            </a:pPr>
            <a:r>
              <a:rPr lang="en-US" sz="970" dirty="0">
                <a:solidFill>
                  <a:srgbClr val="FFFFFF"/>
                </a:solidFill>
              </a:rPr>
              <a:t>segments · seasonality · anomalies</a:t>
            </a:r>
            <a:endParaRPr lang="en-US" sz="970" dirty="0"/>
          </a:p>
        </p:txBody>
      </p:sp>
      <p:sp>
        <p:nvSpPr>
          <p:cNvPr id="22" name="Shape 20"/>
          <p:cNvSpPr/>
          <p:nvPr/>
        </p:nvSpPr>
        <p:spPr>
          <a:xfrm>
            <a:off x="1143000" y="4041648"/>
            <a:ext cx="9875520" cy="1143000"/>
          </a:xfrm>
          <a:prstGeom prst="roundRect">
            <a:avLst>
              <a:gd name="adj" fmla="val 6400"/>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3" name="Text 21"/>
          <p:cNvSpPr/>
          <p:nvPr/>
        </p:nvSpPr>
        <p:spPr>
          <a:xfrm>
            <a:off x="1307592" y="4178808"/>
            <a:ext cx="95463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EDA output is not just charts</a:t>
            </a:r>
            <a:endParaRPr lang="en-US" sz="1500" dirty="0"/>
          </a:p>
        </p:txBody>
      </p:sp>
      <p:sp>
        <p:nvSpPr>
          <p:cNvPr id="24" name="Text 22"/>
          <p:cNvSpPr/>
          <p:nvPr/>
        </p:nvSpPr>
        <p:spPr>
          <a:xfrm>
            <a:off x="1307592" y="4517136"/>
            <a:ext cx="954633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It is a set of findings: what the data represents, what looks suspicious, what relationships exist, and what should be investigated next.</a:t>
            </a:r>
            <a:endParaRPr lang="en-US" sz="1150" dirty="0"/>
          </a:p>
        </p:txBody>
      </p:sp>
      <p:sp>
        <p:nvSpPr>
          <p:cNvPr id="25" name="Shape 23"/>
          <p:cNvSpPr/>
          <p:nvPr/>
        </p:nvSpPr>
        <p:spPr>
          <a:xfrm>
            <a:off x="2788920" y="5559552"/>
            <a:ext cx="6629400" cy="420624"/>
          </a:xfrm>
          <a:prstGeom prst="roundRect">
            <a:avLst>
              <a:gd name="adj" fmla="val 10870"/>
            </a:avLst>
          </a:prstGeom>
          <a:solidFill>
            <a:srgbClr val="F8FBF9"/>
          </a:solidFill>
          <a:ln w="12700">
            <a:solidFill>
              <a:srgbClr val="009E9A"/>
            </a:solidFill>
            <a:prstDash val="solid"/>
          </a:ln>
        </p:spPr>
      </p:sp>
      <p:sp>
        <p:nvSpPr>
          <p:cNvPr id="26" name="Text 24"/>
          <p:cNvSpPr/>
          <p:nvPr/>
        </p:nvSpPr>
        <p:spPr>
          <a:xfrm>
            <a:off x="2898648" y="5641848"/>
            <a:ext cx="640994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EDA = ask → inspect → visualise → quantify → question → repeat</a:t>
            </a:r>
            <a:endParaRPr lang="en-US" sz="1050" dirty="0"/>
          </a:p>
        </p:txBody>
      </p:sp>
      <p:sp>
        <p:nvSpPr>
          <p:cNvPr id="27"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756909"/>
            <a:ext cx="9071640" cy="328824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9" name="Rettangolo 8"/>
          <p:cNvSpPr/>
          <p:nvPr/>
        </p:nvSpPr>
        <p:spPr>
          <a:xfrm>
            <a:off x="0" y="0"/>
            <a:ext cx="12192120" cy="6858000"/>
          </a:xfrm>
          <a:prstGeom prst="rect">
            <a:avLst/>
          </a:prstGeom>
          <a:solidFill>
            <a:srgbClr val="F5F7FA"/>
          </a:solidFill>
          <a:ln w="9000">
            <a:solidFill>
              <a:srgbClr val="F5F7FA"/>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 name="CasellaDiTesto 10"/>
          <p:cNvSpPr txBox="1"/>
          <p:nvPr/>
        </p:nvSpPr>
        <p:spPr>
          <a:xfrm>
            <a:off x="323259" y="706888"/>
            <a:ext cx="11544000" cy="460211"/>
          </a:xfrm>
          <a:prstGeom prst="rect">
            <a:avLst/>
          </a:prstGeom>
          <a:noFill/>
          <a:ln w="0">
            <a:noFill/>
          </a:ln>
        </p:spPr>
        <p:txBody>
          <a:bodyPr wrap="square" lIns="90000" tIns="45000" rIns="90000" bIns="45000" anchor="ctr">
            <a:spAutoFit/>
          </a:bodyPr>
          <a:lstStyle/>
          <a:p>
            <a:r>
              <a:rPr lang="en-US" sz="2400" b="1" u="none" strike="noStrike" dirty="0">
                <a:solidFill>
                  <a:srgbClr val="162841"/>
                </a:solidFill>
                <a:effectLst/>
                <a:uFillTx/>
                <a:latin typeface="Arial"/>
              </a:rPr>
              <a:t>EDA in practice: one graphical example for each of the five lenses</a:t>
            </a:r>
            <a:endParaRPr lang="en-US" sz="2400" b="0" u="none" strike="noStrike" dirty="0">
              <a:solidFill>
                <a:srgbClr val="000000"/>
              </a:solidFill>
              <a:effectLst/>
              <a:uFillTx/>
              <a:latin typeface="Arial"/>
            </a:endParaRPr>
          </a:p>
        </p:txBody>
      </p:sp>
      <p:sp>
        <p:nvSpPr>
          <p:cNvPr id="12" name="CasellaDiTesto 11"/>
          <p:cNvSpPr txBox="1"/>
          <p:nvPr/>
        </p:nvSpPr>
        <p:spPr>
          <a:xfrm>
            <a:off x="324000" y="1258309"/>
            <a:ext cx="10800000" cy="513720"/>
          </a:xfrm>
          <a:prstGeom prst="rect">
            <a:avLst/>
          </a:prstGeom>
          <a:noFill/>
          <a:ln w="0">
            <a:noFill/>
          </a:ln>
        </p:spPr>
        <p:txBody>
          <a:bodyPr lIns="90000" tIns="45000" rIns="90000" bIns="45000" anchor="ctr">
            <a:spAutoFit/>
          </a:bodyPr>
          <a:lstStyle/>
          <a:p>
            <a:r>
              <a:rPr lang="en-US" sz="1500" b="0" u="none" strike="noStrike">
                <a:solidFill>
                  <a:srgbClr val="606C80"/>
                </a:solidFill>
                <a:effectLst/>
                <a:uFillTx/>
                <a:latin typeface="Arial"/>
              </a:rPr>
              <a:t>Each lens asks a different question: how the table is organised, how values are distributed, how variables move together, where the problems are, and what broader regularities emerge.</a:t>
            </a:r>
            <a:endParaRPr lang="en-US" sz="1500" b="0" u="none" strike="noStrike">
              <a:solidFill>
                <a:srgbClr val="000000"/>
              </a:solidFill>
              <a:effectLst/>
              <a:uFillTx/>
              <a:latin typeface="Arial"/>
            </a:endParaRPr>
          </a:p>
        </p:txBody>
      </p:sp>
      <p:sp>
        <p:nvSpPr>
          <p:cNvPr id="13" name="Rettangolo 12"/>
          <p:cNvSpPr/>
          <p:nvPr/>
        </p:nvSpPr>
        <p:spPr>
          <a:xfrm>
            <a:off x="396000" y="1870309"/>
            <a:ext cx="2142000" cy="3780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4" name="Rettangolo 13"/>
          <p:cNvSpPr/>
          <p:nvPr/>
        </p:nvSpPr>
        <p:spPr>
          <a:xfrm>
            <a:off x="486000" y="1978309"/>
            <a:ext cx="1962000" cy="432000"/>
          </a:xfrm>
          <a:prstGeom prst="rect">
            <a:avLst/>
          </a:prstGeom>
          <a:solidFill>
            <a:srgbClr val="4270EF"/>
          </a:solidFill>
          <a:ln w="9000">
            <a:solidFill>
              <a:srgbClr val="4270EF"/>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15" name="CasellaDiTesto 14"/>
          <p:cNvSpPr txBox="1"/>
          <p:nvPr/>
        </p:nvSpPr>
        <p:spPr>
          <a:xfrm>
            <a:off x="522000" y="2071909"/>
            <a:ext cx="1890000" cy="373680"/>
          </a:xfrm>
          <a:prstGeom prst="rect">
            <a:avLst/>
          </a:prstGeom>
          <a:noFill/>
          <a:ln w="0">
            <a:noFill/>
          </a:ln>
        </p:spPr>
        <p:txBody>
          <a:bodyPr lIns="90000" tIns="45000" rIns="90000" bIns="45000" anchor="ctr" anchorCtr="1">
            <a:spAutoFit/>
          </a:bodyPr>
          <a:lstStyle/>
          <a:p>
            <a:pPr algn="ctr"/>
            <a:r>
              <a:rPr lang="en-US" sz="2000" b="1" u="none" strike="noStrike">
                <a:solidFill>
                  <a:srgbClr val="FFFFFF"/>
                </a:solidFill>
                <a:effectLst/>
                <a:uFillTx/>
                <a:latin typeface="Arial"/>
              </a:rPr>
              <a:t>STRUCTURE</a:t>
            </a:r>
            <a:endParaRPr lang="en-US" sz="2000" b="0" u="none" strike="noStrike">
              <a:solidFill>
                <a:srgbClr val="000000"/>
              </a:solidFill>
              <a:effectLst/>
              <a:uFillTx/>
              <a:latin typeface="Arial"/>
            </a:endParaRPr>
          </a:p>
        </p:txBody>
      </p:sp>
      <p:sp>
        <p:nvSpPr>
          <p:cNvPr id="16" name="CasellaDiTesto 15"/>
          <p:cNvSpPr txBox="1"/>
          <p:nvPr/>
        </p:nvSpPr>
        <p:spPr>
          <a:xfrm>
            <a:off x="522000" y="2518309"/>
            <a:ext cx="1890000" cy="459000"/>
          </a:xfrm>
          <a:prstGeom prst="rect">
            <a:avLst/>
          </a:prstGeom>
          <a:noFill/>
          <a:ln w="0">
            <a:noFill/>
          </a:ln>
        </p:spPr>
        <p:txBody>
          <a:bodyPr lIns="90000" tIns="45000" rIns="90000" bIns="45000" anchor="ctr" anchorCtr="1">
            <a:spAutoFit/>
          </a:bodyPr>
          <a:lstStyle/>
          <a:p>
            <a:pPr algn="ctr"/>
            <a:r>
              <a:rPr lang="en-US" sz="1300" b="0" u="none" strike="noStrike">
                <a:solidFill>
                  <a:srgbClr val="7D8796"/>
                </a:solidFill>
                <a:effectLst/>
                <a:uFillTx/>
                <a:latin typeface="Arial"/>
              </a:rPr>
              <a:t>A table with fields and records</a:t>
            </a:r>
            <a:endParaRPr lang="en-US" sz="1300" b="0" u="none" strike="noStrike">
              <a:solidFill>
                <a:srgbClr val="000000"/>
              </a:solidFill>
              <a:effectLst/>
              <a:uFillTx/>
              <a:latin typeface="Arial"/>
            </a:endParaRPr>
          </a:p>
        </p:txBody>
      </p:sp>
      <p:sp>
        <p:nvSpPr>
          <p:cNvPr id="17" name="Rettangolo 16"/>
          <p:cNvSpPr/>
          <p:nvPr/>
        </p:nvSpPr>
        <p:spPr>
          <a:xfrm>
            <a:off x="2674800" y="1870309"/>
            <a:ext cx="2142000" cy="3780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8" name="Rettangolo 17"/>
          <p:cNvSpPr/>
          <p:nvPr/>
        </p:nvSpPr>
        <p:spPr>
          <a:xfrm>
            <a:off x="2764800" y="1978309"/>
            <a:ext cx="1962000" cy="432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19" name="CasellaDiTesto 18"/>
          <p:cNvSpPr txBox="1"/>
          <p:nvPr/>
        </p:nvSpPr>
        <p:spPr>
          <a:xfrm>
            <a:off x="2800800" y="2071909"/>
            <a:ext cx="1890000" cy="657000"/>
          </a:xfrm>
          <a:prstGeom prst="rect">
            <a:avLst/>
          </a:prstGeom>
          <a:noFill/>
          <a:ln w="0">
            <a:noFill/>
          </a:ln>
        </p:spPr>
        <p:txBody>
          <a:bodyPr lIns="90000" tIns="45000" rIns="90000" bIns="45000" anchor="ctr" anchorCtr="1">
            <a:spAutoFit/>
          </a:bodyPr>
          <a:lstStyle/>
          <a:p>
            <a:pPr algn="ctr"/>
            <a:r>
              <a:rPr lang="en-US" sz="2000" b="1" u="none" strike="noStrike">
                <a:solidFill>
                  <a:srgbClr val="FFFFFF"/>
                </a:solidFill>
                <a:effectLst/>
                <a:uFillTx/>
                <a:latin typeface="Arial"/>
              </a:rPr>
              <a:t>DISTRIBUTIONS</a:t>
            </a:r>
            <a:endParaRPr lang="en-US" sz="2000" b="0" u="none" strike="noStrike">
              <a:solidFill>
                <a:srgbClr val="000000"/>
              </a:solidFill>
              <a:effectLst/>
              <a:uFillTx/>
              <a:latin typeface="Arial"/>
            </a:endParaRPr>
          </a:p>
        </p:txBody>
      </p:sp>
      <p:sp>
        <p:nvSpPr>
          <p:cNvPr id="20" name="CasellaDiTesto 19"/>
          <p:cNvSpPr txBox="1"/>
          <p:nvPr/>
        </p:nvSpPr>
        <p:spPr>
          <a:xfrm>
            <a:off x="2800800" y="2518309"/>
            <a:ext cx="1890000" cy="459000"/>
          </a:xfrm>
          <a:prstGeom prst="rect">
            <a:avLst/>
          </a:prstGeom>
          <a:noFill/>
          <a:ln w="0">
            <a:noFill/>
          </a:ln>
        </p:spPr>
        <p:txBody>
          <a:bodyPr lIns="90000" tIns="45000" rIns="90000" bIns="45000" anchor="ctr" anchorCtr="1">
            <a:spAutoFit/>
          </a:bodyPr>
          <a:lstStyle/>
          <a:p>
            <a:pPr algn="ctr"/>
            <a:r>
              <a:rPr lang="en-US" sz="1300" b="0" u="none" strike="noStrike">
                <a:solidFill>
                  <a:srgbClr val="7D8796"/>
                </a:solidFill>
                <a:effectLst/>
                <a:uFillTx/>
                <a:latin typeface="Arial"/>
              </a:rPr>
              <a:t>Histogram of a numeric variable</a:t>
            </a:r>
            <a:endParaRPr lang="en-US" sz="1300" b="0" u="none" strike="noStrike">
              <a:solidFill>
                <a:srgbClr val="000000"/>
              </a:solidFill>
              <a:effectLst/>
              <a:uFillTx/>
              <a:latin typeface="Arial"/>
            </a:endParaRPr>
          </a:p>
        </p:txBody>
      </p:sp>
      <p:sp>
        <p:nvSpPr>
          <p:cNvPr id="21" name="Rettangolo 20"/>
          <p:cNvSpPr/>
          <p:nvPr/>
        </p:nvSpPr>
        <p:spPr>
          <a:xfrm>
            <a:off x="4953600" y="1870309"/>
            <a:ext cx="2142000" cy="3780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22" name="Rettangolo 21"/>
          <p:cNvSpPr/>
          <p:nvPr/>
        </p:nvSpPr>
        <p:spPr>
          <a:xfrm>
            <a:off x="5043600" y="1978309"/>
            <a:ext cx="1962000" cy="432000"/>
          </a:xfrm>
          <a:prstGeom prst="rect">
            <a:avLst/>
          </a:prstGeom>
          <a:solidFill>
            <a:srgbClr val="7E5EEA"/>
          </a:solidFill>
          <a:ln w="9000">
            <a:solidFill>
              <a:srgbClr val="7E5EEA"/>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23" name="CasellaDiTesto 22"/>
          <p:cNvSpPr txBox="1"/>
          <p:nvPr/>
        </p:nvSpPr>
        <p:spPr>
          <a:xfrm>
            <a:off x="5079600" y="2071909"/>
            <a:ext cx="1890000" cy="657000"/>
          </a:xfrm>
          <a:prstGeom prst="rect">
            <a:avLst/>
          </a:prstGeom>
          <a:noFill/>
          <a:ln w="0">
            <a:noFill/>
          </a:ln>
        </p:spPr>
        <p:txBody>
          <a:bodyPr lIns="90000" tIns="45000" rIns="90000" bIns="45000" anchor="ctr" anchorCtr="1">
            <a:spAutoFit/>
          </a:bodyPr>
          <a:lstStyle/>
          <a:p>
            <a:pPr algn="ctr"/>
            <a:r>
              <a:rPr lang="en-US" sz="2000" b="1" u="none" strike="noStrike">
                <a:solidFill>
                  <a:srgbClr val="FFFFFF"/>
                </a:solidFill>
                <a:effectLst/>
                <a:uFillTx/>
                <a:latin typeface="Arial"/>
              </a:rPr>
              <a:t>RELATIONSHIPS</a:t>
            </a:r>
            <a:endParaRPr lang="en-US" sz="2000" b="0" u="none" strike="noStrike">
              <a:solidFill>
                <a:srgbClr val="000000"/>
              </a:solidFill>
              <a:effectLst/>
              <a:uFillTx/>
              <a:latin typeface="Arial"/>
            </a:endParaRPr>
          </a:p>
        </p:txBody>
      </p:sp>
      <p:sp>
        <p:nvSpPr>
          <p:cNvPr id="24" name="CasellaDiTesto 23"/>
          <p:cNvSpPr txBox="1"/>
          <p:nvPr/>
        </p:nvSpPr>
        <p:spPr>
          <a:xfrm>
            <a:off x="5079600" y="2518309"/>
            <a:ext cx="1890000" cy="459000"/>
          </a:xfrm>
          <a:prstGeom prst="rect">
            <a:avLst/>
          </a:prstGeom>
          <a:noFill/>
          <a:ln w="0">
            <a:noFill/>
          </a:ln>
        </p:spPr>
        <p:txBody>
          <a:bodyPr lIns="90000" tIns="45000" rIns="90000" bIns="45000" anchor="ctr" anchorCtr="1">
            <a:spAutoFit/>
          </a:bodyPr>
          <a:lstStyle/>
          <a:p>
            <a:pPr algn="ctr"/>
            <a:r>
              <a:rPr lang="en-US" sz="1300" b="0" u="none" strike="noStrike">
                <a:solidFill>
                  <a:srgbClr val="7D8796"/>
                </a:solidFill>
                <a:effectLst/>
                <a:uFillTx/>
                <a:latin typeface="Arial"/>
              </a:rPr>
              <a:t>Scatter plot between two variables</a:t>
            </a:r>
            <a:endParaRPr lang="en-US" sz="1300" b="0" u="none" strike="noStrike">
              <a:solidFill>
                <a:srgbClr val="000000"/>
              </a:solidFill>
              <a:effectLst/>
              <a:uFillTx/>
              <a:latin typeface="Arial"/>
            </a:endParaRPr>
          </a:p>
        </p:txBody>
      </p:sp>
      <p:sp>
        <p:nvSpPr>
          <p:cNvPr id="25" name="Rettangolo 24"/>
          <p:cNvSpPr/>
          <p:nvPr/>
        </p:nvSpPr>
        <p:spPr>
          <a:xfrm>
            <a:off x="7232400" y="1870309"/>
            <a:ext cx="2142000" cy="3780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26" name="Rettangolo 25"/>
          <p:cNvSpPr/>
          <p:nvPr/>
        </p:nvSpPr>
        <p:spPr>
          <a:xfrm>
            <a:off x="7322400" y="1978309"/>
            <a:ext cx="1962000" cy="432000"/>
          </a:xfrm>
          <a:prstGeom prst="rect">
            <a:avLst/>
          </a:prstGeom>
          <a:solidFill>
            <a:srgbClr val="F3A012"/>
          </a:solidFill>
          <a:ln w="9000">
            <a:solidFill>
              <a:srgbClr val="F3A012"/>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27" name="CasellaDiTesto 26"/>
          <p:cNvSpPr txBox="1"/>
          <p:nvPr/>
        </p:nvSpPr>
        <p:spPr>
          <a:xfrm>
            <a:off x="7358400" y="2071909"/>
            <a:ext cx="1890000" cy="373680"/>
          </a:xfrm>
          <a:prstGeom prst="rect">
            <a:avLst/>
          </a:prstGeom>
          <a:noFill/>
          <a:ln w="0">
            <a:noFill/>
          </a:ln>
        </p:spPr>
        <p:txBody>
          <a:bodyPr lIns="90000" tIns="45000" rIns="90000" bIns="45000" anchor="ctr" anchorCtr="1">
            <a:spAutoFit/>
          </a:bodyPr>
          <a:lstStyle/>
          <a:p>
            <a:pPr algn="ctr"/>
            <a:r>
              <a:rPr lang="en-US" sz="2000" b="1" u="none" strike="noStrike">
                <a:solidFill>
                  <a:srgbClr val="FFFFFF"/>
                </a:solidFill>
                <a:effectLst/>
                <a:uFillTx/>
                <a:latin typeface="Arial"/>
              </a:rPr>
              <a:t>DATA ISSUES</a:t>
            </a:r>
            <a:endParaRPr lang="en-US" sz="2000" b="0" u="none" strike="noStrike">
              <a:solidFill>
                <a:srgbClr val="000000"/>
              </a:solidFill>
              <a:effectLst/>
              <a:uFillTx/>
              <a:latin typeface="Arial"/>
            </a:endParaRPr>
          </a:p>
        </p:txBody>
      </p:sp>
      <p:sp>
        <p:nvSpPr>
          <p:cNvPr id="28" name="CasellaDiTesto 27"/>
          <p:cNvSpPr txBox="1"/>
          <p:nvPr/>
        </p:nvSpPr>
        <p:spPr>
          <a:xfrm>
            <a:off x="7358400" y="2518309"/>
            <a:ext cx="1890000" cy="459000"/>
          </a:xfrm>
          <a:prstGeom prst="rect">
            <a:avLst/>
          </a:prstGeom>
          <a:noFill/>
          <a:ln w="0">
            <a:noFill/>
          </a:ln>
        </p:spPr>
        <p:txBody>
          <a:bodyPr lIns="90000" tIns="45000" rIns="90000" bIns="45000" anchor="ctr" anchorCtr="1">
            <a:spAutoFit/>
          </a:bodyPr>
          <a:lstStyle/>
          <a:p>
            <a:pPr algn="ctr"/>
            <a:r>
              <a:rPr lang="en-US" sz="1300" b="0" u="none" strike="noStrike">
                <a:solidFill>
                  <a:srgbClr val="7D8796"/>
                </a:solidFill>
                <a:effectLst/>
                <a:uFillTx/>
                <a:latin typeface="Arial"/>
              </a:rPr>
              <a:t>Missing values and outliers</a:t>
            </a:r>
            <a:endParaRPr lang="en-US" sz="1300" b="0" u="none" strike="noStrike">
              <a:solidFill>
                <a:srgbClr val="000000"/>
              </a:solidFill>
              <a:effectLst/>
              <a:uFillTx/>
              <a:latin typeface="Arial"/>
            </a:endParaRPr>
          </a:p>
        </p:txBody>
      </p:sp>
      <p:sp>
        <p:nvSpPr>
          <p:cNvPr id="29" name="Rettangolo 28"/>
          <p:cNvSpPr/>
          <p:nvPr/>
        </p:nvSpPr>
        <p:spPr>
          <a:xfrm>
            <a:off x="9511200" y="1870309"/>
            <a:ext cx="2142000" cy="3780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30" name="Rettangolo 29"/>
          <p:cNvSpPr/>
          <p:nvPr/>
        </p:nvSpPr>
        <p:spPr>
          <a:xfrm>
            <a:off x="9601200" y="1978309"/>
            <a:ext cx="1962000" cy="432000"/>
          </a:xfrm>
          <a:prstGeom prst="rect">
            <a:avLst/>
          </a:prstGeom>
          <a:solidFill>
            <a:srgbClr val="39B272"/>
          </a:solidFill>
          <a:ln w="9000">
            <a:solidFill>
              <a:srgbClr val="39B272"/>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31" name="CasellaDiTesto 30"/>
          <p:cNvSpPr txBox="1"/>
          <p:nvPr/>
        </p:nvSpPr>
        <p:spPr>
          <a:xfrm>
            <a:off x="9637200" y="2071909"/>
            <a:ext cx="1890000" cy="373680"/>
          </a:xfrm>
          <a:prstGeom prst="rect">
            <a:avLst/>
          </a:prstGeom>
          <a:noFill/>
          <a:ln w="0">
            <a:noFill/>
          </a:ln>
        </p:spPr>
        <p:txBody>
          <a:bodyPr lIns="90000" tIns="45000" rIns="90000" bIns="45000" anchor="ctr" anchorCtr="1">
            <a:spAutoFit/>
          </a:bodyPr>
          <a:lstStyle/>
          <a:p>
            <a:pPr algn="ctr"/>
            <a:r>
              <a:rPr lang="en-US" sz="2000" b="1" u="none" strike="noStrike">
                <a:solidFill>
                  <a:srgbClr val="FFFFFF"/>
                </a:solidFill>
                <a:effectLst/>
                <a:uFillTx/>
                <a:latin typeface="Arial"/>
              </a:rPr>
              <a:t>PATTERNS</a:t>
            </a:r>
            <a:endParaRPr lang="en-US" sz="2000" b="0" u="none" strike="noStrike">
              <a:solidFill>
                <a:srgbClr val="000000"/>
              </a:solidFill>
              <a:effectLst/>
              <a:uFillTx/>
              <a:latin typeface="Arial"/>
            </a:endParaRPr>
          </a:p>
        </p:txBody>
      </p:sp>
      <p:sp>
        <p:nvSpPr>
          <p:cNvPr id="32" name="CasellaDiTesto 31"/>
          <p:cNvSpPr txBox="1"/>
          <p:nvPr/>
        </p:nvSpPr>
        <p:spPr>
          <a:xfrm>
            <a:off x="9637200" y="2518309"/>
            <a:ext cx="1890000" cy="459000"/>
          </a:xfrm>
          <a:prstGeom prst="rect">
            <a:avLst/>
          </a:prstGeom>
          <a:noFill/>
          <a:ln w="0">
            <a:noFill/>
          </a:ln>
        </p:spPr>
        <p:txBody>
          <a:bodyPr lIns="90000" tIns="45000" rIns="90000" bIns="45000" anchor="ctr" anchorCtr="1">
            <a:spAutoFit/>
          </a:bodyPr>
          <a:lstStyle/>
          <a:p>
            <a:pPr algn="ctr"/>
            <a:r>
              <a:rPr lang="en-US" sz="1300" b="0" u="none" strike="noStrike">
                <a:solidFill>
                  <a:srgbClr val="7D8796"/>
                </a:solidFill>
                <a:effectLst/>
                <a:uFillTx/>
                <a:latin typeface="Arial"/>
              </a:rPr>
              <a:t>Trend / seasonality / anomaly</a:t>
            </a:r>
            <a:endParaRPr lang="en-US" sz="1300" b="0" u="none" strike="noStrike">
              <a:solidFill>
                <a:srgbClr val="000000"/>
              </a:solidFill>
              <a:effectLst/>
              <a:uFillTx/>
              <a:latin typeface="Arial"/>
            </a:endParaRPr>
          </a:p>
        </p:txBody>
      </p:sp>
      <p:sp>
        <p:nvSpPr>
          <p:cNvPr id="33" name="Rettangolo 32"/>
          <p:cNvSpPr/>
          <p:nvPr/>
        </p:nvSpPr>
        <p:spPr>
          <a:xfrm>
            <a:off x="594000" y="2950309"/>
            <a:ext cx="436320" cy="234000"/>
          </a:xfrm>
          <a:prstGeom prst="rect">
            <a:avLst/>
          </a:prstGeom>
          <a:solidFill>
            <a:srgbClr val="4270EF"/>
          </a:solidFill>
          <a:ln w="9000">
            <a:solidFill>
              <a:srgbClr val="FFFFFF"/>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34" name="CasellaDiTesto 33"/>
          <p:cNvSpPr txBox="1"/>
          <p:nvPr/>
        </p:nvSpPr>
        <p:spPr>
          <a:xfrm>
            <a:off x="608400" y="2993509"/>
            <a:ext cx="407520" cy="26100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ID</a:t>
            </a:r>
            <a:endParaRPr lang="en-US" sz="1200" b="0" u="none" strike="noStrike">
              <a:solidFill>
                <a:srgbClr val="000000"/>
              </a:solidFill>
              <a:effectLst/>
              <a:uFillTx/>
              <a:latin typeface="Arial"/>
            </a:endParaRPr>
          </a:p>
        </p:txBody>
      </p:sp>
      <p:sp>
        <p:nvSpPr>
          <p:cNvPr id="35" name="Rettangolo 34"/>
          <p:cNvSpPr/>
          <p:nvPr/>
        </p:nvSpPr>
        <p:spPr>
          <a:xfrm>
            <a:off x="1030320" y="2950309"/>
            <a:ext cx="436320" cy="234000"/>
          </a:xfrm>
          <a:prstGeom prst="rect">
            <a:avLst/>
          </a:prstGeom>
          <a:solidFill>
            <a:srgbClr val="4270EF"/>
          </a:solidFill>
          <a:ln w="9000">
            <a:solidFill>
              <a:srgbClr val="FFFFFF"/>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36" name="CasellaDiTesto 35"/>
          <p:cNvSpPr txBox="1"/>
          <p:nvPr/>
        </p:nvSpPr>
        <p:spPr>
          <a:xfrm>
            <a:off x="1044720" y="2993509"/>
            <a:ext cx="407520" cy="43164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Age</a:t>
            </a:r>
            <a:endParaRPr lang="en-US" sz="1200" b="0" u="none" strike="noStrike">
              <a:solidFill>
                <a:srgbClr val="000000"/>
              </a:solidFill>
              <a:effectLst/>
              <a:uFillTx/>
              <a:latin typeface="Arial"/>
            </a:endParaRPr>
          </a:p>
        </p:txBody>
      </p:sp>
      <p:sp>
        <p:nvSpPr>
          <p:cNvPr id="37" name="Rettangolo 36"/>
          <p:cNvSpPr/>
          <p:nvPr/>
        </p:nvSpPr>
        <p:spPr>
          <a:xfrm>
            <a:off x="1466640" y="2950309"/>
            <a:ext cx="436320" cy="234000"/>
          </a:xfrm>
          <a:prstGeom prst="rect">
            <a:avLst/>
          </a:prstGeom>
          <a:solidFill>
            <a:srgbClr val="4270EF"/>
          </a:solidFill>
          <a:ln w="9000">
            <a:solidFill>
              <a:srgbClr val="FFFFFF"/>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38" name="CasellaDiTesto 37"/>
          <p:cNvSpPr txBox="1"/>
          <p:nvPr/>
        </p:nvSpPr>
        <p:spPr>
          <a:xfrm>
            <a:off x="1481040" y="2993509"/>
            <a:ext cx="407520" cy="60228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Region</a:t>
            </a:r>
            <a:endParaRPr lang="en-US" sz="1200" b="0" u="none" strike="noStrike">
              <a:solidFill>
                <a:srgbClr val="000000"/>
              </a:solidFill>
              <a:effectLst/>
              <a:uFillTx/>
              <a:latin typeface="Arial"/>
            </a:endParaRPr>
          </a:p>
        </p:txBody>
      </p:sp>
      <p:sp>
        <p:nvSpPr>
          <p:cNvPr id="39" name="Rettangolo 38"/>
          <p:cNvSpPr/>
          <p:nvPr/>
        </p:nvSpPr>
        <p:spPr>
          <a:xfrm>
            <a:off x="1902960" y="2950309"/>
            <a:ext cx="436320" cy="234000"/>
          </a:xfrm>
          <a:prstGeom prst="rect">
            <a:avLst/>
          </a:prstGeom>
          <a:solidFill>
            <a:srgbClr val="4270EF"/>
          </a:solidFill>
          <a:ln w="9000">
            <a:solidFill>
              <a:srgbClr val="FFFFFF"/>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40" name="CasellaDiTesto 39"/>
          <p:cNvSpPr txBox="1"/>
          <p:nvPr/>
        </p:nvSpPr>
        <p:spPr>
          <a:xfrm>
            <a:off x="1917360" y="2993509"/>
            <a:ext cx="407520" cy="60228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Balance</a:t>
            </a:r>
            <a:endParaRPr lang="en-US" sz="1200" b="0" u="none" strike="noStrike">
              <a:solidFill>
                <a:srgbClr val="000000"/>
              </a:solidFill>
              <a:effectLst/>
              <a:uFillTx/>
              <a:latin typeface="Arial"/>
            </a:endParaRPr>
          </a:p>
        </p:txBody>
      </p:sp>
      <p:sp>
        <p:nvSpPr>
          <p:cNvPr id="41" name="Rettangolo 40"/>
          <p:cNvSpPr/>
          <p:nvPr/>
        </p:nvSpPr>
        <p:spPr>
          <a:xfrm>
            <a:off x="594000" y="3184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42" name="CasellaDiTesto 41"/>
          <p:cNvSpPr txBox="1"/>
          <p:nvPr/>
        </p:nvSpPr>
        <p:spPr>
          <a:xfrm>
            <a:off x="604800" y="3227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C001</a:t>
            </a:r>
            <a:endParaRPr lang="en-US" sz="1100" b="0" u="none" strike="noStrike">
              <a:solidFill>
                <a:srgbClr val="000000"/>
              </a:solidFill>
              <a:effectLst/>
              <a:uFillTx/>
              <a:latin typeface="Arial"/>
            </a:endParaRPr>
          </a:p>
        </p:txBody>
      </p:sp>
      <p:sp>
        <p:nvSpPr>
          <p:cNvPr id="43" name="Rettangolo 42"/>
          <p:cNvSpPr/>
          <p:nvPr/>
        </p:nvSpPr>
        <p:spPr>
          <a:xfrm>
            <a:off x="1030320" y="3184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44" name="CasellaDiTesto 43"/>
          <p:cNvSpPr txBox="1"/>
          <p:nvPr/>
        </p:nvSpPr>
        <p:spPr>
          <a:xfrm>
            <a:off x="1041120" y="3227509"/>
            <a:ext cx="41472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32</a:t>
            </a:r>
            <a:endParaRPr lang="en-US" sz="1100" b="0" u="none" strike="noStrike">
              <a:solidFill>
                <a:srgbClr val="000000"/>
              </a:solidFill>
              <a:effectLst/>
              <a:uFillTx/>
              <a:latin typeface="Arial"/>
            </a:endParaRPr>
          </a:p>
        </p:txBody>
      </p:sp>
      <p:sp>
        <p:nvSpPr>
          <p:cNvPr id="45" name="Rettangolo 44"/>
          <p:cNvSpPr/>
          <p:nvPr/>
        </p:nvSpPr>
        <p:spPr>
          <a:xfrm>
            <a:off x="1466640" y="3184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46" name="CasellaDiTesto 45"/>
          <p:cNvSpPr txBox="1"/>
          <p:nvPr/>
        </p:nvSpPr>
        <p:spPr>
          <a:xfrm>
            <a:off x="1477440" y="3227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North</a:t>
            </a:r>
            <a:endParaRPr lang="en-US" sz="1100" b="0" u="none" strike="noStrike">
              <a:solidFill>
                <a:srgbClr val="000000"/>
              </a:solidFill>
              <a:effectLst/>
              <a:uFillTx/>
              <a:latin typeface="Arial"/>
            </a:endParaRPr>
          </a:p>
        </p:txBody>
      </p:sp>
      <p:sp>
        <p:nvSpPr>
          <p:cNvPr id="47" name="Rettangolo 46"/>
          <p:cNvSpPr/>
          <p:nvPr/>
        </p:nvSpPr>
        <p:spPr>
          <a:xfrm>
            <a:off x="1902960" y="3184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48" name="CasellaDiTesto 47"/>
          <p:cNvSpPr txBox="1"/>
          <p:nvPr/>
        </p:nvSpPr>
        <p:spPr>
          <a:xfrm>
            <a:off x="1913760" y="3227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5,240</a:t>
            </a:r>
            <a:endParaRPr lang="en-US" sz="1100" b="0" u="none" strike="noStrike">
              <a:solidFill>
                <a:srgbClr val="000000"/>
              </a:solidFill>
              <a:effectLst/>
              <a:uFillTx/>
              <a:latin typeface="Arial"/>
            </a:endParaRPr>
          </a:p>
        </p:txBody>
      </p:sp>
      <p:sp>
        <p:nvSpPr>
          <p:cNvPr id="49" name="Rettangolo 48"/>
          <p:cNvSpPr/>
          <p:nvPr/>
        </p:nvSpPr>
        <p:spPr>
          <a:xfrm>
            <a:off x="594000" y="3418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50" name="CasellaDiTesto 49"/>
          <p:cNvSpPr txBox="1"/>
          <p:nvPr/>
        </p:nvSpPr>
        <p:spPr>
          <a:xfrm>
            <a:off x="604800" y="3461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C002</a:t>
            </a:r>
            <a:endParaRPr lang="en-US" sz="1100" b="0" u="none" strike="noStrike">
              <a:solidFill>
                <a:srgbClr val="000000"/>
              </a:solidFill>
              <a:effectLst/>
              <a:uFillTx/>
              <a:latin typeface="Arial"/>
            </a:endParaRPr>
          </a:p>
        </p:txBody>
      </p:sp>
      <p:sp>
        <p:nvSpPr>
          <p:cNvPr id="51" name="Rettangolo 50"/>
          <p:cNvSpPr/>
          <p:nvPr/>
        </p:nvSpPr>
        <p:spPr>
          <a:xfrm>
            <a:off x="1030320" y="3418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52" name="CasellaDiTesto 51"/>
          <p:cNvSpPr txBox="1"/>
          <p:nvPr/>
        </p:nvSpPr>
        <p:spPr>
          <a:xfrm>
            <a:off x="1041120" y="3461509"/>
            <a:ext cx="41472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41</a:t>
            </a:r>
            <a:endParaRPr lang="en-US" sz="1100" b="0" u="none" strike="noStrike">
              <a:solidFill>
                <a:srgbClr val="000000"/>
              </a:solidFill>
              <a:effectLst/>
              <a:uFillTx/>
              <a:latin typeface="Arial"/>
            </a:endParaRPr>
          </a:p>
        </p:txBody>
      </p:sp>
      <p:sp>
        <p:nvSpPr>
          <p:cNvPr id="53" name="Rettangolo 52"/>
          <p:cNvSpPr/>
          <p:nvPr/>
        </p:nvSpPr>
        <p:spPr>
          <a:xfrm>
            <a:off x="1466640" y="3418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54" name="CasellaDiTesto 53"/>
          <p:cNvSpPr txBox="1"/>
          <p:nvPr/>
        </p:nvSpPr>
        <p:spPr>
          <a:xfrm>
            <a:off x="1477440" y="3461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West</a:t>
            </a:r>
            <a:endParaRPr lang="en-US" sz="1100" b="0" u="none" strike="noStrike">
              <a:solidFill>
                <a:srgbClr val="000000"/>
              </a:solidFill>
              <a:effectLst/>
              <a:uFillTx/>
              <a:latin typeface="Arial"/>
            </a:endParaRPr>
          </a:p>
        </p:txBody>
      </p:sp>
      <p:sp>
        <p:nvSpPr>
          <p:cNvPr id="55" name="Rettangolo 54"/>
          <p:cNvSpPr/>
          <p:nvPr/>
        </p:nvSpPr>
        <p:spPr>
          <a:xfrm>
            <a:off x="1902960" y="3418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56" name="CasellaDiTesto 55"/>
          <p:cNvSpPr txBox="1"/>
          <p:nvPr/>
        </p:nvSpPr>
        <p:spPr>
          <a:xfrm>
            <a:off x="1913760" y="3461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8,120</a:t>
            </a:r>
            <a:endParaRPr lang="en-US" sz="1100" b="0" u="none" strike="noStrike">
              <a:solidFill>
                <a:srgbClr val="000000"/>
              </a:solidFill>
              <a:effectLst/>
              <a:uFillTx/>
              <a:latin typeface="Arial"/>
            </a:endParaRPr>
          </a:p>
        </p:txBody>
      </p:sp>
      <p:sp>
        <p:nvSpPr>
          <p:cNvPr id="57" name="Rettangolo 56"/>
          <p:cNvSpPr/>
          <p:nvPr/>
        </p:nvSpPr>
        <p:spPr>
          <a:xfrm>
            <a:off x="594000" y="3652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58" name="CasellaDiTesto 57"/>
          <p:cNvSpPr txBox="1"/>
          <p:nvPr/>
        </p:nvSpPr>
        <p:spPr>
          <a:xfrm>
            <a:off x="604800" y="3695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C003</a:t>
            </a:r>
            <a:endParaRPr lang="en-US" sz="1100" b="0" u="none" strike="noStrike">
              <a:solidFill>
                <a:srgbClr val="000000"/>
              </a:solidFill>
              <a:effectLst/>
              <a:uFillTx/>
              <a:latin typeface="Arial"/>
            </a:endParaRPr>
          </a:p>
        </p:txBody>
      </p:sp>
      <p:sp>
        <p:nvSpPr>
          <p:cNvPr id="59" name="Rettangolo 58"/>
          <p:cNvSpPr/>
          <p:nvPr/>
        </p:nvSpPr>
        <p:spPr>
          <a:xfrm>
            <a:off x="1030320" y="3652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60" name="CasellaDiTesto 59"/>
          <p:cNvSpPr txBox="1"/>
          <p:nvPr/>
        </p:nvSpPr>
        <p:spPr>
          <a:xfrm>
            <a:off x="1041120" y="3695509"/>
            <a:ext cx="41472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29</a:t>
            </a:r>
            <a:endParaRPr lang="en-US" sz="1100" b="0" u="none" strike="noStrike">
              <a:solidFill>
                <a:srgbClr val="000000"/>
              </a:solidFill>
              <a:effectLst/>
              <a:uFillTx/>
              <a:latin typeface="Arial"/>
            </a:endParaRPr>
          </a:p>
        </p:txBody>
      </p:sp>
      <p:sp>
        <p:nvSpPr>
          <p:cNvPr id="61" name="Rettangolo 60"/>
          <p:cNvSpPr/>
          <p:nvPr/>
        </p:nvSpPr>
        <p:spPr>
          <a:xfrm>
            <a:off x="1466640" y="3652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62" name="CasellaDiTesto 61"/>
          <p:cNvSpPr txBox="1"/>
          <p:nvPr/>
        </p:nvSpPr>
        <p:spPr>
          <a:xfrm>
            <a:off x="1477440" y="3695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South</a:t>
            </a:r>
            <a:endParaRPr lang="en-US" sz="1100" b="0" u="none" strike="noStrike">
              <a:solidFill>
                <a:srgbClr val="000000"/>
              </a:solidFill>
              <a:effectLst/>
              <a:uFillTx/>
              <a:latin typeface="Arial"/>
            </a:endParaRPr>
          </a:p>
        </p:txBody>
      </p:sp>
      <p:sp>
        <p:nvSpPr>
          <p:cNvPr id="63" name="Rettangolo 62"/>
          <p:cNvSpPr/>
          <p:nvPr/>
        </p:nvSpPr>
        <p:spPr>
          <a:xfrm>
            <a:off x="1902960" y="3652309"/>
            <a:ext cx="436320" cy="234000"/>
          </a:xfrm>
          <a:prstGeom prst="rect">
            <a:avLst/>
          </a:prstGeom>
          <a:solidFill>
            <a:srgbClr val="F4F7FC"/>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64" name="CasellaDiTesto 63"/>
          <p:cNvSpPr txBox="1"/>
          <p:nvPr/>
        </p:nvSpPr>
        <p:spPr>
          <a:xfrm>
            <a:off x="1913760" y="3695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3,410</a:t>
            </a:r>
            <a:endParaRPr lang="en-US" sz="1100" b="0" u="none" strike="noStrike">
              <a:solidFill>
                <a:srgbClr val="000000"/>
              </a:solidFill>
              <a:effectLst/>
              <a:uFillTx/>
              <a:latin typeface="Arial"/>
            </a:endParaRPr>
          </a:p>
        </p:txBody>
      </p:sp>
      <p:sp>
        <p:nvSpPr>
          <p:cNvPr id="65" name="Rettangolo 64"/>
          <p:cNvSpPr/>
          <p:nvPr/>
        </p:nvSpPr>
        <p:spPr>
          <a:xfrm>
            <a:off x="594000" y="3886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66" name="CasellaDiTesto 65"/>
          <p:cNvSpPr txBox="1"/>
          <p:nvPr/>
        </p:nvSpPr>
        <p:spPr>
          <a:xfrm>
            <a:off x="604800" y="3929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C004</a:t>
            </a:r>
            <a:endParaRPr lang="en-US" sz="1100" b="0" u="none" strike="noStrike">
              <a:solidFill>
                <a:srgbClr val="000000"/>
              </a:solidFill>
              <a:effectLst/>
              <a:uFillTx/>
              <a:latin typeface="Arial"/>
            </a:endParaRPr>
          </a:p>
        </p:txBody>
      </p:sp>
      <p:sp>
        <p:nvSpPr>
          <p:cNvPr id="67" name="Rettangolo 66"/>
          <p:cNvSpPr/>
          <p:nvPr/>
        </p:nvSpPr>
        <p:spPr>
          <a:xfrm>
            <a:off x="1030320" y="3886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68" name="CasellaDiTesto 67"/>
          <p:cNvSpPr txBox="1"/>
          <p:nvPr/>
        </p:nvSpPr>
        <p:spPr>
          <a:xfrm>
            <a:off x="1041120" y="3929509"/>
            <a:ext cx="41472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55</a:t>
            </a:r>
            <a:endParaRPr lang="en-US" sz="1100" b="0" u="none" strike="noStrike">
              <a:solidFill>
                <a:srgbClr val="000000"/>
              </a:solidFill>
              <a:effectLst/>
              <a:uFillTx/>
              <a:latin typeface="Arial"/>
            </a:endParaRPr>
          </a:p>
        </p:txBody>
      </p:sp>
      <p:sp>
        <p:nvSpPr>
          <p:cNvPr id="69" name="Rettangolo 68"/>
          <p:cNvSpPr/>
          <p:nvPr/>
        </p:nvSpPr>
        <p:spPr>
          <a:xfrm>
            <a:off x="1466640" y="3886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70" name="CasellaDiTesto 69"/>
          <p:cNvSpPr txBox="1"/>
          <p:nvPr/>
        </p:nvSpPr>
        <p:spPr>
          <a:xfrm>
            <a:off x="1477440" y="3929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East</a:t>
            </a:r>
            <a:endParaRPr lang="en-US" sz="1100" b="0" u="none" strike="noStrike">
              <a:solidFill>
                <a:srgbClr val="000000"/>
              </a:solidFill>
              <a:effectLst/>
              <a:uFillTx/>
              <a:latin typeface="Arial"/>
            </a:endParaRPr>
          </a:p>
        </p:txBody>
      </p:sp>
      <p:sp>
        <p:nvSpPr>
          <p:cNvPr id="71" name="Rettangolo 70"/>
          <p:cNvSpPr/>
          <p:nvPr/>
        </p:nvSpPr>
        <p:spPr>
          <a:xfrm>
            <a:off x="1902960" y="3886309"/>
            <a:ext cx="436320" cy="234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72" name="CasellaDiTesto 71"/>
          <p:cNvSpPr txBox="1"/>
          <p:nvPr/>
        </p:nvSpPr>
        <p:spPr>
          <a:xfrm>
            <a:off x="1913760" y="3929509"/>
            <a:ext cx="41472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9,780</a:t>
            </a:r>
            <a:endParaRPr lang="en-US" sz="1100" b="0" u="none" strike="noStrike">
              <a:solidFill>
                <a:srgbClr val="000000"/>
              </a:solidFill>
              <a:effectLst/>
              <a:uFillTx/>
              <a:latin typeface="Arial"/>
            </a:endParaRPr>
          </a:p>
        </p:txBody>
      </p:sp>
      <p:sp>
        <p:nvSpPr>
          <p:cNvPr id="73" name="CasellaDiTesto 72"/>
          <p:cNvSpPr txBox="1"/>
          <p:nvPr/>
        </p:nvSpPr>
        <p:spPr>
          <a:xfrm>
            <a:off x="540000" y="4480309"/>
            <a:ext cx="1854000" cy="1014209"/>
          </a:xfrm>
          <a:prstGeom prst="rect">
            <a:avLst/>
          </a:prstGeom>
          <a:noFill/>
          <a:ln w="0">
            <a:noFill/>
          </a:ln>
        </p:spPr>
        <p:txBody>
          <a:bodyPr lIns="90000" tIns="45000" rIns="90000" bIns="45000" anchor="ctr">
            <a:spAutoFit/>
          </a:bodyPr>
          <a:lstStyle/>
          <a:p>
            <a:r>
              <a:rPr lang="en-US" sz="1200" b="0" u="none" strike="noStrike">
                <a:solidFill>
                  <a:srgbClr val="606C80"/>
                </a:solidFill>
                <a:effectLst/>
                <a:uFillTx/>
                <a:latin typeface="Arial"/>
              </a:rPr>
              <a:t>Example question:</a:t>
            </a:r>
            <a:endParaRPr lang="en-US" sz="1200" b="0" u="none" strike="noStrike">
              <a:solidFill>
                <a:srgbClr val="000000"/>
              </a:solidFill>
              <a:effectLst/>
              <a:uFillTx/>
              <a:latin typeface="Arial"/>
            </a:endParaRPr>
          </a:p>
          <a:p>
            <a:r>
              <a:rPr lang="en-US" sz="1200" b="0" u="none" strike="noStrike">
                <a:solidFill>
                  <a:srgbClr val="606C80"/>
                </a:solidFill>
                <a:effectLst/>
                <a:uFillTx/>
                <a:latin typeface="Arial"/>
              </a:rPr>
              <a:t>Do we have one row per customer, clear column names and meaningful data types?</a:t>
            </a:r>
            <a:endParaRPr lang="en-US" sz="1200" b="0" u="none" strike="noStrike">
              <a:solidFill>
                <a:srgbClr val="000000"/>
              </a:solidFill>
              <a:effectLst/>
              <a:uFillTx/>
              <a:latin typeface="Arial"/>
            </a:endParaRPr>
          </a:p>
        </p:txBody>
      </p:sp>
      <p:sp>
        <p:nvSpPr>
          <p:cNvPr id="74" name="Connettore diritto 73"/>
          <p:cNvSpPr/>
          <p:nvPr/>
        </p:nvSpPr>
        <p:spPr>
          <a:xfrm>
            <a:off x="2944800" y="4246309"/>
            <a:ext cx="1638000" cy="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75" name="Connettore diritto 74"/>
          <p:cNvSpPr/>
          <p:nvPr/>
        </p:nvSpPr>
        <p:spPr>
          <a:xfrm>
            <a:off x="2944800" y="3094309"/>
            <a:ext cx="0" cy="115200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76" name="Rettangolo 75"/>
          <p:cNvSpPr/>
          <p:nvPr/>
        </p:nvSpPr>
        <p:spPr>
          <a:xfrm>
            <a:off x="2973600" y="4066309"/>
            <a:ext cx="131400" cy="180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77" name="Rettangolo 76"/>
          <p:cNvSpPr/>
          <p:nvPr/>
        </p:nvSpPr>
        <p:spPr>
          <a:xfrm>
            <a:off x="3155400" y="3886309"/>
            <a:ext cx="131400" cy="360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78" name="Rettangolo 77"/>
          <p:cNvSpPr/>
          <p:nvPr/>
        </p:nvSpPr>
        <p:spPr>
          <a:xfrm>
            <a:off x="3337200" y="3634309"/>
            <a:ext cx="131400" cy="612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79" name="Rettangolo 78"/>
          <p:cNvSpPr/>
          <p:nvPr/>
        </p:nvSpPr>
        <p:spPr>
          <a:xfrm>
            <a:off x="3519000" y="3346309"/>
            <a:ext cx="131400" cy="900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0" name="Rettangolo 79"/>
          <p:cNvSpPr/>
          <p:nvPr/>
        </p:nvSpPr>
        <p:spPr>
          <a:xfrm>
            <a:off x="3700800" y="3166309"/>
            <a:ext cx="131400" cy="1080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1" name="Rettangolo 80"/>
          <p:cNvSpPr/>
          <p:nvPr/>
        </p:nvSpPr>
        <p:spPr>
          <a:xfrm>
            <a:off x="3882600" y="3400309"/>
            <a:ext cx="131400" cy="846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2" name="Rettangolo 81"/>
          <p:cNvSpPr/>
          <p:nvPr/>
        </p:nvSpPr>
        <p:spPr>
          <a:xfrm>
            <a:off x="4064400" y="3670309"/>
            <a:ext cx="131400" cy="576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3" name="Rettangolo 82"/>
          <p:cNvSpPr/>
          <p:nvPr/>
        </p:nvSpPr>
        <p:spPr>
          <a:xfrm>
            <a:off x="4246200" y="3922309"/>
            <a:ext cx="131400" cy="324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4" name="Rettangolo 83"/>
          <p:cNvSpPr/>
          <p:nvPr/>
        </p:nvSpPr>
        <p:spPr>
          <a:xfrm>
            <a:off x="4428000" y="4102309"/>
            <a:ext cx="131400" cy="144000"/>
          </a:xfrm>
          <a:prstGeom prst="rect">
            <a:avLst/>
          </a:prstGeom>
          <a:solidFill>
            <a:srgbClr val="12A09E"/>
          </a:solidFill>
          <a:ln w="9000">
            <a:solidFill>
              <a:srgbClr val="12A09E"/>
            </a:solidFill>
            <a:round/>
          </a:ln>
        </p:spPr>
        <p:txBody>
          <a:bodyPr lIns="94320" tIns="49320" rIns="94320" bIns="49320" anchor="ctr" anchorCtr="1">
            <a:noAutofit/>
          </a:bodyPr>
          <a:lstStyle/>
          <a:p>
            <a:endParaRPr lang="en-US" sz="1800" b="0" u="none" strike="noStrike">
              <a:solidFill>
                <a:srgbClr val="FFFFFF"/>
              </a:solidFill>
              <a:effectLst/>
              <a:uFillTx/>
              <a:latin typeface="Arial"/>
            </a:endParaRPr>
          </a:p>
        </p:txBody>
      </p:sp>
      <p:sp>
        <p:nvSpPr>
          <p:cNvPr id="85" name="CasellaDiTesto 84"/>
          <p:cNvSpPr txBox="1"/>
          <p:nvPr/>
        </p:nvSpPr>
        <p:spPr>
          <a:xfrm>
            <a:off x="2818800" y="4480309"/>
            <a:ext cx="1854000" cy="1014209"/>
          </a:xfrm>
          <a:prstGeom prst="rect">
            <a:avLst/>
          </a:prstGeom>
          <a:noFill/>
          <a:ln w="0">
            <a:noFill/>
          </a:ln>
        </p:spPr>
        <p:txBody>
          <a:bodyPr lIns="90000" tIns="45000" rIns="90000" bIns="45000" anchor="ctr">
            <a:spAutoFit/>
          </a:bodyPr>
          <a:lstStyle/>
          <a:p>
            <a:r>
              <a:rPr lang="en-US" sz="1200" b="0" u="none" strike="noStrike">
                <a:solidFill>
                  <a:srgbClr val="606C80"/>
                </a:solidFill>
                <a:effectLst/>
                <a:uFillTx/>
                <a:latin typeface="Arial"/>
              </a:rPr>
              <a:t>Example question:</a:t>
            </a:r>
            <a:endParaRPr lang="en-US" sz="1200" b="0" u="none" strike="noStrike">
              <a:solidFill>
                <a:srgbClr val="000000"/>
              </a:solidFill>
              <a:effectLst/>
              <a:uFillTx/>
              <a:latin typeface="Arial"/>
            </a:endParaRPr>
          </a:p>
          <a:p>
            <a:r>
              <a:rPr lang="en-US" sz="1200" b="0" u="none" strike="noStrike">
                <a:solidFill>
                  <a:srgbClr val="606C80"/>
                </a:solidFill>
                <a:effectLst/>
                <a:uFillTx/>
                <a:latin typeface="Arial"/>
              </a:rPr>
              <a:t>How are transaction amounts distributed? Is the shape symmetric, skewed or multi-modal?</a:t>
            </a:r>
            <a:endParaRPr lang="en-US" sz="1200" b="0" u="none" strike="noStrike">
              <a:solidFill>
                <a:srgbClr val="000000"/>
              </a:solidFill>
              <a:effectLst/>
              <a:uFillTx/>
              <a:latin typeface="Arial"/>
            </a:endParaRPr>
          </a:p>
        </p:txBody>
      </p:sp>
      <p:sp>
        <p:nvSpPr>
          <p:cNvPr id="86" name="Connettore diritto 85"/>
          <p:cNvSpPr/>
          <p:nvPr/>
        </p:nvSpPr>
        <p:spPr>
          <a:xfrm>
            <a:off x="5223600" y="4246309"/>
            <a:ext cx="1638000" cy="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87" name="Connettore diritto 86"/>
          <p:cNvSpPr/>
          <p:nvPr/>
        </p:nvSpPr>
        <p:spPr>
          <a:xfrm>
            <a:off x="5223600" y="3094309"/>
            <a:ext cx="0" cy="115200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88" name="Ovale 87"/>
          <p:cNvSpPr/>
          <p:nvPr/>
        </p:nvSpPr>
        <p:spPr>
          <a:xfrm>
            <a:off x="5362200" y="401374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89" name="Ovale 88"/>
          <p:cNvSpPr/>
          <p:nvPr/>
        </p:nvSpPr>
        <p:spPr>
          <a:xfrm>
            <a:off x="5493240" y="393310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0" name="Ovale 89"/>
          <p:cNvSpPr/>
          <p:nvPr/>
        </p:nvSpPr>
        <p:spPr>
          <a:xfrm>
            <a:off x="5558760" y="382942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1" name="Ovale 90"/>
          <p:cNvSpPr/>
          <p:nvPr/>
        </p:nvSpPr>
        <p:spPr>
          <a:xfrm>
            <a:off x="5722560" y="376030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2" name="Ovale 91"/>
          <p:cNvSpPr/>
          <p:nvPr/>
        </p:nvSpPr>
        <p:spPr>
          <a:xfrm>
            <a:off x="5853600" y="369118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3" name="Ovale 92"/>
          <p:cNvSpPr/>
          <p:nvPr/>
        </p:nvSpPr>
        <p:spPr>
          <a:xfrm>
            <a:off x="5968080" y="358750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4" name="Ovale 93"/>
          <p:cNvSpPr/>
          <p:nvPr/>
        </p:nvSpPr>
        <p:spPr>
          <a:xfrm>
            <a:off x="6148440" y="351838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5" name="Ovale 94"/>
          <p:cNvSpPr/>
          <p:nvPr/>
        </p:nvSpPr>
        <p:spPr>
          <a:xfrm>
            <a:off x="6295680" y="340318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6" name="Ovale 95"/>
          <p:cNvSpPr/>
          <p:nvPr/>
        </p:nvSpPr>
        <p:spPr>
          <a:xfrm>
            <a:off x="6476040" y="336862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7" name="Ovale 96"/>
          <p:cNvSpPr/>
          <p:nvPr/>
        </p:nvSpPr>
        <p:spPr>
          <a:xfrm>
            <a:off x="6574320" y="3207349"/>
            <a:ext cx="50400" cy="50400"/>
          </a:xfrm>
          <a:prstGeom prst="ellipse">
            <a:avLst/>
          </a:prstGeom>
          <a:solidFill>
            <a:srgbClr val="7E5EEA"/>
          </a:solidFill>
          <a:ln w="0">
            <a:noFill/>
          </a:ln>
        </p:spPr>
        <p:txBody>
          <a:bodyPr lIns="90000" tIns="5400" rIns="90000" bIns="5400" anchor="ctr" anchorCtr="1">
            <a:noAutofit/>
          </a:bodyPr>
          <a:lstStyle/>
          <a:p>
            <a:endParaRPr lang="en-US" sz="1800" b="0" u="none" strike="noStrike">
              <a:solidFill>
                <a:srgbClr val="FFFFFF"/>
              </a:solidFill>
              <a:effectLst/>
              <a:uFillTx/>
              <a:latin typeface="Arial"/>
            </a:endParaRPr>
          </a:p>
        </p:txBody>
      </p:sp>
      <p:sp>
        <p:nvSpPr>
          <p:cNvPr id="98" name="Connettore diritto 97"/>
          <p:cNvSpPr/>
          <p:nvPr/>
        </p:nvSpPr>
        <p:spPr>
          <a:xfrm flipV="1">
            <a:off x="5338080" y="3267109"/>
            <a:ext cx="1359720" cy="817920"/>
          </a:xfrm>
          <a:prstGeom prst="line">
            <a:avLst/>
          </a:prstGeom>
          <a:ln w="12600">
            <a:solidFill>
              <a:srgbClr val="7E5EEA"/>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99" name="CasellaDiTesto 98"/>
          <p:cNvSpPr txBox="1"/>
          <p:nvPr/>
        </p:nvSpPr>
        <p:spPr>
          <a:xfrm>
            <a:off x="5140511" y="4480309"/>
            <a:ext cx="1854000" cy="1014209"/>
          </a:xfrm>
          <a:prstGeom prst="rect">
            <a:avLst/>
          </a:prstGeom>
          <a:noFill/>
          <a:ln w="0">
            <a:noFill/>
          </a:ln>
        </p:spPr>
        <p:txBody>
          <a:bodyPr lIns="90000" tIns="45000" rIns="90000" bIns="45000" anchor="ctr">
            <a:spAutoFit/>
          </a:bodyPr>
          <a:lstStyle/>
          <a:p>
            <a:r>
              <a:rPr lang="en-US" sz="1200" b="0" u="none" strike="noStrike" dirty="0">
                <a:solidFill>
                  <a:srgbClr val="606C80"/>
                </a:solidFill>
                <a:effectLst/>
                <a:uFillTx/>
                <a:latin typeface="Arial"/>
              </a:rPr>
              <a:t>Example question:</a:t>
            </a:r>
            <a:endParaRPr lang="en-US" sz="1200" b="0" u="none" strike="noStrike" dirty="0">
              <a:solidFill>
                <a:srgbClr val="000000"/>
              </a:solidFill>
              <a:effectLst/>
              <a:uFillTx/>
              <a:latin typeface="Arial"/>
            </a:endParaRPr>
          </a:p>
          <a:p>
            <a:r>
              <a:rPr lang="en-US" sz="1200" b="0" u="none" strike="noStrike" dirty="0">
                <a:solidFill>
                  <a:srgbClr val="606C80"/>
                </a:solidFill>
                <a:effectLst/>
                <a:uFillTx/>
                <a:latin typeface="Arial"/>
              </a:rPr>
              <a:t>Do income and account balance move together? A scatter plot reveals direction and strength.</a:t>
            </a:r>
            <a:endParaRPr lang="en-US" sz="1200" b="0" u="none" strike="noStrike" dirty="0">
              <a:solidFill>
                <a:srgbClr val="000000"/>
              </a:solidFill>
              <a:effectLst/>
              <a:uFillTx/>
              <a:latin typeface="Arial"/>
            </a:endParaRPr>
          </a:p>
        </p:txBody>
      </p:sp>
      <p:sp>
        <p:nvSpPr>
          <p:cNvPr id="100" name="Rettangolo 99"/>
          <p:cNvSpPr/>
          <p:nvPr/>
        </p:nvSpPr>
        <p:spPr>
          <a:xfrm>
            <a:off x="7466400" y="3022309"/>
            <a:ext cx="558000" cy="252000"/>
          </a:xfrm>
          <a:prstGeom prst="rect">
            <a:avLst/>
          </a:prstGeom>
          <a:solidFill>
            <a:srgbClr val="F3A012"/>
          </a:solidFill>
          <a:ln w="9000">
            <a:solidFill>
              <a:srgbClr val="FFFFFF"/>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01" name="CasellaDiTesto 100"/>
          <p:cNvSpPr txBox="1"/>
          <p:nvPr/>
        </p:nvSpPr>
        <p:spPr>
          <a:xfrm>
            <a:off x="7477200" y="3069109"/>
            <a:ext cx="536400" cy="26100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Age</a:t>
            </a:r>
            <a:endParaRPr lang="en-US" sz="1200" b="0" u="none" strike="noStrike">
              <a:solidFill>
                <a:srgbClr val="000000"/>
              </a:solidFill>
              <a:effectLst/>
              <a:uFillTx/>
              <a:latin typeface="Arial"/>
            </a:endParaRPr>
          </a:p>
        </p:txBody>
      </p:sp>
      <p:sp>
        <p:nvSpPr>
          <p:cNvPr id="102" name="Rettangolo 101"/>
          <p:cNvSpPr/>
          <p:nvPr/>
        </p:nvSpPr>
        <p:spPr>
          <a:xfrm>
            <a:off x="8024400" y="3022309"/>
            <a:ext cx="558000" cy="252000"/>
          </a:xfrm>
          <a:prstGeom prst="rect">
            <a:avLst/>
          </a:prstGeom>
          <a:solidFill>
            <a:srgbClr val="F3A012"/>
          </a:solidFill>
          <a:ln w="9000">
            <a:solidFill>
              <a:srgbClr val="FFFFFF"/>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03" name="CasellaDiTesto 102"/>
          <p:cNvSpPr txBox="1"/>
          <p:nvPr/>
        </p:nvSpPr>
        <p:spPr>
          <a:xfrm>
            <a:off x="8035200" y="3069109"/>
            <a:ext cx="536400" cy="43164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Income</a:t>
            </a:r>
            <a:endParaRPr lang="en-US" sz="1200" b="0" u="none" strike="noStrike">
              <a:solidFill>
                <a:srgbClr val="000000"/>
              </a:solidFill>
              <a:effectLst/>
              <a:uFillTx/>
              <a:latin typeface="Arial"/>
            </a:endParaRPr>
          </a:p>
        </p:txBody>
      </p:sp>
      <p:sp>
        <p:nvSpPr>
          <p:cNvPr id="104" name="Rettangolo 103"/>
          <p:cNvSpPr/>
          <p:nvPr/>
        </p:nvSpPr>
        <p:spPr>
          <a:xfrm>
            <a:off x="8582400" y="3022309"/>
            <a:ext cx="558000" cy="252000"/>
          </a:xfrm>
          <a:prstGeom prst="rect">
            <a:avLst/>
          </a:prstGeom>
          <a:solidFill>
            <a:srgbClr val="F3A012"/>
          </a:solidFill>
          <a:ln w="9000">
            <a:solidFill>
              <a:srgbClr val="FFFFFF"/>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05" name="CasellaDiTesto 104"/>
          <p:cNvSpPr txBox="1"/>
          <p:nvPr/>
        </p:nvSpPr>
        <p:spPr>
          <a:xfrm>
            <a:off x="8593200" y="3069109"/>
            <a:ext cx="536400" cy="431640"/>
          </a:xfrm>
          <a:prstGeom prst="rect">
            <a:avLst/>
          </a:prstGeom>
          <a:noFill/>
          <a:ln w="0">
            <a:noFill/>
          </a:ln>
        </p:spPr>
        <p:txBody>
          <a:bodyPr lIns="90000" tIns="45000" rIns="90000" bIns="45000" anchor="ctr" anchorCtr="1">
            <a:spAutoFit/>
          </a:bodyPr>
          <a:lstStyle/>
          <a:p>
            <a:pPr algn="ctr"/>
            <a:r>
              <a:rPr lang="en-US" sz="1200" b="1" u="none" strike="noStrike">
                <a:solidFill>
                  <a:srgbClr val="FFFFFF"/>
                </a:solidFill>
                <a:effectLst/>
                <a:uFillTx/>
                <a:latin typeface="Arial"/>
              </a:rPr>
              <a:t>Score</a:t>
            </a:r>
            <a:endParaRPr lang="en-US" sz="1200" b="0" u="none" strike="noStrike">
              <a:solidFill>
                <a:srgbClr val="000000"/>
              </a:solidFill>
              <a:effectLst/>
              <a:uFillTx/>
              <a:latin typeface="Arial"/>
            </a:endParaRPr>
          </a:p>
        </p:txBody>
      </p:sp>
      <p:sp>
        <p:nvSpPr>
          <p:cNvPr id="106" name="Rettangolo 105"/>
          <p:cNvSpPr/>
          <p:nvPr/>
        </p:nvSpPr>
        <p:spPr>
          <a:xfrm>
            <a:off x="7466400" y="3274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07" name="CasellaDiTesto 106"/>
          <p:cNvSpPr txBox="1"/>
          <p:nvPr/>
        </p:nvSpPr>
        <p:spPr>
          <a:xfrm>
            <a:off x="7477200" y="3321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34</a:t>
            </a:r>
            <a:endParaRPr lang="en-US" sz="1100" b="0" u="none" strike="noStrike">
              <a:solidFill>
                <a:srgbClr val="000000"/>
              </a:solidFill>
              <a:effectLst/>
              <a:uFillTx/>
              <a:latin typeface="Arial"/>
            </a:endParaRPr>
          </a:p>
        </p:txBody>
      </p:sp>
      <p:sp>
        <p:nvSpPr>
          <p:cNvPr id="108" name="Rettangolo 107"/>
          <p:cNvSpPr/>
          <p:nvPr/>
        </p:nvSpPr>
        <p:spPr>
          <a:xfrm>
            <a:off x="8024400" y="3274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09" name="CasellaDiTesto 108"/>
          <p:cNvSpPr txBox="1"/>
          <p:nvPr/>
        </p:nvSpPr>
        <p:spPr>
          <a:xfrm>
            <a:off x="8035200" y="3321109"/>
            <a:ext cx="53640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28,000</a:t>
            </a:r>
            <a:endParaRPr lang="en-US" sz="1100" b="0" u="none" strike="noStrike">
              <a:solidFill>
                <a:srgbClr val="000000"/>
              </a:solidFill>
              <a:effectLst/>
              <a:uFillTx/>
              <a:latin typeface="Arial"/>
            </a:endParaRPr>
          </a:p>
        </p:txBody>
      </p:sp>
      <p:sp>
        <p:nvSpPr>
          <p:cNvPr id="110" name="Rettangolo 109"/>
          <p:cNvSpPr/>
          <p:nvPr/>
        </p:nvSpPr>
        <p:spPr>
          <a:xfrm>
            <a:off x="8582400" y="3274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1" name="CasellaDiTesto 110"/>
          <p:cNvSpPr txBox="1"/>
          <p:nvPr/>
        </p:nvSpPr>
        <p:spPr>
          <a:xfrm>
            <a:off x="8593200" y="3321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71</a:t>
            </a:r>
            <a:endParaRPr lang="en-US" sz="1100" b="0" u="none" strike="noStrike">
              <a:solidFill>
                <a:srgbClr val="000000"/>
              </a:solidFill>
              <a:effectLst/>
              <a:uFillTx/>
              <a:latin typeface="Arial"/>
            </a:endParaRPr>
          </a:p>
        </p:txBody>
      </p:sp>
      <p:sp>
        <p:nvSpPr>
          <p:cNvPr id="112" name="Rettangolo 111"/>
          <p:cNvSpPr/>
          <p:nvPr/>
        </p:nvSpPr>
        <p:spPr>
          <a:xfrm>
            <a:off x="7466400" y="3526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3" name="CasellaDiTesto 112"/>
          <p:cNvSpPr txBox="1"/>
          <p:nvPr/>
        </p:nvSpPr>
        <p:spPr>
          <a:xfrm>
            <a:off x="7477200" y="3573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41</a:t>
            </a:r>
            <a:endParaRPr lang="en-US" sz="1100" b="0" u="none" strike="noStrike">
              <a:solidFill>
                <a:srgbClr val="000000"/>
              </a:solidFill>
              <a:effectLst/>
              <a:uFillTx/>
              <a:latin typeface="Arial"/>
            </a:endParaRPr>
          </a:p>
        </p:txBody>
      </p:sp>
      <p:sp>
        <p:nvSpPr>
          <p:cNvPr id="114" name="Rettangolo 113"/>
          <p:cNvSpPr/>
          <p:nvPr/>
        </p:nvSpPr>
        <p:spPr>
          <a:xfrm>
            <a:off x="8024400" y="3526309"/>
            <a:ext cx="558000" cy="252000"/>
          </a:xfrm>
          <a:prstGeom prst="rect">
            <a:avLst/>
          </a:prstGeom>
          <a:solidFill>
            <a:srgbClr val="FFF3DC"/>
          </a:solidFill>
          <a:ln w="9000">
            <a:solidFill>
              <a:srgbClr val="F3A012"/>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5" name="CasellaDiTesto 114"/>
          <p:cNvSpPr txBox="1"/>
          <p:nvPr/>
        </p:nvSpPr>
        <p:spPr>
          <a:xfrm>
            <a:off x="8035200" y="3573109"/>
            <a:ext cx="536400" cy="401400"/>
          </a:xfrm>
          <a:prstGeom prst="rect">
            <a:avLst/>
          </a:prstGeom>
          <a:noFill/>
          <a:ln w="0">
            <a:noFill/>
          </a:ln>
        </p:spPr>
        <p:txBody>
          <a:bodyPr lIns="90000" tIns="45000" rIns="90000" bIns="45000" anchor="ctr" anchorCtr="1">
            <a:spAutoFit/>
          </a:bodyPr>
          <a:lstStyle/>
          <a:p>
            <a:pPr algn="ctr"/>
            <a:r>
              <a:rPr lang="en-US" sz="1100" b="0" u="none" strike="noStrike">
                <a:solidFill>
                  <a:srgbClr val="F3A012"/>
                </a:solidFill>
                <a:effectLst/>
                <a:uFillTx/>
                <a:latin typeface="Arial"/>
              </a:rPr>
              <a:t>missing</a:t>
            </a:r>
            <a:endParaRPr lang="en-US" sz="1100" b="0" u="none" strike="noStrike">
              <a:solidFill>
                <a:srgbClr val="000000"/>
              </a:solidFill>
              <a:effectLst/>
              <a:uFillTx/>
              <a:latin typeface="Arial"/>
            </a:endParaRPr>
          </a:p>
        </p:txBody>
      </p:sp>
      <p:sp>
        <p:nvSpPr>
          <p:cNvPr id="116" name="Rettangolo 115"/>
          <p:cNvSpPr/>
          <p:nvPr/>
        </p:nvSpPr>
        <p:spPr>
          <a:xfrm>
            <a:off x="8582400" y="3526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7" name="CasellaDiTesto 116"/>
          <p:cNvSpPr txBox="1"/>
          <p:nvPr/>
        </p:nvSpPr>
        <p:spPr>
          <a:xfrm>
            <a:off x="8593200" y="3573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69</a:t>
            </a:r>
            <a:endParaRPr lang="en-US" sz="1100" b="0" u="none" strike="noStrike">
              <a:solidFill>
                <a:srgbClr val="000000"/>
              </a:solidFill>
              <a:effectLst/>
              <a:uFillTx/>
              <a:latin typeface="Arial"/>
            </a:endParaRPr>
          </a:p>
        </p:txBody>
      </p:sp>
      <p:sp>
        <p:nvSpPr>
          <p:cNvPr id="118" name="Rettangolo 117"/>
          <p:cNvSpPr/>
          <p:nvPr/>
        </p:nvSpPr>
        <p:spPr>
          <a:xfrm>
            <a:off x="7466400" y="3778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9" name="CasellaDiTesto 118"/>
          <p:cNvSpPr txBox="1"/>
          <p:nvPr/>
        </p:nvSpPr>
        <p:spPr>
          <a:xfrm>
            <a:off x="7477200" y="3825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39</a:t>
            </a:r>
            <a:endParaRPr lang="en-US" sz="1100" b="0" u="none" strike="noStrike">
              <a:solidFill>
                <a:srgbClr val="000000"/>
              </a:solidFill>
              <a:effectLst/>
              <a:uFillTx/>
              <a:latin typeface="Arial"/>
            </a:endParaRPr>
          </a:p>
        </p:txBody>
      </p:sp>
      <p:sp>
        <p:nvSpPr>
          <p:cNvPr id="120" name="Rettangolo 119"/>
          <p:cNvSpPr/>
          <p:nvPr/>
        </p:nvSpPr>
        <p:spPr>
          <a:xfrm>
            <a:off x="8024400" y="3778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21" name="CasellaDiTesto 120"/>
          <p:cNvSpPr txBox="1"/>
          <p:nvPr/>
        </p:nvSpPr>
        <p:spPr>
          <a:xfrm>
            <a:off x="8035200" y="3825109"/>
            <a:ext cx="536400" cy="40140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31,500</a:t>
            </a:r>
            <a:endParaRPr lang="en-US" sz="1100" b="0" u="none" strike="noStrike">
              <a:solidFill>
                <a:srgbClr val="000000"/>
              </a:solidFill>
              <a:effectLst/>
              <a:uFillTx/>
              <a:latin typeface="Arial"/>
            </a:endParaRPr>
          </a:p>
        </p:txBody>
      </p:sp>
      <p:sp>
        <p:nvSpPr>
          <p:cNvPr id="122" name="Rettangolo 121"/>
          <p:cNvSpPr/>
          <p:nvPr/>
        </p:nvSpPr>
        <p:spPr>
          <a:xfrm>
            <a:off x="8582400" y="3778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23" name="CasellaDiTesto 122"/>
          <p:cNvSpPr txBox="1"/>
          <p:nvPr/>
        </p:nvSpPr>
        <p:spPr>
          <a:xfrm>
            <a:off x="8593200" y="3825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70</a:t>
            </a:r>
            <a:endParaRPr lang="en-US" sz="1100" b="0" u="none" strike="noStrike">
              <a:solidFill>
                <a:srgbClr val="000000"/>
              </a:solidFill>
              <a:effectLst/>
              <a:uFillTx/>
              <a:latin typeface="Arial"/>
            </a:endParaRPr>
          </a:p>
        </p:txBody>
      </p:sp>
      <p:sp>
        <p:nvSpPr>
          <p:cNvPr id="124" name="Rettangolo 123"/>
          <p:cNvSpPr/>
          <p:nvPr/>
        </p:nvSpPr>
        <p:spPr>
          <a:xfrm>
            <a:off x="7466400" y="4030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25" name="CasellaDiTesto 124"/>
          <p:cNvSpPr txBox="1"/>
          <p:nvPr/>
        </p:nvSpPr>
        <p:spPr>
          <a:xfrm>
            <a:off x="7477200" y="4077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36</a:t>
            </a:r>
            <a:endParaRPr lang="en-US" sz="1100" b="0" u="none" strike="noStrike">
              <a:solidFill>
                <a:srgbClr val="000000"/>
              </a:solidFill>
              <a:effectLst/>
              <a:uFillTx/>
              <a:latin typeface="Arial"/>
            </a:endParaRPr>
          </a:p>
        </p:txBody>
      </p:sp>
      <p:sp>
        <p:nvSpPr>
          <p:cNvPr id="126" name="Rettangolo 125"/>
          <p:cNvSpPr/>
          <p:nvPr/>
        </p:nvSpPr>
        <p:spPr>
          <a:xfrm>
            <a:off x="8024400" y="4030309"/>
            <a:ext cx="558000" cy="252000"/>
          </a:xfrm>
          <a:prstGeom prst="rect">
            <a:avLst/>
          </a:prstGeom>
          <a:solidFill>
            <a:srgbClr val="FCE8E8"/>
          </a:solidFill>
          <a:ln w="9000">
            <a:solidFill>
              <a:srgbClr val="E35454"/>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27" name="CasellaDiTesto 126"/>
          <p:cNvSpPr txBox="1"/>
          <p:nvPr/>
        </p:nvSpPr>
        <p:spPr>
          <a:xfrm>
            <a:off x="7962840" y="4058662"/>
            <a:ext cx="691624" cy="260156"/>
          </a:xfrm>
          <a:prstGeom prst="rect">
            <a:avLst/>
          </a:prstGeom>
          <a:noFill/>
          <a:ln w="0">
            <a:noFill/>
          </a:ln>
        </p:spPr>
        <p:txBody>
          <a:bodyPr wrap="square" lIns="90000" tIns="45000" rIns="90000" bIns="45000" anchor="ctr" anchorCtr="1">
            <a:spAutoFit/>
          </a:bodyPr>
          <a:lstStyle/>
          <a:p>
            <a:pPr algn="ctr"/>
            <a:r>
              <a:rPr lang="en-US" sz="1100" b="0" u="none" strike="noStrike" dirty="0">
                <a:solidFill>
                  <a:srgbClr val="E35454"/>
                </a:solidFill>
                <a:effectLst/>
                <a:uFillTx/>
                <a:latin typeface="Arial"/>
              </a:rPr>
              <a:t>999,999</a:t>
            </a:r>
            <a:endParaRPr lang="en-US" sz="1100" b="0" u="none" strike="noStrike" dirty="0">
              <a:solidFill>
                <a:srgbClr val="000000"/>
              </a:solidFill>
              <a:effectLst/>
              <a:uFillTx/>
              <a:latin typeface="Arial"/>
            </a:endParaRPr>
          </a:p>
        </p:txBody>
      </p:sp>
      <p:sp>
        <p:nvSpPr>
          <p:cNvPr id="128" name="Rettangolo 127"/>
          <p:cNvSpPr/>
          <p:nvPr/>
        </p:nvSpPr>
        <p:spPr>
          <a:xfrm>
            <a:off x="8582400" y="4030309"/>
            <a:ext cx="558000" cy="252000"/>
          </a:xfrm>
          <a:prstGeom prst="rect">
            <a:avLst/>
          </a:prstGeom>
          <a:solidFill>
            <a:srgbClr val="FFFFFF"/>
          </a:solidFill>
          <a:ln w="9000">
            <a:solidFill>
              <a:srgbClr val="DDE2E9"/>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29" name="CasellaDiTesto 128"/>
          <p:cNvSpPr txBox="1"/>
          <p:nvPr/>
        </p:nvSpPr>
        <p:spPr>
          <a:xfrm>
            <a:off x="8593200" y="4077109"/>
            <a:ext cx="536400" cy="245880"/>
          </a:xfrm>
          <a:prstGeom prst="rect">
            <a:avLst/>
          </a:prstGeom>
          <a:noFill/>
          <a:ln w="0">
            <a:noFill/>
          </a:ln>
        </p:spPr>
        <p:txBody>
          <a:bodyPr lIns="90000" tIns="45000" rIns="90000" bIns="45000" anchor="ctr" anchorCtr="1">
            <a:spAutoFit/>
          </a:bodyPr>
          <a:lstStyle/>
          <a:p>
            <a:pPr algn="ctr"/>
            <a:r>
              <a:rPr lang="en-US" sz="1100" b="0" u="none" strike="noStrike">
                <a:solidFill>
                  <a:srgbClr val="606C80"/>
                </a:solidFill>
                <a:effectLst/>
                <a:uFillTx/>
                <a:latin typeface="Arial"/>
              </a:rPr>
              <a:t>72</a:t>
            </a:r>
            <a:endParaRPr lang="en-US" sz="1100" b="0" u="none" strike="noStrike">
              <a:solidFill>
                <a:srgbClr val="000000"/>
              </a:solidFill>
              <a:effectLst/>
              <a:uFillTx/>
              <a:latin typeface="Arial"/>
            </a:endParaRPr>
          </a:p>
        </p:txBody>
      </p:sp>
      <p:sp>
        <p:nvSpPr>
          <p:cNvPr id="130" name="CasellaDiTesto 129"/>
          <p:cNvSpPr txBox="1"/>
          <p:nvPr/>
        </p:nvSpPr>
        <p:spPr>
          <a:xfrm>
            <a:off x="7376400" y="4480309"/>
            <a:ext cx="1908000" cy="1198875"/>
          </a:xfrm>
          <a:prstGeom prst="rect">
            <a:avLst/>
          </a:prstGeom>
          <a:noFill/>
          <a:ln w="0">
            <a:noFill/>
          </a:ln>
        </p:spPr>
        <p:txBody>
          <a:bodyPr wrap="square" lIns="90000" tIns="45000" rIns="90000" bIns="45000" anchor="ctr">
            <a:spAutoFit/>
          </a:bodyPr>
          <a:lstStyle/>
          <a:p>
            <a:r>
              <a:rPr lang="en-US" sz="1200" b="0" u="none" strike="noStrike" dirty="0">
                <a:solidFill>
                  <a:srgbClr val="606C80"/>
                </a:solidFill>
                <a:effectLst/>
                <a:uFillTx/>
                <a:latin typeface="Arial"/>
              </a:rPr>
              <a:t>Example question:</a:t>
            </a:r>
            <a:endParaRPr lang="en-US" sz="1200" b="0" u="none" strike="noStrike" dirty="0">
              <a:solidFill>
                <a:srgbClr val="000000"/>
              </a:solidFill>
              <a:effectLst/>
              <a:uFillTx/>
              <a:latin typeface="Arial"/>
            </a:endParaRPr>
          </a:p>
          <a:p>
            <a:r>
              <a:rPr lang="en-US" sz="1200" b="0" u="none" strike="noStrike" dirty="0">
                <a:solidFill>
                  <a:srgbClr val="606C80"/>
                </a:solidFill>
                <a:effectLst/>
                <a:uFillTx/>
                <a:latin typeface="Arial"/>
              </a:rPr>
              <a:t>Where are the blanks, errors or extreme values that could distort averages, correlations and charts?</a:t>
            </a:r>
            <a:endParaRPr lang="en-US" sz="1200" b="0" u="none" strike="noStrike" dirty="0">
              <a:solidFill>
                <a:srgbClr val="000000"/>
              </a:solidFill>
              <a:effectLst/>
              <a:uFillTx/>
              <a:latin typeface="Arial"/>
            </a:endParaRPr>
          </a:p>
        </p:txBody>
      </p:sp>
      <p:sp>
        <p:nvSpPr>
          <p:cNvPr id="131" name="Connettore diritto 130"/>
          <p:cNvSpPr/>
          <p:nvPr/>
        </p:nvSpPr>
        <p:spPr>
          <a:xfrm>
            <a:off x="9781200" y="4246309"/>
            <a:ext cx="1638000" cy="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132" name="Connettore diritto 131"/>
          <p:cNvSpPr/>
          <p:nvPr/>
        </p:nvSpPr>
        <p:spPr>
          <a:xfrm>
            <a:off x="9781200" y="3094309"/>
            <a:ext cx="0" cy="1152000"/>
          </a:xfrm>
          <a:prstGeom prst="line">
            <a:avLst/>
          </a:prstGeom>
          <a:ln w="12600">
            <a:solidFill>
              <a:srgbClr val="DDE2E9"/>
            </a:solidFill>
            <a:round/>
          </a:ln>
        </p:spPr>
        <p:style>
          <a:lnRef idx="0">
            <a:scrgbClr r="0" g="0" b="0"/>
          </a:lnRef>
          <a:fillRef idx="0">
            <a:scrgbClr r="0" g="0" b="0"/>
          </a:fillRef>
          <a:effectRef idx="0">
            <a:scrgbClr r="0" g="0" b="0"/>
          </a:effectRef>
          <a:fontRef idx="minor"/>
        </p:style>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133" name="Connettore diritto 132"/>
          <p:cNvSpPr/>
          <p:nvPr/>
        </p:nvSpPr>
        <p:spPr>
          <a:xfrm>
            <a:off x="9781200" y="3612709"/>
            <a:ext cx="163800" cy="11520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4" name="Connettore diritto 133"/>
          <p:cNvSpPr/>
          <p:nvPr/>
        </p:nvSpPr>
        <p:spPr>
          <a:xfrm flipV="1">
            <a:off x="9945000" y="3497509"/>
            <a:ext cx="163800" cy="23040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5" name="Connettore diritto 134"/>
          <p:cNvSpPr/>
          <p:nvPr/>
        </p:nvSpPr>
        <p:spPr>
          <a:xfrm>
            <a:off x="10108800" y="3497509"/>
            <a:ext cx="163800" cy="31104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6" name="Connettore diritto 135"/>
          <p:cNvSpPr/>
          <p:nvPr/>
        </p:nvSpPr>
        <p:spPr>
          <a:xfrm flipV="1">
            <a:off x="10272600" y="3416869"/>
            <a:ext cx="163800" cy="39168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7" name="Connettore diritto 136"/>
          <p:cNvSpPr/>
          <p:nvPr/>
        </p:nvSpPr>
        <p:spPr>
          <a:xfrm>
            <a:off x="10436400" y="3416869"/>
            <a:ext cx="163800" cy="29952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8" name="Connettore diritto 137"/>
          <p:cNvSpPr/>
          <p:nvPr/>
        </p:nvSpPr>
        <p:spPr>
          <a:xfrm flipV="1">
            <a:off x="10600200" y="3347749"/>
            <a:ext cx="163800" cy="36864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39" name="Connettore diritto 138"/>
          <p:cNvSpPr/>
          <p:nvPr/>
        </p:nvSpPr>
        <p:spPr>
          <a:xfrm>
            <a:off x="10764000" y="3347749"/>
            <a:ext cx="163800" cy="29952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40" name="Connettore diritto 139"/>
          <p:cNvSpPr/>
          <p:nvPr/>
        </p:nvSpPr>
        <p:spPr>
          <a:xfrm flipV="1">
            <a:off x="10927800" y="3278629"/>
            <a:ext cx="163800" cy="36864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41" name="Connettore diritto 140"/>
          <p:cNvSpPr/>
          <p:nvPr/>
        </p:nvSpPr>
        <p:spPr>
          <a:xfrm>
            <a:off x="11091600" y="3278629"/>
            <a:ext cx="163800" cy="299520"/>
          </a:xfrm>
          <a:prstGeom prst="line">
            <a:avLst/>
          </a:prstGeom>
          <a:ln w="18000">
            <a:solidFill>
              <a:srgbClr val="39B272"/>
            </a:solidFill>
            <a:round/>
          </a:ln>
        </p:spPr>
        <p:style>
          <a:lnRef idx="0">
            <a:scrgbClr r="0" g="0" b="0"/>
          </a:lnRef>
          <a:fillRef idx="0">
            <a:scrgbClr r="0" g="0" b="0"/>
          </a:fillRef>
          <a:effectRef idx="0">
            <a:scrgbClr r="0" g="0" b="0"/>
          </a:effectRef>
          <a:fontRef idx="minor"/>
        </p:style>
        <p:txBody>
          <a:bodyPr lIns="99000" tIns="54000" rIns="99000" bIns="54000" anchor="ctr" anchorCtr="1">
            <a:noAutofit/>
          </a:bodyPr>
          <a:lstStyle/>
          <a:p>
            <a:endParaRPr lang="en-US" sz="1800" b="0" u="none" strike="noStrike">
              <a:solidFill>
                <a:srgbClr val="000000"/>
              </a:solidFill>
              <a:effectLst/>
              <a:uFillTx/>
              <a:latin typeface="Arial"/>
            </a:endParaRPr>
          </a:p>
        </p:txBody>
      </p:sp>
      <p:sp>
        <p:nvSpPr>
          <p:cNvPr id="142" name="Ovale 141"/>
          <p:cNvSpPr/>
          <p:nvPr/>
        </p:nvSpPr>
        <p:spPr>
          <a:xfrm>
            <a:off x="11059200" y="3246229"/>
            <a:ext cx="64800" cy="64800"/>
          </a:xfrm>
          <a:prstGeom prst="ellipse">
            <a:avLst/>
          </a:prstGeom>
          <a:solidFill>
            <a:srgbClr val="E35454"/>
          </a:solidFill>
          <a:ln w="0">
            <a:noFill/>
          </a:ln>
        </p:spPr>
        <p:txBody>
          <a:bodyPr lIns="90000" tIns="19800" rIns="90000" bIns="19800" anchor="ctr" anchorCtr="1">
            <a:noAutofit/>
          </a:bodyPr>
          <a:lstStyle/>
          <a:p>
            <a:endParaRPr lang="en-US" sz="1800" b="0" u="none" strike="noStrike">
              <a:solidFill>
                <a:srgbClr val="FFFFFF"/>
              </a:solidFill>
              <a:effectLst/>
              <a:uFillTx/>
              <a:latin typeface="Arial"/>
            </a:endParaRPr>
          </a:p>
        </p:txBody>
      </p:sp>
      <p:sp>
        <p:nvSpPr>
          <p:cNvPr id="143" name="CasellaDiTesto 142"/>
          <p:cNvSpPr txBox="1"/>
          <p:nvPr/>
        </p:nvSpPr>
        <p:spPr>
          <a:xfrm>
            <a:off x="9700616" y="4445711"/>
            <a:ext cx="1854000" cy="1198875"/>
          </a:xfrm>
          <a:prstGeom prst="rect">
            <a:avLst/>
          </a:prstGeom>
          <a:noFill/>
          <a:ln w="0">
            <a:noFill/>
          </a:ln>
        </p:spPr>
        <p:txBody>
          <a:bodyPr lIns="90000" tIns="45000" rIns="90000" bIns="45000" anchor="ctr">
            <a:spAutoFit/>
          </a:bodyPr>
          <a:lstStyle/>
          <a:p>
            <a:r>
              <a:rPr lang="en-US" sz="1200" b="0" u="none" strike="noStrike" dirty="0">
                <a:solidFill>
                  <a:srgbClr val="606C80"/>
                </a:solidFill>
                <a:effectLst/>
                <a:uFillTx/>
                <a:latin typeface="Arial"/>
              </a:rPr>
              <a:t>Example question:</a:t>
            </a:r>
            <a:endParaRPr lang="en-US" sz="1200" b="0" u="none" strike="noStrike" dirty="0">
              <a:solidFill>
                <a:srgbClr val="000000"/>
              </a:solidFill>
              <a:effectLst/>
              <a:uFillTx/>
              <a:latin typeface="Arial"/>
            </a:endParaRPr>
          </a:p>
          <a:p>
            <a:r>
              <a:rPr lang="en-US" sz="1200" b="0" u="none" strike="noStrike" dirty="0">
                <a:solidFill>
                  <a:srgbClr val="606C80"/>
                </a:solidFill>
                <a:effectLst/>
                <a:uFillTx/>
                <a:latin typeface="Arial"/>
              </a:rPr>
              <a:t>Is there a repeated monthly pattern, an upward trend or a point that breaks the usual </a:t>
            </a:r>
            <a:r>
              <a:rPr lang="en-US" sz="1200" b="0" u="none" strike="noStrike" dirty="0" err="1">
                <a:solidFill>
                  <a:srgbClr val="606C80"/>
                </a:solidFill>
                <a:effectLst/>
                <a:uFillTx/>
                <a:latin typeface="Arial"/>
              </a:rPr>
              <a:t>behaviour</a:t>
            </a:r>
            <a:r>
              <a:rPr lang="en-US" sz="1200" b="0" u="none" strike="noStrike" dirty="0">
                <a:solidFill>
                  <a:srgbClr val="606C80"/>
                </a:solidFill>
                <a:effectLst/>
                <a:uFillTx/>
                <a:latin typeface="Arial"/>
              </a:rPr>
              <a:t>?</a:t>
            </a:r>
            <a:endParaRPr lang="en-US" sz="1200" b="0" u="none" strike="noStrike" dirty="0">
              <a:solidFill>
                <a:srgbClr val="000000"/>
              </a:solidFill>
              <a:effectLst/>
              <a:uFillTx/>
              <a:latin typeface="Arial"/>
            </a:endParaRPr>
          </a:p>
        </p:txBody>
      </p:sp>
      <p:sp>
        <p:nvSpPr>
          <p:cNvPr id="144" name="Rettangolo 143"/>
          <p:cNvSpPr/>
          <p:nvPr/>
        </p:nvSpPr>
        <p:spPr>
          <a:xfrm>
            <a:off x="2592000" y="6138000"/>
            <a:ext cx="6984000" cy="306000"/>
          </a:xfrm>
          <a:prstGeom prst="rect">
            <a:avLst/>
          </a:prstGeom>
          <a:solidFill>
            <a:srgbClr val="FFFFFF"/>
          </a:solidFill>
          <a:ln w="9000">
            <a:solidFill>
              <a:srgbClr val="0097A7"/>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45" name="CasellaDiTesto 144"/>
          <p:cNvSpPr txBox="1"/>
          <p:nvPr/>
        </p:nvSpPr>
        <p:spPr>
          <a:xfrm>
            <a:off x="2584080" y="6127920"/>
            <a:ext cx="6768000" cy="316080"/>
          </a:xfrm>
          <a:prstGeom prst="rect">
            <a:avLst/>
          </a:prstGeom>
          <a:noFill/>
          <a:ln w="0">
            <a:noFill/>
          </a:ln>
        </p:spPr>
        <p:txBody>
          <a:bodyPr lIns="90000" tIns="45000" rIns="90000" bIns="45000" anchor="ctr" anchorCtr="1">
            <a:spAutoFit/>
          </a:bodyPr>
          <a:lstStyle/>
          <a:p>
            <a:pPr algn="ctr"/>
            <a:r>
              <a:rPr lang="en-US" sz="1600" b="0" u="none" strike="noStrike" dirty="0">
                <a:solidFill>
                  <a:srgbClr val="162841"/>
                </a:solidFill>
                <a:effectLst/>
                <a:uFillTx/>
                <a:latin typeface="Arial"/>
              </a:rPr>
              <a:t>EDA = structure + distributions + relationships + data issues + patterns</a:t>
            </a:r>
            <a:endParaRPr lang="en-US" sz="1600" b="0" u="none" strike="noStrike" dirty="0">
              <a:solidFill>
                <a:srgbClr val="000000"/>
              </a:solidFill>
              <a:effectLst/>
              <a:uFillTx/>
              <a:latin typeface="Arial"/>
            </a:endParaRPr>
          </a:p>
        </p:txBody>
      </p:sp>
      <p:sp>
        <p:nvSpPr>
          <p:cNvPr id="3" name="Text 0">
            <a:extLst>
              <a:ext uri="{FF2B5EF4-FFF2-40B4-BE49-F238E27FC236}">
                <a16:creationId xmlns:a16="http://schemas.microsoft.com/office/drawing/2014/main" id="{95C6CFFA-7052-8E3D-7FAE-3D165E2EB837}"/>
              </a:ext>
            </a:extLst>
          </p:cNvPr>
          <p:cNvSpPr/>
          <p:nvPr/>
        </p:nvSpPr>
        <p:spPr>
          <a:xfrm>
            <a:off x="450387"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4" name="Slide Number Placeholder 0">
            <a:extLst>
              <a:ext uri="{FF2B5EF4-FFF2-40B4-BE49-F238E27FC236}">
                <a16:creationId xmlns:a16="http://schemas.microsoft.com/office/drawing/2014/main" id="{A00F58FF-F70D-DF30-B578-12F7AB0B73FE}"/>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72B44"/>
          </a:solidFill>
          <a:ln w="12700">
            <a:solidFill>
              <a:srgbClr val="172B44">
                <a:alpha val="0"/>
              </a:srgbClr>
            </a:solidFill>
            <a:prstDash val="solid"/>
          </a:ln>
        </p:spPr>
      </p:sp>
      <p:sp>
        <p:nvSpPr>
          <p:cNvPr id="3" name="Text 1"/>
          <p:cNvSpPr/>
          <p:nvPr/>
        </p:nvSpPr>
        <p:spPr>
          <a:xfrm>
            <a:off x="384048" y="155448"/>
            <a:ext cx="3200400" cy="210312"/>
          </a:xfrm>
          <a:prstGeom prst="rect">
            <a:avLst/>
          </a:prstGeom>
          <a:noFill/>
          <a:ln/>
        </p:spPr>
        <p:txBody>
          <a:bodyPr wrap="square" lIns="0" tIns="0" rIns="0" bIns="0" rtlCol="0" anchor="ctr"/>
          <a:lstStyle/>
          <a:p>
            <a:pPr marL="0" indent="0">
              <a:buNone/>
            </a:pPr>
            <a:r>
              <a:rPr lang="en-US" sz="1000" b="1" dirty="0">
                <a:solidFill>
                  <a:srgbClr val="0097A7"/>
                </a:solidFill>
                <a:latin typeface="Aptos" pitchFamily="34" charset="0"/>
                <a:ea typeface="Aptos" pitchFamily="34" charset="-122"/>
                <a:cs typeface="Aptos" pitchFamily="34" charset="-120"/>
              </a:rPr>
              <a:t>03 · EXPLORATORY DATA ANALYSIS</a:t>
            </a:r>
            <a:endParaRPr lang="en-US" sz="1000" dirty="0"/>
          </a:p>
        </p:txBody>
      </p:sp>
      <p:sp>
        <p:nvSpPr>
          <p:cNvPr id="4" name="Text 2"/>
          <p:cNvSpPr/>
          <p:nvPr/>
        </p:nvSpPr>
        <p:spPr>
          <a:xfrm>
            <a:off x="384048" y="429768"/>
            <a:ext cx="4846320" cy="420624"/>
          </a:xfrm>
          <a:prstGeom prst="rect">
            <a:avLst/>
          </a:prstGeom>
          <a:noFill/>
          <a:ln/>
        </p:spPr>
        <p:txBody>
          <a:bodyPr wrap="square" lIns="0" tIns="0" rIns="0" bIns="0" rtlCol="0" anchor="ctr"/>
          <a:lstStyle/>
          <a:p>
            <a:pPr marL="0" indent="0">
              <a:buNone/>
            </a:pPr>
            <a:r>
              <a:rPr lang="en-US" sz="2400" b="1" dirty="0">
                <a:solidFill>
                  <a:srgbClr val="172B44"/>
                </a:solidFill>
                <a:latin typeface="Aptos Display" pitchFamily="34" charset="0"/>
                <a:ea typeface="Aptos Display" pitchFamily="34" charset="-122"/>
                <a:cs typeface="Aptos Display" pitchFamily="34" charset="-120"/>
              </a:rPr>
              <a:t>What is a “pattern”?</a:t>
            </a:r>
            <a:endParaRPr lang="en-US" sz="2400" dirty="0"/>
          </a:p>
        </p:txBody>
      </p:sp>
      <p:sp>
        <p:nvSpPr>
          <p:cNvPr id="5" name="Text 3"/>
          <p:cNvSpPr/>
          <p:nvPr/>
        </p:nvSpPr>
        <p:spPr>
          <a:xfrm>
            <a:off x="384048" y="850392"/>
            <a:ext cx="7040880" cy="320040"/>
          </a:xfrm>
          <a:prstGeom prst="rect">
            <a:avLst/>
          </a:prstGeom>
          <a:noFill/>
          <a:ln/>
        </p:spPr>
        <p:txBody>
          <a:bodyPr wrap="square" lIns="0" tIns="0" rIns="0" bIns="0" rtlCol="0" anchor="ctr"/>
          <a:lstStyle/>
          <a:p>
            <a:pPr marL="0" indent="0">
              <a:buNone/>
            </a:pPr>
            <a:r>
              <a:rPr lang="en-US" sz="1150" dirty="0">
                <a:solidFill>
                  <a:srgbClr val="6C7788"/>
                </a:solidFill>
                <a:latin typeface="Aptos" pitchFamily="34" charset="0"/>
                <a:ea typeface="Aptos" pitchFamily="34" charset="-122"/>
                <a:cs typeface="Aptos" pitchFamily="34" charset="-120"/>
              </a:rPr>
              <a:t>Pattern recognition means finding recurring structures inside data that may initially look random.</a:t>
            </a:r>
            <a:endParaRPr lang="en-US" sz="1150" dirty="0"/>
          </a:p>
        </p:txBody>
      </p:sp>
      <p:sp>
        <p:nvSpPr>
          <p:cNvPr id="6" name="Shape 4"/>
          <p:cNvSpPr/>
          <p:nvPr/>
        </p:nvSpPr>
        <p:spPr>
          <a:xfrm>
            <a:off x="384048" y="1325880"/>
            <a:ext cx="5989320" cy="2788920"/>
          </a:xfrm>
          <a:prstGeom prst="roundRect">
            <a:avLst>
              <a:gd name="adj" fmla="val 2623"/>
            </a:avLst>
          </a:prstGeom>
          <a:solidFill>
            <a:srgbClr val="FFFFFF"/>
          </a:solidFill>
          <a:ln w="12700">
            <a:solidFill>
              <a:srgbClr val="DCE3EA"/>
            </a:solidFill>
            <a:prstDash val="solid"/>
          </a:ln>
        </p:spPr>
      </p:sp>
      <p:sp>
        <p:nvSpPr>
          <p:cNvPr id="7" name="Text 5"/>
          <p:cNvSpPr/>
          <p:nvPr/>
        </p:nvSpPr>
        <p:spPr>
          <a:xfrm>
            <a:off x="603504" y="1536192"/>
            <a:ext cx="4206240" cy="320040"/>
          </a:xfrm>
          <a:prstGeom prst="rect">
            <a:avLst/>
          </a:prstGeom>
          <a:noFill/>
          <a:ln/>
        </p:spPr>
        <p:txBody>
          <a:bodyPr wrap="square" lIns="0" tIns="0" rIns="0" bIns="0" rtlCol="0" anchor="ctr"/>
          <a:lstStyle/>
          <a:p>
            <a:pPr marL="0" indent="0">
              <a:buNone/>
            </a:pPr>
            <a:r>
              <a:rPr lang="en-US" sz="1600" b="1" dirty="0">
                <a:solidFill>
                  <a:srgbClr val="172B44"/>
                </a:solidFill>
                <a:latin typeface="Aptos" pitchFamily="34" charset="0"/>
                <a:ea typeface="Aptos" pitchFamily="34" charset="-122"/>
                <a:cs typeface="Aptos" pitchFamily="34" charset="-120"/>
              </a:rPr>
              <a:t>Look at this set of numbers and letters:</a:t>
            </a:r>
            <a:endParaRPr lang="en-US" sz="1600" dirty="0"/>
          </a:p>
        </p:txBody>
      </p:sp>
      <p:sp>
        <p:nvSpPr>
          <p:cNvPr id="8" name="Text 6"/>
          <p:cNvSpPr/>
          <p:nvPr/>
        </p:nvSpPr>
        <p:spPr>
          <a:xfrm>
            <a:off x="621792" y="1984248"/>
            <a:ext cx="5440680" cy="310896"/>
          </a:xfrm>
          <a:prstGeom prst="rect">
            <a:avLst/>
          </a:prstGeom>
          <a:noFill/>
          <a:ln/>
        </p:spPr>
        <p:txBody>
          <a:bodyPr wrap="square" lIns="0" tIns="0" rIns="0" bIns="0" rtlCol="0" anchor="ctr"/>
          <a:lstStyle/>
          <a:p>
            <a:pPr marL="0" indent="0">
              <a:buNone/>
            </a:pPr>
            <a:r>
              <a:rPr lang="en-US" sz="1500" b="1" dirty="0">
                <a:solidFill>
                  <a:srgbClr val="4E5969"/>
                </a:solidFill>
              </a:rPr>
              <a:t>• </a:t>
            </a:r>
            <a:r>
              <a:rPr lang="en-US" sz="1500" dirty="0">
                <a:solidFill>
                  <a:srgbClr val="4E5969"/>
                </a:solidFill>
                <a:latin typeface="Aptos Mono" pitchFamily="34" charset="0"/>
                <a:ea typeface="Aptos Mono" pitchFamily="34" charset="-122"/>
                <a:cs typeface="Aptos Mono" pitchFamily="34" charset="-120"/>
              </a:rPr>
              <a:t>knsxoi543y77778efh8rfv097777d</a:t>
            </a:r>
            <a:endParaRPr lang="en-US" sz="1500" dirty="0"/>
          </a:p>
        </p:txBody>
      </p:sp>
      <p:sp>
        <p:nvSpPr>
          <p:cNvPr id="9" name="Text 7"/>
          <p:cNvSpPr/>
          <p:nvPr/>
        </p:nvSpPr>
        <p:spPr>
          <a:xfrm>
            <a:off x="621792" y="2386584"/>
            <a:ext cx="5440680" cy="310896"/>
          </a:xfrm>
          <a:prstGeom prst="rect">
            <a:avLst/>
          </a:prstGeom>
          <a:noFill/>
          <a:ln/>
        </p:spPr>
        <p:txBody>
          <a:bodyPr wrap="square" lIns="0" tIns="0" rIns="0" bIns="0" rtlCol="0" anchor="ctr"/>
          <a:lstStyle/>
          <a:p>
            <a:pPr marL="0" indent="0">
              <a:buNone/>
            </a:pPr>
            <a:r>
              <a:rPr lang="en-US" sz="1500" b="1" dirty="0">
                <a:solidFill>
                  <a:srgbClr val="4E5969"/>
                </a:solidFill>
              </a:rPr>
              <a:t>• </a:t>
            </a:r>
            <a:r>
              <a:rPr lang="en-US" sz="1500" dirty="0">
                <a:solidFill>
                  <a:srgbClr val="4E5969"/>
                </a:solidFill>
                <a:latin typeface="Aptos Mono" pitchFamily="34" charset="0"/>
                <a:ea typeface="Aptos Mono" pitchFamily="34" charset="-122"/>
                <a:cs typeface="Aptos Mono" pitchFamily="34" charset="-120"/>
              </a:rPr>
              <a:t>j39e8389f7777lmjbh8ihrz7777</a:t>
            </a:r>
            <a:endParaRPr lang="en-US" sz="1500" dirty="0"/>
          </a:p>
        </p:txBody>
      </p:sp>
      <p:sp>
        <p:nvSpPr>
          <p:cNvPr id="10" name="Text 8"/>
          <p:cNvSpPr/>
          <p:nvPr/>
        </p:nvSpPr>
        <p:spPr>
          <a:xfrm>
            <a:off x="621792" y="2788920"/>
            <a:ext cx="5440680" cy="310896"/>
          </a:xfrm>
          <a:prstGeom prst="rect">
            <a:avLst/>
          </a:prstGeom>
          <a:noFill/>
          <a:ln/>
        </p:spPr>
        <p:txBody>
          <a:bodyPr wrap="square" lIns="0" tIns="0" rIns="0" bIns="0" rtlCol="0" anchor="ctr"/>
          <a:lstStyle/>
          <a:p>
            <a:pPr marL="0" indent="0">
              <a:buNone/>
            </a:pPr>
            <a:r>
              <a:rPr lang="en-US" sz="1500" b="1" dirty="0">
                <a:solidFill>
                  <a:srgbClr val="4E5969"/>
                </a:solidFill>
              </a:rPr>
              <a:t>• </a:t>
            </a:r>
            <a:r>
              <a:rPr lang="en-US" sz="1500" dirty="0">
                <a:solidFill>
                  <a:srgbClr val="4E5969"/>
                </a:solidFill>
                <a:latin typeface="Aptos Mono" pitchFamily="34" charset="0"/>
                <a:ea typeface="Aptos Mono" pitchFamily="34" charset="-122"/>
                <a:cs typeface="Aptos Mono" pitchFamily="34" charset="-120"/>
              </a:rPr>
              <a:t>knsxoi543y77778efh8rfv097777</a:t>
            </a:r>
            <a:endParaRPr lang="en-US" sz="1500" dirty="0"/>
          </a:p>
        </p:txBody>
      </p:sp>
      <p:sp>
        <p:nvSpPr>
          <p:cNvPr id="11" name="Text 9"/>
          <p:cNvSpPr/>
          <p:nvPr/>
        </p:nvSpPr>
        <p:spPr>
          <a:xfrm>
            <a:off x="621792" y="3191256"/>
            <a:ext cx="5440680" cy="310896"/>
          </a:xfrm>
          <a:prstGeom prst="rect">
            <a:avLst/>
          </a:prstGeom>
          <a:noFill/>
          <a:ln/>
        </p:spPr>
        <p:txBody>
          <a:bodyPr wrap="square" lIns="0" tIns="0" rIns="0" bIns="0" rtlCol="0" anchor="ctr"/>
          <a:lstStyle/>
          <a:p>
            <a:pPr marL="0" indent="0">
              <a:buNone/>
            </a:pPr>
            <a:r>
              <a:rPr lang="en-US" sz="1500" b="1" dirty="0">
                <a:solidFill>
                  <a:srgbClr val="4E5969"/>
                </a:solidFill>
              </a:rPr>
              <a:t>• </a:t>
            </a:r>
            <a:r>
              <a:rPr lang="en-US" sz="1500" dirty="0">
                <a:solidFill>
                  <a:srgbClr val="4E5969"/>
                </a:solidFill>
                <a:latin typeface="Aptos Mono" pitchFamily="34" charset="0"/>
                <a:ea typeface="Aptos Mono" pitchFamily="34" charset="-122"/>
                <a:cs typeface="Aptos Mono" pitchFamily="34" charset="-120"/>
              </a:rPr>
              <a:t>39e8389f7777lmjbh8ihrz&gt;7777</a:t>
            </a:r>
            <a:endParaRPr lang="en-US" sz="1500" dirty="0"/>
          </a:p>
        </p:txBody>
      </p:sp>
      <p:sp>
        <p:nvSpPr>
          <p:cNvPr id="12" name="Text 10"/>
          <p:cNvSpPr/>
          <p:nvPr/>
        </p:nvSpPr>
        <p:spPr>
          <a:xfrm>
            <a:off x="603504" y="3703320"/>
            <a:ext cx="3840480" cy="274320"/>
          </a:xfrm>
          <a:prstGeom prst="rect">
            <a:avLst/>
          </a:prstGeom>
          <a:noFill/>
          <a:ln/>
        </p:spPr>
        <p:txBody>
          <a:bodyPr wrap="square" lIns="0" tIns="0" rIns="0" bIns="0" rtlCol="0" anchor="ctr"/>
          <a:lstStyle/>
          <a:p>
            <a:pPr marL="0" indent="0">
              <a:buNone/>
            </a:pPr>
            <a:r>
              <a:rPr lang="en-US" sz="1550" b="1" dirty="0">
                <a:solidFill>
                  <a:srgbClr val="172B44"/>
                </a:solidFill>
                <a:latin typeface="Aptos" pitchFamily="34" charset="0"/>
                <a:ea typeface="Aptos" pitchFamily="34" charset="-122"/>
                <a:cs typeface="Aptos" pitchFamily="34" charset="-120"/>
              </a:rPr>
              <a:t>Do you notice anything unusual?</a:t>
            </a:r>
            <a:endParaRPr lang="en-US" sz="1550" dirty="0"/>
          </a:p>
        </p:txBody>
      </p:sp>
      <p:sp>
        <p:nvSpPr>
          <p:cNvPr id="13" name="Shape 11"/>
          <p:cNvSpPr/>
          <p:nvPr/>
        </p:nvSpPr>
        <p:spPr>
          <a:xfrm>
            <a:off x="6720840" y="1325880"/>
            <a:ext cx="5074920" cy="2788920"/>
          </a:xfrm>
          <a:prstGeom prst="roundRect">
            <a:avLst/>
          </a:prstGeom>
          <a:solidFill>
            <a:srgbClr val="FFFFFF"/>
          </a:solidFill>
          <a:ln w="12700">
            <a:solidFill>
              <a:srgbClr val="DCE3EA"/>
            </a:solidFill>
            <a:prstDash val="solid"/>
          </a:ln>
        </p:spPr>
      </p:sp>
      <p:sp>
        <p:nvSpPr>
          <p:cNvPr id="14" name="Text 12"/>
          <p:cNvSpPr/>
          <p:nvPr/>
        </p:nvSpPr>
        <p:spPr>
          <a:xfrm>
            <a:off x="6931152" y="1517904"/>
            <a:ext cx="4526280" cy="256032"/>
          </a:xfrm>
          <a:prstGeom prst="rect">
            <a:avLst/>
          </a:prstGeom>
          <a:noFill/>
          <a:ln/>
        </p:spPr>
        <p:txBody>
          <a:bodyPr wrap="square" lIns="0" tIns="0" rIns="0" bIns="0" rtlCol="0" anchor="ctr"/>
          <a:lstStyle/>
          <a:p>
            <a:pPr marL="0" indent="0" algn="ctr">
              <a:buNone/>
            </a:pPr>
            <a:r>
              <a:rPr lang="en-US" sz="1500" b="1" dirty="0">
                <a:solidFill>
                  <a:srgbClr val="172B44"/>
                </a:solidFill>
                <a:latin typeface="Aptos" pitchFamily="34" charset="0"/>
                <a:ea typeface="Aptos" pitchFamily="34" charset="-122"/>
                <a:cs typeface="Aptos" pitchFamily="34" charset="-120"/>
              </a:rPr>
              <a:t>Patterns are repeated structures</a:t>
            </a:r>
            <a:endParaRPr lang="en-US" sz="1500" dirty="0"/>
          </a:p>
        </p:txBody>
      </p:sp>
      <p:pic>
        <p:nvPicPr>
          <p:cNvPr id="15" name="Image 0" descr="/mnt/data/pattern1.png"/>
          <p:cNvPicPr>
            <a:picLocks noChangeAspect="1"/>
          </p:cNvPicPr>
          <p:nvPr/>
        </p:nvPicPr>
        <p:blipFill>
          <a:blip r:embed="rId3"/>
          <a:stretch>
            <a:fillRect/>
          </a:stretch>
        </p:blipFill>
        <p:spPr>
          <a:xfrm>
            <a:off x="6931152" y="1892808"/>
            <a:ext cx="1508760" cy="1508760"/>
          </a:xfrm>
          <a:prstGeom prst="rect">
            <a:avLst/>
          </a:prstGeom>
        </p:spPr>
      </p:pic>
      <p:pic>
        <p:nvPicPr>
          <p:cNvPr id="16" name="Image 1" descr="/mnt/data/pattern2.png"/>
          <p:cNvPicPr>
            <a:picLocks noChangeAspect="1"/>
          </p:cNvPicPr>
          <p:nvPr/>
        </p:nvPicPr>
        <p:blipFill>
          <a:blip r:embed="rId4"/>
          <a:stretch>
            <a:fillRect/>
          </a:stretch>
        </p:blipFill>
        <p:spPr>
          <a:xfrm>
            <a:off x="8613648" y="1892808"/>
            <a:ext cx="1508760" cy="1508760"/>
          </a:xfrm>
          <a:prstGeom prst="rect">
            <a:avLst/>
          </a:prstGeom>
        </p:spPr>
      </p:pic>
      <p:pic>
        <p:nvPicPr>
          <p:cNvPr id="17" name="Image 2" descr="/mnt/data/rug.png"/>
          <p:cNvPicPr>
            <a:picLocks noChangeAspect="1"/>
          </p:cNvPicPr>
          <p:nvPr/>
        </p:nvPicPr>
        <p:blipFill>
          <a:blip r:embed="rId5"/>
          <a:stretch>
            <a:fillRect/>
          </a:stretch>
        </p:blipFill>
        <p:spPr>
          <a:xfrm>
            <a:off x="10332720" y="1783080"/>
            <a:ext cx="987552" cy="1664208"/>
          </a:xfrm>
          <a:prstGeom prst="rect">
            <a:avLst/>
          </a:prstGeom>
        </p:spPr>
      </p:pic>
      <p:sp>
        <p:nvSpPr>
          <p:cNvPr id="18" name="Text 13"/>
          <p:cNvSpPr/>
          <p:nvPr/>
        </p:nvSpPr>
        <p:spPr>
          <a:xfrm>
            <a:off x="6967728" y="3566160"/>
            <a:ext cx="4480560" cy="384048"/>
          </a:xfrm>
          <a:prstGeom prst="rect">
            <a:avLst/>
          </a:prstGeom>
          <a:noFill/>
          <a:ln/>
        </p:spPr>
        <p:txBody>
          <a:bodyPr wrap="square" lIns="254" tIns="254" rIns="254" bIns="254" rtlCol="0" anchor="ctr"/>
          <a:lstStyle/>
          <a:p>
            <a:pPr marL="0" indent="0" algn="ctr">
              <a:buNone/>
            </a:pPr>
            <a:r>
              <a:rPr lang="en-US" sz="1080" dirty="0">
                <a:solidFill>
                  <a:srgbClr val="6C7788"/>
                </a:solidFill>
                <a:latin typeface="Aptos" pitchFamily="34" charset="0"/>
                <a:ea typeface="Aptos" pitchFamily="34" charset="-122"/>
                <a:cs typeface="Aptos" pitchFamily="34" charset="-120"/>
              </a:rPr>
              <a:t>The same idea applies to data: repeated forms, relationships, sequences or behaviours can be discovered and described.</a:t>
            </a:r>
            <a:endParaRPr lang="en-US" sz="1080" dirty="0"/>
          </a:p>
        </p:txBody>
      </p:sp>
      <p:sp>
        <p:nvSpPr>
          <p:cNvPr id="19" name="Shape 14"/>
          <p:cNvSpPr/>
          <p:nvPr/>
        </p:nvSpPr>
        <p:spPr>
          <a:xfrm>
            <a:off x="384048" y="4343400"/>
            <a:ext cx="11411712" cy="1627632"/>
          </a:xfrm>
          <a:prstGeom prst="roundRect">
            <a:avLst/>
          </a:prstGeom>
          <a:solidFill>
            <a:srgbClr val="FFFFFF"/>
          </a:solidFill>
          <a:ln w="12700">
            <a:solidFill>
              <a:srgbClr val="DCE3EA"/>
            </a:solidFill>
            <a:prstDash val="solid"/>
          </a:ln>
        </p:spPr>
      </p:sp>
      <p:sp>
        <p:nvSpPr>
          <p:cNvPr id="20" name="Text 15"/>
          <p:cNvSpPr/>
          <p:nvPr/>
        </p:nvSpPr>
        <p:spPr>
          <a:xfrm>
            <a:off x="621792" y="4590288"/>
            <a:ext cx="10927080" cy="713232"/>
          </a:xfrm>
          <a:prstGeom prst="rect">
            <a:avLst/>
          </a:prstGeom>
          <a:noFill/>
          <a:ln/>
        </p:spPr>
        <p:txBody>
          <a:bodyPr wrap="square" lIns="0" tIns="0" rIns="0" bIns="0" rtlCol="0" anchor="ctr"/>
          <a:lstStyle/>
          <a:p>
            <a:pPr marL="0" indent="0">
              <a:buNone/>
            </a:pPr>
            <a:r>
              <a:rPr lang="en-US" sz="1420" b="1" dirty="0">
                <a:solidFill>
                  <a:srgbClr val="172B44"/>
                </a:solidFill>
                <a:latin typeface="Aptos" pitchFamily="34" charset="0"/>
                <a:ea typeface="Aptos" pitchFamily="34" charset="-122"/>
                <a:cs typeface="Aptos" pitchFamily="34" charset="-120"/>
              </a:rPr>
              <a:t>Exactly. </a:t>
            </a:r>
            <a:r>
              <a:rPr lang="en-US" sz="1420" dirty="0">
                <a:solidFill>
                  <a:srgbClr val="4E5969"/>
                </a:solidFill>
                <a:latin typeface="Aptos" pitchFamily="34" charset="0"/>
                <a:ea typeface="Aptos" pitchFamily="34" charset="-122"/>
                <a:cs typeface="Aptos" pitchFamily="34" charset="-120"/>
              </a:rPr>
              <a:t>After every 10 apparently random letters and numbers, the digit </a:t>
            </a:r>
            <a:r>
              <a:rPr lang="en-US" sz="1420" b="1" dirty="0">
                <a:solidFill>
                  <a:srgbClr val="C21807"/>
                </a:solidFill>
                <a:latin typeface="Aptos" pitchFamily="34" charset="0"/>
                <a:ea typeface="Aptos" pitchFamily="34" charset="-122"/>
                <a:cs typeface="Aptos" pitchFamily="34" charset="-120"/>
              </a:rPr>
              <a:t>“7” is repeated four times</a:t>
            </a:r>
            <a:r>
              <a:rPr lang="en-US" sz="1420" dirty="0">
                <a:solidFill>
                  <a:srgbClr val="4E5969"/>
                </a:solidFill>
                <a:latin typeface="Aptos" pitchFamily="34" charset="0"/>
                <a:ea typeface="Aptos" pitchFamily="34" charset="-122"/>
                <a:cs typeface="Aptos" pitchFamily="34" charset="-120"/>
              </a:rPr>
              <a:t> — the pattern </a:t>
            </a:r>
            <a:r>
              <a:rPr lang="en-US" sz="1420" b="1" dirty="0">
                <a:solidFill>
                  <a:srgbClr val="C21807"/>
                </a:solidFill>
                <a:latin typeface="Aptos" pitchFamily="34" charset="0"/>
                <a:ea typeface="Aptos" pitchFamily="34" charset="-122"/>
                <a:cs typeface="Aptos" pitchFamily="34" charset="-120"/>
              </a:rPr>
              <a:t>“7777”</a:t>
            </a:r>
            <a:r>
              <a:rPr lang="en-US" sz="1420" dirty="0">
                <a:solidFill>
                  <a:srgbClr val="4E5969"/>
                </a:solidFill>
                <a:latin typeface="Aptos" pitchFamily="34" charset="0"/>
                <a:ea typeface="Aptos" pitchFamily="34" charset="-122"/>
                <a:cs typeface="Aptos" pitchFamily="34" charset="-120"/>
              </a:rPr>
              <a:t>. Your brain has recognised a regular structure inside data that initially looks </a:t>
            </a:r>
            <a:r>
              <a:rPr lang="en-US" sz="1420" b="1" dirty="0">
                <a:solidFill>
                  <a:srgbClr val="C21807"/>
                </a:solidFill>
                <a:latin typeface="Aptos" pitchFamily="34" charset="0"/>
                <a:ea typeface="Aptos" pitchFamily="34" charset="-122"/>
                <a:cs typeface="Aptos" pitchFamily="34" charset="-120"/>
              </a:rPr>
              <a:t>random</a:t>
            </a:r>
            <a:r>
              <a:rPr lang="en-US" sz="1420" dirty="0">
                <a:solidFill>
                  <a:srgbClr val="4E5969"/>
                </a:solidFill>
                <a:latin typeface="Aptos" pitchFamily="34" charset="0"/>
                <a:ea typeface="Aptos" pitchFamily="34" charset="-122"/>
                <a:cs typeface="Aptos" pitchFamily="34" charset="-120"/>
              </a:rPr>
              <a:t>. This process is called </a:t>
            </a:r>
            <a:r>
              <a:rPr lang="en-US" sz="1420" b="1" dirty="0">
                <a:solidFill>
                  <a:srgbClr val="C21807"/>
                </a:solidFill>
                <a:latin typeface="Aptos" pitchFamily="34" charset="0"/>
                <a:ea typeface="Aptos" pitchFamily="34" charset="-122"/>
                <a:cs typeface="Aptos" pitchFamily="34" charset="-120"/>
              </a:rPr>
              <a:t>pattern recognition</a:t>
            </a:r>
            <a:r>
              <a:rPr lang="en-US" sz="1420" dirty="0">
                <a:solidFill>
                  <a:srgbClr val="4E5969"/>
                </a:solidFill>
                <a:latin typeface="Aptos" pitchFamily="34" charset="0"/>
                <a:ea typeface="Aptos" pitchFamily="34" charset="-122"/>
                <a:cs typeface="Aptos" pitchFamily="34" charset="-120"/>
              </a:rPr>
              <a:t>.</a:t>
            </a:r>
            <a:endParaRPr lang="en-US" sz="1420" dirty="0"/>
          </a:p>
        </p:txBody>
      </p:sp>
      <p:sp>
        <p:nvSpPr>
          <p:cNvPr id="21" name="Shape 16"/>
          <p:cNvSpPr/>
          <p:nvPr/>
        </p:nvSpPr>
        <p:spPr>
          <a:xfrm>
            <a:off x="1234440" y="5413248"/>
            <a:ext cx="9738360" cy="365760"/>
          </a:xfrm>
          <a:prstGeom prst="roundRect">
            <a:avLst/>
          </a:prstGeom>
          <a:solidFill>
            <a:srgbClr val="EAF7F7"/>
          </a:solidFill>
          <a:ln w="12700">
            <a:solidFill>
              <a:srgbClr val="0097A7"/>
            </a:solidFill>
            <a:prstDash val="solid"/>
          </a:ln>
        </p:spPr>
      </p:sp>
      <p:sp>
        <p:nvSpPr>
          <p:cNvPr id="22" name="Text 17"/>
          <p:cNvSpPr/>
          <p:nvPr/>
        </p:nvSpPr>
        <p:spPr>
          <a:xfrm>
            <a:off x="1417320" y="5495544"/>
            <a:ext cx="9372600" cy="182880"/>
          </a:xfrm>
          <a:prstGeom prst="rect">
            <a:avLst/>
          </a:prstGeom>
          <a:noFill/>
          <a:ln/>
        </p:spPr>
        <p:txBody>
          <a:bodyPr wrap="square" lIns="0" tIns="0" rIns="0" bIns="0" rtlCol="0" anchor="ctr"/>
          <a:lstStyle/>
          <a:p>
            <a:pPr marL="0" indent="0" algn="ctr">
              <a:buNone/>
            </a:pPr>
            <a:r>
              <a:rPr lang="en-US" sz="1230" b="1" dirty="0">
                <a:solidFill>
                  <a:srgbClr val="172B44"/>
                </a:solidFill>
                <a:latin typeface="Aptos" pitchFamily="34" charset="0"/>
                <a:ea typeface="Aptos" pitchFamily="34" charset="-122"/>
                <a:cs typeface="Aptos" pitchFamily="34" charset="-120"/>
              </a:rPr>
              <a:t>Pattern recognition = </a:t>
            </a:r>
            <a:r>
              <a:rPr lang="en-US" sz="1230" b="1" dirty="0">
                <a:solidFill>
                  <a:srgbClr val="C21807"/>
                </a:solidFill>
                <a:latin typeface="Aptos" pitchFamily="34" charset="0"/>
                <a:ea typeface="Aptos" pitchFamily="34" charset="-122"/>
                <a:cs typeface="Aptos" pitchFamily="34" charset="-120"/>
              </a:rPr>
              <a:t>identifying recurring models, structures or regularities within raw data.</a:t>
            </a:r>
            <a:endParaRPr lang="en-US" sz="1230" dirty="0"/>
          </a:p>
        </p:txBody>
      </p:sp>
      <p:sp>
        <p:nvSpPr>
          <p:cNvPr id="23" name="Text 18"/>
          <p:cNvSpPr/>
          <p:nvPr/>
        </p:nvSpPr>
        <p:spPr>
          <a:xfrm>
            <a:off x="384048" y="6455664"/>
            <a:ext cx="2286000" cy="137160"/>
          </a:xfrm>
          <a:prstGeom prst="rect">
            <a:avLst/>
          </a:prstGeom>
          <a:noFill/>
          <a:ln/>
        </p:spPr>
        <p:txBody>
          <a:bodyPr wrap="square" lIns="0" tIns="0" rIns="0" bIns="0" rtlCol="0" anchor="ctr"/>
          <a:lstStyle/>
          <a:p>
            <a:pPr marL="0" indent="0">
              <a:buNone/>
            </a:pPr>
            <a:r>
              <a:rPr lang="en-US" sz="850" dirty="0">
                <a:solidFill>
                  <a:srgbClr val="6C7788"/>
                </a:solidFill>
                <a:latin typeface="Aptos" pitchFamily="34" charset="0"/>
                <a:ea typeface="Aptos" pitchFamily="34" charset="-122"/>
                <a:cs typeface="Aptos" pitchFamily="34" charset="-120"/>
              </a:rPr>
              <a:t>Data Science with Excel</a:t>
            </a:r>
            <a:endParaRPr lang="en-US" sz="850" dirty="0"/>
          </a:p>
        </p:txBody>
      </p:sp>
      <p:sp>
        <p:nvSpPr>
          <p:cNvPr id="24" name="Text 19"/>
          <p:cNvSpPr/>
          <p:nvPr/>
        </p:nvSpPr>
        <p:spPr>
          <a:xfrm>
            <a:off x="11384280" y="6455664"/>
            <a:ext cx="274320" cy="137160"/>
          </a:xfrm>
          <a:prstGeom prst="rect">
            <a:avLst/>
          </a:prstGeom>
          <a:noFill/>
          <a:ln/>
        </p:spPr>
        <p:txBody>
          <a:bodyPr wrap="square" lIns="0" tIns="0" rIns="0" bIns="0" rtlCol="0" anchor="ctr"/>
          <a:lstStyle/>
          <a:p>
            <a:pPr marL="0" indent="0" algn="r">
              <a:buNone/>
            </a:pPr>
            <a:r>
              <a:rPr lang="en-US" sz="850" dirty="0">
                <a:solidFill>
                  <a:srgbClr val="6C7788"/>
                </a:solidFill>
                <a:latin typeface="Aptos" pitchFamily="34" charset="0"/>
                <a:ea typeface="Aptos" pitchFamily="34" charset="-122"/>
                <a:cs typeface="Aptos" pitchFamily="34" charset="-120"/>
              </a:rPr>
              <a:t>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24B85-8EBD-FCCB-3902-3DD8D1857CFD}"/>
            </a:ext>
          </a:extLst>
        </p:cNvPr>
        <p:cNvGrpSpPr/>
        <p:nvPr/>
      </p:nvGrpSpPr>
      <p:grpSpPr>
        <a:xfrm>
          <a:off x="0" y="0"/>
          <a:ext cx="0" cy="0"/>
          <a:chOff x="0" y="0"/>
          <a:chExt cx="0" cy="0"/>
        </a:xfrm>
      </p:grpSpPr>
      <p:sp>
        <p:nvSpPr>
          <p:cNvPr id="7" name="PlaceHolder 1">
            <a:extLst>
              <a:ext uri="{FF2B5EF4-FFF2-40B4-BE49-F238E27FC236}">
                <a16:creationId xmlns:a16="http://schemas.microsoft.com/office/drawing/2014/main" id="{49D2B4A1-FC17-AB2D-53C9-31895A10C5D0}"/>
              </a:ext>
            </a:extLst>
          </p:cNvPr>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9" name="Rettangolo 8">
            <a:extLst>
              <a:ext uri="{FF2B5EF4-FFF2-40B4-BE49-F238E27FC236}">
                <a16:creationId xmlns:a16="http://schemas.microsoft.com/office/drawing/2014/main" id="{D1343077-F558-5C06-F5FE-0957D66BD762}"/>
              </a:ext>
            </a:extLst>
          </p:cNvPr>
          <p:cNvSpPr/>
          <p:nvPr/>
        </p:nvSpPr>
        <p:spPr>
          <a:xfrm>
            <a:off x="0" y="0"/>
            <a:ext cx="12192120" cy="6858000"/>
          </a:xfrm>
          <a:prstGeom prst="rect">
            <a:avLst/>
          </a:prstGeom>
          <a:solidFill>
            <a:srgbClr val="F5F7FA"/>
          </a:solidFill>
          <a:ln w="9000">
            <a:solidFill>
              <a:srgbClr val="F5F7FA"/>
            </a:solidFill>
            <a:round/>
          </a:ln>
        </p:spPr>
        <p:txBody>
          <a:bodyPr lIns="94320" tIns="49320" rIns="94320" bIns="49320" anchor="ctr" anchorCtr="1">
            <a:noAutofit/>
          </a:bodyPr>
          <a:lstStyle/>
          <a:p>
            <a:endParaRPr lang="en-US" sz="1800" b="0" u="none" strike="noStrike">
              <a:solidFill>
                <a:srgbClr val="000000"/>
              </a:solidFill>
              <a:effectLst/>
              <a:uFillTx/>
              <a:latin typeface="Arial"/>
            </a:endParaRPr>
          </a:p>
        </p:txBody>
      </p:sp>
      <p:sp>
        <p:nvSpPr>
          <p:cNvPr id="11" name="CasellaDiTesto 10">
            <a:extLst>
              <a:ext uri="{FF2B5EF4-FFF2-40B4-BE49-F238E27FC236}">
                <a16:creationId xmlns:a16="http://schemas.microsoft.com/office/drawing/2014/main" id="{A15E4546-8CC8-4450-F93C-3DE79B2A706A}"/>
              </a:ext>
            </a:extLst>
          </p:cNvPr>
          <p:cNvSpPr txBox="1"/>
          <p:nvPr/>
        </p:nvSpPr>
        <p:spPr>
          <a:xfrm>
            <a:off x="323259" y="706888"/>
            <a:ext cx="11544000" cy="460211"/>
          </a:xfrm>
          <a:prstGeom prst="rect">
            <a:avLst/>
          </a:prstGeom>
          <a:noFill/>
          <a:ln w="0">
            <a:noFill/>
          </a:ln>
        </p:spPr>
        <p:txBody>
          <a:bodyPr wrap="square" lIns="90000" tIns="45000" rIns="90000" bIns="45000" anchor="ctr">
            <a:spAutoFit/>
          </a:bodyPr>
          <a:lstStyle/>
          <a:p>
            <a:r>
              <a:rPr lang="en-US" sz="2400" b="1" u="none" strike="noStrike" dirty="0">
                <a:solidFill>
                  <a:srgbClr val="162841"/>
                </a:solidFill>
                <a:effectLst/>
                <a:uFillTx/>
                <a:latin typeface="Arial"/>
              </a:rPr>
              <a:t>Patterns</a:t>
            </a:r>
            <a:endParaRPr lang="en-US" sz="2400" b="0" u="none" strike="noStrike" dirty="0">
              <a:solidFill>
                <a:srgbClr val="000000"/>
              </a:solidFill>
              <a:effectLst/>
              <a:uFillTx/>
              <a:latin typeface="Arial"/>
            </a:endParaRPr>
          </a:p>
        </p:txBody>
      </p:sp>
      <p:sp>
        <p:nvSpPr>
          <p:cNvPr id="3" name="Text 0">
            <a:extLst>
              <a:ext uri="{FF2B5EF4-FFF2-40B4-BE49-F238E27FC236}">
                <a16:creationId xmlns:a16="http://schemas.microsoft.com/office/drawing/2014/main" id="{3D81B206-28C6-C8E9-DA85-522731A55F73}"/>
              </a:ext>
            </a:extLst>
          </p:cNvPr>
          <p:cNvSpPr/>
          <p:nvPr/>
        </p:nvSpPr>
        <p:spPr>
          <a:xfrm>
            <a:off x="450387"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4" name="Slide Number Placeholder 0">
            <a:extLst>
              <a:ext uri="{FF2B5EF4-FFF2-40B4-BE49-F238E27FC236}">
                <a16:creationId xmlns:a16="http://schemas.microsoft.com/office/drawing/2014/main" id="{EF99DB8B-5E42-36F5-FD3F-6BA9CAEC89CD}"/>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34</a:t>
            </a:fld>
            <a:endParaRPr lang="en-US" dirty="0"/>
          </a:p>
        </p:txBody>
      </p:sp>
      <p:pic>
        <p:nvPicPr>
          <p:cNvPr id="5" name="Picture 6" descr="Pattern Classification For COVID-19 Growth Data | Towards Data Science">
            <a:extLst>
              <a:ext uri="{FF2B5EF4-FFF2-40B4-BE49-F238E27FC236}">
                <a16:creationId xmlns:a16="http://schemas.microsoft.com/office/drawing/2014/main" id="{1319F402-08AE-3FEC-422A-3AC965D929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3552" y="953209"/>
            <a:ext cx="8269046" cy="5168154"/>
          </a:xfrm>
          <a:prstGeom prst="rect">
            <a:avLst/>
          </a:prstGeom>
          <a:noFill/>
          <a:extLst>
            <a:ext uri="{909E8E84-426E-40DD-AFC4-6F175D3DCCD1}">
              <a14:hiddenFill xmlns:a14="http://schemas.microsoft.com/office/drawing/2010/main">
                <a:solidFill>
                  <a:srgbClr val="FFFFFF"/>
                </a:solidFill>
              </a14:hiddenFill>
            </a:ext>
          </a:extLst>
        </p:spPr>
      </p:pic>
      <p:sp>
        <p:nvSpPr>
          <p:cNvPr id="10" name="CasellaDiTesto 9">
            <a:extLst>
              <a:ext uri="{FF2B5EF4-FFF2-40B4-BE49-F238E27FC236}">
                <a16:creationId xmlns:a16="http://schemas.microsoft.com/office/drawing/2014/main" id="{A1B1E8DE-19BA-2D8F-53DE-3AB4E2DA8645}"/>
              </a:ext>
            </a:extLst>
          </p:cNvPr>
          <p:cNvSpPr txBox="1"/>
          <p:nvPr/>
        </p:nvSpPr>
        <p:spPr>
          <a:xfrm>
            <a:off x="2745552" y="6237313"/>
            <a:ext cx="6336704" cy="461665"/>
          </a:xfrm>
          <a:prstGeom prst="rect">
            <a:avLst/>
          </a:prstGeom>
          <a:noFill/>
        </p:spPr>
        <p:txBody>
          <a:bodyPr wrap="square" rtlCol="0">
            <a:spAutoFit/>
          </a:bodyPr>
          <a:lstStyle/>
          <a:p>
            <a:pPr algn="ctr"/>
            <a:r>
              <a:rPr lang="it-IT" sz="2400" dirty="0" err="1"/>
              <a:t>Patterns</a:t>
            </a:r>
            <a:r>
              <a:rPr lang="it-IT" sz="2400" dirty="0"/>
              <a:t> in Covid-19 </a:t>
            </a:r>
            <a:r>
              <a:rPr lang="it-IT" sz="2400" dirty="0" err="1"/>
              <a:t>growth</a:t>
            </a:r>
            <a:endParaRPr lang="it-IT" sz="2400" dirty="0"/>
          </a:p>
        </p:txBody>
      </p:sp>
    </p:spTree>
    <p:extLst>
      <p:ext uri="{BB962C8B-B14F-4D97-AF65-F5344CB8AC3E}">
        <p14:creationId xmlns:p14="http://schemas.microsoft.com/office/powerpoint/2010/main" val="111500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CEDB9859-581D-6E41-A227-0500AD27141F}"/>
              </a:ext>
            </a:extLst>
          </p:cNvPr>
          <p:cNvPicPr>
            <a:picLocks noChangeAspect="1"/>
          </p:cNvPicPr>
          <p:nvPr/>
        </p:nvPicPr>
        <p:blipFill>
          <a:blip r:embed="rId2"/>
          <a:stretch>
            <a:fillRect/>
          </a:stretch>
        </p:blipFill>
        <p:spPr>
          <a:xfrm>
            <a:off x="4571999" y="498211"/>
            <a:ext cx="5238095" cy="6238095"/>
          </a:xfrm>
          <a:prstGeom prst="rect">
            <a:avLst/>
          </a:prstGeom>
        </p:spPr>
      </p:pic>
      <p:sp>
        <p:nvSpPr>
          <p:cNvPr id="5" name="Text 0">
            <a:extLst>
              <a:ext uri="{FF2B5EF4-FFF2-40B4-BE49-F238E27FC236}">
                <a16:creationId xmlns:a16="http://schemas.microsoft.com/office/drawing/2014/main" id="{D7C27A2F-2A79-B39E-5805-AD18EFF3871D}"/>
              </a:ext>
            </a:extLst>
          </p:cNvPr>
          <p:cNvSpPr/>
          <p:nvPr/>
        </p:nvSpPr>
        <p:spPr>
          <a:xfrm>
            <a:off x="450387"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Tree>
    <p:extLst>
      <p:ext uri="{BB962C8B-B14F-4D97-AF65-F5344CB8AC3E}">
        <p14:creationId xmlns:p14="http://schemas.microsoft.com/office/powerpoint/2010/main" val="1953754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A practical EDA workflow in Excel</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Use a repeatable sequence so important checks are not skipped.</a:t>
            </a:r>
            <a:endParaRPr lang="en-US" sz="1300" dirty="0"/>
          </a:p>
        </p:txBody>
      </p:sp>
      <p:sp>
        <p:nvSpPr>
          <p:cNvPr id="7" name="Shape 5"/>
          <p:cNvSpPr/>
          <p:nvPr/>
        </p:nvSpPr>
        <p:spPr>
          <a:xfrm>
            <a:off x="640080" y="1645920"/>
            <a:ext cx="1684020" cy="859536"/>
          </a:xfrm>
          <a:prstGeom prst="roundRect">
            <a:avLst>
              <a:gd name="adj" fmla="val 6383"/>
            </a:avLst>
          </a:prstGeom>
          <a:solidFill>
            <a:srgbClr val="173B57"/>
          </a:solidFill>
          <a:ln w="12700">
            <a:solidFill>
              <a:srgbClr val="173B57"/>
            </a:solidFill>
            <a:prstDash val="solid"/>
          </a:ln>
        </p:spPr>
      </p:sp>
      <p:sp>
        <p:nvSpPr>
          <p:cNvPr id="8" name="Text 6"/>
          <p:cNvSpPr/>
          <p:nvPr/>
        </p:nvSpPr>
        <p:spPr>
          <a:xfrm>
            <a:off x="713232"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1. Import / Table</a:t>
            </a:r>
            <a:endParaRPr lang="en-US" sz="1200" dirty="0"/>
          </a:p>
        </p:txBody>
      </p:sp>
      <p:sp>
        <p:nvSpPr>
          <p:cNvPr id="9" name="Shape 7"/>
          <p:cNvSpPr/>
          <p:nvPr/>
        </p:nvSpPr>
        <p:spPr>
          <a:xfrm>
            <a:off x="2342388" y="1993392"/>
            <a:ext cx="118872" cy="164592"/>
          </a:xfrm>
          <a:prstGeom prst="chevron">
            <a:avLst/>
          </a:prstGeom>
          <a:solidFill>
            <a:srgbClr val="AEB8C5"/>
          </a:solidFill>
          <a:ln w="12700">
            <a:solidFill>
              <a:srgbClr val="AEB8C5"/>
            </a:solidFill>
            <a:prstDash val="solid"/>
          </a:ln>
        </p:spPr>
      </p:sp>
      <p:sp>
        <p:nvSpPr>
          <p:cNvPr id="10" name="Shape 8"/>
          <p:cNvSpPr/>
          <p:nvPr/>
        </p:nvSpPr>
        <p:spPr>
          <a:xfrm>
            <a:off x="2488692" y="1645920"/>
            <a:ext cx="1684020" cy="859536"/>
          </a:xfrm>
          <a:prstGeom prst="roundRect">
            <a:avLst>
              <a:gd name="adj" fmla="val 6383"/>
            </a:avLst>
          </a:prstGeom>
          <a:solidFill>
            <a:srgbClr val="2F6BFF"/>
          </a:solidFill>
          <a:ln w="12700">
            <a:solidFill>
              <a:srgbClr val="2F6BFF"/>
            </a:solidFill>
            <a:prstDash val="solid"/>
          </a:ln>
        </p:spPr>
      </p:sp>
      <p:sp>
        <p:nvSpPr>
          <p:cNvPr id="11" name="Text 9"/>
          <p:cNvSpPr/>
          <p:nvPr/>
        </p:nvSpPr>
        <p:spPr>
          <a:xfrm>
            <a:off x="2561844"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2. Check types</a:t>
            </a:r>
            <a:endParaRPr lang="en-US" sz="1200" dirty="0"/>
          </a:p>
        </p:txBody>
      </p:sp>
      <p:sp>
        <p:nvSpPr>
          <p:cNvPr id="12" name="Shape 10"/>
          <p:cNvSpPr/>
          <p:nvPr/>
        </p:nvSpPr>
        <p:spPr>
          <a:xfrm>
            <a:off x="4191000" y="1993392"/>
            <a:ext cx="118872" cy="164592"/>
          </a:xfrm>
          <a:prstGeom prst="chevron">
            <a:avLst/>
          </a:prstGeom>
          <a:solidFill>
            <a:srgbClr val="AEB8C5"/>
          </a:solidFill>
          <a:ln w="12700">
            <a:solidFill>
              <a:srgbClr val="AEB8C5"/>
            </a:solidFill>
            <a:prstDash val="solid"/>
          </a:ln>
        </p:spPr>
      </p:sp>
      <p:sp>
        <p:nvSpPr>
          <p:cNvPr id="13" name="Shape 11"/>
          <p:cNvSpPr/>
          <p:nvPr/>
        </p:nvSpPr>
        <p:spPr>
          <a:xfrm>
            <a:off x="4337304" y="1645920"/>
            <a:ext cx="1684020" cy="859536"/>
          </a:xfrm>
          <a:prstGeom prst="roundRect">
            <a:avLst>
              <a:gd name="adj" fmla="val 6383"/>
            </a:avLst>
          </a:prstGeom>
          <a:solidFill>
            <a:srgbClr val="009E9A"/>
          </a:solidFill>
          <a:ln w="12700">
            <a:solidFill>
              <a:srgbClr val="009E9A"/>
            </a:solidFill>
            <a:prstDash val="solid"/>
          </a:ln>
        </p:spPr>
      </p:sp>
      <p:sp>
        <p:nvSpPr>
          <p:cNvPr id="14" name="Text 12"/>
          <p:cNvSpPr/>
          <p:nvPr/>
        </p:nvSpPr>
        <p:spPr>
          <a:xfrm>
            <a:off x="4410456"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3. Profile columns</a:t>
            </a:r>
            <a:endParaRPr lang="en-US" sz="1200" dirty="0"/>
          </a:p>
        </p:txBody>
      </p:sp>
      <p:sp>
        <p:nvSpPr>
          <p:cNvPr id="15" name="Shape 13"/>
          <p:cNvSpPr/>
          <p:nvPr/>
        </p:nvSpPr>
        <p:spPr>
          <a:xfrm>
            <a:off x="6039612" y="1993392"/>
            <a:ext cx="118872" cy="164592"/>
          </a:xfrm>
          <a:prstGeom prst="chevron">
            <a:avLst/>
          </a:prstGeom>
          <a:solidFill>
            <a:srgbClr val="AEB8C5"/>
          </a:solidFill>
          <a:ln w="12700">
            <a:solidFill>
              <a:srgbClr val="AEB8C5"/>
            </a:solidFill>
            <a:prstDash val="solid"/>
          </a:ln>
        </p:spPr>
      </p:sp>
      <p:sp>
        <p:nvSpPr>
          <p:cNvPr id="16" name="Shape 14"/>
          <p:cNvSpPr/>
          <p:nvPr/>
        </p:nvSpPr>
        <p:spPr>
          <a:xfrm>
            <a:off x="6185916" y="1645920"/>
            <a:ext cx="1684020" cy="859536"/>
          </a:xfrm>
          <a:prstGeom prst="roundRect">
            <a:avLst>
              <a:gd name="adj" fmla="val 6383"/>
            </a:avLst>
          </a:prstGeom>
          <a:solidFill>
            <a:srgbClr val="F59E0B"/>
          </a:solidFill>
          <a:ln w="12700">
            <a:solidFill>
              <a:srgbClr val="F59E0B"/>
            </a:solidFill>
            <a:prstDash val="solid"/>
          </a:ln>
        </p:spPr>
      </p:sp>
      <p:sp>
        <p:nvSpPr>
          <p:cNvPr id="17" name="Text 15"/>
          <p:cNvSpPr/>
          <p:nvPr/>
        </p:nvSpPr>
        <p:spPr>
          <a:xfrm>
            <a:off x="6259068"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4. Summarise</a:t>
            </a:r>
            <a:endParaRPr lang="en-US" sz="1200" dirty="0"/>
          </a:p>
        </p:txBody>
      </p:sp>
      <p:sp>
        <p:nvSpPr>
          <p:cNvPr id="18" name="Shape 16"/>
          <p:cNvSpPr/>
          <p:nvPr/>
        </p:nvSpPr>
        <p:spPr>
          <a:xfrm>
            <a:off x="7888224" y="1993392"/>
            <a:ext cx="118872" cy="164592"/>
          </a:xfrm>
          <a:prstGeom prst="chevron">
            <a:avLst/>
          </a:prstGeom>
          <a:solidFill>
            <a:srgbClr val="AEB8C5"/>
          </a:solidFill>
          <a:ln w="12700">
            <a:solidFill>
              <a:srgbClr val="AEB8C5"/>
            </a:solidFill>
            <a:prstDash val="solid"/>
          </a:ln>
        </p:spPr>
      </p:sp>
      <p:sp>
        <p:nvSpPr>
          <p:cNvPr id="19" name="Shape 17"/>
          <p:cNvSpPr/>
          <p:nvPr/>
        </p:nvSpPr>
        <p:spPr>
          <a:xfrm>
            <a:off x="8034528" y="1645920"/>
            <a:ext cx="1684020" cy="859536"/>
          </a:xfrm>
          <a:prstGeom prst="roundRect">
            <a:avLst>
              <a:gd name="adj" fmla="val 6383"/>
            </a:avLst>
          </a:prstGeom>
          <a:solidFill>
            <a:srgbClr val="2DAA74"/>
          </a:solidFill>
          <a:ln w="12700">
            <a:solidFill>
              <a:srgbClr val="2DAA74"/>
            </a:solidFill>
            <a:prstDash val="solid"/>
          </a:ln>
        </p:spPr>
      </p:sp>
      <p:sp>
        <p:nvSpPr>
          <p:cNvPr id="20" name="Text 18"/>
          <p:cNvSpPr/>
          <p:nvPr/>
        </p:nvSpPr>
        <p:spPr>
          <a:xfrm>
            <a:off x="8107680"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5. Plot</a:t>
            </a:r>
            <a:endParaRPr lang="en-US" sz="1200" dirty="0"/>
          </a:p>
        </p:txBody>
      </p:sp>
      <p:sp>
        <p:nvSpPr>
          <p:cNvPr id="21" name="Shape 19"/>
          <p:cNvSpPr/>
          <p:nvPr/>
        </p:nvSpPr>
        <p:spPr>
          <a:xfrm>
            <a:off x="9736836" y="1993392"/>
            <a:ext cx="118872" cy="164592"/>
          </a:xfrm>
          <a:prstGeom prst="chevron">
            <a:avLst/>
          </a:prstGeom>
          <a:solidFill>
            <a:srgbClr val="AEB8C5"/>
          </a:solidFill>
          <a:ln w="12700">
            <a:solidFill>
              <a:srgbClr val="AEB8C5"/>
            </a:solidFill>
            <a:prstDash val="solid"/>
          </a:ln>
        </p:spPr>
      </p:sp>
      <p:sp>
        <p:nvSpPr>
          <p:cNvPr id="22" name="Shape 20"/>
          <p:cNvSpPr/>
          <p:nvPr/>
        </p:nvSpPr>
        <p:spPr>
          <a:xfrm>
            <a:off x="9883140" y="1645920"/>
            <a:ext cx="1684020" cy="859536"/>
          </a:xfrm>
          <a:prstGeom prst="roundRect">
            <a:avLst>
              <a:gd name="adj" fmla="val 6383"/>
            </a:avLst>
          </a:prstGeom>
          <a:solidFill>
            <a:srgbClr val="7A5AF8"/>
          </a:solidFill>
          <a:ln w="12700">
            <a:solidFill>
              <a:srgbClr val="7A5AF8"/>
            </a:solidFill>
            <a:prstDash val="solid"/>
          </a:ln>
        </p:spPr>
      </p:sp>
      <p:sp>
        <p:nvSpPr>
          <p:cNvPr id="23" name="Text 21"/>
          <p:cNvSpPr/>
          <p:nvPr/>
        </p:nvSpPr>
        <p:spPr>
          <a:xfrm>
            <a:off x="9956292" y="1755648"/>
            <a:ext cx="1537716" cy="64008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6. Investigate issues</a:t>
            </a:r>
            <a:endParaRPr lang="en-US" sz="1200" dirty="0"/>
          </a:p>
        </p:txBody>
      </p:sp>
      <p:sp>
        <p:nvSpPr>
          <p:cNvPr id="24" name="Shape 22"/>
          <p:cNvSpPr/>
          <p:nvPr/>
        </p:nvSpPr>
        <p:spPr>
          <a:xfrm>
            <a:off x="713232" y="2788920"/>
            <a:ext cx="3419856" cy="1133856"/>
          </a:xfrm>
          <a:prstGeom prst="roundRect">
            <a:avLst>
              <a:gd name="adj" fmla="val 6452"/>
            </a:avLst>
          </a:prstGeom>
          <a:solidFill>
            <a:srgbClr val="EAF1FF"/>
          </a:solidFill>
          <a:ln w="10160">
            <a:solidFill>
              <a:srgbClr val="E9EEF5"/>
            </a:solidFill>
            <a:prstDash val="solid"/>
          </a:ln>
        </p:spPr>
      </p:sp>
      <p:sp>
        <p:nvSpPr>
          <p:cNvPr id="25" name="Text 23"/>
          <p:cNvSpPr/>
          <p:nvPr/>
        </p:nvSpPr>
        <p:spPr>
          <a:xfrm>
            <a:off x="877824" y="292608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Import / Table</a:t>
            </a:r>
            <a:endParaRPr lang="en-US" sz="1500" dirty="0"/>
          </a:p>
        </p:txBody>
      </p:sp>
      <p:sp>
        <p:nvSpPr>
          <p:cNvPr id="26" name="Text 24"/>
          <p:cNvSpPr/>
          <p:nvPr/>
        </p:nvSpPr>
        <p:spPr>
          <a:xfrm>
            <a:off x="877824" y="326440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Convert the range to an Excel Table; preserve raw data.</a:t>
            </a:r>
            <a:endParaRPr lang="en-US" sz="1150" dirty="0"/>
          </a:p>
        </p:txBody>
      </p:sp>
      <p:sp>
        <p:nvSpPr>
          <p:cNvPr id="27" name="Shape 25"/>
          <p:cNvSpPr/>
          <p:nvPr/>
        </p:nvSpPr>
        <p:spPr>
          <a:xfrm>
            <a:off x="4480560" y="2788920"/>
            <a:ext cx="3419856" cy="1133856"/>
          </a:xfrm>
          <a:prstGeom prst="roundRect">
            <a:avLst>
              <a:gd name="adj" fmla="val 6452"/>
            </a:avLst>
          </a:prstGeom>
          <a:solidFill>
            <a:srgbClr val="EAF1FF"/>
          </a:solidFill>
          <a:ln w="10160">
            <a:solidFill>
              <a:srgbClr val="E9EEF5"/>
            </a:solidFill>
            <a:prstDash val="solid"/>
          </a:ln>
        </p:spPr>
      </p:sp>
      <p:sp>
        <p:nvSpPr>
          <p:cNvPr id="28" name="Text 26"/>
          <p:cNvSpPr/>
          <p:nvPr/>
        </p:nvSpPr>
        <p:spPr>
          <a:xfrm>
            <a:off x="4645152" y="292608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Check types</a:t>
            </a:r>
            <a:endParaRPr lang="en-US" sz="1500" dirty="0"/>
          </a:p>
        </p:txBody>
      </p:sp>
      <p:sp>
        <p:nvSpPr>
          <p:cNvPr id="29" name="Text 27"/>
          <p:cNvSpPr/>
          <p:nvPr/>
        </p:nvSpPr>
        <p:spPr>
          <a:xfrm>
            <a:off x="4645152" y="326440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Dates, numbers, categories, IDs, units.</a:t>
            </a:r>
            <a:endParaRPr lang="en-US" sz="1150" dirty="0"/>
          </a:p>
        </p:txBody>
      </p:sp>
      <p:sp>
        <p:nvSpPr>
          <p:cNvPr id="30" name="Shape 28"/>
          <p:cNvSpPr/>
          <p:nvPr/>
        </p:nvSpPr>
        <p:spPr>
          <a:xfrm>
            <a:off x="8247888" y="2788920"/>
            <a:ext cx="3419856" cy="1133856"/>
          </a:xfrm>
          <a:prstGeom prst="roundRect">
            <a:avLst>
              <a:gd name="adj" fmla="val 6452"/>
            </a:avLst>
          </a:prstGeom>
          <a:solidFill>
            <a:srgbClr val="EAF1FF"/>
          </a:solidFill>
          <a:ln w="10160">
            <a:solidFill>
              <a:srgbClr val="E9EEF5"/>
            </a:solidFill>
            <a:prstDash val="solid"/>
          </a:ln>
        </p:spPr>
      </p:sp>
      <p:sp>
        <p:nvSpPr>
          <p:cNvPr id="31" name="Text 29"/>
          <p:cNvSpPr/>
          <p:nvPr/>
        </p:nvSpPr>
        <p:spPr>
          <a:xfrm>
            <a:off x="8412480" y="292608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Profile columns</a:t>
            </a:r>
            <a:endParaRPr lang="en-US" sz="1500" dirty="0"/>
          </a:p>
        </p:txBody>
      </p:sp>
      <p:sp>
        <p:nvSpPr>
          <p:cNvPr id="32" name="Text 30"/>
          <p:cNvSpPr/>
          <p:nvPr/>
        </p:nvSpPr>
        <p:spPr>
          <a:xfrm>
            <a:off x="8412480" y="326440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Row counts, unique values, missing values, valid ranges.</a:t>
            </a:r>
            <a:endParaRPr lang="en-US" sz="1150" dirty="0"/>
          </a:p>
        </p:txBody>
      </p:sp>
      <p:sp>
        <p:nvSpPr>
          <p:cNvPr id="33" name="Shape 31"/>
          <p:cNvSpPr/>
          <p:nvPr/>
        </p:nvSpPr>
        <p:spPr>
          <a:xfrm>
            <a:off x="713232" y="4206240"/>
            <a:ext cx="3419856" cy="1133856"/>
          </a:xfrm>
          <a:prstGeom prst="roundRect">
            <a:avLst>
              <a:gd name="adj" fmla="val 6452"/>
            </a:avLst>
          </a:prstGeom>
          <a:solidFill>
            <a:srgbClr val="E6F7F5"/>
          </a:solidFill>
          <a:ln w="10160">
            <a:solidFill>
              <a:srgbClr val="E9EEF5"/>
            </a:solidFill>
            <a:prstDash val="solid"/>
          </a:ln>
        </p:spPr>
      </p:sp>
      <p:sp>
        <p:nvSpPr>
          <p:cNvPr id="34" name="Text 32"/>
          <p:cNvSpPr/>
          <p:nvPr/>
        </p:nvSpPr>
        <p:spPr>
          <a:xfrm>
            <a:off x="877824" y="434340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Summarise</a:t>
            </a:r>
            <a:endParaRPr lang="en-US" sz="1500" dirty="0"/>
          </a:p>
        </p:txBody>
      </p:sp>
      <p:sp>
        <p:nvSpPr>
          <p:cNvPr id="35" name="Text 33"/>
          <p:cNvSpPr/>
          <p:nvPr/>
        </p:nvSpPr>
        <p:spPr>
          <a:xfrm>
            <a:off x="877824" y="468172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Mean, median, standard deviation, percentiles, category counts.</a:t>
            </a:r>
            <a:endParaRPr lang="en-US" sz="1150" dirty="0"/>
          </a:p>
        </p:txBody>
      </p:sp>
      <p:sp>
        <p:nvSpPr>
          <p:cNvPr id="36" name="Shape 34"/>
          <p:cNvSpPr/>
          <p:nvPr/>
        </p:nvSpPr>
        <p:spPr>
          <a:xfrm>
            <a:off x="4480560" y="4206240"/>
            <a:ext cx="3419856" cy="1133856"/>
          </a:xfrm>
          <a:prstGeom prst="roundRect">
            <a:avLst>
              <a:gd name="adj" fmla="val 6452"/>
            </a:avLst>
          </a:prstGeom>
          <a:solidFill>
            <a:srgbClr val="E6F7F5"/>
          </a:solidFill>
          <a:ln w="10160">
            <a:solidFill>
              <a:srgbClr val="E9EEF5"/>
            </a:solidFill>
            <a:prstDash val="solid"/>
          </a:ln>
        </p:spPr>
      </p:sp>
      <p:sp>
        <p:nvSpPr>
          <p:cNvPr id="37" name="Text 35"/>
          <p:cNvSpPr/>
          <p:nvPr/>
        </p:nvSpPr>
        <p:spPr>
          <a:xfrm>
            <a:off x="4645152" y="434340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Plot</a:t>
            </a:r>
            <a:endParaRPr lang="en-US" sz="1500" dirty="0"/>
          </a:p>
        </p:txBody>
      </p:sp>
      <p:sp>
        <p:nvSpPr>
          <p:cNvPr id="38" name="Text 36"/>
          <p:cNvSpPr/>
          <p:nvPr/>
        </p:nvSpPr>
        <p:spPr>
          <a:xfrm>
            <a:off x="4645152" y="468172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Histogram, box plot, scatter, line and bar charts.</a:t>
            </a:r>
            <a:endParaRPr lang="en-US" sz="1150" dirty="0"/>
          </a:p>
        </p:txBody>
      </p:sp>
      <p:sp>
        <p:nvSpPr>
          <p:cNvPr id="39" name="Shape 37"/>
          <p:cNvSpPr/>
          <p:nvPr/>
        </p:nvSpPr>
        <p:spPr>
          <a:xfrm>
            <a:off x="8247888" y="4206240"/>
            <a:ext cx="3419856" cy="1133856"/>
          </a:xfrm>
          <a:prstGeom prst="roundRect">
            <a:avLst>
              <a:gd name="adj" fmla="val 6452"/>
            </a:avLst>
          </a:prstGeom>
          <a:solidFill>
            <a:srgbClr val="E6F7F5"/>
          </a:solidFill>
          <a:ln w="10160">
            <a:solidFill>
              <a:srgbClr val="E9EEF5"/>
            </a:solidFill>
            <a:prstDash val="solid"/>
          </a:ln>
        </p:spPr>
      </p:sp>
      <p:sp>
        <p:nvSpPr>
          <p:cNvPr id="40" name="Text 38"/>
          <p:cNvSpPr/>
          <p:nvPr/>
        </p:nvSpPr>
        <p:spPr>
          <a:xfrm>
            <a:off x="8412480" y="4343400"/>
            <a:ext cx="309067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Investigate</a:t>
            </a:r>
            <a:endParaRPr lang="en-US" sz="1500" dirty="0"/>
          </a:p>
        </p:txBody>
      </p:sp>
      <p:sp>
        <p:nvSpPr>
          <p:cNvPr id="41" name="Text 39"/>
          <p:cNvSpPr/>
          <p:nvPr/>
        </p:nvSpPr>
        <p:spPr>
          <a:xfrm>
            <a:off x="8412480" y="4681728"/>
            <a:ext cx="3090672"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Outliers, gaps, strange patterns, data-quality exceptions.</a:t>
            </a:r>
            <a:endParaRPr lang="en-US" sz="1150" dirty="0"/>
          </a:p>
        </p:txBody>
      </p:sp>
      <p:sp>
        <p:nvSpPr>
          <p:cNvPr id="42" name="Shape 40"/>
          <p:cNvSpPr/>
          <p:nvPr/>
        </p:nvSpPr>
        <p:spPr>
          <a:xfrm>
            <a:off x="1143000" y="5806440"/>
            <a:ext cx="9875520" cy="493776"/>
          </a:xfrm>
          <a:prstGeom prst="roundRect">
            <a:avLst>
              <a:gd name="adj" fmla="val 9259"/>
            </a:avLst>
          </a:prstGeom>
          <a:solidFill>
            <a:srgbClr val="FFFFFF"/>
          </a:solidFill>
          <a:ln w="15240">
            <a:solidFill>
              <a:srgbClr val="217346"/>
            </a:solidFill>
            <a:prstDash val="solid"/>
          </a:ln>
        </p:spPr>
      </p:sp>
      <p:sp>
        <p:nvSpPr>
          <p:cNvPr id="43" name="Shape 41"/>
          <p:cNvSpPr/>
          <p:nvPr/>
        </p:nvSpPr>
        <p:spPr>
          <a:xfrm>
            <a:off x="1143000" y="5806440"/>
            <a:ext cx="73152" cy="493776"/>
          </a:xfrm>
          <a:prstGeom prst="rect">
            <a:avLst/>
          </a:prstGeom>
          <a:solidFill>
            <a:srgbClr val="217346"/>
          </a:solidFill>
          <a:ln w="12700">
            <a:solidFill>
              <a:srgbClr val="217346"/>
            </a:solidFill>
            <a:prstDash val="solid"/>
          </a:ln>
        </p:spPr>
      </p:sp>
      <p:sp>
        <p:nvSpPr>
          <p:cNvPr id="44" name="Text 42"/>
          <p:cNvSpPr/>
          <p:nvPr/>
        </p:nvSpPr>
        <p:spPr>
          <a:xfrm>
            <a:off x="1307592" y="5916168"/>
            <a:ext cx="9619488" cy="274320"/>
          </a:xfrm>
          <a:prstGeom prst="rect">
            <a:avLst/>
          </a:prstGeom>
          <a:noFill/>
          <a:ln/>
        </p:spPr>
        <p:txBody>
          <a:bodyPr wrap="square" lIns="0" tIns="0" rIns="0" bIns="0" rtlCol="0" anchor="ctr">
            <a:normAutofit/>
          </a:bodyPr>
          <a:lstStyle/>
          <a:p>
            <a:pPr marL="0" indent="0">
              <a:buNone/>
            </a:pPr>
            <a:r>
              <a:rPr lang="en-US" sz="1150" b="1" dirty="0">
                <a:solidFill>
                  <a:srgbClr val="0B1F33"/>
                </a:solidFill>
              </a:rPr>
              <a:t>Best practice: keep “raw”, “clean”, “analysis” and “output” areas separate.</a:t>
            </a:r>
            <a:endParaRPr lang="en-US" sz="1150" dirty="0"/>
          </a:p>
        </p:txBody>
      </p:sp>
      <p:sp>
        <p:nvSpPr>
          <p:cNvPr id="4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b993799b-3988-4b48-b284-fb03a74cd1f7.png"/>
          <p:cNvPicPr>
            <a:picLocks noChangeAspect="1"/>
          </p:cNvPicPr>
          <p:nvPr/>
        </p:nvPicPr>
        <p:blipFill>
          <a:blip r:embed="rId3"/>
          <a:stretch>
            <a:fillRect/>
          </a:stretch>
        </p:blipFill>
        <p:spPr>
          <a:xfrm>
            <a:off x="1523848" y="0"/>
            <a:ext cx="9144000" cy="6858000"/>
          </a:xfrm>
          <a:prstGeom prst="rect">
            <a:avLst/>
          </a:prstGeom>
        </p:spPr>
      </p:pic>
      <p:sp>
        <p:nvSpPr>
          <p:cNvPr id="4" name="Shape 1"/>
          <p:cNvSpPr/>
          <p:nvPr/>
        </p:nvSpPr>
        <p:spPr>
          <a:xfrm>
            <a:off x="4038448" y="259080"/>
            <a:ext cx="4152900" cy="487680"/>
          </a:xfrm>
          <a:prstGeom prst="rect">
            <a:avLst/>
          </a:prstGeom>
          <a:solidFill>
            <a:srgbClr val="FFFFFF"/>
          </a:solidFill>
          <a:ln w="12700">
            <a:solidFill>
              <a:srgbClr val="FFFFFF">
                <a:alpha val="0"/>
              </a:srgbClr>
            </a:solidFill>
            <a:prstDash val="solid"/>
          </a:ln>
        </p:spPr>
      </p:sp>
      <p:sp>
        <p:nvSpPr>
          <p:cNvPr id="5" name="Text 2"/>
          <p:cNvSpPr/>
          <p:nvPr/>
        </p:nvSpPr>
        <p:spPr>
          <a:xfrm>
            <a:off x="4038448" y="274320"/>
            <a:ext cx="4152900" cy="457200"/>
          </a:xfrm>
          <a:prstGeom prst="rect">
            <a:avLst/>
          </a:prstGeom>
          <a:noFill/>
          <a:ln/>
        </p:spPr>
        <p:txBody>
          <a:bodyPr wrap="square" lIns="254" tIns="254" rIns="254" bIns="254" rtlCol="0" anchor="ctr">
            <a:normAutofit/>
          </a:bodyPr>
          <a:lstStyle/>
          <a:p>
            <a:pPr marL="0" indent="0" algn="ctr">
              <a:buNone/>
            </a:pPr>
            <a:r>
              <a:rPr lang="en-US" sz="2600" b="1" dirty="0">
                <a:solidFill>
                  <a:srgbClr val="0B1F33"/>
                </a:solidFill>
                <a:latin typeface="Aptos Display" pitchFamily="34" charset="0"/>
              </a:rPr>
              <a:t>Sample vs. Population</a:t>
            </a:r>
          </a:p>
        </p:txBody>
      </p:sp>
      <p:sp>
        <p:nvSpPr>
          <p:cNvPr id="6" name="Shape 3"/>
          <p:cNvSpPr/>
          <p:nvPr/>
        </p:nvSpPr>
        <p:spPr>
          <a:xfrm>
            <a:off x="5829148" y="1341120"/>
            <a:ext cx="1790700" cy="777240"/>
          </a:xfrm>
          <a:prstGeom prst="rect">
            <a:avLst/>
          </a:prstGeom>
          <a:solidFill>
            <a:srgbClr val="FFFFFF"/>
          </a:solidFill>
          <a:ln w="12700">
            <a:solidFill>
              <a:srgbClr val="FFFFFF">
                <a:alpha val="0"/>
              </a:srgbClr>
            </a:solidFill>
            <a:prstDash val="solid"/>
          </a:ln>
        </p:spPr>
      </p:sp>
      <p:sp>
        <p:nvSpPr>
          <p:cNvPr id="7" name="Text 4"/>
          <p:cNvSpPr/>
          <p:nvPr/>
        </p:nvSpPr>
        <p:spPr>
          <a:xfrm>
            <a:off x="5852008" y="1386840"/>
            <a:ext cx="1676400" cy="655320"/>
          </a:xfrm>
          <a:prstGeom prst="rect">
            <a:avLst/>
          </a:prstGeom>
          <a:noFill/>
          <a:ln/>
        </p:spPr>
        <p:txBody>
          <a:bodyPr wrap="square" lIns="254" tIns="254" rIns="254" bIns="254" rtlCol="0" anchor="ctr">
            <a:normAutofit lnSpcReduction="10000"/>
          </a:bodyPr>
          <a:lstStyle/>
          <a:p>
            <a:pPr marL="0" indent="0" algn="ctr">
              <a:buNone/>
            </a:pPr>
            <a:r>
              <a:rPr lang="en-US" sz="1450" i="1" dirty="0">
                <a:solidFill>
                  <a:srgbClr val="111111"/>
                </a:solidFill>
                <a:latin typeface="Aptos" pitchFamily="34" charset="0"/>
                <a:ea typeface="Aptos" pitchFamily="34" charset="-122"/>
                <a:cs typeface="Aptos" pitchFamily="34" charset="-120"/>
              </a:rPr>
              <a:t>Deduction</a:t>
            </a:r>
            <a:endParaRPr lang="en-US" sz="1450" dirty="0"/>
          </a:p>
          <a:p>
            <a:pPr marL="0" indent="0" algn="ctr">
              <a:buNone/>
            </a:pPr>
            <a:r>
              <a:rPr lang="en-US" sz="1450" i="1" dirty="0">
                <a:solidFill>
                  <a:srgbClr val="111111"/>
                </a:solidFill>
                <a:latin typeface="Aptos" pitchFamily="34" charset="0"/>
                <a:ea typeface="Aptos" pitchFamily="34" charset="-122"/>
                <a:cs typeface="Aptos" pitchFamily="34" charset="-120"/>
              </a:rPr>
              <a:t>(from the general</a:t>
            </a:r>
            <a:endParaRPr lang="en-US" sz="1450" dirty="0"/>
          </a:p>
          <a:p>
            <a:pPr marL="0" indent="0" algn="ctr">
              <a:buNone/>
            </a:pPr>
            <a:r>
              <a:rPr lang="en-US" sz="1450" i="1" dirty="0">
                <a:solidFill>
                  <a:srgbClr val="111111"/>
                </a:solidFill>
                <a:latin typeface="Aptos" pitchFamily="34" charset="0"/>
                <a:ea typeface="Aptos" pitchFamily="34" charset="-122"/>
                <a:cs typeface="Aptos" pitchFamily="34" charset="-120"/>
              </a:rPr>
              <a:t>to the particular)</a:t>
            </a:r>
            <a:endParaRPr lang="en-US" sz="1450" dirty="0"/>
          </a:p>
        </p:txBody>
      </p:sp>
      <p:sp>
        <p:nvSpPr>
          <p:cNvPr id="8" name="Shape 5"/>
          <p:cNvSpPr/>
          <p:nvPr/>
        </p:nvSpPr>
        <p:spPr>
          <a:xfrm>
            <a:off x="8656168" y="1341120"/>
            <a:ext cx="1935480" cy="822960"/>
          </a:xfrm>
          <a:prstGeom prst="rect">
            <a:avLst/>
          </a:prstGeom>
          <a:solidFill>
            <a:srgbClr val="FFFFFF"/>
          </a:solidFill>
          <a:ln w="12700">
            <a:solidFill>
              <a:srgbClr val="FFFFFF">
                <a:alpha val="0"/>
              </a:srgbClr>
            </a:solidFill>
            <a:prstDash val="solid"/>
          </a:ln>
        </p:spPr>
      </p:sp>
      <p:sp>
        <p:nvSpPr>
          <p:cNvPr id="9" name="Text 6"/>
          <p:cNvSpPr/>
          <p:nvPr/>
        </p:nvSpPr>
        <p:spPr>
          <a:xfrm>
            <a:off x="8686648" y="1371600"/>
            <a:ext cx="1828800" cy="701040"/>
          </a:xfrm>
          <a:prstGeom prst="rect">
            <a:avLst/>
          </a:prstGeom>
          <a:noFill/>
          <a:ln/>
        </p:spPr>
        <p:txBody>
          <a:bodyPr wrap="square" lIns="254" tIns="254" rIns="254" bIns="254" rtlCol="0" anchor="ctr">
            <a:normAutofit/>
          </a:bodyPr>
          <a:lstStyle/>
          <a:p>
            <a:pPr marL="0" indent="0" algn="l">
              <a:buNone/>
            </a:pPr>
            <a:r>
              <a:rPr lang="en-US" sz="1450" dirty="0">
                <a:solidFill>
                  <a:srgbClr val="111111"/>
                </a:solidFill>
                <a:latin typeface="Aptos" pitchFamily="34" charset="0"/>
                <a:ea typeface="Aptos" pitchFamily="34" charset="-122"/>
                <a:cs typeface="Aptos" pitchFamily="34" charset="-120"/>
              </a:rPr>
              <a:t>Random and</a:t>
            </a:r>
            <a:endParaRPr lang="en-US" sz="1450" dirty="0"/>
          </a:p>
          <a:p>
            <a:pPr marL="0" indent="0" algn="l">
              <a:buNone/>
            </a:pPr>
            <a:r>
              <a:rPr lang="en-US" sz="1450" dirty="0">
                <a:solidFill>
                  <a:srgbClr val="111111"/>
                </a:solidFill>
                <a:latin typeface="Aptos" pitchFamily="34" charset="0"/>
                <a:ea typeface="Aptos" pitchFamily="34" charset="-122"/>
                <a:cs typeface="Aptos" pitchFamily="34" charset="-120"/>
              </a:rPr>
              <a:t>representative of the</a:t>
            </a:r>
            <a:endParaRPr lang="en-US" sz="1450" dirty="0"/>
          </a:p>
          <a:p>
            <a:pPr marL="0" indent="0" algn="l">
              <a:buNone/>
            </a:pPr>
            <a:r>
              <a:rPr lang="en-US" sz="1450" dirty="0">
                <a:solidFill>
                  <a:srgbClr val="111111"/>
                </a:solidFill>
                <a:latin typeface="Aptos" pitchFamily="34" charset="0"/>
                <a:ea typeface="Aptos" pitchFamily="34" charset="-122"/>
                <a:cs typeface="Aptos" pitchFamily="34" charset="-120"/>
              </a:rPr>
              <a:t>population</a:t>
            </a:r>
            <a:endParaRPr lang="en-US" sz="1450" dirty="0"/>
          </a:p>
        </p:txBody>
      </p:sp>
      <p:sp>
        <p:nvSpPr>
          <p:cNvPr id="10" name="Shape 7"/>
          <p:cNvSpPr/>
          <p:nvPr/>
        </p:nvSpPr>
        <p:spPr>
          <a:xfrm>
            <a:off x="5600548" y="3962400"/>
            <a:ext cx="2286000" cy="624840"/>
          </a:xfrm>
          <a:prstGeom prst="rect">
            <a:avLst/>
          </a:prstGeom>
          <a:solidFill>
            <a:srgbClr val="FFFFFF"/>
          </a:solidFill>
          <a:ln w="12700">
            <a:solidFill>
              <a:srgbClr val="FFFFFF">
                <a:alpha val="0"/>
              </a:srgbClr>
            </a:solidFill>
            <a:prstDash val="solid"/>
          </a:ln>
        </p:spPr>
      </p:sp>
      <p:sp>
        <p:nvSpPr>
          <p:cNvPr id="11" name="Text 8"/>
          <p:cNvSpPr/>
          <p:nvPr/>
        </p:nvSpPr>
        <p:spPr>
          <a:xfrm>
            <a:off x="5638648" y="3992880"/>
            <a:ext cx="2225040" cy="533400"/>
          </a:xfrm>
          <a:prstGeom prst="rect">
            <a:avLst/>
          </a:prstGeom>
          <a:noFill/>
          <a:ln/>
        </p:spPr>
        <p:txBody>
          <a:bodyPr wrap="square" lIns="254" tIns="254" rIns="254" bIns="254" rtlCol="0" anchor="ctr">
            <a:normAutofit fontScale="92500" lnSpcReduction="20000"/>
          </a:bodyPr>
          <a:lstStyle/>
          <a:p>
            <a:pPr marL="0" indent="0" algn="ctr">
              <a:buNone/>
            </a:pPr>
            <a:r>
              <a:rPr lang="en-US" sz="1450" i="1" dirty="0">
                <a:solidFill>
                  <a:srgbClr val="111111"/>
                </a:solidFill>
                <a:latin typeface="Aptos" pitchFamily="34" charset="0"/>
                <a:ea typeface="Aptos" pitchFamily="34" charset="-122"/>
                <a:cs typeface="Aptos" pitchFamily="34" charset="-120"/>
              </a:rPr>
              <a:t>Induction (inference):</a:t>
            </a:r>
            <a:endParaRPr lang="en-US" sz="1450" dirty="0"/>
          </a:p>
          <a:p>
            <a:pPr marL="0" indent="0" algn="ctr">
              <a:buNone/>
            </a:pPr>
            <a:r>
              <a:rPr lang="en-US" sz="1450" i="1" dirty="0">
                <a:solidFill>
                  <a:srgbClr val="111111"/>
                </a:solidFill>
                <a:latin typeface="Aptos" pitchFamily="34" charset="0"/>
                <a:ea typeface="Aptos" pitchFamily="34" charset="-122"/>
                <a:cs typeface="Aptos" pitchFamily="34" charset="-120"/>
              </a:rPr>
              <a:t>from the particular to the general</a:t>
            </a:r>
            <a:endParaRPr lang="en-US" sz="1450" dirty="0"/>
          </a:p>
        </p:txBody>
      </p:sp>
      <p:sp>
        <p:nvSpPr>
          <p:cNvPr id="12" name="Shape 9"/>
          <p:cNvSpPr/>
          <p:nvPr/>
        </p:nvSpPr>
        <p:spPr>
          <a:xfrm>
            <a:off x="8800948" y="4991100"/>
            <a:ext cx="1524000" cy="320040"/>
          </a:xfrm>
          <a:prstGeom prst="rect">
            <a:avLst/>
          </a:prstGeom>
          <a:solidFill>
            <a:srgbClr val="FFFFFF"/>
          </a:solidFill>
          <a:ln w="12700">
            <a:solidFill>
              <a:srgbClr val="FFFFFF">
                <a:alpha val="0"/>
              </a:srgbClr>
            </a:solidFill>
            <a:prstDash val="solid"/>
          </a:ln>
        </p:spPr>
      </p:sp>
      <p:sp>
        <p:nvSpPr>
          <p:cNvPr id="13" name="Text 10"/>
          <p:cNvSpPr/>
          <p:nvPr/>
        </p:nvSpPr>
        <p:spPr>
          <a:xfrm>
            <a:off x="8800948" y="5006340"/>
            <a:ext cx="1524000" cy="266700"/>
          </a:xfrm>
          <a:prstGeom prst="rect">
            <a:avLst/>
          </a:prstGeom>
          <a:noFill/>
          <a:ln/>
        </p:spPr>
        <p:txBody>
          <a:bodyPr wrap="square" lIns="254" tIns="254" rIns="254" bIns="254" rtlCol="0" anchor="ctr">
            <a:normAutofit/>
          </a:bodyPr>
          <a:lstStyle/>
          <a:p>
            <a:pPr marL="0" indent="0" algn="ctr">
              <a:buNone/>
            </a:pPr>
            <a:r>
              <a:rPr lang="en-US" sz="1420" dirty="0">
                <a:solidFill>
                  <a:srgbClr val="111111"/>
                </a:solidFill>
                <a:latin typeface="Aptos" pitchFamily="34" charset="0"/>
                <a:ea typeface="Aptos" pitchFamily="34" charset="-122"/>
                <a:cs typeface="Aptos" pitchFamily="34" charset="-120"/>
              </a:rPr>
              <a:t>The dataframe</a:t>
            </a:r>
            <a:endParaRPr lang="en-US" sz="1420" dirty="0"/>
          </a:p>
        </p:txBody>
      </p:sp>
      <p:sp>
        <p:nvSpPr>
          <p:cNvPr id="14" name="Shape 11"/>
          <p:cNvSpPr/>
          <p:nvPr/>
        </p:nvSpPr>
        <p:spPr>
          <a:xfrm>
            <a:off x="8610448" y="5334000"/>
            <a:ext cx="1828800" cy="800100"/>
          </a:xfrm>
          <a:prstGeom prst="rect">
            <a:avLst/>
          </a:prstGeom>
          <a:solidFill>
            <a:srgbClr val="FFFFFF"/>
          </a:solidFill>
          <a:ln w="12700">
            <a:solidFill>
              <a:srgbClr val="FFFFFF">
                <a:alpha val="0"/>
              </a:srgbClr>
            </a:solidFill>
            <a:prstDash val="solid"/>
          </a:ln>
        </p:spPr>
      </p:sp>
      <p:sp>
        <p:nvSpPr>
          <p:cNvPr id="15" name="Shape 12"/>
          <p:cNvSpPr/>
          <p:nvPr/>
        </p:nvSpPr>
        <p:spPr>
          <a:xfrm>
            <a:off x="2240280" y="6336792"/>
            <a:ext cx="7726680" cy="365760"/>
          </a:xfrm>
          <a:prstGeom prst="roundRect">
            <a:avLst>
              <a:gd name="adj" fmla="val 12500"/>
            </a:avLst>
          </a:prstGeom>
          <a:solidFill>
            <a:srgbClr val="F7FCFD"/>
          </a:solidFill>
          <a:ln w="12700">
            <a:solidFill>
              <a:srgbClr val="00A3A3"/>
            </a:solidFill>
            <a:prstDash val="solid"/>
          </a:ln>
        </p:spPr>
      </p:sp>
      <p:sp>
        <p:nvSpPr>
          <p:cNvPr id="16" name="Text 13"/>
          <p:cNvSpPr/>
          <p:nvPr/>
        </p:nvSpPr>
        <p:spPr>
          <a:xfrm>
            <a:off x="2395728" y="6409944"/>
            <a:ext cx="7406640" cy="201168"/>
          </a:xfrm>
          <a:prstGeom prst="rect">
            <a:avLst/>
          </a:prstGeom>
          <a:noFill/>
          <a:ln/>
        </p:spPr>
        <p:txBody>
          <a:bodyPr wrap="square" lIns="0" tIns="0" rIns="0" bIns="0" rtlCol="0" anchor="ctr">
            <a:normAutofit/>
          </a:bodyPr>
          <a:lstStyle/>
          <a:p>
            <a:pPr marL="0" indent="0" algn="ctr">
              <a:buNone/>
            </a:pPr>
            <a:r>
              <a:rPr lang="en-US" sz="1110" dirty="0">
                <a:solidFill>
                  <a:srgbClr val="26384A"/>
                </a:solidFill>
                <a:latin typeface="Aptos" pitchFamily="34" charset="0"/>
                <a:ea typeface="Aptos" pitchFamily="34" charset="-122"/>
                <a:cs typeface="Aptos" pitchFamily="34" charset="-120"/>
              </a:rPr>
              <a:t>Sampling selects observations from the population; statistical inference uses the sample to learn about the population.</a:t>
            </a:r>
            <a:endParaRPr lang="en-US" sz="1110" dirty="0"/>
          </a:p>
        </p:txBody>
      </p:sp>
      <p:sp>
        <p:nvSpPr>
          <p:cNvPr id="17" name="Slide Number Placeholder 0">
            <a:extLst>
              <a:ext uri="{FF2B5EF4-FFF2-40B4-BE49-F238E27FC236}">
                <a16:creationId xmlns:a16="http://schemas.microsoft.com/office/drawing/2014/main" id="{5728650A-6C13-D17D-8D63-971AA802A95C}"/>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37</a:t>
            </a:fld>
            <a:endParaRPr lang="en-US" dirty="0"/>
          </a:p>
        </p:txBody>
      </p:sp>
      <p:sp>
        <p:nvSpPr>
          <p:cNvPr id="19" name="Text 0">
            <a:extLst>
              <a:ext uri="{FF2B5EF4-FFF2-40B4-BE49-F238E27FC236}">
                <a16:creationId xmlns:a16="http://schemas.microsoft.com/office/drawing/2014/main" id="{89E83D14-A52A-EBE2-D818-4B13861FBE9E}"/>
              </a:ext>
            </a:extLst>
          </p:cNvPr>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tangolo 6"/>
          <p:cNvSpPr/>
          <p:nvPr/>
        </p:nvSpPr>
        <p:spPr>
          <a:xfrm>
            <a:off x="0" y="0"/>
            <a:ext cx="12191400" cy="73080"/>
          </a:xfrm>
          <a:prstGeom prst="rect">
            <a:avLst/>
          </a:prstGeom>
          <a:solidFill>
            <a:srgbClr val="19344D"/>
          </a:solidFill>
          <a:ln w="12600">
            <a:solidFill>
              <a:srgbClr val="19344D"/>
            </a:solidFill>
            <a:round/>
          </a:ln>
        </p:spPr>
        <p:txBody>
          <a:bodyPr lIns="96120" tIns="21960" rIns="96120" bIns="21960" anchor="ctr" anchorCtr="1">
            <a:noAutofit/>
          </a:bodyPr>
          <a:lstStyle/>
          <a:p>
            <a:endParaRPr lang="en-US" sz="1800" b="0" u="none" strike="noStrike">
              <a:solidFill>
                <a:srgbClr val="FFFFFF"/>
              </a:solidFill>
              <a:effectLst/>
              <a:uFillTx/>
              <a:latin typeface="Arial"/>
            </a:endParaRPr>
          </a:p>
        </p:txBody>
      </p:sp>
      <p:sp>
        <p:nvSpPr>
          <p:cNvPr id="8" name="CasellaDiTesto 7"/>
          <p:cNvSpPr txBox="1"/>
          <p:nvPr/>
        </p:nvSpPr>
        <p:spPr>
          <a:xfrm>
            <a:off x="347400" y="164520"/>
            <a:ext cx="2926080" cy="264240"/>
          </a:xfrm>
          <a:prstGeom prst="rect">
            <a:avLst/>
          </a:prstGeom>
          <a:noFill/>
          <a:ln w="0">
            <a:noFill/>
          </a:ln>
        </p:spPr>
        <p:txBody>
          <a:bodyPr lIns="73080" rIns="73080" anchor="t">
            <a:spAutoFit/>
          </a:bodyPr>
          <a:lstStyle/>
          <a:p>
            <a:r>
              <a:rPr lang="en-US" sz="1000" b="1" u="none" strike="noStrike">
                <a:solidFill>
                  <a:srgbClr val="0097A7"/>
                </a:solidFill>
                <a:effectLst/>
                <a:uFillTx/>
                <a:latin typeface="Aptos"/>
              </a:rPr>
              <a:t>02 · DATA FOUNDATIONS</a:t>
            </a:r>
          </a:p>
        </p:txBody>
      </p:sp>
      <p:sp>
        <p:nvSpPr>
          <p:cNvPr id="9" name="CasellaDiTesto 8"/>
          <p:cNvSpPr txBox="1"/>
          <p:nvPr/>
        </p:nvSpPr>
        <p:spPr>
          <a:xfrm>
            <a:off x="329040" y="457200"/>
            <a:ext cx="8138160" cy="473040"/>
          </a:xfrm>
          <a:prstGeom prst="rect">
            <a:avLst/>
          </a:prstGeom>
          <a:noFill/>
          <a:ln w="0">
            <a:noFill/>
          </a:ln>
        </p:spPr>
        <p:txBody>
          <a:bodyPr lIns="73080" rIns="73080" anchor="t">
            <a:spAutoFit/>
          </a:bodyPr>
          <a:lstStyle/>
          <a:p>
            <a:r>
              <a:rPr lang="en-US" sz="2200" b="1" u="none" strike="noStrike">
                <a:solidFill>
                  <a:srgbClr val="19344D"/>
                </a:solidFill>
                <a:effectLst/>
                <a:uFillTx/>
                <a:latin typeface="Aptos"/>
              </a:rPr>
              <a:t>Building a dataset in Excel: two starting points</a:t>
            </a:r>
          </a:p>
        </p:txBody>
      </p:sp>
      <p:sp>
        <p:nvSpPr>
          <p:cNvPr id="10" name="CasellaDiTesto 9"/>
          <p:cNvSpPr txBox="1"/>
          <p:nvPr/>
        </p:nvSpPr>
        <p:spPr>
          <a:xfrm>
            <a:off x="329040" y="932400"/>
            <a:ext cx="10789920" cy="330480"/>
          </a:xfrm>
          <a:prstGeom prst="rect">
            <a:avLst/>
          </a:prstGeom>
          <a:noFill/>
          <a:ln w="0">
            <a:noFill/>
          </a:ln>
        </p:spPr>
        <p:txBody>
          <a:bodyPr lIns="73080" rIns="73080" anchor="t">
            <a:spAutoFit/>
          </a:bodyPr>
          <a:lstStyle/>
          <a:p>
            <a:r>
              <a:rPr lang="en-US" sz="1100" b="0" u="none" strike="noStrike">
                <a:solidFill>
                  <a:srgbClr val="6E7887"/>
                </a:solidFill>
                <a:effectLst/>
                <a:uFillTx/>
                <a:latin typeface="Aptos"/>
              </a:rPr>
              <a:t>A dataset can be created directly in Excel or imported from an external source. In both cases, the goal is a clean, structured, analysis-ready table.</a:t>
            </a:r>
          </a:p>
        </p:txBody>
      </p:sp>
      <p:sp>
        <p:nvSpPr>
          <p:cNvPr id="11" name="Rettangolo con angoli arrotondati 10"/>
          <p:cNvSpPr/>
          <p:nvPr/>
        </p:nvSpPr>
        <p:spPr>
          <a:xfrm>
            <a:off x="502920" y="1444680"/>
            <a:ext cx="5074920" cy="4160520"/>
          </a:xfrm>
          <a:prstGeom prst="roundRect">
            <a:avLst/>
          </a:prstGeom>
          <a:solidFill>
            <a:srgbClr val="E9EFFE"/>
          </a:solidFill>
          <a:ln w="12600">
            <a:solidFill>
              <a:srgbClr val="4370EE"/>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12" name="CasellaDiTesto 11"/>
          <p:cNvSpPr txBox="1"/>
          <p:nvPr/>
        </p:nvSpPr>
        <p:spPr>
          <a:xfrm>
            <a:off x="713160" y="1627560"/>
            <a:ext cx="4480560" cy="352440"/>
          </a:xfrm>
          <a:prstGeom prst="rect">
            <a:avLst/>
          </a:prstGeom>
          <a:noFill/>
          <a:ln w="0">
            <a:noFill/>
          </a:ln>
        </p:spPr>
        <p:txBody>
          <a:bodyPr lIns="73080" rIns="73080" anchor="t">
            <a:spAutoFit/>
          </a:bodyPr>
          <a:lstStyle/>
          <a:p>
            <a:pPr algn="ctr"/>
            <a:r>
              <a:rPr lang="en-US" sz="1500" b="1" u="none" strike="noStrike">
                <a:solidFill>
                  <a:srgbClr val="4370EE"/>
                </a:solidFill>
                <a:effectLst/>
                <a:uFillTx/>
                <a:latin typeface="Aptos"/>
              </a:rPr>
              <a:t>1  BUILD THE DATASET NATIVELY IN EXCEL</a:t>
            </a:r>
          </a:p>
        </p:txBody>
      </p:sp>
      <p:sp>
        <p:nvSpPr>
          <p:cNvPr id="13" name="CasellaDiTesto 12"/>
          <p:cNvSpPr txBox="1"/>
          <p:nvPr/>
        </p:nvSpPr>
        <p:spPr>
          <a:xfrm>
            <a:off x="749520" y="2084760"/>
            <a:ext cx="4343400" cy="987480"/>
          </a:xfrm>
          <a:prstGeom prst="rect">
            <a:avLst/>
          </a:prstGeom>
          <a:noFill/>
          <a:ln w="0">
            <a:noFill/>
          </a:ln>
        </p:spPr>
        <p:txBody>
          <a:bodyPr lIns="73080" rIns="73080" anchor="t">
            <a:spAutoFit/>
          </a:bodyPr>
          <a:lstStyle/>
          <a:p>
            <a:r>
              <a:rPr lang="en-US" sz="1300" b="0" u="none" strike="noStrike">
                <a:solidFill>
                  <a:srgbClr val="526072"/>
                </a:solidFill>
                <a:effectLst/>
                <a:uFillTx/>
                <a:latin typeface="Aptos"/>
              </a:rPr>
              <a:t>Typical sources</a:t>
            </a:r>
          </a:p>
          <a:p>
            <a:r>
              <a:rPr lang="en-US" sz="1300" b="0" u="none" strike="noStrike">
                <a:solidFill>
                  <a:srgbClr val="526072"/>
                </a:solidFill>
                <a:effectLst/>
                <a:uFillTx/>
                <a:latin typeface="Aptos"/>
              </a:rPr>
              <a:t>• Manual data entry</a:t>
            </a:r>
          </a:p>
          <a:p>
            <a:r>
              <a:rPr lang="en-US" sz="1300" b="0" u="none" strike="noStrike">
                <a:solidFill>
                  <a:srgbClr val="526072"/>
                </a:solidFill>
                <a:effectLst/>
                <a:uFillTx/>
                <a:latin typeface="Aptos"/>
              </a:rPr>
              <a:t>• Copy / paste from controlled sources</a:t>
            </a:r>
          </a:p>
          <a:p>
            <a:r>
              <a:rPr lang="en-US" sz="1300" b="0" u="none" strike="noStrike">
                <a:solidFill>
                  <a:srgbClr val="526072"/>
                </a:solidFill>
                <a:effectLst/>
                <a:uFillTx/>
                <a:latin typeface="Aptos"/>
              </a:rPr>
              <a:t>• Form-based or operational data entry</a:t>
            </a:r>
          </a:p>
        </p:txBody>
      </p:sp>
      <p:sp>
        <p:nvSpPr>
          <p:cNvPr id="14" name="Rettangolo 13"/>
          <p:cNvSpPr/>
          <p:nvPr/>
        </p:nvSpPr>
        <p:spPr>
          <a:xfrm>
            <a:off x="868680" y="2944080"/>
            <a:ext cx="1051560" cy="310680"/>
          </a:xfrm>
          <a:prstGeom prst="rect">
            <a:avLst/>
          </a:prstGeom>
          <a:solidFill>
            <a:srgbClr val="4370EE"/>
          </a:solidFill>
          <a:ln w="12600">
            <a:solidFill>
              <a:srgbClr val="FFFFFF"/>
            </a:solidFill>
            <a:round/>
          </a:ln>
        </p:spPr>
        <p:txBody>
          <a:bodyPr lIns="96120" tIns="51120" rIns="96120" bIns="51120" anchor="ctr" anchorCtr="1">
            <a:noAutofit/>
          </a:bodyPr>
          <a:lstStyle/>
          <a:p>
            <a:endParaRPr lang="en-US" sz="1800" b="0" u="none" strike="noStrike">
              <a:solidFill>
                <a:srgbClr val="FFFFFF"/>
              </a:solidFill>
              <a:effectLst/>
              <a:uFillTx/>
              <a:latin typeface="Arial"/>
            </a:endParaRPr>
          </a:p>
        </p:txBody>
      </p:sp>
      <p:sp>
        <p:nvSpPr>
          <p:cNvPr id="15" name="CasellaDiTesto 14"/>
          <p:cNvSpPr txBox="1"/>
          <p:nvPr/>
        </p:nvSpPr>
        <p:spPr>
          <a:xfrm>
            <a:off x="868680" y="2953440"/>
            <a:ext cx="1051560" cy="275760"/>
          </a:xfrm>
          <a:prstGeom prst="rect">
            <a:avLst/>
          </a:prstGeom>
          <a:noFill/>
          <a:ln w="0">
            <a:noFill/>
          </a:ln>
        </p:spPr>
        <p:txBody>
          <a:bodyPr lIns="73080" rIns="73080" anchor="t">
            <a:spAutoFit/>
          </a:bodyPr>
          <a:lstStyle/>
          <a:p>
            <a:pPr algn="ctr"/>
            <a:r>
              <a:rPr lang="en-US" sz="870" b="1" u="none" strike="noStrike">
                <a:solidFill>
                  <a:srgbClr val="FFFFFF"/>
                </a:solidFill>
                <a:effectLst/>
                <a:uFillTx/>
                <a:latin typeface="Aptos"/>
              </a:rPr>
              <a:t>Customer_ID</a:t>
            </a:r>
          </a:p>
        </p:txBody>
      </p:sp>
      <p:sp>
        <p:nvSpPr>
          <p:cNvPr id="16" name="Rettangolo 15"/>
          <p:cNvSpPr/>
          <p:nvPr/>
        </p:nvSpPr>
        <p:spPr>
          <a:xfrm>
            <a:off x="1919880" y="2944080"/>
            <a:ext cx="914400" cy="310680"/>
          </a:xfrm>
          <a:prstGeom prst="rect">
            <a:avLst/>
          </a:prstGeom>
          <a:solidFill>
            <a:srgbClr val="4370EE"/>
          </a:solidFill>
          <a:ln w="12600">
            <a:solidFill>
              <a:srgbClr val="FFFFFF"/>
            </a:solidFill>
            <a:round/>
          </a:ln>
        </p:spPr>
        <p:txBody>
          <a:bodyPr lIns="96120" tIns="51120" rIns="96120" bIns="51120" anchor="ctr" anchorCtr="1">
            <a:noAutofit/>
          </a:bodyPr>
          <a:lstStyle/>
          <a:p>
            <a:endParaRPr lang="en-US" sz="1800" b="0" u="none" strike="noStrike">
              <a:solidFill>
                <a:srgbClr val="FFFFFF"/>
              </a:solidFill>
              <a:effectLst/>
              <a:uFillTx/>
              <a:latin typeface="Arial"/>
            </a:endParaRPr>
          </a:p>
        </p:txBody>
      </p:sp>
      <p:sp>
        <p:nvSpPr>
          <p:cNvPr id="17" name="CasellaDiTesto 16"/>
          <p:cNvSpPr txBox="1"/>
          <p:nvPr/>
        </p:nvSpPr>
        <p:spPr>
          <a:xfrm>
            <a:off x="1919880" y="2953440"/>
            <a:ext cx="914400" cy="275760"/>
          </a:xfrm>
          <a:prstGeom prst="rect">
            <a:avLst/>
          </a:prstGeom>
          <a:noFill/>
          <a:ln w="0">
            <a:noFill/>
          </a:ln>
        </p:spPr>
        <p:txBody>
          <a:bodyPr lIns="73080" rIns="73080" anchor="t">
            <a:spAutoFit/>
          </a:bodyPr>
          <a:lstStyle/>
          <a:p>
            <a:pPr algn="ctr"/>
            <a:r>
              <a:rPr lang="en-US" sz="870" b="1" u="none" strike="noStrike">
                <a:solidFill>
                  <a:srgbClr val="FFFFFF"/>
                </a:solidFill>
                <a:effectLst/>
                <a:uFillTx/>
                <a:latin typeface="Aptos"/>
              </a:rPr>
              <a:t>Age</a:t>
            </a:r>
          </a:p>
        </p:txBody>
      </p:sp>
      <p:sp>
        <p:nvSpPr>
          <p:cNvPr id="18" name="Rettangolo 17"/>
          <p:cNvSpPr/>
          <p:nvPr/>
        </p:nvSpPr>
        <p:spPr>
          <a:xfrm>
            <a:off x="2834280" y="2944080"/>
            <a:ext cx="1143000" cy="310680"/>
          </a:xfrm>
          <a:prstGeom prst="rect">
            <a:avLst/>
          </a:prstGeom>
          <a:solidFill>
            <a:srgbClr val="4370EE"/>
          </a:solidFill>
          <a:ln w="12600">
            <a:solidFill>
              <a:srgbClr val="FFFFFF"/>
            </a:solidFill>
            <a:round/>
          </a:ln>
        </p:spPr>
        <p:txBody>
          <a:bodyPr lIns="96120" tIns="51120" rIns="96120" bIns="51120" anchor="ctr" anchorCtr="1">
            <a:noAutofit/>
          </a:bodyPr>
          <a:lstStyle/>
          <a:p>
            <a:endParaRPr lang="en-US" sz="1800" b="0" u="none" strike="noStrike">
              <a:solidFill>
                <a:srgbClr val="FFFFFF"/>
              </a:solidFill>
              <a:effectLst/>
              <a:uFillTx/>
              <a:latin typeface="Arial"/>
            </a:endParaRPr>
          </a:p>
        </p:txBody>
      </p:sp>
      <p:sp>
        <p:nvSpPr>
          <p:cNvPr id="19" name="CasellaDiTesto 18"/>
          <p:cNvSpPr txBox="1"/>
          <p:nvPr/>
        </p:nvSpPr>
        <p:spPr>
          <a:xfrm>
            <a:off x="2834280" y="2953440"/>
            <a:ext cx="1143000" cy="275760"/>
          </a:xfrm>
          <a:prstGeom prst="rect">
            <a:avLst/>
          </a:prstGeom>
          <a:noFill/>
          <a:ln w="0">
            <a:noFill/>
          </a:ln>
        </p:spPr>
        <p:txBody>
          <a:bodyPr lIns="73080" rIns="73080" anchor="t">
            <a:spAutoFit/>
          </a:bodyPr>
          <a:lstStyle/>
          <a:p>
            <a:pPr algn="ctr"/>
            <a:r>
              <a:rPr lang="en-US" sz="870" b="1" u="none" strike="noStrike">
                <a:solidFill>
                  <a:srgbClr val="FFFFFF"/>
                </a:solidFill>
                <a:effectLst/>
                <a:uFillTx/>
                <a:latin typeface="Aptos"/>
              </a:rPr>
              <a:t>Region</a:t>
            </a:r>
          </a:p>
        </p:txBody>
      </p:sp>
      <p:sp>
        <p:nvSpPr>
          <p:cNvPr id="20" name="Rettangolo 19"/>
          <p:cNvSpPr/>
          <p:nvPr/>
        </p:nvSpPr>
        <p:spPr>
          <a:xfrm>
            <a:off x="3977640" y="2944080"/>
            <a:ext cx="1234440" cy="310680"/>
          </a:xfrm>
          <a:prstGeom prst="rect">
            <a:avLst/>
          </a:prstGeom>
          <a:solidFill>
            <a:srgbClr val="4370EE"/>
          </a:solidFill>
          <a:ln w="12600">
            <a:solidFill>
              <a:srgbClr val="FFFFFF"/>
            </a:solidFill>
            <a:round/>
          </a:ln>
        </p:spPr>
        <p:txBody>
          <a:bodyPr lIns="96120" tIns="51120" rIns="96120" bIns="51120" anchor="ctr" anchorCtr="1">
            <a:noAutofit/>
          </a:bodyPr>
          <a:lstStyle/>
          <a:p>
            <a:endParaRPr lang="en-US" sz="1800" b="0" u="none" strike="noStrike">
              <a:solidFill>
                <a:srgbClr val="FFFFFF"/>
              </a:solidFill>
              <a:effectLst/>
              <a:uFillTx/>
              <a:latin typeface="Arial"/>
            </a:endParaRPr>
          </a:p>
        </p:txBody>
      </p:sp>
      <p:sp>
        <p:nvSpPr>
          <p:cNvPr id="21" name="CasellaDiTesto 20"/>
          <p:cNvSpPr txBox="1"/>
          <p:nvPr/>
        </p:nvSpPr>
        <p:spPr>
          <a:xfrm>
            <a:off x="3977640" y="2953440"/>
            <a:ext cx="1234440" cy="275760"/>
          </a:xfrm>
          <a:prstGeom prst="rect">
            <a:avLst/>
          </a:prstGeom>
          <a:noFill/>
          <a:ln w="0">
            <a:noFill/>
          </a:ln>
        </p:spPr>
        <p:txBody>
          <a:bodyPr lIns="73080" rIns="73080" anchor="t">
            <a:spAutoFit/>
          </a:bodyPr>
          <a:lstStyle/>
          <a:p>
            <a:pPr algn="ctr"/>
            <a:r>
              <a:rPr lang="en-US" sz="870" b="1" u="none" strike="noStrike">
                <a:solidFill>
                  <a:srgbClr val="FFFFFF"/>
                </a:solidFill>
                <a:effectLst/>
                <a:uFillTx/>
                <a:latin typeface="Aptos"/>
              </a:rPr>
              <a:t>Balance</a:t>
            </a:r>
          </a:p>
        </p:txBody>
      </p:sp>
      <p:sp>
        <p:nvSpPr>
          <p:cNvPr id="22" name="Rettangolo 21"/>
          <p:cNvSpPr/>
          <p:nvPr/>
        </p:nvSpPr>
        <p:spPr>
          <a:xfrm>
            <a:off x="868680" y="3255120"/>
            <a:ext cx="105156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23" name="CasellaDiTesto 22"/>
          <p:cNvSpPr txBox="1"/>
          <p:nvPr/>
        </p:nvSpPr>
        <p:spPr>
          <a:xfrm>
            <a:off x="868680" y="3264120"/>
            <a:ext cx="105156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CL001</a:t>
            </a:r>
          </a:p>
        </p:txBody>
      </p:sp>
      <p:sp>
        <p:nvSpPr>
          <p:cNvPr id="24" name="Rettangolo 23"/>
          <p:cNvSpPr/>
          <p:nvPr/>
        </p:nvSpPr>
        <p:spPr>
          <a:xfrm>
            <a:off x="1919880" y="3255120"/>
            <a:ext cx="9144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25" name="CasellaDiTesto 24"/>
          <p:cNvSpPr txBox="1"/>
          <p:nvPr/>
        </p:nvSpPr>
        <p:spPr>
          <a:xfrm>
            <a:off x="1919880" y="3264120"/>
            <a:ext cx="9144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34</a:t>
            </a:r>
          </a:p>
        </p:txBody>
      </p:sp>
      <p:sp>
        <p:nvSpPr>
          <p:cNvPr id="26" name="Rettangolo 25"/>
          <p:cNvSpPr/>
          <p:nvPr/>
        </p:nvSpPr>
        <p:spPr>
          <a:xfrm>
            <a:off x="2834280" y="3255120"/>
            <a:ext cx="11430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27" name="CasellaDiTesto 26"/>
          <p:cNvSpPr txBox="1"/>
          <p:nvPr/>
        </p:nvSpPr>
        <p:spPr>
          <a:xfrm>
            <a:off x="2834280" y="3264120"/>
            <a:ext cx="11430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North</a:t>
            </a:r>
          </a:p>
        </p:txBody>
      </p:sp>
      <p:sp>
        <p:nvSpPr>
          <p:cNvPr id="28" name="Rettangolo 27"/>
          <p:cNvSpPr/>
          <p:nvPr/>
        </p:nvSpPr>
        <p:spPr>
          <a:xfrm>
            <a:off x="3977640" y="3255120"/>
            <a:ext cx="123444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29" name="CasellaDiTesto 28"/>
          <p:cNvSpPr txBox="1"/>
          <p:nvPr/>
        </p:nvSpPr>
        <p:spPr>
          <a:xfrm>
            <a:off x="3977640" y="3264120"/>
            <a:ext cx="123444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5,240</a:t>
            </a:r>
          </a:p>
        </p:txBody>
      </p:sp>
      <p:sp>
        <p:nvSpPr>
          <p:cNvPr id="30" name="Rettangolo 29"/>
          <p:cNvSpPr/>
          <p:nvPr/>
        </p:nvSpPr>
        <p:spPr>
          <a:xfrm>
            <a:off x="868680" y="3566160"/>
            <a:ext cx="105156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31" name="CasellaDiTesto 30"/>
          <p:cNvSpPr txBox="1"/>
          <p:nvPr/>
        </p:nvSpPr>
        <p:spPr>
          <a:xfrm>
            <a:off x="868680" y="3575160"/>
            <a:ext cx="105156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CL002</a:t>
            </a:r>
          </a:p>
        </p:txBody>
      </p:sp>
      <p:sp>
        <p:nvSpPr>
          <p:cNvPr id="32" name="Rettangolo 31"/>
          <p:cNvSpPr/>
          <p:nvPr/>
        </p:nvSpPr>
        <p:spPr>
          <a:xfrm>
            <a:off x="1919880" y="3566160"/>
            <a:ext cx="9144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33" name="CasellaDiTesto 32"/>
          <p:cNvSpPr txBox="1"/>
          <p:nvPr/>
        </p:nvSpPr>
        <p:spPr>
          <a:xfrm>
            <a:off x="1919880" y="3575160"/>
            <a:ext cx="9144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41</a:t>
            </a:r>
          </a:p>
        </p:txBody>
      </p:sp>
      <p:sp>
        <p:nvSpPr>
          <p:cNvPr id="34" name="Rettangolo 33"/>
          <p:cNvSpPr/>
          <p:nvPr/>
        </p:nvSpPr>
        <p:spPr>
          <a:xfrm>
            <a:off x="2834280" y="3566160"/>
            <a:ext cx="11430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35" name="CasellaDiTesto 34"/>
          <p:cNvSpPr txBox="1"/>
          <p:nvPr/>
        </p:nvSpPr>
        <p:spPr>
          <a:xfrm>
            <a:off x="2834280" y="3575160"/>
            <a:ext cx="11430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West</a:t>
            </a:r>
          </a:p>
        </p:txBody>
      </p:sp>
      <p:sp>
        <p:nvSpPr>
          <p:cNvPr id="36" name="Rettangolo 35"/>
          <p:cNvSpPr/>
          <p:nvPr/>
        </p:nvSpPr>
        <p:spPr>
          <a:xfrm>
            <a:off x="3977640" y="3566160"/>
            <a:ext cx="123444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37" name="CasellaDiTesto 36"/>
          <p:cNvSpPr txBox="1"/>
          <p:nvPr/>
        </p:nvSpPr>
        <p:spPr>
          <a:xfrm>
            <a:off x="3977640" y="3575160"/>
            <a:ext cx="123444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8,120</a:t>
            </a:r>
          </a:p>
        </p:txBody>
      </p:sp>
      <p:sp>
        <p:nvSpPr>
          <p:cNvPr id="38" name="Rettangolo 37"/>
          <p:cNvSpPr/>
          <p:nvPr/>
        </p:nvSpPr>
        <p:spPr>
          <a:xfrm>
            <a:off x="868680" y="3876840"/>
            <a:ext cx="105156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39" name="CasellaDiTesto 38"/>
          <p:cNvSpPr txBox="1"/>
          <p:nvPr/>
        </p:nvSpPr>
        <p:spPr>
          <a:xfrm>
            <a:off x="868680" y="3886200"/>
            <a:ext cx="105156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CL003</a:t>
            </a:r>
          </a:p>
        </p:txBody>
      </p:sp>
      <p:sp>
        <p:nvSpPr>
          <p:cNvPr id="40" name="Rettangolo 39"/>
          <p:cNvSpPr/>
          <p:nvPr/>
        </p:nvSpPr>
        <p:spPr>
          <a:xfrm>
            <a:off x="1919880" y="3876840"/>
            <a:ext cx="9144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41" name="CasellaDiTesto 40"/>
          <p:cNvSpPr txBox="1"/>
          <p:nvPr/>
        </p:nvSpPr>
        <p:spPr>
          <a:xfrm>
            <a:off x="1919880" y="3886200"/>
            <a:ext cx="9144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29</a:t>
            </a:r>
          </a:p>
        </p:txBody>
      </p:sp>
      <p:sp>
        <p:nvSpPr>
          <p:cNvPr id="42" name="Rettangolo 41"/>
          <p:cNvSpPr/>
          <p:nvPr/>
        </p:nvSpPr>
        <p:spPr>
          <a:xfrm>
            <a:off x="2834280" y="3876840"/>
            <a:ext cx="114300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43" name="CasellaDiTesto 42"/>
          <p:cNvSpPr txBox="1"/>
          <p:nvPr/>
        </p:nvSpPr>
        <p:spPr>
          <a:xfrm>
            <a:off x="2834280" y="3886200"/>
            <a:ext cx="114300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South</a:t>
            </a:r>
          </a:p>
        </p:txBody>
      </p:sp>
      <p:sp>
        <p:nvSpPr>
          <p:cNvPr id="44" name="Rettangolo 43"/>
          <p:cNvSpPr/>
          <p:nvPr/>
        </p:nvSpPr>
        <p:spPr>
          <a:xfrm>
            <a:off x="3977640" y="3876840"/>
            <a:ext cx="1234440" cy="310680"/>
          </a:xfrm>
          <a:prstGeom prst="rect">
            <a:avLst/>
          </a:prstGeom>
          <a:solidFill>
            <a:srgbClr val="FFFFFF"/>
          </a:solidFill>
          <a:ln w="12600">
            <a:solidFill>
              <a:srgbClr val="DCE2E9"/>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45" name="CasellaDiTesto 44"/>
          <p:cNvSpPr txBox="1"/>
          <p:nvPr/>
        </p:nvSpPr>
        <p:spPr>
          <a:xfrm>
            <a:off x="3977640" y="3886200"/>
            <a:ext cx="1234440" cy="275760"/>
          </a:xfrm>
          <a:prstGeom prst="rect">
            <a:avLst/>
          </a:prstGeom>
          <a:noFill/>
          <a:ln w="0">
            <a:noFill/>
          </a:ln>
        </p:spPr>
        <p:txBody>
          <a:bodyPr lIns="73080" rIns="73080" anchor="t">
            <a:spAutoFit/>
          </a:bodyPr>
          <a:lstStyle/>
          <a:p>
            <a:pPr algn="ctr"/>
            <a:r>
              <a:rPr lang="en-US" sz="870" b="0" u="none" strike="noStrike">
                <a:solidFill>
                  <a:srgbClr val="526072"/>
                </a:solidFill>
                <a:effectLst/>
                <a:uFillTx/>
                <a:latin typeface="Aptos"/>
              </a:rPr>
              <a:t>3,410</a:t>
            </a:r>
          </a:p>
        </p:txBody>
      </p:sp>
      <p:sp>
        <p:nvSpPr>
          <p:cNvPr id="46" name="CasellaDiTesto 45"/>
          <p:cNvSpPr txBox="1"/>
          <p:nvPr/>
        </p:nvSpPr>
        <p:spPr>
          <a:xfrm>
            <a:off x="749520" y="4224240"/>
            <a:ext cx="4434840" cy="1159200"/>
          </a:xfrm>
          <a:prstGeom prst="rect">
            <a:avLst/>
          </a:prstGeom>
          <a:noFill/>
          <a:ln w="0">
            <a:noFill/>
          </a:ln>
        </p:spPr>
        <p:txBody>
          <a:bodyPr lIns="73080" rIns="73080" anchor="t">
            <a:spAutoFit/>
          </a:bodyPr>
          <a:lstStyle/>
          <a:p>
            <a:r>
              <a:rPr lang="en-US" sz="1230" b="0" u="none" strike="noStrike">
                <a:solidFill>
                  <a:srgbClr val="526072"/>
                </a:solidFill>
                <a:effectLst/>
                <a:uFillTx/>
                <a:latin typeface="Aptos"/>
              </a:rPr>
              <a:t>Good practice</a:t>
            </a:r>
          </a:p>
          <a:p>
            <a:r>
              <a:rPr lang="en-US" sz="1230" b="0" u="none" strike="noStrike">
                <a:solidFill>
                  <a:srgbClr val="526072"/>
                </a:solidFill>
                <a:effectLst/>
                <a:uFillTx/>
                <a:latin typeface="Aptos"/>
              </a:rPr>
              <a:t>• One row = one observation</a:t>
            </a:r>
          </a:p>
          <a:p>
            <a:r>
              <a:rPr lang="en-US" sz="1230" b="0" u="none" strike="noStrike">
                <a:solidFill>
                  <a:srgbClr val="526072"/>
                </a:solidFill>
                <a:effectLst/>
                <a:uFillTx/>
                <a:latin typeface="Aptos"/>
              </a:rPr>
              <a:t>• One column = one variable</a:t>
            </a:r>
          </a:p>
          <a:p>
            <a:r>
              <a:rPr lang="en-US" sz="1230" b="0" u="none" strike="noStrike">
                <a:solidFill>
                  <a:srgbClr val="526072"/>
                </a:solidFill>
                <a:effectLst/>
                <a:uFillTx/>
                <a:latin typeface="Aptos"/>
              </a:rPr>
              <a:t>• Use clear headers and consistent data types</a:t>
            </a:r>
          </a:p>
          <a:p>
            <a:r>
              <a:rPr lang="en-US" sz="1230" b="0" u="none" strike="noStrike">
                <a:solidFill>
                  <a:srgbClr val="526072"/>
                </a:solidFill>
                <a:effectLst/>
                <a:uFillTx/>
                <a:latin typeface="Aptos"/>
              </a:rPr>
              <a:t>• Convert the range to an Excel Table (Ctrl+T)</a:t>
            </a:r>
          </a:p>
        </p:txBody>
      </p:sp>
      <p:sp>
        <p:nvSpPr>
          <p:cNvPr id="47" name="Rettangolo con angoli arrotondati 46"/>
          <p:cNvSpPr/>
          <p:nvPr/>
        </p:nvSpPr>
        <p:spPr>
          <a:xfrm>
            <a:off x="6611040" y="1444680"/>
            <a:ext cx="5074920" cy="4160520"/>
          </a:xfrm>
          <a:prstGeom prst="roundRect">
            <a:avLst/>
          </a:prstGeom>
          <a:solidFill>
            <a:srgbClr val="FDF3E3"/>
          </a:solidFill>
          <a:ln w="12600">
            <a:solidFill>
              <a:srgbClr val="F2A022"/>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48" name="CasellaDiTesto 47"/>
          <p:cNvSpPr txBox="1"/>
          <p:nvPr/>
        </p:nvSpPr>
        <p:spPr>
          <a:xfrm>
            <a:off x="6821280" y="1627560"/>
            <a:ext cx="4617720" cy="613080"/>
          </a:xfrm>
          <a:prstGeom prst="rect">
            <a:avLst/>
          </a:prstGeom>
          <a:noFill/>
          <a:ln w="0">
            <a:noFill/>
          </a:ln>
        </p:spPr>
        <p:txBody>
          <a:bodyPr lIns="73080" rIns="73080" anchor="t">
            <a:spAutoFit/>
          </a:bodyPr>
          <a:lstStyle/>
          <a:p>
            <a:pPr algn="ctr"/>
            <a:r>
              <a:rPr lang="en-US" sz="1500" b="1" u="none" strike="noStrike">
                <a:solidFill>
                  <a:srgbClr val="F2A022"/>
                </a:solidFill>
                <a:effectLst/>
                <a:uFillTx/>
                <a:latin typeface="Aptos"/>
              </a:rPr>
              <a:t>2  IMPORT THE DATASET FROM OUTSIDE EXCEL</a:t>
            </a:r>
          </a:p>
        </p:txBody>
      </p:sp>
      <p:sp>
        <p:nvSpPr>
          <p:cNvPr id="49" name="CasellaDiTesto 48"/>
          <p:cNvSpPr txBox="1"/>
          <p:nvPr/>
        </p:nvSpPr>
        <p:spPr>
          <a:xfrm>
            <a:off x="6858000" y="2084760"/>
            <a:ext cx="4343400" cy="1211400"/>
          </a:xfrm>
          <a:prstGeom prst="rect">
            <a:avLst/>
          </a:prstGeom>
          <a:noFill/>
          <a:ln w="0">
            <a:noFill/>
          </a:ln>
        </p:spPr>
        <p:txBody>
          <a:bodyPr lIns="73080" rIns="73080" anchor="t">
            <a:spAutoFit/>
          </a:bodyPr>
          <a:lstStyle/>
          <a:p>
            <a:r>
              <a:rPr lang="en-US" sz="1300" b="0" u="none" strike="noStrike">
                <a:solidFill>
                  <a:srgbClr val="526072"/>
                </a:solidFill>
                <a:effectLst/>
                <a:uFillTx/>
                <a:latin typeface="Aptos"/>
              </a:rPr>
              <a:t>Typical external sources</a:t>
            </a:r>
          </a:p>
          <a:p>
            <a:r>
              <a:rPr lang="en-US" sz="1300" b="0" u="none" strike="noStrike">
                <a:solidFill>
                  <a:srgbClr val="526072"/>
                </a:solidFill>
                <a:effectLst/>
                <a:uFillTx/>
                <a:latin typeface="Aptos"/>
              </a:rPr>
              <a:t>• CSV / TXT files</a:t>
            </a:r>
          </a:p>
          <a:p>
            <a:r>
              <a:rPr lang="en-US" sz="1300" b="0" u="none" strike="noStrike">
                <a:solidFill>
                  <a:srgbClr val="526072"/>
                </a:solidFill>
                <a:effectLst/>
                <a:uFillTx/>
                <a:latin typeface="Aptos"/>
              </a:rPr>
              <a:t>• Other Excel workbooks</a:t>
            </a:r>
          </a:p>
          <a:p>
            <a:r>
              <a:rPr lang="en-US" sz="1300" b="0" u="none" strike="noStrike">
                <a:solidFill>
                  <a:srgbClr val="526072"/>
                </a:solidFill>
                <a:effectLst/>
                <a:uFillTx/>
                <a:latin typeface="Aptos"/>
              </a:rPr>
              <a:t>• Databases</a:t>
            </a:r>
          </a:p>
          <a:p>
            <a:r>
              <a:rPr lang="en-US" sz="1300" b="0" u="none" strike="noStrike">
                <a:solidFill>
                  <a:srgbClr val="526072"/>
                </a:solidFill>
                <a:effectLst/>
                <a:uFillTx/>
                <a:latin typeface="Aptos"/>
              </a:rPr>
              <a:t>• Web / API sources via Power Query</a:t>
            </a:r>
          </a:p>
        </p:txBody>
      </p:sp>
      <p:sp>
        <p:nvSpPr>
          <p:cNvPr id="50" name="Rettangolo con angoli arrotondati 49"/>
          <p:cNvSpPr/>
          <p:nvPr/>
        </p:nvSpPr>
        <p:spPr>
          <a:xfrm>
            <a:off x="6995160" y="3227760"/>
            <a:ext cx="1023840" cy="511920"/>
          </a:xfrm>
          <a:prstGeom prst="roundRect">
            <a:avLst/>
          </a:prstGeom>
          <a:solidFill>
            <a:srgbClr val="FFFFFF"/>
          </a:solidFill>
          <a:ln w="12600">
            <a:solidFill>
              <a:srgbClr val="F2A022"/>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51" name="CasellaDiTesto 50"/>
          <p:cNvSpPr txBox="1"/>
          <p:nvPr/>
        </p:nvSpPr>
        <p:spPr>
          <a:xfrm>
            <a:off x="7013160" y="3328200"/>
            <a:ext cx="987480" cy="282240"/>
          </a:xfrm>
          <a:prstGeom prst="rect">
            <a:avLst/>
          </a:prstGeom>
          <a:noFill/>
          <a:ln w="0">
            <a:noFill/>
          </a:ln>
        </p:spPr>
        <p:txBody>
          <a:bodyPr lIns="73080" rIns="73080" anchor="t">
            <a:spAutoFit/>
          </a:bodyPr>
          <a:lstStyle/>
          <a:p>
            <a:pPr algn="ctr"/>
            <a:r>
              <a:rPr lang="en-US" sz="1100" b="1" u="none" strike="noStrike">
                <a:solidFill>
                  <a:srgbClr val="19344D"/>
                </a:solidFill>
                <a:effectLst/>
                <a:uFillTx/>
                <a:latin typeface="Aptos"/>
              </a:rPr>
              <a:t>CSV / DB</a:t>
            </a:r>
          </a:p>
        </p:txBody>
      </p:sp>
      <p:sp>
        <p:nvSpPr>
          <p:cNvPr id="52" name="Rettangolo con angoli arrotondati 51"/>
          <p:cNvSpPr/>
          <p:nvPr/>
        </p:nvSpPr>
        <p:spPr>
          <a:xfrm>
            <a:off x="8174520" y="3255120"/>
            <a:ext cx="1005840" cy="457200"/>
          </a:xfrm>
          <a:prstGeom prst="roundRect">
            <a:avLst/>
          </a:prstGeom>
          <a:solidFill>
            <a:srgbClr val="FFFFFF"/>
          </a:solidFill>
          <a:ln w="12600">
            <a:solidFill>
              <a:srgbClr val="F2A022"/>
            </a:solidFill>
            <a:round/>
          </a:ln>
        </p:spPr>
        <p:txBody>
          <a:bodyPr lIns="73080" rIns="73080" anchor="ctr" anchorCtr="1">
            <a:noAutofit/>
          </a:bodyPr>
          <a:lstStyle/>
          <a:p>
            <a:pPr algn="ctr"/>
            <a:r>
              <a:rPr lang="en-US" sz="1100" b="1" u="none" strike="noStrike">
                <a:solidFill>
                  <a:srgbClr val="F2A022"/>
                </a:solidFill>
                <a:effectLst/>
                <a:uFillTx/>
                <a:latin typeface="Aptos"/>
              </a:rPr>
              <a:t>Data →</a:t>
            </a:r>
          </a:p>
          <a:p>
            <a:pPr algn="ctr"/>
            <a:r>
              <a:rPr lang="en-US" sz="1100" b="1" u="none" strike="noStrike">
                <a:solidFill>
                  <a:srgbClr val="F2A022"/>
                </a:solidFill>
                <a:effectLst/>
                <a:uFillTx/>
                <a:latin typeface="Aptos"/>
              </a:rPr>
              <a:t>Get Data</a:t>
            </a:r>
          </a:p>
        </p:txBody>
      </p:sp>
      <p:sp>
        <p:nvSpPr>
          <p:cNvPr id="53" name="Rettangolo con angoli arrotondati 52"/>
          <p:cNvSpPr/>
          <p:nvPr/>
        </p:nvSpPr>
        <p:spPr>
          <a:xfrm>
            <a:off x="9354240" y="3255120"/>
            <a:ext cx="1920240" cy="457200"/>
          </a:xfrm>
          <a:prstGeom prst="roundRect">
            <a:avLst/>
          </a:prstGeom>
          <a:solidFill>
            <a:srgbClr val="FFFFFF"/>
          </a:solidFill>
          <a:ln w="12600">
            <a:solidFill>
              <a:srgbClr val="F2A022"/>
            </a:solidFill>
            <a:round/>
          </a:ln>
        </p:spPr>
        <p:txBody>
          <a:bodyPr lIns="73080" rIns="73080" anchor="ctr" anchorCtr="1">
            <a:noAutofit/>
          </a:bodyPr>
          <a:lstStyle/>
          <a:p>
            <a:pPr algn="ctr"/>
            <a:r>
              <a:rPr lang="en-US" sz="1100" b="1" u="none" strike="noStrike">
                <a:solidFill>
                  <a:srgbClr val="19344D"/>
                </a:solidFill>
                <a:effectLst/>
                <a:uFillTx/>
                <a:latin typeface="Aptos"/>
              </a:rPr>
              <a:t>Review import</a:t>
            </a:r>
          </a:p>
          <a:p>
            <a:pPr algn="ctr"/>
            <a:r>
              <a:rPr lang="en-US" sz="1100" b="1" u="none" strike="noStrike">
                <a:solidFill>
                  <a:srgbClr val="19344D"/>
                </a:solidFill>
                <a:effectLst/>
                <a:uFillTx/>
                <a:latin typeface="Aptos"/>
              </a:rPr>
              <a:t>settings</a:t>
            </a:r>
          </a:p>
        </p:txBody>
      </p:sp>
      <p:sp>
        <p:nvSpPr>
          <p:cNvPr id="54" name="Connettore diritto 53"/>
          <p:cNvSpPr/>
          <p:nvPr/>
        </p:nvSpPr>
        <p:spPr>
          <a:xfrm>
            <a:off x="8019000" y="3483720"/>
            <a:ext cx="146160" cy="0"/>
          </a:xfrm>
          <a:prstGeom prst="line">
            <a:avLst/>
          </a:prstGeom>
          <a:ln w="28800">
            <a:solidFill>
              <a:srgbClr val="F2A022"/>
            </a:solidFill>
            <a:round/>
          </a:ln>
        </p:spPr>
        <p:style>
          <a:lnRef idx="0">
            <a:scrgbClr r="0" g="0" b="0"/>
          </a:lnRef>
          <a:fillRef idx="0">
            <a:scrgbClr r="0" g="0" b="0"/>
          </a:fillRef>
          <a:effectRef idx="0">
            <a:scrgbClr r="0" g="0" b="0"/>
          </a:effectRef>
          <a:fontRef idx="minor"/>
        </p:style>
        <p:txBody>
          <a:bodyPr lIns="104400" tIns="-59400" rIns="104400" bIns="-59400" anchor="ctr" anchorCtr="1">
            <a:noAutofit/>
          </a:bodyPr>
          <a:lstStyle/>
          <a:p>
            <a:endParaRPr lang="en-US" sz="1800" b="0" u="none" strike="noStrike">
              <a:solidFill>
                <a:srgbClr val="000000"/>
              </a:solidFill>
              <a:effectLst/>
              <a:uFillTx/>
              <a:latin typeface="Arial"/>
            </a:endParaRPr>
          </a:p>
        </p:txBody>
      </p:sp>
      <p:sp>
        <p:nvSpPr>
          <p:cNvPr id="55" name="Connettore diritto 54"/>
          <p:cNvSpPr/>
          <p:nvPr/>
        </p:nvSpPr>
        <p:spPr>
          <a:xfrm>
            <a:off x="9180360" y="3483720"/>
            <a:ext cx="164520" cy="0"/>
          </a:xfrm>
          <a:prstGeom prst="line">
            <a:avLst/>
          </a:prstGeom>
          <a:ln w="28800">
            <a:solidFill>
              <a:srgbClr val="F2A022"/>
            </a:solidFill>
            <a:round/>
          </a:ln>
        </p:spPr>
        <p:style>
          <a:lnRef idx="0">
            <a:scrgbClr r="0" g="0" b="0"/>
          </a:lnRef>
          <a:fillRef idx="0">
            <a:scrgbClr r="0" g="0" b="0"/>
          </a:fillRef>
          <a:effectRef idx="0">
            <a:scrgbClr r="0" g="0" b="0"/>
          </a:effectRef>
          <a:fontRef idx="minor"/>
        </p:style>
        <p:txBody>
          <a:bodyPr lIns="104400" tIns="-59400" rIns="104400" bIns="-59400" anchor="ctr" anchorCtr="1">
            <a:noAutofit/>
          </a:bodyPr>
          <a:lstStyle/>
          <a:p>
            <a:endParaRPr lang="en-US" sz="1800" b="0" u="none" strike="noStrike">
              <a:solidFill>
                <a:srgbClr val="000000"/>
              </a:solidFill>
              <a:effectLst/>
              <a:uFillTx/>
              <a:latin typeface="Arial"/>
            </a:endParaRPr>
          </a:p>
        </p:txBody>
      </p:sp>
      <p:sp>
        <p:nvSpPr>
          <p:cNvPr id="56" name="CasellaDiTesto 55"/>
          <p:cNvSpPr txBox="1"/>
          <p:nvPr/>
        </p:nvSpPr>
        <p:spPr>
          <a:xfrm>
            <a:off x="6858000" y="4023360"/>
            <a:ext cx="4434840" cy="1159200"/>
          </a:xfrm>
          <a:prstGeom prst="rect">
            <a:avLst/>
          </a:prstGeom>
          <a:noFill/>
          <a:ln w="0">
            <a:noFill/>
          </a:ln>
        </p:spPr>
        <p:txBody>
          <a:bodyPr lIns="73080" rIns="73080" anchor="t">
            <a:spAutoFit/>
          </a:bodyPr>
          <a:lstStyle/>
          <a:p>
            <a:r>
              <a:rPr lang="en-US" sz="1230" b="0" u="none" strike="noStrike">
                <a:solidFill>
                  <a:srgbClr val="526072"/>
                </a:solidFill>
                <a:effectLst/>
                <a:uFillTx/>
                <a:latin typeface="Aptos"/>
              </a:rPr>
              <a:t>Check before loading</a:t>
            </a:r>
          </a:p>
          <a:p>
            <a:r>
              <a:rPr lang="en-US" sz="1230" b="0" u="none" strike="noStrike">
                <a:solidFill>
                  <a:srgbClr val="526072"/>
                </a:solidFill>
                <a:effectLst/>
                <a:uFillTx/>
                <a:latin typeface="Aptos"/>
              </a:rPr>
              <a:t>• Delimiter and text encoding</a:t>
            </a:r>
          </a:p>
          <a:p>
            <a:r>
              <a:rPr lang="en-US" sz="1230" b="0" u="none" strike="noStrike">
                <a:solidFill>
                  <a:srgbClr val="526072"/>
                </a:solidFill>
                <a:effectLst/>
                <a:uFillTx/>
                <a:latin typeface="Aptos"/>
              </a:rPr>
              <a:t>• Locale (decimal and date conventions)</a:t>
            </a:r>
          </a:p>
          <a:p>
            <a:r>
              <a:rPr lang="en-US" sz="1230" b="0" u="none" strike="noStrike">
                <a:solidFill>
                  <a:srgbClr val="526072"/>
                </a:solidFill>
                <a:effectLst/>
                <a:uFillTx/>
                <a:latin typeface="Aptos"/>
              </a:rPr>
              <a:t>• Inferred data types</a:t>
            </a:r>
          </a:p>
          <a:p>
            <a:r>
              <a:rPr lang="en-US" sz="1230" b="0" u="none" strike="noStrike">
                <a:solidFill>
                  <a:srgbClr val="526072"/>
                </a:solidFill>
                <a:effectLst/>
                <a:uFillTx/>
                <a:latin typeface="Aptos"/>
              </a:rPr>
              <a:t>• Missing values and unexpected columns</a:t>
            </a:r>
          </a:p>
        </p:txBody>
      </p:sp>
      <p:sp>
        <p:nvSpPr>
          <p:cNvPr id="57" name="Rettangolo con angoli arrotondati 56"/>
          <p:cNvSpPr/>
          <p:nvPr/>
        </p:nvSpPr>
        <p:spPr>
          <a:xfrm>
            <a:off x="5623560" y="2176200"/>
            <a:ext cx="914400" cy="475200"/>
          </a:xfrm>
          <a:prstGeom prst="roundRect">
            <a:avLst/>
          </a:prstGeom>
          <a:solidFill>
            <a:srgbClr val="FFFFFF"/>
          </a:solidFill>
          <a:ln w="12600">
            <a:solidFill>
              <a:srgbClr val="DCE2E9"/>
            </a:solidFill>
            <a:round/>
          </a:ln>
        </p:spPr>
        <p:txBody>
          <a:bodyPr lIns="73080" rIns="73080" anchor="ctr" anchorCtr="1">
            <a:noAutofit/>
          </a:bodyPr>
          <a:lstStyle/>
          <a:p>
            <a:pPr algn="ctr"/>
            <a:r>
              <a:rPr lang="en-US" sz="1500" b="1" u="none" strike="noStrike">
                <a:solidFill>
                  <a:srgbClr val="19344D"/>
                </a:solidFill>
                <a:effectLst/>
                <a:uFillTx/>
                <a:latin typeface="Aptos"/>
              </a:rPr>
              <a:t>OR</a:t>
            </a:r>
          </a:p>
        </p:txBody>
      </p:sp>
      <p:sp>
        <p:nvSpPr>
          <p:cNvPr id="58" name="Connettore diritto 57"/>
          <p:cNvSpPr/>
          <p:nvPr/>
        </p:nvSpPr>
        <p:spPr>
          <a:xfrm>
            <a:off x="5559480" y="3840480"/>
            <a:ext cx="520920" cy="457200"/>
          </a:xfrm>
          <a:prstGeom prst="line">
            <a:avLst/>
          </a:prstGeom>
          <a:ln w="32400">
            <a:solidFill>
              <a:srgbClr val="43B078"/>
            </a:solidFill>
            <a:round/>
          </a:ln>
        </p:spPr>
        <p:style>
          <a:lnRef idx="0">
            <a:scrgbClr r="0" g="0" b="0"/>
          </a:lnRef>
          <a:fillRef idx="0">
            <a:scrgbClr r="0" g="0" b="0"/>
          </a:fillRef>
          <a:effectRef idx="0">
            <a:scrgbClr r="0" g="0" b="0"/>
          </a:effectRef>
          <a:fontRef idx="minor"/>
        </p:style>
        <p:txBody>
          <a:bodyPr lIns="106200" tIns="61200" rIns="106200" bIns="61200" anchor="ctr" anchorCtr="1">
            <a:noAutofit/>
          </a:bodyPr>
          <a:lstStyle/>
          <a:p>
            <a:endParaRPr lang="en-US" sz="1800" b="0" u="none" strike="noStrike">
              <a:solidFill>
                <a:srgbClr val="000000"/>
              </a:solidFill>
              <a:effectLst/>
              <a:uFillTx/>
              <a:latin typeface="Arial"/>
            </a:endParaRPr>
          </a:p>
        </p:txBody>
      </p:sp>
      <p:sp>
        <p:nvSpPr>
          <p:cNvPr id="59" name="Connettore diritto 58"/>
          <p:cNvSpPr/>
          <p:nvPr/>
        </p:nvSpPr>
        <p:spPr>
          <a:xfrm flipH="1">
            <a:off x="6099120" y="3840480"/>
            <a:ext cx="520920" cy="457200"/>
          </a:xfrm>
          <a:prstGeom prst="line">
            <a:avLst/>
          </a:prstGeom>
          <a:ln w="32400">
            <a:solidFill>
              <a:srgbClr val="43B078"/>
            </a:solidFill>
            <a:round/>
          </a:ln>
        </p:spPr>
        <p:style>
          <a:lnRef idx="0">
            <a:scrgbClr r="0" g="0" b="0"/>
          </a:lnRef>
          <a:fillRef idx="0">
            <a:scrgbClr r="0" g="0" b="0"/>
          </a:fillRef>
          <a:effectRef idx="0">
            <a:scrgbClr r="0" g="0" b="0"/>
          </a:effectRef>
          <a:fontRef idx="minor"/>
        </p:style>
        <p:txBody>
          <a:bodyPr lIns="106200" tIns="61200" rIns="106200" bIns="61200" anchor="ctr" anchorCtr="1">
            <a:noAutofit/>
          </a:bodyPr>
          <a:lstStyle/>
          <a:p>
            <a:endParaRPr lang="en-US" sz="1800" b="0" u="none" strike="noStrike">
              <a:solidFill>
                <a:srgbClr val="000000"/>
              </a:solidFill>
              <a:effectLst/>
              <a:uFillTx/>
              <a:latin typeface="Arial"/>
            </a:endParaRPr>
          </a:p>
        </p:txBody>
      </p:sp>
      <p:sp>
        <p:nvSpPr>
          <p:cNvPr id="60" name="Rettangolo con angoli arrotondati 59"/>
          <p:cNvSpPr/>
          <p:nvPr/>
        </p:nvSpPr>
        <p:spPr>
          <a:xfrm>
            <a:off x="4901040" y="4315680"/>
            <a:ext cx="2377440" cy="1005840"/>
          </a:xfrm>
          <a:prstGeom prst="roundRect">
            <a:avLst/>
          </a:prstGeom>
          <a:solidFill>
            <a:srgbClr val="E9F7EE"/>
          </a:solidFill>
          <a:ln w="12600">
            <a:solidFill>
              <a:srgbClr val="43B078"/>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61" name="CasellaDiTesto 60"/>
          <p:cNvSpPr txBox="1"/>
          <p:nvPr/>
        </p:nvSpPr>
        <p:spPr>
          <a:xfrm>
            <a:off x="5029200" y="4452840"/>
            <a:ext cx="2121120" cy="641520"/>
          </a:xfrm>
          <a:prstGeom prst="rect">
            <a:avLst/>
          </a:prstGeom>
          <a:noFill/>
          <a:ln w="0">
            <a:noFill/>
          </a:ln>
        </p:spPr>
        <p:txBody>
          <a:bodyPr lIns="73080" rIns="73080" anchor="t">
            <a:spAutoFit/>
          </a:bodyPr>
          <a:lstStyle/>
          <a:p>
            <a:pPr algn="ctr"/>
            <a:r>
              <a:rPr lang="en-US" sz="1400" b="1" u="none" strike="noStrike">
                <a:solidFill>
                  <a:srgbClr val="43B078"/>
                </a:solidFill>
                <a:effectLst/>
                <a:uFillTx/>
                <a:latin typeface="Aptos"/>
              </a:rPr>
              <a:t>ANALYSIS-READY</a:t>
            </a:r>
          </a:p>
          <a:p>
            <a:pPr algn="ctr"/>
            <a:r>
              <a:rPr lang="en-US" sz="1400" b="1" u="none" strike="noStrike">
                <a:solidFill>
                  <a:srgbClr val="43B078"/>
                </a:solidFill>
                <a:effectLst/>
                <a:uFillTx/>
                <a:latin typeface="Aptos"/>
              </a:rPr>
              <a:t>EXCEL TABLE</a:t>
            </a:r>
          </a:p>
        </p:txBody>
      </p:sp>
      <p:sp>
        <p:nvSpPr>
          <p:cNvPr id="62" name="Rettangolo con angoli arrotondati 61"/>
          <p:cNvSpPr/>
          <p:nvPr/>
        </p:nvSpPr>
        <p:spPr>
          <a:xfrm>
            <a:off x="960120" y="5852160"/>
            <a:ext cx="10241280" cy="511920"/>
          </a:xfrm>
          <a:prstGeom prst="roundRect">
            <a:avLst/>
          </a:prstGeom>
          <a:solidFill>
            <a:srgbClr val="FFFFFF"/>
          </a:solidFill>
          <a:ln w="12600">
            <a:solidFill>
              <a:srgbClr val="A4D2E3"/>
            </a:solidFill>
            <a:round/>
          </a:ln>
        </p:spPr>
        <p:txBody>
          <a:bodyPr lIns="96120" tIns="51120" rIns="96120" bIns="51120" anchor="ctr" anchorCtr="1">
            <a:noAutofit/>
          </a:bodyPr>
          <a:lstStyle/>
          <a:p>
            <a:endParaRPr lang="en-US" sz="1800" b="0" u="none" strike="noStrike">
              <a:solidFill>
                <a:srgbClr val="000000"/>
              </a:solidFill>
              <a:effectLst/>
              <a:uFillTx/>
              <a:latin typeface="Arial"/>
            </a:endParaRPr>
          </a:p>
        </p:txBody>
      </p:sp>
      <p:sp>
        <p:nvSpPr>
          <p:cNvPr id="63" name="CasellaDiTesto 62"/>
          <p:cNvSpPr txBox="1"/>
          <p:nvPr/>
        </p:nvSpPr>
        <p:spPr>
          <a:xfrm>
            <a:off x="1078920" y="5934240"/>
            <a:ext cx="10021680" cy="521640"/>
          </a:xfrm>
          <a:prstGeom prst="rect">
            <a:avLst/>
          </a:prstGeom>
          <a:noFill/>
          <a:ln w="0">
            <a:noFill/>
          </a:ln>
        </p:spPr>
        <p:txBody>
          <a:bodyPr lIns="73080" rIns="73080" anchor="t">
            <a:spAutoFit/>
          </a:bodyPr>
          <a:lstStyle/>
          <a:p>
            <a:pPr algn="ctr"/>
            <a:r>
              <a:rPr lang="en-US" sz="1250" b="1" u="none" strike="noStrike">
                <a:solidFill>
                  <a:srgbClr val="19344D"/>
                </a:solidFill>
                <a:effectLst/>
                <a:uFillTx/>
                <a:latin typeface="Aptos"/>
              </a:rPr>
              <a:t>Key point: regardless of the starting point, verify structure, data types, missing values and business meaning before starting EDA.</a:t>
            </a:r>
          </a:p>
        </p:txBody>
      </p:sp>
      <p:sp>
        <p:nvSpPr>
          <p:cNvPr id="64" name="CasellaDiTesto 63"/>
          <p:cNvSpPr txBox="1"/>
          <p:nvPr/>
        </p:nvSpPr>
        <p:spPr>
          <a:xfrm>
            <a:off x="329040" y="6464520"/>
            <a:ext cx="2743200" cy="239760"/>
          </a:xfrm>
          <a:prstGeom prst="rect">
            <a:avLst/>
          </a:prstGeom>
          <a:noFill/>
          <a:ln w="0">
            <a:noFill/>
          </a:ln>
        </p:spPr>
        <p:txBody>
          <a:bodyPr lIns="73080" rIns="73080" anchor="t">
            <a:spAutoFit/>
          </a:bodyPr>
          <a:lstStyle/>
          <a:p>
            <a:r>
              <a:rPr lang="en-US" sz="850" b="0" u="none" strike="noStrike">
                <a:solidFill>
                  <a:srgbClr val="6E7887"/>
                </a:solidFill>
                <a:effectLst/>
                <a:uFillTx/>
                <a:latin typeface="Aptos"/>
              </a:rPr>
              <a:t>Data Science with Excel</a:t>
            </a:r>
          </a:p>
        </p:txBody>
      </p:sp>
      <p:sp>
        <p:nvSpPr>
          <p:cNvPr id="65" name="CasellaDiTesto 64"/>
          <p:cNvSpPr txBox="1"/>
          <p:nvPr/>
        </p:nvSpPr>
        <p:spPr>
          <a:xfrm>
            <a:off x="11109960" y="6464520"/>
            <a:ext cx="365760" cy="239760"/>
          </a:xfrm>
          <a:prstGeom prst="rect">
            <a:avLst/>
          </a:prstGeom>
          <a:noFill/>
          <a:ln w="0">
            <a:noFill/>
          </a:ln>
        </p:spPr>
        <p:txBody>
          <a:bodyPr lIns="73080" rIns="73080" anchor="t">
            <a:spAutoFit/>
          </a:bodyPr>
          <a:lstStyle/>
          <a:p>
            <a:pPr algn="r"/>
            <a:r>
              <a:rPr lang="en-US" sz="850" b="0" u="none" strike="noStrike">
                <a:solidFill>
                  <a:srgbClr val="6E7887"/>
                </a:solidFill>
                <a:effectLst/>
                <a:uFillTx/>
                <a:latin typeface="Aptos"/>
              </a:rPr>
              <a:t>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38912"/>
            <a:ext cx="10972800" cy="502920"/>
          </a:xfrm>
          <a:prstGeom prst="rect">
            <a:avLst/>
          </a:prstGeom>
          <a:noFill/>
        </p:spPr>
        <p:txBody>
          <a:bodyPr wrap="none" lIns="27432" tIns="9144" rIns="27432" bIns="9144" anchor="ctr">
            <a:spAutoFit/>
          </a:bodyPr>
          <a:lstStyle/>
          <a:p>
            <a:pPr algn="l"/>
            <a:r>
              <a:rPr sz="2600" b="1">
                <a:solidFill>
                  <a:srgbClr val="0B1F33"/>
                </a:solidFill>
                <a:latin typeface="Aptos"/>
              </a:rPr>
              <a:t>CSV files: simple tabular data in plain text</a:t>
            </a:r>
          </a:p>
        </p:txBody>
      </p:sp>
      <p:sp>
        <p:nvSpPr>
          <p:cNvPr id="4" name="TextBox 3"/>
          <p:cNvSpPr txBox="1"/>
          <p:nvPr/>
        </p:nvSpPr>
        <p:spPr>
          <a:xfrm>
            <a:off x="457200" y="1005840"/>
            <a:ext cx="10972800" cy="365760"/>
          </a:xfrm>
          <a:prstGeom prst="rect">
            <a:avLst/>
          </a:prstGeom>
          <a:noFill/>
        </p:spPr>
        <p:txBody>
          <a:bodyPr wrap="none" lIns="27432" tIns="9144" rIns="27432" bIns="9144" anchor="ctr">
            <a:spAutoFit/>
          </a:bodyPr>
          <a:lstStyle/>
          <a:p>
            <a:pPr algn="l"/>
            <a:r>
              <a:rPr sz="1400" b="0">
                <a:solidFill>
                  <a:srgbClr val="5C6C84"/>
                </a:solidFill>
                <a:latin typeface="Aptos"/>
              </a:rPr>
              <a:t>CSV stands for Comma-Separated Values: a lightweight format for storing and exchanging structured data.</a:t>
            </a:r>
          </a:p>
        </p:txBody>
      </p:sp>
      <p:sp>
        <p:nvSpPr>
          <p:cNvPr id="5" name="Rounded Rectangle 4"/>
          <p:cNvSpPr/>
          <p:nvPr/>
        </p:nvSpPr>
        <p:spPr>
          <a:xfrm>
            <a:off x="621792" y="1600200"/>
            <a:ext cx="5532120" cy="416052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801368"/>
            <a:ext cx="2560320" cy="274320"/>
          </a:xfrm>
          <a:prstGeom prst="rect">
            <a:avLst/>
          </a:prstGeom>
          <a:noFill/>
        </p:spPr>
        <p:txBody>
          <a:bodyPr wrap="none" lIns="27432" tIns="9144" rIns="27432" bIns="9144" anchor="ctr">
            <a:spAutoFit/>
          </a:bodyPr>
          <a:lstStyle/>
          <a:p>
            <a:pPr algn="l"/>
            <a:r>
              <a:rPr sz="1500" b="1">
                <a:solidFill>
                  <a:srgbClr val="0B1F33"/>
                </a:solidFill>
                <a:latin typeface="Aptos Mono"/>
              </a:rPr>
              <a:t>customers.csv</a:t>
            </a:r>
          </a:p>
        </p:txBody>
      </p:sp>
      <p:sp>
        <p:nvSpPr>
          <p:cNvPr id="7" name="Rounded Rectangle 6"/>
          <p:cNvSpPr/>
          <p:nvPr/>
        </p:nvSpPr>
        <p:spPr>
          <a:xfrm>
            <a:off x="896112" y="2267712"/>
            <a:ext cx="4956048" cy="1920240"/>
          </a:xfrm>
          <a:prstGeom prst="roundRect">
            <a:avLst/>
          </a:prstGeom>
          <a:solidFill>
            <a:srgbClr val="F1F5F9"/>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9848" y="2404872"/>
            <a:ext cx="4617720" cy="1627632"/>
          </a:xfrm>
          <a:prstGeom prst="rect">
            <a:avLst/>
          </a:prstGeom>
          <a:noFill/>
        </p:spPr>
        <p:txBody>
          <a:bodyPr wrap="none" lIns="27432" tIns="9144" rIns="27432" bIns="9144" anchor="ctr">
            <a:spAutoFit/>
          </a:bodyPr>
          <a:lstStyle/>
          <a:p>
            <a:pPr algn="l"/>
            <a:r>
              <a:rPr sz="1200" b="0">
                <a:solidFill>
                  <a:srgbClr val="0B1F33"/>
                </a:solidFill>
                <a:latin typeface="Aptos Mono"/>
              </a:rPr>
              <a:t>Customer_ID,Age,Income,Balance,Default
CL0001,42,65000,12500,No
CL0002,35,54000,8200,No
CL0003,61,92000,45500,No
CL0004,29,45000,3200,Yes</a:t>
            </a:r>
          </a:p>
        </p:txBody>
      </p:sp>
      <p:sp>
        <p:nvSpPr>
          <p:cNvPr id="9" name="TextBox 8"/>
          <p:cNvSpPr txBox="1"/>
          <p:nvPr/>
        </p:nvSpPr>
        <p:spPr>
          <a:xfrm>
            <a:off x="932688" y="4611273"/>
            <a:ext cx="4956048" cy="387798"/>
          </a:xfrm>
          <a:prstGeom prst="rect">
            <a:avLst/>
          </a:prstGeom>
          <a:noFill/>
        </p:spPr>
        <p:txBody>
          <a:bodyPr wrap="square" lIns="27432" tIns="9144" rIns="27432" bIns="9144" anchor="ctr">
            <a:spAutoFit/>
          </a:bodyPr>
          <a:lstStyle/>
          <a:p>
            <a:pPr algn="l"/>
            <a:r>
              <a:rPr sz="1200" b="0" dirty="0">
                <a:solidFill>
                  <a:srgbClr val="5C6C84"/>
                </a:solidFill>
                <a:latin typeface="Aptos"/>
              </a:rPr>
              <a:t>Each line is a row. Separators divide fields into columns. The first row usually contains column names.</a:t>
            </a:r>
          </a:p>
        </p:txBody>
      </p:sp>
      <p:sp>
        <p:nvSpPr>
          <p:cNvPr id="10" name="Rounded Rectangle 9"/>
          <p:cNvSpPr/>
          <p:nvPr/>
        </p:nvSpPr>
        <p:spPr>
          <a:xfrm>
            <a:off x="6473952" y="1600200"/>
            <a:ext cx="5047488" cy="11247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73952" y="1600200"/>
            <a:ext cx="50292" cy="1124712"/>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746504"/>
            <a:ext cx="4663440" cy="274320"/>
          </a:xfrm>
          <a:prstGeom prst="rect">
            <a:avLst/>
          </a:prstGeom>
          <a:noFill/>
        </p:spPr>
        <p:txBody>
          <a:bodyPr wrap="none" lIns="27432" tIns="9144" rIns="27432" bIns="9144" anchor="ctr">
            <a:spAutoFit/>
          </a:bodyPr>
          <a:lstStyle/>
          <a:p>
            <a:pPr algn="l"/>
            <a:r>
              <a:rPr sz="1400" b="1">
                <a:solidFill>
                  <a:srgbClr val="0B1F33"/>
                </a:solidFill>
                <a:latin typeface="Aptos"/>
              </a:rPr>
              <a:t>Plain text</a:t>
            </a:r>
          </a:p>
        </p:txBody>
      </p:sp>
      <p:sp>
        <p:nvSpPr>
          <p:cNvPr id="13" name="TextBox 12"/>
          <p:cNvSpPr txBox="1"/>
          <p:nvPr/>
        </p:nvSpPr>
        <p:spPr>
          <a:xfrm>
            <a:off x="6675120" y="2093976"/>
            <a:ext cx="4663440" cy="502919"/>
          </a:xfrm>
          <a:prstGeom prst="rect">
            <a:avLst/>
          </a:prstGeom>
          <a:noFill/>
        </p:spPr>
        <p:txBody>
          <a:bodyPr wrap="none" lIns="27432" tIns="9144" rIns="27432" bIns="9144" anchor="ctr">
            <a:spAutoFit/>
          </a:bodyPr>
          <a:lstStyle/>
          <a:p>
            <a:pPr algn="l"/>
            <a:r>
              <a:rPr sz="1150" b="0">
                <a:solidFill>
                  <a:srgbClr val="5C6C84"/>
                </a:solidFill>
                <a:latin typeface="Aptos"/>
              </a:rPr>
              <a:t>No formulas, charts, formatting or multiple worksheets — only values.</a:t>
            </a:r>
          </a:p>
        </p:txBody>
      </p:sp>
      <p:sp>
        <p:nvSpPr>
          <p:cNvPr id="14" name="Rounded Rectangle 13"/>
          <p:cNvSpPr/>
          <p:nvPr/>
        </p:nvSpPr>
        <p:spPr>
          <a:xfrm>
            <a:off x="6473952" y="2852928"/>
            <a:ext cx="5047488" cy="11247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73952" y="2852928"/>
            <a:ext cx="50292" cy="1124712"/>
          </a:xfrm>
          <a:prstGeom prst="rect">
            <a:avLst/>
          </a:prstGeom>
          <a:solidFill>
            <a:srgbClr val="346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999232"/>
            <a:ext cx="4663440" cy="274320"/>
          </a:xfrm>
          <a:prstGeom prst="rect">
            <a:avLst/>
          </a:prstGeom>
          <a:noFill/>
        </p:spPr>
        <p:txBody>
          <a:bodyPr wrap="none" lIns="27432" tIns="9144" rIns="27432" bIns="9144" anchor="ctr">
            <a:spAutoFit/>
          </a:bodyPr>
          <a:lstStyle/>
          <a:p>
            <a:pPr algn="l"/>
            <a:r>
              <a:rPr sz="1400" b="1">
                <a:solidFill>
                  <a:srgbClr val="0B1F33"/>
                </a:solidFill>
                <a:latin typeface="Aptos"/>
              </a:rPr>
              <a:t>Tabular structure</a:t>
            </a:r>
          </a:p>
        </p:txBody>
      </p:sp>
      <p:sp>
        <p:nvSpPr>
          <p:cNvPr id="17" name="TextBox 16"/>
          <p:cNvSpPr txBox="1"/>
          <p:nvPr/>
        </p:nvSpPr>
        <p:spPr>
          <a:xfrm>
            <a:off x="6675120" y="3346704"/>
            <a:ext cx="4663440" cy="502919"/>
          </a:xfrm>
          <a:prstGeom prst="rect">
            <a:avLst/>
          </a:prstGeom>
          <a:noFill/>
        </p:spPr>
        <p:txBody>
          <a:bodyPr wrap="none" lIns="27432" tIns="9144" rIns="27432" bIns="9144" anchor="ctr">
            <a:spAutoFit/>
          </a:bodyPr>
          <a:lstStyle/>
          <a:p>
            <a:pPr algn="l"/>
            <a:r>
              <a:rPr sz="1150" b="0">
                <a:solidFill>
                  <a:srgbClr val="5C6C84"/>
                </a:solidFill>
                <a:latin typeface="Aptos"/>
              </a:rPr>
              <a:t>Rows represent observations; fields represent variables.</a:t>
            </a:r>
          </a:p>
        </p:txBody>
      </p:sp>
      <p:sp>
        <p:nvSpPr>
          <p:cNvPr id="18" name="Rounded Rectangle 17"/>
          <p:cNvSpPr/>
          <p:nvPr/>
        </p:nvSpPr>
        <p:spPr>
          <a:xfrm>
            <a:off x="6473952" y="4105656"/>
            <a:ext cx="5047488" cy="11247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73952" y="4105656"/>
            <a:ext cx="50292" cy="1124712"/>
          </a:xfrm>
          <a:prstGeom prst="rect">
            <a:avLst/>
          </a:prstGeom>
          <a:solidFill>
            <a:srgbClr val="EB9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0" y="4251960"/>
            <a:ext cx="4663440" cy="274320"/>
          </a:xfrm>
          <a:prstGeom prst="rect">
            <a:avLst/>
          </a:prstGeom>
          <a:noFill/>
        </p:spPr>
        <p:txBody>
          <a:bodyPr wrap="none" lIns="27432" tIns="9144" rIns="27432" bIns="9144" anchor="ctr">
            <a:spAutoFit/>
          </a:bodyPr>
          <a:lstStyle/>
          <a:p>
            <a:pPr algn="l"/>
            <a:r>
              <a:rPr sz="1400" b="1">
                <a:solidFill>
                  <a:srgbClr val="0B1F33"/>
                </a:solidFill>
                <a:latin typeface="Aptos"/>
              </a:rPr>
              <a:t>Delimiter matters</a:t>
            </a:r>
          </a:p>
        </p:txBody>
      </p:sp>
      <p:sp>
        <p:nvSpPr>
          <p:cNvPr id="21" name="TextBox 20"/>
          <p:cNvSpPr txBox="1"/>
          <p:nvPr/>
        </p:nvSpPr>
        <p:spPr>
          <a:xfrm>
            <a:off x="6675120" y="4664686"/>
            <a:ext cx="4736592" cy="372410"/>
          </a:xfrm>
          <a:prstGeom prst="rect">
            <a:avLst/>
          </a:prstGeom>
          <a:noFill/>
        </p:spPr>
        <p:txBody>
          <a:bodyPr wrap="square" lIns="27432" tIns="9144" rIns="27432" bIns="9144" anchor="ctr">
            <a:spAutoFit/>
          </a:bodyPr>
          <a:lstStyle/>
          <a:p>
            <a:pPr algn="l"/>
            <a:r>
              <a:rPr sz="1150" b="0" dirty="0">
                <a:solidFill>
                  <a:srgbClr val="5C6C84"/>
                </a:solidFill>
                <a:latin typeface="Aptos"/>
              </a:rPr>
              <a:t>Despite the name, CSV files may use commas, semicolons or other delimiters depending on locale and source.</a:t>
            </a:r>
          </a:p>
        </p:txBody>
      </p:sp>
      <p:sp>
        <p:nvSpPr>
          <p:cNvPr id="22" name="TextBox 21"/>
          <p:cNvSpPr txBox="1"/>
          <p:nvPr/>
        </p:nvSpPr>
        <p:spPr>
          <a:xfrm>
            <a:off x="6565392" y="5422392"/>
            <a:ext cx="4828032" cy="320040"/>
          </a:xfrm>
          <a:prstGeom prst="rect">
            <a:avLst/>
          </a:prstGeom>
          <a:noFill/>
        </p:spPr>
        <p:txBody>
          <a:bodyPr wrap="none" lIns="27432" tIns="9144" rIns="27432" bIns="9144" anchor="ctr">
            <a:spAutoFit/>
          </a:bodyPr>
          <a:lstStyle/>
          <a:p>
            <a:pPr algn="ctr"/>
            <a:r>
              <a:rPr sz="1300" b="1">
                <a:solidFill>
                  <a:srgbClr val="0B1F33"/>
                </a:solidFill>
                <a:latin typeface="Aptos"/>
              </a:rPr>
              <a:t>CSV is a data format, not a spreadsheet workbook.</a:t>
            </a:r>
          </a:p>
        </p:txBody>
      </p:sp>
      <p:sp>
        <p:nvSpPr>
          <p:cNvPr id="24" name="Text 0">
            <a:extLst>
              <a:ext uri="{FF2B5EF4-FFF2-40B4-BE49-F238E27FC236}">
                <a16:creationId xmlns:a16="http://schemas.microsoft.com/office/drawing/2014/main" id="{F3AA0EB2-B163-AEB4-BF00-A21FF08F4827}"/>
              </a:ext>
            </a:extLst>
          </p:cNvPr>
          <p:cNvSpPr/>
          <p:nvPr/>
        </p:nvSpPr>
        <p:spPr>
          <a:xfrm>
            <a:off x="540033" y="149705"/>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25" name="Slide Number Placeholder 0">
            <a:extLst>
              <a:ext uri="{FF2B5EF4-FFF2-40B4-BE49-F238E27FC236}">
                <a16:creationId xmlns:a16="http://schemas.microsoft.com/office/drawing/2014/main" id="{735E6B23-64C3-D310-1ACD-1FA612AC3CDF}"/>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39</a:t>
            </a:fld>
            <a:endParaRPr lang="en-US" dirty="0"/>
          </a:p>
        </p:txBody>
      </p:sp>
      <p:pic>
        <p:nvPicPr>
          <p:cNvPr id="27" name="Immagine 26">
            <a:extLst>
              <a:ext uri="{FF2B5EF4-FFF2-40B4-BE49-F238E27FC236}">
                <a16:creationId xmlns:a16="http://schemas.microsoft.com/office/drawing/2014/main" id="{DDC3ED6F-8F71-91E9-B16B-1A857E97DED8}"/>
              </a:ext>
            </a:extLst>
          </p:cNvPr>
          <p:cNvPicPr>
            <a:picLocks noChangeAspect="1"/>
          </p:cNvPicPr>
          <p:nvPr/>
        </p:nvPicPr>
        <p:blipFill>
          <a:blip r:embed="rId2"/>
          <a:stretch>
            <a:fillRect/>
          </a:stretch>
        </p:blipFill>
        <p:spPr>
          <a:xfrm>
            <a:off x="10954871" y="-51303"/>
            <a:ext cx="1237129" cy="70061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38912"/>
            <a:ext cx="10972800" cy="502920"/>
          </a:xfrm>
          <a:prstGeom prst="rect">
            <a:avLst/>
          </a:prstGeom>
          <a:noFill/>
        </p:spPr>
        <p:txBody>
          <a:bodyPr wrap="none" lIns="27432" tIns="9144" rIns="27432" bIns="9144" anchor="ctr">
            <a:spAutoFit/>
          </a:bodyPr>
          <a:lstStyle/>
          <a:p>
            <a:pPr algn="l"/>
            <a:r>
              <a:rPr sz="2600" b="1">
                <a:solidFill>
                  <a:srgbClr val="0B1F33"/>
                </a:solidFill>
                <a:latin typeface="Aptos"/>
              </a:rPr>
              <a:t>Why CSV is useful in Data Science</a:t>
            </a:r>
          </a:p>
        </p:txBody>
      </p:sp>
      <p:sp>
        <p:nvSpPr>
          <p:cNvPr id="4" name="TextBox 3"/>
          <p:cNvSpPr txBox="1"/>
          <p:nvPr/>
        </p:nvSpPr>
        <p:spPr>
          <a:xfrm>
            <a:off x="457200" y="1005840"/>
            <a:ext cx="10972800" cy="365760"/>
          </a:xfrm>
          <a:prstGeom prst="rect">
            <a:avLst/>
          </a:prstGeom>
          <a:noFill/>
        </p:spPr>
        <p:txBody>
          <a:bodyPr wrap="none" lIns="27432" tIns="9144" rIns="27432" bIns="9144" anchor="ctr">
            <a:spAutoFit/>
          </a:bodyPr>
          <a:lstStyle/>
          <a:p>
            <a:pPr algn="l"/>
            <a:r>
              <a:rPr sz="1400" b="0">
                <a:solidFill>
                  <a:srgbClr val="5C6C84"/>
                </a:solidFill>
                <a:latin typeface="Aptos"/>
              </a:rPr>
              <a:t>CSV is widely used as a simple interchange format between analytical tools, databases and programming environments.</a:t>
            </a:r>
          </a:p>
        </p:txBody>
      </p:sp>
      <p:sp>
        <p:nvSpPr>
          <p:cNvPr id="5" name="Rounded Rectangle 4"/>
          <p:cNvSpPr/>
          <p:nvPr/>
        </p:nvSpPr>
        <p:spPr>
          <a:xfrm>
            <a:off x="640080" y="1645920"/>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645920"/>
            <a:ext cx="50292" cy="1353312"/>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792224"/>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Portable</a:t>
            </a:r>
          </a:p>
        </p:txBody>
      </p:sp>
      <p:sp>
        <p:nvSpPr>
          <p:cNvPr id="8" name="TextBox 7"/>
          <p:cNvSpPr txBox="1"/>
          <p:nvPr/>
        </p:nvSpPr>
        <p:spPr>
          <a:xfrm>
            <a:off x="841247" y="2319250"/>
            <a:ext cx="2706624" cy="372410"/>
          </a:xfrm>
          <a:prstGeom prst="rect">
            <a:avLst/>
          </a:prstGeom>
          <a:noFill/>
        </p:spPr>
        <p:txBody>
          <a:bodyPr wrap="square" lIns="27432" tIns="9144" rIns="27432" bIns="9144" anchor="ctr">
            <a:spAutoFit/>
          </a:bodyPr>
          <a:lstStyle/>
          <a:p>
            <a:pPr algn="l"/>
            <a:r>
              <a:rPr sz="1150" b="0" dirty="0">
                <a:solidFill>
                  <a:srgbClr val="5C6C84"/>
                </a:solidFill>
                <a:latin typeface="Aptos"/>
              </a:rPr>
              <a:t>Readable by Excel, Python, R, SQL tools, BI platforms and many other applications.</a:t>
            </a:r>
          </a:p>
        </p:txBody>
      </p:sp>
      <p:sp>
        <p:nvSpPr>
          <p:cNvPr id="9" name="Rounded Rectangle 8"/>
          <p:cNvSpPr/>
          <p:nvPr/>
        </p:nvSpPr>
        <p:spPr>
          <a:xfrm>
            <a:off x="4096512" y="1645920"/>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96512" y="1645920"/>
            <a:ext cx="50292" cy="1353312"/>
          </a:xfrm>
          <a:prstGeom prst="rect">
            <a:avLst/>
          </a:prstGeom>
          <a:solidFill>
            <a:srgbClr val="346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0" y="1792224"/>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Transparent</a:t>
            </a:r>
          </a:p>
        </p:txBody>
      </p:sp>
      <p:sp>
        <p:nvSpPr>
          <p:cNvPr id="12" name="TextBox 11"/>
          <p:cNvSpPr txBox="1"/>
          <p:nvPr/>
        </p:nvSpPr>
        <p:spPr>
          <a:xfrm>
            <a:off x="4297679" y="2319250"/>
            <a:ext cx="2802367" cy="372410"/>
          </a:xfrm>
          <a:prstGeom prst="rect">
            <a:avLst/>
          </a:prstGeom>
          <a:noFill/>
        </p:spPr>
        <p:txBody>
          <a:bodyPr wrap="square" lIns="27432" tIns="9144" rIns="27432" bIns="9144" anchor="ctr">
            <a:spAutoFit/>
          </a:bodyPr>
          <a:lstStyle/>
          <a:p>
            <a:pPr algn="l"/>
            <a:r>
              <a:rPr sz="1150" b="0" dirty="0">
                <a:solidFill>
                  <a:srgbClr val="5C6C84"/>
                </a:solidFill>
                <a:latin typeface="Aptos"/>
              </a:rPr>
              <a:t>The content can be inspected with a text editor: there is little hidden structure.</a:t>
            </a:r>
          </a:p>
        </p:txBody>
      </p:sp>
      <p:sp>
        <p:nvSpPr>
          <p:cNvPr id="13" name="Rounded Rectangle 12"/>
          <p:cNvSpPr/>
          <p:nvPr/>
        </p:nvSpPr>
        <p:spPr>
          <a:xfrm>
            <a:off x="7552944" y="1645920"/>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52944" y="1645920"/>
            <a:ext cx="50292" cy="1353312"/>
          </a:xfrm>
          <a:prstGeom prst="rect">
            <a:avLst/>
          </a:prstGeom>
          <a:solidFill>
            <a:srgbClr val="217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54112" y="1792224"/>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Easy to exchange</a:t>
            </a:r>
          </a:p>
        </p:txBody>
      </p:sp>
      <p:sp>
        <p:nvSpPr>
          <p:cNvPr id="16" name="TextBox 15"/>
          <p:cNvSpPr txBox="1"/>
          <p:nvPr/>
        </p:nvSpPr>
        <p:spPr>
          <a:xfrm>
            <a:off x="7754112" y="2230765"/>
            <a:ext cx="2738090" cy="549381"/>
          </a:xfrm>
          <a:prstGeom prst="rect">
            <a:avLst/>
          </a:prstGeom>
          <a:noFill/>
        </p:spPr>
        <p:txBody>
          <a:bodyPr wrap="square" lIns="27432" tIns="9144" rIns="27432" bIns="9144" anchor="ctr">
            <a:spAutoFit/>
          </a:bodyPr>
          <a:lstStyle/>
          <a:p>
            <a:pPr algn="l"/>
            <a:r>
              <a:rPr sz="1150" b="0" dirty="0">
                <a:solidFill>
                  <a:srgbClr val="5C6C84"/>
                </a:solidFill>
                <a:latin typeface="Aptos"/>
              </a:rPr>
              <a:t>Useful for exporting datasets from systems and moving tabular data between tools.</a:t>
            </a:r>
          </a:p>
        </p:txBody>
      </p:sp>
      <p:sp>
        <p:nvSpPr>
          <p:cNvPr id="17" name="Rounded Rectangle 16"/>
          <p:cNvSpPr/>
          <p:nvPr/>
        </p:nvSpPr>
        <p:spPr>
          <a:xfrm>
            <a:off x="640080" y="3310128"/>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310128"/>
            <a:ext cx="50292" cy="1353312"/>
          </a:xfrm>
          <a:prstGeom prst="rect">
            <a:avLst/>
          </a:prstGeom>
          <a:solidFill>
            <a:srgbClr val="EB9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7" y="3456432"/>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Automation-friendly</a:t>
            </a:r>
          </a:p>
        </p:txBody>
      </p:sp>
      <p:sp>
        <p:nvSpPr>
          <p:cNvPr id="20" name="TextBox 19"/>
          <p:cNvSpPr txBox="1"/>
          <p:nvPr/>
        </p:nvSpPr>
        <p:spPr>
          <a:xfrm>
            <a:off x="841247" y="3983458"/>
            <a:ext cx="2739166" cy="372410"/>
          </a:xfrm>
          <a:prstGeom prst="rect">
            <a:avLst/>
          </a:prstGeom>
          <a:noFill/>
        </p:spPr>
        <p:txBody>
          <a:bodyPr wrap="square" lIns="27432" tIns="9144" rIns="27432" bIns="9144" anchor="ctr">
            <a:spAutoFit/>
          </a:bodyPr>
          <a:lstStyle/>
          <a:p>
            <a:pPr algn="l"/>
            <a:r>
              <a:rPr sz="1150" b="0" dirty="0">
                <a:solidFill>
                  <a:srgbClr val="5C6C84"/>
                </a:solidFill>
                <a:latin typeface="Aptos"/>
              </a:rPr>
              <a:t>Straightforward to read and write in scripts and data pipelines.</a:t>
            </a:r>
          </a:p>
        </p:txBody>
      </p:sp>
      <p:sp>
        <p:nvSpPr>
          <p:cNvPr id="21" name="Rounded Rectangle 20"/>
          <p:cNvSpPr/>
          <p:nvPr/>
        </p:nvSpPr>
        <p:spPr>
          <a:xfrm>
            <a:off x="4096512" y="3310128"/>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096512" y="3310128"/>
            <a:ext cx="50292" cy="1353312"/>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7680" y="3456432"/>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Lightweight</a:t>
            </a:r>
          </a:p>
        </p:txBody>
      </p:sp>
      <p:sp>
        <p:nvSpPr>
          <p:cNvPr id="24" name="TextBox 23"/>
          <p:cNvSpPr txBox="1"/>
          <p:nvPr/>
        </p:nvSpPr>
        <p:spPr>
          <a:xfrm>
            <a:off x="4297680" y="3983458"/>
            <a:ext cx="2802366" cy="372410"/>
          </a:xfrm>
          <a:prstGeom prst="rect">
            <a:avLst/>
          </a:prstGeom>
          <a:noFill/>
        </p:spPr>
        <p:txBody>
          <a:bodyPr wrap="square" lIns="27432" tIns="9144" rIns="27432" bIns="9144" anchor="ctr">
            <a:spAutoFit/>
          </a:bodyPr>
          <a:lstStyle/>
          <a:p>
            <a:pPr algn="l"/>
            <a:r>
              <a:rPr sz="1150" b="0" dirty="0">
                <a:solidFill>
                  <a:srgbClr val="5C6C84"/>
                </a:solidFill>
                <a:latin typeface="Aptos"/>
              </a:rPr>
              <a:t>No workbook features are stored, so the format focuses on the data itself.</a:t>
            </a:r>
          </a:p>
        </p:txBody>
      </p:sp>
      <p:sp>
        <p:nvSpPr>
          <p:cNvPr id="25" name="Rounded Rectangle 24"/>
          <p:cNvSpPr/>
          <p:nvPr/>
        </p:nvSpPr>
        <p:spPr>
          <a:xfrm>
            <a:off x="7552944" y="3310128"/>
            <a:ext cx="3090672" cy="1353312"/>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552944" y="3310128"/>
            <a:ext cx="50292" cy="1353312"/>
          </a:xfrm>
          <a:prstGeom prst="rect">
            <a:avLst/>
          </a:prstGeom>
          <a:solidFill>
            <a:srgbClr val="346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54112" y="3456432"/>
            <a:ext cx="2706624" cy="274320"/>
          </a:xfrm>
          <a:prstGeom prst="rect">
            <a:avLst/>
          </a:prstGeom>
          <a:noFill/>
        </p:spPr>
        <p:txBody>
          <a:bodyPr wrap="none" lIns="27432" tIns="9144" rIns="27432" bIns="9144" anchor="ctr">
            <a:spAutoFit/>
          </a:bodyPr>
          <a:lstStyle/>
          <a:p>
            <a:pPr algn="l"/>
            <a:r>
              <a:rPr sz="1400" b="1">
                <a:solidFill>
                  <a:srgbClr val="0B1F33"/>
                </a:solidFill>
                <a:latin typeface="Aptos"/>
              </a:rPr>
              <a:t>Good for datasets</a:t>
            </a:r>
          </a:p>
        </p:txBody>
      </p:sp>
      <p:sp>
        <p:nvSpPr>
          <p:cNvPr id="28" name="TextBox 27"/>
          <p:cNvSpPr txBox="1"/>
          <p:nvPr/>
        </p:nvSpPr>
        <p:spPr>
          <a:xfrm>
            <a:off x="7754112" y="3894973"/>
            <a:ext cx="2738090" cy="549381"/>
          </a:xfrm>
          <a:prstGeom prst="rect">
            <a:avLst/>
          </a:prstGeom>
          <a:noFill/>
        </p:spPr>
        <p:txBody>
          <a:bodyPr wrap="square" lIns="27432" tIns="9144" rIns="27432" bIns="9144" anchor="ctr">
            <a:spAutoFit/>
          </a:bodyPr>
          <a:lstStyle/>
          <a:p>
            <a:pPr algn="l"/>
            <a:r>
              <a:rPr sz="1150" b="0" dirty="0">
                <a:solidFill>
                  <a:srgbClr val="5C6C84"/>
                </a:solidFill>
                <a:latin typeface="Aptos"/>
              </a:rPr>
              <a:t>A natural representation for rows × columns used in EDA and Machine Learning.</a:t>
            </a:r>
          </a:p>
        </p:txBody>
      </p:sp>
      <p:sp>
        <p:nvSpPr>
          <p:cNvPr id="29" name="Rounded Rectangle 28"/>
          <p:cNvSpPr/>
          <p:nvPr/>
        </p:nvSpPr>
        <p:spPr>
          <a:xfrm>
            <a:off x="640080" y="5074920"/>
            <a:ext cx="10003536" cy="850392"/>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202936"/>
            <a:ext cx="9555480" cy="548640"/>
          </a:xfrm>
          <a:prstGeom prst="rect">
            <a:avLst/>
          </a:prstGeom>
          <a:noFill/>
        </p:spPr>
        <p:txBody>
          <a:bodyPr wrap="none" lIns="27432" tIns="9144" rIns="27432" bIns="9144" anchor="ctr">
            <a:spAutoFit/>
          </a:bodyPr>
          <a:lstStyle/>
          <a:p>
            <a:pPr algn="ctr"/>
            <a:r>
              <a:rPr sz="1550" b="1">
                <a:solidFill>
                  <a:srgbClr val="FFFFFF"/>
                </a:solidFill>
                <a:latin typeface="Aptos"/>
              </a:rPr>
              <a:t>Typical Data Science flow:  source system  →  CSV  →  Excel / Python / R  →  analysis</a:t>
            </a:r>
          </a:p>
        </p:txBody>
      </p:sp>
      <p:sp>
        <p:nvSpPr>
          <p:cNvPr id="31" name="TextBox 30"/>
          <p:cNvSpPr txBox="1"/>
          <p:nvPr/>
        </p:nvSpPr>
        <p:spPr>
          <a:xfrm>
            <a:off x="10808208" y="5148072"/>
            <a:ext cx="658368" cy="658368"/>
          </a:xfrm>
          <a:prstGeom prst="rect">
            <a:avLst/>
          </a:prstGeom>
          <a:noFill/>
        </p:spPr>
        <p:txBody>
          <a:bodyPr wrap="none" lIns="27432" tIns="9144" rIns="27432" bIns="9144" anchor="ctr">
            <a:spAutoFit/>
          </a:bodyPr>
          <a:lstStyle/>
          <a:p>
            <a:pPr algn="ctr"/>
            <a:r>
              <a:rPr sz="1500" b="1">
                <a:solidFill>
                  <a:srgbClr val="009E9A"/>
                </a:solidFill>
                <a:latin typeface="Aptos Mono"/>
              </a:rPr>
              <a:t>CSV</a:t>
            </a:r>
          </a:p>
        </p:txBody>
      </p:sp>
      <p:sp>
        <p:nvSpPr>
          <p:cNvPr id="33" name="Text 0">
            <a:extLst>
              <a:ext uri="{FF2B5EF4-FFF2-40B4-BE49-F238E27FC236}">
                <a16:creationId xmlns:a16="http://schemas.microsoft.com/office/drawing/2014/main" id="{96893858-E26B-1B6E-6265-EE03B2E5C8DF}"/>
              </a:ext>
            </a:extLst>
          </p:cNvPr>
          <p:cNvSpPr/>
          <p:nvPr/>
        </p:nvSpPr>
        <p:spPr>
          <a:xfrm>
            <a:off x="521208" y="123444"/>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4" name="Slide Number Placeholder 0">
            <a:extLst>
              <a:ext uri="{FF2B5EF4-FFF2-40B4-BE49-F238E27FC236}">
                <a16:creationId xmlns:a16="http://schemas.microsoft.com/office/drawing/2014/main" id="{2E565FB5-AC2F-8BBE-BB6A-A30F77908C36}"/>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40</a:t>
            </a:fld>
            <a:endParaRPr lang="en-US" dirty="0"/>
          </a:p>
        </p:txBody>
      </p:sp>
      <p:pic>
        <p:nvPicPr>
          <p:cNvPr id="36" name="Immagine 35">
            <a:extLst>
              <a:ext uri="{FF2B5EF4-FFF2-40B4-BE49-F238E27FC236}">
                <a16:creationId xmlns:a16="http://schemas.microsoft.com/office/drawing/2014/main" id="{A900B2F9-C3C8-A453-FB1C-4B1AE25D37EF}"/>
              </a:ext>
            </a:extLst>
          </p:cNvPr>
          <p:cNvPicPr>
            <a:picLocks noChangeAspect="1"/>
          </p:cNvPicPr>
          <p:nvPr/>
        </p:nvPicPr>
        <p:blipFill>
          <a:blip r:embed="rId2"/>
          <a:stretch>
            <a:fillRect/>
          </a:stretch>
        </p:blipFill>
        <p:spPr>
          <a:xfrm>
            <a:off x="10954871" y="-51303"/>
            <a:ext cx="1237129" cy="70061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38912"/>
            <a:ext cx="10972800" cy="502920"/>
          </a:xfrm>
          <a:prstGeom prst="rect">
            <a:avLst/>
          </a:prstGeom>
          <a:noFill/>
        </p:spPr>
        <p:txBody>
          <a:bodyPr wrap="none" lIns="27432" tIns="9144" rIns="27432" bIns="9144" anchor="ctr">
            <a:spAutoFit/>
          </a:bodyPr>
          <a:lstStyle/>
          <a:p>
            <a:pPr algn="l"/>
            <a:r>
              <a:rPr sz="2600" b="1">
                <a:solidFill>
                  <a:srgbClr val="0B1F33"/>
                </a:solidFill>
                <a:latin typeface="Aptos"/>
              </a:rPr>
              <a:t>CSV ↔ Excel: how to convert in both directions</a:t>
            </a:r>
          </a:p>
        </p:txBody>
      </p:sp>
      <p:sp>
        <p:nvSpPr>
          <p:cNvPr id="4" name="TextBox 3"/>
          <p:cNvSpPr txBox="1"/>
          <p:nvPr/>
        </p:nvSpPr>
        <p:spPr>
          <a:xfrm>
            <a:off x="457200" y="1005840"/>
            <a:ext cx="10972800" cy="365760"/>
          </a:xfrm>
          <a:prstGeom prst="rect">
            <a:avLst/>
          </a:prstGeom>
          <a:noFill/>
        </p:spPr>
        <p:txBody>
          <a:bodyPr wrap="none" lIns="27432" tIns="9144" rIns="27432" bIns="9144" anchor="ctr">
            <a:spAutoFit/>
          </a:bodyPr>
          <a:lstStyle/>
          <a:p>
            <a:pPr algn="l"/>
            <a:r>
              <a:rPr sz="1400" b="0">
                <a:solidFill>
                  <a:srgbClr val="5C6C84"/>
                </a:solidFill>
                <a:latin typeface="Aptos"/>
              </a:rPr>
              <a:t>Import a CSV when you want to analyse it in Excel; export to CSV when you need a simple, portable data file.</a:t>
            </a:r>
          </a:p>
        </p:txBody>
      </p:sp>
      <p:sp>
        <p:nvSpPr>
          <p:cNvPr id="5" name="Rounded Rectangle 4"/>
          <p:cNvSpPr/>
          <p:nvPr/>
        </p:nvSpPr>
        <p:spPr>
          <a:xfrm>
            <a:off x="621792" y="1600200"/>
            <a:ext cx="5285232" cy="4315968"/>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1792" y="1600200"/>
            <a:ext cx="50292" cy="4315968"/>
          </a:xfrm>
          <a:prstGeom prst="rect">
            <a:avLst/>
          </a:prstGeom>
          <a:solidFill>
            <a:srgbClr val="00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46504"/>
            <a:ext cx="4901184" cy="274320"/>
          </a:xfrm>
          <a:prstGeom prst="rect">
            <a:avLst/>
          </a:prstGeom>
          <a:noFill/>
        </p:spPr>
        <p:txBody>
          <a:bodyPr wrap="none" lIns="27432" tIns="9144" rIns="27432" bIns="9144" anchor="ctr">
            <a:spAutoFit/>
          </a:bodyPr>
          <a:lstStyle/>
          <a:p>
            <a:pPr algn="l"/>
            <a:r>
              <a:rPr sz="1400" b="1">
                <a:solidFill>
                  <a:srgbClr val="0B1F33"/>
                </a:solidFill>
                <a:latin typeface="Aptos"/>
              </a:rPr>
              <a:t>CSV → Excel</a:t>
            </a:r>
          </a:p>
        </p:txBody>
      </p:sp>
      <p:sp>
        <p:nvSpPr>
          <p:cNvPr id="8" name="TextBox 7"/>
          <p:cNvSpPr txBox="1"/>
          <p:nvPr/>
        </p:nvSpPr>
        <p:spPr>
          <a:xfrm>
            <a:off x="822960" y="2093976"/>
            <a:ext cx="4901184" cy="3694176"/>
          </a:xfrm>
          <a:prstGeom prst="rect">
            <a:avLst/>
          </a:prstGeom>
          <a:noFill/>
        </p:spPr>
        <p:txBody>
          <a:bodyPr wrap="none" lIns="27432" tIns="9144" rIns="27432" bIns="9144" anchor="ctr">
            <a:spAutoFit/>
          </a:bodyPr>
          <a:lstStyle/>
          <a:p>
            <a:pPr algn="l"/>
            <a:r>
              <a:rPr sz="1150" b="0">
                <a:solidFill>
                  <a:srgbClr val="5C6C84"/>
                </a:solidFill>
                <a:latin typeface="Aptos"/>
              </a:rPr>
              <a:t>1. In Excel, choose Data → From Text/CSV.
2. Select the .csv file.
3. Check delimiter, encoding and the previewed columns.
4. Choose Load to bring the data into Excel.
5. Save as .xlsx if you want to preserve Excel features.</a:t>
            </a:r>
          </a:p>
        </p:txBody>
      </p:sp>
      <p:sp>
        <p:nvSpPr>
          <p:cNvPr id="9" name="Rounded Rectangle 8"/>
          <p:cNvSpPr/>
          <p:nvPr/>
        </p:nvSpPr>
        <p:spPr>
          <a:xfrm>
            <a:off x="6272784" y="1600200"/>
            <a:ext cx="5285232" cy="4315968"/>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72784" y="1600200"/>
            <a:ext cx="50292" cy="4315968"/>
          </a:xfrm>
          <a:prstGeom prst="rect">
            <a:avLst/>
          </a:prstGeom>
          <a:solidFill>
            <a:srgbClr val="346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1746504"/>
            <a:ext cx="4901184" cy="274320"/>
          </a:xfrm>
          <a:prstGeom prst="rect">
            <a:avLst/>
          </a:prstGeom>
          <a:noFill/>
        </p:spPr>
        <p:txBody>
          <a:bodyPr wrap="none" lIns="27432" tIns="9144" rIns="27432" bIns="9144" anchor="ctr">
            <a:spAutoFit/>
          </a:bodyPr>
          <a:lstStyle/>
          <a:p>
            <a:pPr algn="l"/>
            <a:r>
              <a:rPr sz="1400" b="1">
                <a:solidFill>
                  <a:srgbClr val="0B1F33"/>
                </a:solidFill>
                <a:latin typeface="Aptos"/>
              </a:rPr>
              <a:t>Excel → CSV</a:t>
            </a:r>
          </a:p>
        </p:txBody>
      </p:sp>
      <p:sp>
        <p:nvSpPr>
          <p:cNvPr id="12" name="TextBox 11"/>
          <p:cNvSpPr txBox="1"/>
          <p:nvPr/>
        </p:nvSpPr>
        <p:spPr>
          <a:xfrm>
            <a:off x="6473952" y="2093976"/>
            <a:ext cx="4901184" cy="3694176"/>
          </a:xfrm>
          <a:prstGeom prst="rect">
            <a:avLst/>
          </a:prstGeom>
          <a:noFill/>
        </p:spPr>
        <p:txBody>
          <a:bodyPr wrap="none" lIns="27432" tIns="9144" rIns="27432" bIns="9144" anchor="ctr">
            <a:spAutoFit/>
          </a:bodyPr>
          <a:lstStyle/>
          <a:p>
            <a:pPr algn="l"/>
            <a:r>
              <a:rPr sz="1150" b="0">
                <a:solidFill>
                  <a:srgbClr val="5C6C84"/>
                </a:solidFill>
                <a:latin typeface="Aptos"/>
              </a:rPr>
              <a:t>1. Keep the worksheet you want to export active.
2. Choose File → Save As.
3. Select CSV UTF-8 (Comma delimited) (*.csv) when appropriate.
4. Save the file and confirm Excel’s warnings.
5. Re-open or inspect the CSV if delimiter/encoding is critical.</a:t>
            </a:r>
          </a:p>
        </p:txBody>
      </p:sp>
      <p:sp>
        <p:nvSpPr>
          <p:cNvPr id="13" name="Rounded Rectangle 12"/>
          <p:cNvSpPr/>
          <p:nvPr/>
        </p:nvSpPr>
        <p:spPr>
          <a:xfrm>
            <a:off x="841248" y="5577840"/>
            <a:ext cx="10497312" cy="658368"/>
          </a:xfrm>
          <a:prstGeom prst="roundRect">
            <a:avLst/>
          </a:prstGeom>
          <a:solidFill>
            <a:srgbClr val="FFF8E8"/>
          </a:solidFill>
          <a:ln>
            <a:solidFill>
              <a:srgbClr val="EECC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5669280"/>
            <a:ext cx="10131552" cy="438912"/>
          </a:xfrm>
          <a:prstGeom prst="rect">
            <a:avLst/>
          </a:prstGeom>
          <a:noFill/>
        </p:spPr>
        <p:txBody>
          <a:bodyPr wrap="none" lIns="27432" tIns="9144" rIns="27432" bIns="9144" anchor="ctr">
            <a:spAutoFit/>
          </a:bodyPr>
          <a:lstStyle/>
          <a:p>
            <a:pPr algn="ctr"/>
            <a:r>
              <a:rPr sz="1250" b="1">
                <a:solidFill>
                  <a:srgbClr val="0B1F33"/>
                </a:solidFill>
                <a:latin typeface="Aptos"/>
              </a:rPr>
              <a:t>Important: CSV stores one flat table only — formulas, formatting, charts, PivotTables and additional worksheets are not preserved.</a:t>
            </a:r>
          </a:p>
        </p:txBody>
      </p:sp>
      <p:sp>
        <p:nvSpPr>
          <p:cNvPr id="16" name="Text 0">
            <a:extLst>
              <a:ext uri="{FF2B5EF4-FFF2-40B4-BE49-F238E27FC236}">
                <a16:creationId xmlns:a16="http://schemas.microsoft.com/office/drawing/2014/main" id="{91A93F12-9449-3BF0-878D-65EE93806CCE}"/>
              </a:ext>
            </a:extLst>
          </p:cNvPr>
          <p:cNvSpPr/>
          <p:nvPr/>
        </p:nvSpPr>
        <p:spPr>
          <a:xfrm>
            <a:off x="519415" y="116183"/>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17" name="Slide Number Placeholder 0">
            <a:extLst>
              <a:ext uri="{FF2B5EF4-FFF2-40B4-BE49-F238E27FC236}">
                <a16:creationId xmlns:a16="http://schemas.microsoft.com/office/drawing/2014/main" id="{C0791F31-FC15-ABF5-7692-5A33B272D93D}"/>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41</a:t>
            </a:fld>
            <a:endParaRPr lang="en-US" dirty="0"/>
          </a:p>
        </p:txBody>
      </p:sp>
      <p:pic>
        <p:nvPicPr>
          <p:cNvPr id="19" name="Immagine 18">
            <a:extLst>
              <a:ext uri="{FF2B5EF4-FFF2-40B4-BE49-F238E27FC236}">
                <a16:creationId xmlns:a16="http://schemas.microsoft.com/office/drawing/2014/main" id="{B76DA17C-323D-EE81-6574-2301072BE7BC}"/>
              </a:ext>
            </a:extLst>
          </p:cNvPr>
          <p:cNvPicPr>
            <a:picLocks noChangeAspect="1"/>
          </p:cNvPicPr>
          <p:nvPr/>
        </p:nvPicPr>
        <p:blipFill>
          <a:blip r:embed="rId2"/>
          <a:stretch>
            <a:fillRect/>
          </a:stretch>
        </p:blipFill>
        <p:spPr>
          <a:xfrm>
            <a:off x="10954871" y="-51303"/>
            <a:ext cx="1237129" cy="70061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525688"/>
            <a:ext cx="10972800" cy="420624"/>
          </a:xfrm>
          <a:prstGeom prst="rect">
            <a:avLst/>
          </a:prstGeom>
          <a:noFill/>
          <a:ln/>
        </p:spPr>
        <p:txBody>
          <a:bodyPr wrap="square" lIns="0" tIns="0" rIns="0" bIns="0" rtlCol="0" anchor="ctr"/>
          <a:lstStyle/>
          <a:p>
            <a:pPr marL="0" indent="0">
              <a:buNone/>
            </a:pPr>
            <a:r>
              <a:rPr lang="en-US" sz="2400" b="1" dirty="0">
                <a:solidFill>
                  <a:srgbClr val="18324A"/>
                </a:solidFill>
                <a:latin typeface="Arial" pitchFamily="34" charset="0"/>
                <a:ea typeface="Arial" pitchFamily="34" charset="-122"/>
                <a:cs typeface="Arial" pitchFamily="34" charset="-120"/>
              </a:rPr>
              <a:t>CSV files across locales: when commas stop being simple</a:t>
            </a:r>
            <a:endParaRPr lang="en-US" sz="2400" dirty="0"/>
          </a:p>
        </p:txBody>
      </p:sp>
      <p:sp>
        <p:nvSpPr>
          <p:cNvPr id="3" name="Text 1"/>
          <p:cNvSpPr/>
          <p:nvPr/>
        </p:nvSpPr>
        <p:spPr>
          <a:xfrm>
            <a:off x="502920" y="1001176"/>
            <a:ext cx="10972800" cy="420624"/>
          </a:xfrm>
          <a:prstGeom prst="rect">
            <a:avLst/>
          </a:prstGeom>
          <a:noFill/>
          <a:ln/>
        </p:spPr>
        <p:txBody>
          <a:bodyPr wrap="square" lIns="0" tIns="0" rIns="0" bIns="0" rtlCol="0" anchor="ctr"/>
          <a:lstStyle/>
          <a:p>
            <a:pPr marL="0" indent="0">
              <a:buNone/>
            </a:pPr>
            <a:r>
              <a:rPr lang="en-US" sz="1150" dirty="0">
                <a:solidFill>
                  <a:srgbClr val="546273"/>
                </a:solidFill>
                <a:latin typeface="Arial" pitchFamily="34" charset="0"/>
                <a:ea typeface="Arial" pitchFamily="34" charset="-122"/>
                <a:cs typeface="Arial" pitchFamily="34" charset="-120"/>
              </a:rPr>
              <a:t>A CSV file is plain text. The delimiter, decimal symbol, dates and encoding may be interpreted differently by Excel depending on regional settings.</a:t>
            </a:r>
            <a:endParaRPr lang="en-US" sz="1150" dirty="0"/>
          </a:p>
        </p:txBody>
      </p:sp>
      <p:sp>
        <p:nvSpPr>
          <p:cNvPr id="4" name="Shape 2"/>
          <p:cNvSpPr/>
          <p:nvPr/>
        </p:nvSpPr>
        <p:spPr>
          <a:xfrm>
            <a:off x="502920" y="1467520"/>
            <a:ext cx="11155680" cy="548640"/>
          </a:xfrm>
          <a:prstGeom prst="roundRect">
            <a:avLst>
              <a:gd name="adj" fmla="val 13333"/>
            </a:avLst>
          </a:prstGeom>
          <a:solidFill>
            <a:srgbClr val="EAF7F1"/>
          </a:solidFill>
          <a:ln w="13970">
            <a:solidFill>
              <a:srgbClr val="B7E1D0"/>
            </a:solidFill>
            <a:prstDash val="solid"/>
          </a:ln>
        </p:spPr>
      </p:sp>
      <p:sp>
        <p:nvSpPr>
          <p:cNvPr id="5" name="Text 3"/>
          <p:cNvSpPr/>
          <p:nvPr/>
        </p:nvSpPr>
        <p:spPr>
          <a:xfrm>
            <a:off x="685800" y="1632112"/>
            <a:ext cx="777240" cy="164592"/>
          </a:xfrm>
          <a:prstGeom prst="rect">
            <a:avLst/>
          </a:prstGeom>
          <a:noFill/>
          <a:ln/>
        </p:spPr>
        <p:txBody>
          <a:bodyPr wrap="square" lIns="0" tIns="0" rIns="0" bIns="0" rtlCol="0" anchor="ctr"/>
          <a:lstStyle/>
          <a:p>
            <a:pPr marL="0" indent="0">
              <a:buNone/>
            </a:pPr>
            <a:r>
              <a:rPr lang="en-US" sz="900" b="1" dirty="0">
                <a:solidFill>
                  <a:srgbClr val="0D6B50"/>
                </a:solidFill>
              </a:rPr>
              <a:t>KEY IDEA</a:t>
            </a:r>
            <a:endParaRPr lang="en-US" sz="900" dirty="0"/>
          </a:p>
        </p:txBody>
      </p:sp>
      <p:sp>
        <p:nvSpPr>
          <p:cNvPr id="6" name="Text 4"/>
          <p:cNvSpPr/>
          <p:nvPr/>
        </p:nvSpPr>
        <p:spPr>
          <a:xfrm>
            <a:off x="1463040" y="1586392"/>
            <a:ext cx="9829800" cy="237744"/>
          </a:xfrm>
          <a:prstGeom prst="rect">
            <a:avLst/>
          </a:prstGeom>
          <a:noFill/>
          <a:ln/>
        </p:spPr>
        <p:txBody>
          <a:bodyPr wrap="square" lIns="0" tIns="0" rIns="0" bIns="0" rtlCol="0" anchor="ctr"/>
          <a:lstStyle/>
          <a:p>
            <a:pPr marL="0" indent="0">
              <a:buNone/>
            </a:pPr>
            <a:r>
              <a:rPr lang="en-US" sz="1280" b="1" dirty="0">
                <a:solidFill>
                  <a:srgbClr val="1D3B35"/>
                </a:solidFill>
              </a:rPr>
              <a:t>Never assume that “CSV” means the same parsing rules on every computer. Import settings must be explicit.</a:t>
            </a:r>
            <a:endParaRPr lang="en-US" sz="1280" dirty="0"/>
          </a:p>
        </p:txBody>
      </p:sp>
      <p:sp>
        <p:nvSpPr>
          <p:cNvPr id="7" name="Shape 5"/>
          <p:cNvSpPr/>
          <p:nvPr/>
        </p:nvSpPr>
        <p:spPr>
          <a:xfrm>
            <a:off x="502920" y="2217328"/>
            <a:ext cx="3246120" cy="4160520"/>
          </a:xfrm>
          <a:prstGeom prst="roundRect">
            <a:avLst/>
          </a:prstGeom>
          <a:solidFill>
            <a:srgbClr val="FFFFFF"/>
          </a:solidFill>
          <a:ln w="13970">
            <a:solidFill>
              <a:srgbClr val="D7DEE7"/>
            </a:solidFill>
            <a:prstDash val="solid"/>
          </a:ln>
          <a:effectLst>
            <a:outerShdw blurRad="12700" dist="50800" dir="2700000" algn="bl" rotWithShape="0">
              <a:srgbClr val="C8D0D9">
                <a:alpha val="13000"/>
              </a:srgbClr>
            </a:outerShdw>
          </a:effectLst>
        </p:spPr>
      </p:sp>
      <p:sp>
        <p:nvSpPr>
          <p:cNvPr id="8" name="Text 6"/>
          <p:cNvSpPr/>
          <p:nvPr/>
        </p:nvSpPr>
        <p:spPr>
          <a:xfrm>
            <a:off x="713232" y="2418496"/>
            <a:ext cx="2743200" cy="292608"/>
          </a:xfrm>
          <a:prstGeom prst="rect">
            <a:avLst/>
          </a:prstGeom>
          <a:noFill/>
          <a:ln/>
        </p:spPr>
        <p:txBody>
          <a:bodyPr wrap="square" lIns="0" tIns="0" rIns="0" bIns="0" rtlCol="0" anchor="ctr"/>
          <a:lstStyle/>
          <a:p>
            <a:pPr marL="0" indent="0">
              <a:buNone/>
            </a:pPr>
            <a:r>
              <a:rPr lang="en-US" sz="1500" b="1" dirty="0">
                <a:solidFill>
                  <a:srgbClr val="18324A"/>
                </a:solidFill>
              </a:rPr>
              <a:t>1  What can change with locale?</a:t>
            </a:r>
            <a:endParaRPr lang="en-US" sz="1500" dirty="0"/>
          </a:p>
        </p:txBody>
      </p:sp>
      <p:sp>
        <p:nvSpPr>
          <p:cNvPr id="9" name="Shape 7"/>
          <p:cNvSpPr/>
          <p:nvPr/>
        </p:nvSpPr>
        <p:spPr>
          <a:xfrm>
            <a:off x="731520" y="2866552"/>
            <a:ext cx="182880" cy="182880"/>
          </a:xfrm>
          <a:prstGeom prst="ellipse">
            <a:avLst/>
          </a:prstGeom>
          <a:solidFill>
            <a:srgbClr val="19A974"/>
          </a:solidFill>
          <a:ln w="12700">
            <a:solidFill>
              <a:srgbClr val="FFFFFF">
                <a:alpha val="0"/>
              </a:srgbClr>
            </a:solidFill>
            <a:prstDash val="solid"/>
          </a:ln>
        </p:spPr>
      </p:sp>
      <p:sp>
        <p:nvSpPr>
          <p:cNvPr id="10" name="Text 8"/>
          <p:cNvSpPr/>
          <p:nvPr/>
        </p:nvSpPr>
        <p:spPr>
          <a:xfrm>
            <a:off x="987552" y="2839120"/>
            <a:ext cx="1143000" cy="201168"/>
          </a:xfrm>
          <a:prstGeom prst="rect">
            <a:avLst/>
          </a:prstGeom>
          <a:noFill/>
          <a:ln/>
        </p:spPr>
        <p:txBody>
          <a:bodyPr wrap="square" lIns="0" tIns="0" rIns="0" bIns="0" rtlCol="0" anchor="ctr"/>
          <a:lstStyle/>
          <a:p>
            <a:pPr marL="0" indent="0">
              <a:buNone/>
            </a:pPr>
            <a:r>
              <a:rPr lang="en-US" sz="1050" b="1" dirty="0">
                <a:solidFill>
                  <a:srgbClr val="243A50"/>
                </a:solidFill>
              </a:rPr>
              <a:t>Field delimiter</a:t>
            </a:r>
            <a:endParaRPr lang="en-US" sz="1050" dirty="0"/>
          </a:p>
        </p:txBody>
      </p:sp>
      <p:sp>
        <p:nvSpPr>
          <p:cNvPr id="11" name="Text 9"/>
          <p:cNvSpPr/>
          <p:nvPr/>
        </p:nvSpPr>
        <p:spPr>
          <a:xfrm>
            <a:off x="2048256" y="2829976"/>
            <a:ext cx="1417320" cy="402336"/>
          </a:xfrm>
          <a:prstGeom prst="rect">
            <a:avLst/>
          </a:prstGeom>
          <a:noFill/>
          <a:ln/>
        </p:spPr>
        <p:txBody>
          <a:bodyPr wrap="square" lIns="0" tIns="0" rIns="0" bIns="0" rtlCol="0" anchor="ctr"/>
          <a:lstStyle/>
          <a:p>
            <a:pPr marL="0" indent="0">
              <a:buNone/>
            </a:pPr>
            <a:r>
              <a:rPr lang="en-US" sz="920" dirty="0">
                <a:solidFill>
                  <a:srgbClr val="5A6776"/>
                </a:solidFill>
              </a:rPr>
              <a:t>Comma (,), semicolon (;), tab, etc.</a:t>
            </a:r>
            <a:endParaRPr lang="en-US" sz="920" dirty="0"/>
          </a:p>
        </p:txBody>
      </p:sp>
      <p:sp>
        <p:nvSpPr>
          <p:cNvPr id="12" name="Shape 10"/>
          <p:cNvSpPr/>
          <p:nvPr/>
        </p:nvSpPr>
        <p:spPr>
          <a:xfrm>
            <a:off x="731520" y="3479200"/>
            <a:ext cx="182880" cy="182880"/>
          </a:xfrm>
          <a:prstGeom prst="ellipse">
            <a:avLst/>
          </a:prstGeom>
          <a:solidFill>
            <a:srgbClr val="19A974"/>
          </a:solidFill>
          <a:ln w="12700">
            <a:solidFill>
              <a:srgbClr val="FFFFFF">
                <a:alpha val="0"/>
              </a:srgbClr>
            </a:solidFill>
            <a:prstDash val="solid"/>
          </a:ln>
        </p:spPr>
      </p:sp>
      <p:sp>
        <p:nvSpPr>
          <p:cNvPr id="13" name="Text 11"/>
          <p:cNvSpPr/>
          <p:nvPr/>
        </p:nvSpPr>
        <p:spPr>
          <a:xfrm>
            <a:off x="987552" y="3451768"/>
            <a:ext cx="1143000" cy="201168"/>
          </a:xfrm>
          <a:prstGeom prst="rect">
            <a:avLst/>
          </a:prstGeom>
          <a:noFill/>
          <a:ln/>
        </p:spPr>
        <p:txBody>
          <a:bodyPr wrap="square" lIns="0" tIns="0" rIns="0" bIns="0" rtlCol="0" anchor="ctr"/>
          <a:lstStyle/>
          <a:p>
            <a:pPr marL="0" indent="0">
              <a:buNone/>
            </a:pPr>
            <a:r>
              <a:rPr lang="en-US" sz="1050" b="1" dirty="0">
                <a:solidFill>
                  <a:srgbClr val="243A50"/>
                </a:solidFill>
              </a:rPr>
              <a:t>Decimal symbol</a:t>
            </a:r>
            <a:endParaRPr lang="en-US" sz="1050" dirty="0"/>
          </a:p>
        </p:txBody>
      </p:sp>
      <p:sp>
        <p:nvSpPr>
          <p:cNvPr id="14" name="Text 12"/>
          <p:cNvSpPr/>
          <p:nvPr/>
        </p:nvSpPr>
        <p:spPr>
          <a:xfrm>
            <a:off x="2048256" y="3442624"/>
            <a:ext cx="1417320" cy="402336"/>
          </a:xfrm>
          <a:prstGeom prst="rect">
            <a:avLst/>
          </a:prstGeom>
          <a:noFill/>
          <a:ln/>
        </p:spPr>
        <p:txBody>
          <a:bodyPr wrap="square" lIns="0" tIns="0" rIns="0" bIns="0" rtlCol="0" anchor="ctr"/>
          <a:lstStyle/>
          <a:p>
            <a:pPr marL="0" indent="0">
              <a:buNone/>
            </a:pPr>
            <a:r>
              <a:rPr lang="en-US" sz="920" dirty="0">
                <a:solidFill>
                  <a:srgbClr val="5A6776"/>
                </a:solidFill>
              </a:rPr>
              <a:t>3.75 in EN/US vs 3,75 in many EU locales</a:t>
            </a:r>
            <a:endParaRPr lang="en-US" sz="920" dirty="0"/>
          </a:p>
        </p:txBody>
      </p:sp>
      <p:sp>
        <p:nvSpPr>
          <p:cNvPr id="15" name="Shape 13"/>
          <p:cNvSpPr/>
          <p:nvPr/>
        </p:nvSpPr>
        <p:spPr>
          <a:xfrm>
            <a:off x="731520" y="4091848"/>
            <a:ext cx="182880" cy="182880"/>
          </a:xfrm>
          <a:prstGeom prst="ellipse">
            <a:avLst/>
          </a:prstGeom>
          <a:solidFill>
            <a:srgbClr val="4E86D8"/>
          </a:solidFill>
          <a:ln w="12700">
            <a:solidFill>
              <a:srgbClr val="FFFFFF">
                <a:alpha val="0"/>
              </a:srgbClr>
            </a:solidFill>
            <a:prstDash val="solid"/>
          </a:ln>
        </p:spPr>
      </p:sp>
      <p:sp>
        <p:nvSpPr>
          <p:cNvPr id="16" name="Text 14"/>
          <p:cNvSpPr/>
          <p:nvPr/>
        </p:nvSpPr>
        <p:spPr>
          <a:xfrm>
            <a:off x="987552" y="4064416"/>
            <a:ext cx="1143000" cy="201168"/>
          </a:xfrm>
          <a:prstGeom prst="rect">
            <a:avLst/>
          </a:prstGeom>
          <a:noFill/>
          <a:ln/>
        </p:spPr>
        <p:txBody>
          <a:bodyPr wrap="square" lIns="0" tIns="0" rIns="0" bIns="0" rtlCol="0" anchor="ctr"/>
          <a:lstStyle/>
          <a:p>
            <a:pPr marL="0" indent="0">
              <a:buNone/>
            </a:pPr>
            <a:r>
              <a:rPr lang="en-US" sz="1050" b="1" dirty="0">
                <a:solidFill>
                  <a:srgbClr val="243A50"/>
                </a:solidFill>
              </a:rPr>
              <a:t>Thousands separator</a:t>
            </a:r>
            <a:endParaRPr lang="en-US" sz="1050" dirty="0"/>
          </a:p>
        </p:txBody>
      </p:sp>
      <p:sp>
        <p:nvSpPr>
          <p:cNvPr id="17" name="Text 15"/>
          <p:cNvSpPr/>
          <p:nvPr/>
        </p:nvSpPr>
        <p:spPr>
          <a:xfrm>
            <a:off x="2048256" y="4055272"/>
            <a:ext cx="1417320" cy="402336"/>
          </a:xfrm>
          <a:prstGeom prst="rect">
            <a:avLst/>
          </a:prstGeom>
          <a:noFill/>
          <a:ln/>
        </p:spPr>
        <p:txBody>
          <a:bodyPr wrap="square" lIns="0" tIns="0" rIns="0" bIns="0" rtlCol="0" anchor="ctr"/>
          <a:lstStyle/>
          <a:p>
            <a:pPr marL="0" indent="0">
              <a:buNone/>
            </a:pPr>
            <a:r>
              <a:rPr lang="en-US" sz="920" dirty="0">
                <a:solidFill>
                  <a:srgbClr val="5A6776"/>
                </a:solidFill>
              </a:rPr>
              <a:t>25,900.50 vs 25.900,50</a:t>
            </a:r>
            <a:endParaRPr lang="en-US" sz="920" dirty="0"/>
          </a:p>
        </p:txBody>
      </p:sp>
      <p:sp>
        <p:nvSpPr>
          <p:cNvPr id="18" name="Shape 16"/>
          <p:cNvSpPr/>
          <p:nvPr/>
        </p:nvSpPr>
        <p:spPr>
          <a:xfrm>
            <a:off x="731520" y="4704496"/>
            <a:ext cx="182880" cy="182880"/>
          </a:xfrm>
          <a:prstGeom prst="ellipse">
            <a:avLst/>
          </a:prstGeom>
          <a:solidFill>
            <a:srgbClr val="4E86D8"/>
          </a:solidFill>
          <a:ln w="12700">
            <a:solidFill>
              <a:srgbClr val="FFFFFF">
                <a:alpha val="0"/>
              </a:srgbClr>
            </a:solidFill>
            <a:prstDash val="solid"/>
          </a:ln>
        </p:spPr>
      </p:sp>
      <p:sp>
        <p:nvSpPr>
          <p:cNvPr id="19" name="Text 17"/>
          <p:cNvSpPr/>
          <p:nvPr/>
        </p:nvSpPr>
        <p:spPr>
          <a:xfrm>
            <a:off x="987552" y="4677064"/>
            <a:ext cx="1143000" cy="201168"/>
          </a:xfrm>
          <a:prstGeom prst="rect">
            <a:avLst/>
          </a:prstGeom>
          <a:noFill/>
          <a:ln/>
        </p:spPr>
        <p:txBody>
          <a:bodyPr wrap="square" lIns="0" tIns="0" rIns="0" bIns="0" rtlCol="0" anchor="ctr"/>
          <a:lstStyle/>
          <a:p>
            <a:pPr marL="0" indent="0">
              <a:buNone/>
            </a:pPr>
            <a:r>
              <a:rPr lang="en-US" sz="1050" b="1" dirty="0">
                <a:solidFill>
                  <a:srgbClr val="243A50"/>
                </a:solidFill>
              </a:rPr>
              <a:t>Date interpretation</a:t>
            </a:r>
            <a:endParaRPr lang="en-US" sz="1050" dirty="0"/>
          </a:p>
        </p:txBody>
      </p:sp>
      <p:sp>
        <p:nvSpPr>
          <p:cNvPr id="20" name="Text 18"/>
          <p:cNvSpPr/>
          <p:nvPr/>
        </p:nvSpPr>
        <p:spPr>
          <a:xfrm>
            <a:off x="2048256" y="4667920"/>
            <a:ext cx="1417320" cy="402336"/>
          </a:xfrm>
          <a:prstGeom prst="rect">
            <a:avLst/>
          </a:prstGeom>
          <a:noFill/>
          <a:ln/>
        </p:spPr>
        <p:txBody>
          <a:bodyPr wrap="square" lIns="0" tIns="0" rIns="0" bIns="0" rtlCol="0" anchor="ctr"/>
          <a:lstStyle/>
          <a:p>
            <a:pPr marL="0" indent="0">
              <a:buNone/>
            </a:pPr>
            <a:r>
              <a:rPr lang="en-US" sz="920" dirty="0">
                <a:solidFill>
                  <a:srgbClr val="5A6776"/>
                </a:solidFill>
              </a:rPr>
              <a:t>03/04/2026 can mean Mar 4 or Apr 3</a:t>
            </a:r>
            <a:endParaRPr lang="en-US" sz="920" dirty="0"/>
          </a:p>
        </p:txBody>
      </p:sp>
      <p:sp>
        <p:nvSpPr>
          <p:cNvPr id="21" name="Shape 19"/>
          <p:cNvSpPr/>
          <p:nvPr/>
        </p:nvSpPr>
        <p:spPr>
          <a:xfrm>
            <a:off x="731520" y="5317144"/>
            <a:ext cx="182880" cy="182880"/>
          </a:xfrm>
          <a:prstGeom prst="ellipse">
            <a:avLst/>
          </a:prstGeom>
          <a:solidFill>
            <a:srgbClr val="4E86D8"/>
          </a:solidFill>
          <a:ln w="12700">
            <a:solidFill>
              <a:srgbClr val="FFFFFF">
                <a:alpha val="0"/>
              </a:srgbClr>
            </a:solidFill>
            <a:prstDash val="solid"/>
          </a:ln>
        </p:spPr>
      </p:sp>
      <p:sp>
        <p:nvSpPr>
          <p:cNvPr id="22" name="Text 20"/>
          <p:cNvSpPr/>
          <p:nvPr/>
        </p:nvSpPr>
        <p:spPr>
          <a:xfrm>
            <a:off x="987552" y="5289712"/>
            <a:ext cx="1143000" cy="201168"/>
          </a:xfrm>
          <a:prstGeom prst="rect">
            <a:avLst/>
          </a:prstGeom>
          <a:noFill/>
          <a:ln/>
        </p:spPr>
        <p:txBody>
          <a:bodyPr wrap="square" lIns="0" tIns="0" rIns="0" bIns="0" rtlCol="0" anchor="ctr"/>
          <a:lstStyle/>
          <a:p>
            <a:pPr marL="0" indent="0">
              <a:buNone/>
            </a:pPr>
            <a:r>
              <a:rPr lang="en-US" sz="1050" b="1" dirty="0">
                <a:solidFill>
                  <a:srgbClr val="243A50"/>
                </a:solidFill>
              </a:rPr>
              <a:t>Text encoding</a:t>
            </a:r>
            <a:endParaRPr lang="en-US" sz="1050" dirty="0"/>
          </a:p>
        </p:txBody>
      </p:sp>
      <p:sp>
        <p:nvSpPr>
          <p:cNvPr id="23" name="Text 21"/>
          <p:cNvSpPr/>
          <p:nvPr/>
        </p:nvSpPr>
        <p:spPr>
          <a:xfrm>
            <a:off x="2048256" y="5280568"/>
            <a:ext cx="1417320" cy="402336"/>
          </a:xfrm>
          <a:prstGeom prst="rect">
            <a:avLst/>
          </a:prstGeom>
          <a:noFill/>
          <a:ln/>
        </p:spPr>
        <p:txBody>
          <a:bodyPr wrap="square" lIns="0" tIns="0" rIns="0" bIns="0" rtlCol="0" anchor="ctr"/>
          <a:lstStyle/>
          <a:p>
            <a:pPr marL="0" indent="0">
              <a:buNone/>
            </a:pPr>
            <a:r>
              <a:rPr lang="en-US" sz="920" dirty="0">
                <a:solidFill>
                  <a:srgbClr val="5A6776"/>
                </a:solidFill>
              </a:rPr>
              <a:t>UTF-8 avoids many accented-character problems</a:t>
            </a:r>
            <a:endParaRPr lang="en-US" sz="920" dirty="0"/>
          </a:p>
        </p:txBody>
      </p:sp>
      <p:sp>
        <p:nvSpPr>
          <p:cNvPr id="24" name="Shape 22"/>
          <p:cNvSpPr/>
          <p:nvPr/>
        </p:nvSpPr>
        <p:spPr>
          <a:xfrm>
            <a:off x="3886200" y="2217328"/>
            <a:ext cx="4709160" cy="4160520"/>
          </a:xfrm>
          <a:prstGeom prst="roundRect">
            <a:avLst/>
          </a:prstGeom>
          <a:solidFill>
            <a:srgbClr val="FFFFFF"/>
          </a:solidFill>
          <a:ln w="13970">
            <a:solidFill>
              <a:srgbClr val="D7DEE7"/>
            </a:solidFill>
            <a:prstDash val="solid"/>
          </a:ln>
          <a:effectLst>
            <a:outerShdw blurRad="12700" dist="50800" dir="2700000" algn="bl" rotWithShape="0">
              <a:srgbClr val="C8D0D9">
                <a:alpha val="13000"/>
              </a:srgbClr>
            </a:outerShdw>
          </a:effectLst>
        </p:spPr>
      </p:sp>
      <p:sp>
        <p:nvSpPr>
          <p:cNvPr id="25" name="Text 23"/>
          <p:cNvSpPr/>
          <p:nvPr/>
        </p:nvSpPr>
        <p:spPr>
          <a:xfrm>
            <a:off x="4114800" y="2418496"/>
            <a:ext cx="4160520" cy="292608"/>
          </a:xfrm>
          <a:prstGeom prst="rect">
            <a:avLst/>
          </a:prstGeom>
          <a:noFill/>
          <a:ln/>
        </p:spPr>
        <p:txBody>
          <a:bodyPr wrap="square" lIns="0" tIns="0" rIns="0" bIns="0" rtlCol="0" anchor="ctr"/>
          <a:lstStyle/>
          <a:p>
            <a:pPr marL="0" indent="0">
              <a:buNone/>
            </a:pPr>
            <a:r>
              <a:rPr lang="en-US" sz="1500" b="1" dirty="0">
                <a:solidFill>
                  <a:srgbClr val="18324A"/>
                </a:solidFill>
              </a:rPr>
              <a:t>2  Example: the same data, different conventions</a:t>
            </a:r>
            <a:endParaRPr lang="en-US" sz="1500" dirty="0"/>
          </a:p>
        </p:txBody>
      </p:sp>
      <p:sp>
        <p:nvSpPr>
          <p:cNvPr id="26" name="Text 24"/>
          <p:cNvSpPr/>
          <p:nvPr/>
        </p:nvSpPr>
        <p:spPr>
          <a:xfrm>
            <a:off x="4114800" y="2820832"/>
            <a:ext cx="3977640" cy="182880"/>
          </a:xfrm>
          <a:prstGeom prst="rect">
            <a:avLst/>
          </a:prstGeom>
          <a:noFill/>
          <a:ln/>
        </p:spPr>
        <p:txBody>
          <a:bodyPr wrap="square" lIns="0" tIns="0" rIns="0" bIns="0" rtlCol="0" anchor="ctr"/>
          <a:lstStyle/>
          <a:p>
            <a:pPr marL="0" indent="0">
              <a:buNone/>
            </a:pPr>
            <a:r>
              <a:rPr lang="en-US" sz="960" b="1" dirty="0">
                <a:solidFill>
                  <a:srgbClr val="4B5B6B"/>
                </a:solidFill>
              </a:rPr>
              <a:t>Source CSV created in an English/US environment</a:t>
            </a:r>
            <a:endParaRPr lang="en-US" sz="960" dirty="0"/>
          </a:p>
        </p:txBody>
      </p:sp>
      <p:sp>
        <p:nvSpPr>
          <p:cNvPr id="27" name="Shape 25"/>
          <p:cNvSpPr/>
          <p:nvPr/>
        </p:nvSpPr>
        <p:spPr>
          <a:xfrm>
            <a:off x="4114800" y="3067720"/>
            <a:ext cx="4050792" cy="932688"/>
          </a:xfrm>
          <a:prstGeom prst="roundRect">
            <a:avLst/>
          </a:prstGeom>
          <a:solidFill>
            <a:srgbClr val="F5F7FA"/>
          </a:solidFill>
          <a:ln w="10160">
            <a:solidFill>
              <a:srgbClr val="D8DEE6"/>
            </a:solidFill>
            <a:prstDash val="solid"/>
          </a:ln>
        </p:spPr>
      </p:sp>
      <p:sp>
        <p:nvSpPr>
          <p:cNvPr id="28" name="Text 26"/>
          <p:cNvSpPr/>
          <p:nvPr/>
        </p:nvSpPr>
        <p:spPr>
          <a:xfrm>
            <a:off x="4279392" y="3223168"/>
            <a:ext cx="3657600" cy="576072"/>
          </a:xfrm>
          <a:prstGeom prst="rect">
            <a:avLst/>
          </a:prstGeom>
          <a:noFill/>
          <a:ln/>
        </p:spPr>
        <p:txBody>
          <a:bodyPr wrap="square" lIns="0" tIns="0" rIns="0" bIns="0" rtlCol="0" anchor="ctr"/>
          <a:lstStyle/>
          <a:p>
            <a:pPr marL="0" indent="0">
              <a:buNone/>
            </a:pPr>
            <a:r>
              <a:rPr lang="en-US" sz="960" dirty="0">
                <a:solidFill>
                  <a:srgbClr val="203447"/>
                </a:solidFill>
                <a:latin typeface="Courier New" pitchFamily="34" charset="0"/>
                <a:ea typeface="Courier New" pitchFamily="34" charset="-122"/>
                <a:cs typeface="Courier New" pitchFamily="34" charset="-120"/>
              </a:rPr>
              <a:t>Customer_ID,Income,Rate,Region</a:t>
            </a:r>
            <a:endParaRPr lang="en-US" sz="960" dirty="0"/>
          </a:p>
          <a:p>
            <a:pPr marL="0" indent="0">
              <a:buNone/>
            </a:pPr>
            <a:r>
              <a:rPr lang="en-US" sz="960" dirty="0">
                <a:solidFill>
                  <a:srgbClr val="203447"/>
                </a:solidFill>
                <a:latin typeface="Courier New" pitchFamily="34" charset="0"/>
                <a:ea typeface="Courier New" pitchFamily="34" charset="-122"/>
                <a:cs typeface="Courier New" pitchFamily="34" charset="-120"/>
              </a:rPr>
              <a:t>C001,25900.50,3.75,Turin</a:t>
            </a:r>
            <a:endParaRPr lang="en-US" sz="960" dirty="0"/>
          </a:p>
          <a:p>
            <a:pPr marL="0" indent="0">
              <a:buNone/>
            </a:pPr>
            <a:r>
              <a:rPr lang="en-US" sz="960" dirty="0">
                <a:solidFill>
                  <a:srgbClr val="203447"/>
                </a:solidFill>
                <a:latin typeface="Courier New" pitchFamily="34" charset="0"/>
                <a:ea typeface="Courier New" pitchFamily="34" charset="-122"/>
                <a:cs typeface="Courier New" pitchFamily="34" charset="-120"/>
              </a:rPr>
              <a:t>C002,17200.00,4.10,Milan</a:t>
            </a:r>
            <a:endParaRPr lang="en-US" sz="960" dirty="0"/>
          </a:p>
        </p:txBody>
      </p:sp>
      <p:sp>
        <p:nvSpPr>
          <p:cNvPr id="29" name="Shape 27"/>
          <p:cNvSpPr/>
          <p:nvPr/>
        </p:nvSpPr>
        <p:spPr>
          <a:xfrm>
            <a:off x="5870448" y="4128424"/>
            <a:ext cx="475488" cy="347472"/>
          </a:xfrm>
          <a:prstGeom prst="chevron">
            <a:avLst/>
          </a:prstGeom>
          <a:solidFill>
            <a:srgbClr val="DDE5EE"/>
          </a:solidFill>
          <a:ln w="12700">
            <a:solidFill>
              <a:srgbClr val="DDE5EE"/>
            </a:solidFill>
            <a:prstDash val="solid"/>
          </a:ln>
        </p:spPr>
      </p:sp>
      <p:sp>
        <p:nvSpPr>
          <p:cNvPr id="30" name="Text 28"/>
          <p:cNvSpPr/>
          <p:nvPr/>
        </p:nvSpPr>
        <p:spPr>
          <a:xfrm>
            <a:off x="4224528" y="4530760"/>
            <a:ext cx="1828800" cy="201168"/>
          </a:xfrm>
          <a:prstGeom prst="rect">
            <a:avLst/>
          </a:prstGeom>
          <a:noFill/>
          <a:ln/>
        </p:spPr>
        <p:txBody>
          <a:bodyPr wrap="square" lIns="0" tIns="0" rIns="0" bIns="0" rtlCol="0" anchor="ctr"/>
          <a:lstStyle/>
          <a:p>
            <a:pPr marL="0" indent="0" algn="ctr">
              <a:buNone/>
            </a:pPr>
            <a:r>
              <a:rPr lang="en-US" sz="940" b="1" dirty="0">
                <a:solidFill>
                  <a:srgbClr val="9A3A3A"/>
                </a:solidFill>
              </a:rPr>
              <a:t>Double-click / automatic opening</a:t>
            </a:r>
            <a:endParaRPr lang="en-US" sz="940" dirty="0"/>
          </a:p>
        </p:txBody>
      </p:sp>
      <p:sp>
        <p:nvSpPr>
          <p:cNvPr id="31" name="Text 29"/>
          <p:cNvSpPr/>
          <p:nvPr/>
        </p:nvSpPr>
        <p:spPr>
          <a:xfrm>
            <a:off x="6382512" y="4530760"/>
            <a:ext cx="1691640" cy="201168"/>
          </a:xfrm>
          <a:prstGeom prst="rect">
            <a:avLst/>
          </a:prstGeom>
          <a:noFill/>
          <a:ln/>
        </p:spPr>
        <p:txBody>
          <a:bodyPr wrap="square" lIns="0" tIns="0" rIns="0" bIns="0" rtlCol="0" anchor="ctr"/>
          <a:lstStyle/>
          <a:p>
            <a:pPr marL="0" indent="0" algn="ctr">
              <a:buNone/>
            </a:pPr>
            <a:r>
              <a:rPr lang="en-US" sz="940" b="1" dirty="0">
                <a:solidFill>
                  <a:srgbClr val="17684F"/>
                </a:solidFill>
              </a:rPr>
              <a:t>Explicit import settings</a:t>
            </a:r>
            <a:endParaRPr lang="en-US" sz="940" dirty="0"/>
          </a:p>
        </p:txBody>
      </p:sp>
      <p:sp>
        <p:nvSpPr>
          <p:cNvPr id="32" name="Shape 30"/>
          <p:cNvSpPr/>
          <p:nvPr/>
        </p:nvSpPr>
        <p:spPr>
          <a:xfrm>
            <a:off x="4114800" y="4823368"/>
            <a:ext cx="1874520" cy="1225296"/>
          </a:xfrm>
          <a:prstGeom prst="roundRect">
            <a:avLst/>
          </a:prstGeom>
          <a:solidFill>
            <a:srgbClr val="FFF0F0"/>
          </a:solidFill>
          <a:ln w="12700">
            <a:solidFill>
              <a:srgbClr val="E7B4B4"/>
            </a:solidFill>
            <a:prstDash val="solid"/>
          </a:ln>
        </p:spPr>
      </p:sp>
      <p:sp>
        <p:nvSpPr>
          <p:cNvPr id="33" name="Text 31"/>
          <p:cNvSpPr/>
          <p:nvPr/>
        </p:nvSpPr>
        <p:spPr>
          <a:xfrm>
            <a:off x="4270248" y="4969672"/>
            <a:ext cx="1536192" cy="164592"/>
          </a:xfrm>
          <a:prstGeom prst="rect">
            <a:avLst/>
          </a:prstGeom>
          <a:noFill/>
          <a:ln/>
        </p:spPr>
        <p:txBody>
          <a:bodyPr wrap="square" lIns="0" tIns="0" rIns="0" bIns="0" rtlCol="0" anchor="ctr"/>
          <a:lstStyle/>
          <a:p>
            <a:pPr marL="0" indent="0" algn="ctr">
              <a:buNone/>
            </a:pPr>
            <a:r>
              <a:rPr lang="en-US" sz="880" b="1" dirty="0">
                <a:solidFill>
                  <a:srgbClr val="9A3A3A"/>
                </a:solidFill>
              </a:rPr>
              <a:t>POSSIBLE RESULT</a:t>
            </a:r>
            <a:endParaRPr lang="en-US" sz="880" dirty="0"/>
          </a:p>
        </p:txBody>
      </p:sp>
      <p:sp>
        <p:nvSpPr>
          <p:cNvPr id="34" name="Text 32"/>
          <p:cNvSpPr/>
          <p:nvPr/>
        </p:nvSpPr>
        <p:spPr>
          <a:xfrm>
            <a:off x="4297680" y="5243992"/>
            <a:ext cx="1536192" cy="658368"/>
          </a:xfrm>
          <a:prstGeom prst="rect">
            <a:avLst/>
          </a:prstGeom>
          <a:noFill/>
          <a:ln/>
        </p:spPr>
        <p:txBody>
          <a:bodyPr wrap="square" lIns="0" tIns="0" rIns="0" bIns="0" rtlCol="0" anchor="ctr"/>
          <a:lstStyle/>
          <a:p>
            <a:pPr marL="0" indent="0">
              <a:buNone/>
            </a:pPr>
            <a:r>
              <a:rPr lang="en-US" sz="880" dirty="0">
                <a:solidFill>
                  <a:srgbClr val="5E4A4A"/>
                </a:solidFill>
              </a:rPr>
              <a:t>• all fields in one column</a:t>
            </a:r>
            <a:endParaRPr lang="en-US" sz="880" dirty="0"/>
          </a:p>
          <a:p>
            <a:pPr marL="0" indent="0">
              <a:buNone/>
            </a:pPr>
            <a:r>
              <a:rPr lang="en-US" sz="880" dirty="0">
                <a:solidFill>
                  <a:srgbClr val="5E4A4A"/>
                </a:solidFill>
              </a:rPr>
              <a:t>• decimal values split incorrectly</a:t>
            </a:r>
            <a:endParaRPr lang="en-US" sz="880" dirty="0"/>
          </a:p>
          <a:p>
            <a:pPr marL="0" indent="0">
              <a:buNone/>
            </a:pPr>
            <a:r>
              <a:rPr lang="en-US" sz="880" dirty="0">
                <a:solidFill>
                  <a:srgbClr val="5E4A4A"/>
                </a:solidFill>
              </a:rPr>
              <a:t>• numbers stored as text</a:t>
            </a:r>
            <a:endParaRPr lang="en-US" sz="880" dirty="0"/>
          </a:p>
          <a:p>
            <a:pPr marL="0" indent="0">
              <a:buNone/>
            </a:pPr>
            <a:r>
              <a:rPr lang="en-US" sz="880" dirty="0">
                <a:solidFill>
                  <a:srgbClr val="5E4A4A"/>
                </a:solidFill>
              </a:rPr>
              <a:t>• dates silently reinterpreted</a:t>
            </a:r>
            <a:endParaRPr lang="en-US" sz="880" dirty="0"/>
          </a:p>
        </p:txBody>
      </p:sp>
      <p:sp>
        <p:nvSpPr>
          <p:cNvPr id="35" name="Shape 33"/>
          <p:cNvSpPr/>
          <p:nvPr/>
        </p:nvSpPr>
        <p:spPr>
          <a:xfrm>
            <a:off x="6291072" y="4823368"/>
            <a:ext cx="1874520" cy="1225296"/>
          </a:xfrm>
          <a:prstGeom prst="roundRect">
            <a:avLst/>
          </a:prstGeom>
          <a:solidFill>
            <a:srgbClr val="EDF9F4"/>
          </a:solidFill>
          <a:ln w="12700">
            <a:solidFill>
              <a:srgbClr val="B7DDCF"/>
            </a:solidFill>
            <a:prstDash val="solid"/>
          </a:ln>
        </p:spPr>
      </p:sp>
      <p:sp>
        <p:nvSpPr>
          <p:cNvPr id="36" name="Text 34"/>
          <p:cNvSpPr/>
          <p:nvPr/>
        </p:nvSpPr>
        <p:spPr>
          <a:xfrm>
            <a:off x="6455664" y="4969672"/>
            <a:ext cx="1536192" cy="164592"/>
          </a:xfrm>
          <a:prstGeom prst="rect">
            <a:avLst/>
          </a:prstGeom>
          <a:noFill/>
          <a:ln/>
        </p:spPr>
        <p:txBody>
          <a:bodyPr wrap="square" lIns="0" tIns="0" rIns="0" bIns="0" rtlCol="0" anchor="ctr"/>
          <a:lstStyle/>
          <a:p>
            <a:pPr marL="0" indent="0" algn="ctr">
              <a:buNone/>
            </a:pPr>
            <a:r>
              <a:rPr lang="en-US" sz="880" b="1" dirty="0">
                <a:solidFill>
                  <a:srgbClr val="17684F"/>
                </a:solidFill>
              </a:rPr>
              <a:t>SAFE RESULT</a:t>
            </a:r>
            <a:endParaRPr lang="en-US" sz="880" dirty="0"/>
          </a:p>
        </p:txBody>
      </p:sp>
      <p:sp>
        <p:nvSpPr>
          <p:cNvPr id="37" name="Text 35"/>
          <p:cNvSpPr/>
          <p:nvPr/>
        </p:nvSpPr>
        <p:spPr>
          <a:xfrm>
            <a:off x="6473952" y="5243992"/>
            <a:ext cx="1536192" cy="658368"/>
          </a:xfrm>
          <a:prstGeom prst="rect">
            <a:avLst/>
          </a:prstGeom>
          <a:noFill/>
          <a:ln/>
        </p:spPr>
        <p:txBody>
          <a:bodyPr wrap="square" lIns="0" tIns="0" rIns="0" bIns="0" rtlCol="0" anchor="ctr"/>
          <a:lstStyle/>
          <a:p>
            <a:pPr marL="0" indent="0">
              <a:buNone/>
            </a:pPr>
            <a:r>
              <a:rPr lang="en-US" sz="880" dirty="0">
                <a:solidFill>
                  <a:srgbClr val="3E5D52"/>
                </a:solidFill>
              </a:rPr>
              <a:t>• delimiter set explicitly</a:t>
            </a:r>
            <a:endParaRPr lang="en-US" sz="880" dirty="0"/>
          </a:p>
          <a:p>
            <a:pPr marL="0" indent="0">
              <a:buNone/>
            </a:pPr>
            <a:r>
              <a:rPr lang="en-US" sz="880" dirty="0">
                <a:solidFill>
                  <a:srgbClr val="3E5D52"/>
                </a:solidFill>
              </a:rPr>
              <a:t>• decimal locale set correctly</a:t>
            </a:r>
            <a:endParaRPr lang="en-US" sz="880" dirty="0"/>
          </a:p>
          <a:p>
            <a:pPr marL="0" indent="0">
              <a:buNone/>
            </a:pPr>
            <a:r>
              <a:rPr lang="en-US" sz="880" dirty="0">
                <a:solidFill>
                  <a:srgbClr val="3E5D52"/>
                </a:solidFill>
              </a:rPr>
              <a:t>• columns typed as expected</a:t>
            </a:r>
            <a:endParaRPr lang="en-US" sz="880" dirty="0"/>
          </a:p>
          <a:p>
            <a:pPr marL="0" indent="0">
              <a:buNone/>
            </a:pPr>
            <a:r>
              <a:rPr lang="en-US" sz="880" dirty="0">
                <a:solidFill>
                  <a:srgbClr val="3E5D52"/>
                </a:solidFill>
              </a:rPr>
              <a:t>• row/column counts validated</a:t>
            </a:r>
            <a:endParaRPr lang="en-US" sz="880" dirty="0"/>
          </a:p>
        </p:txBody>
      </p:sp>
      <p:sp>
        <p:nvSpPr>
          <p:cNvPr id="38" name="Shape 36"/>
          <p:cNvSpPr/>
          <p:nvPr/>
        </p:nvSpPr>
        <p:spPr>
          <a:xfrm>
            <a:off x="8732520" y="2217328"/>
            <a:ext cx="2926080" cy="4160520"/>
          </a:xfrm>
          <a:prstGeom prst="roundRect">
            <a:avLst/>
          </a:prstGeom>
          <a:solidFill>
            <a:srgbClr val="FFFFFF"/>
          </a:solidFill>
          <a:ln w="13970">
            <a:solidFill>
              <a:srgbClr val="D7DEE7"/>
            </a:solidFill>
            <a:prstDash val="solid"/>
          </a:ln>
          <a:effectLst>
            <a:outerShdw blurRad="12700" dist="50800" dir="2700000" algn="bl" rotWithShape="0">
              <a:srgbClr val="C8D0D9">
                <a:alpha val="13000"/>
              </a:srgbClr>
            </a:outerShdw>
          </a:effectLst>
        </p:spPr>
      </p:sp>
      <p:sp>
        <p:nvSpPr>
          <p:cNvPr id="39" name="Text 37"/>
          <p:cNvSpPr/>
          <p:nvPr/>
        </p:nvSpPr>
        <p:spPr>
          <a:xfrm>
            <a:off x="8961120" y="2418496"/>
            <a:ext cx="2423160" cy="292608"/>
          </a:xfrm>
          <a:prstGeom prst="rect">
            <a:avLst/>
          </a:prstGeom>
          <a:noFill/>
          <a:ln/>
        </p:spPr>
        <p:txBody>
          <a:bodyPr wrap="square" lIns="0" tIns="0" rIns="0" bIns="0" rtlCol="0" anchor="ctr"/>
          <a:lstStyle/>
          <a:p>
            <a:pPr marL="0" indent="0">
              <a:buNone/>
            </a:pPr>
            <a:r>
              <a:rPr lang="en-US" sz="1500" b="1" dirty="0">
                <a:solidFill>
                  <a:srgbClr val="18324A"/>
                </a:solidFill>
              </a:rPr>
              <a:t>3  Safe Excel import workflow</a:t>
            </a:r>
            <a:endParaRPr lang="en-US" sz="1500" dirty="0"/>
          </a:p>
        </p:txBody>
      </p:sp>
      <p:sp>
        <p:nvSpPr>
          <p:cNvPr id="40" name="Shape 38"/>
          <p:cNvSpPr/>
          <p:nvPr/>
        </p:nvSpPr>
        <p:spPr>
          <a:xfrm>
            <a:off x="8961120" y="2884840"/>
            <a:ext cx="384048" cy="384048"/>
          </a:xfrm>
          <a:prstGeom prst="roundRect">
            <a:avLst/>
          </a:prstGeom>
          <a:solidFill>
            <a:srgbClr val="0F7B5B"/>
          </a:solidFill>
          <a:ln w="10160">
            <a:solidFill>
              <a:srgbClr val="0F7B5B"/>
            </a:solidFill>
            <a:prstDash val="solid"/>
          </a:ln>
        </p:spPr>
      </p:sp>
      <p:sp>
        <p:nvSpPr>
          <p:cNvPr id="41" name="Text 39"/>
          <p:cNvSpPr/>
          <p:nvPr/>
        </p:nvSpPr>
        <p:spPr>
          <a:xfrm>
            <a:off x="9061704" y="2957992"/>
            <a:ext cx="182880" cy="16459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42" name="Text 40"/>
          <p:cNvSpPr/>
          <p:nvPr/>
        </p:nvSpPr>
        <p:spPr>
          <a:xfrm>
            <a:off x="9454896" y="2875696"/>
            <a:ext cx="1901952" cy="201168"/>
          </a:xfrm>
          <a:prstGeom prst="rect">
            <a:avLst/>
          </a:prstGeom>
          <a:noFill/>
          <a:ln/>
        </p:spPr>
        <p:txBody>
          <a:bodyPr wrap="square" lIns="0" tIns="0" rIns="0" bIns="0" rtlCol="0" anchor="ctr"/>
          <a:lstStyle/>
          <a:p>
            <a:pPr marL="0" indent="0">
              <a:buNone/>
            </a:pPr>
            <a:r>
              <a:rPr lang="en-US" sz="1020" b="1" dirty="0">
                <a:solidFill>
                  <a:srgbClr val="263B4F"/>
                </a:solidFill>
              </a:rPr>
              <a:t>Data → From Text/CSV</a:t>
            </a:r>
            <a:endParaRPr lang="en-US" sz="1020" dirty="0"/>
          </a:p>
        </p:txBody>
      </p:sp>
      <p:sp>
        <p:nvSpPr>
          <p:cNvPr id="43" name="Text 41"/>
          <p:cNvSpPr/>
          <p:nvPr/>
        </p:nvSpPr>
        <p:spPr>
          <a:xfrm>
            <a:off x="9454896" y="3104296"/>
            <a:ext cx="1901952" cy="384048"/>
          </a:xfrm>
          <a:prstGeom prst="rect">
            <a:avLst/>
          </a:prstGeom>
          <a:noFill/>
          <a:ln/>
        </p:spPr>
        <p:txBody>
          <a:bodyPr wrap="square" lIns="0" tIns="0" rIns="0" bIns="0" rtlCol="0" anchor="ctr"/>
          <a:lstStyle/>
          <a:p>
            <a:pPr marL="0" indent="0">
              <a:buNone/>
            </a:pPr>
            <a:r>
              <a:rPr lang="en-US" sz="870" dirty="0">
                <a:solidFill>
                  <a:srgbClr val="667381"/>
                </a:solidFill>
              </a:rPr>
              <a:t>Do not rely on double-click when locale is uncertain.</a:t>
            </a:r>
            <a:endParaRPr lang="en-US" sz="870" dirty="0"/>
          </a:p>
        </p:txBody>
      </p:sp>
      <p:sp>
        <p:nvSpPr>
          <p:cNvPr id="44" name="Shape 42"/>
          <p:cNvSpPr/>
          <p:nvPr/>
        </p:nvSpPr>
        <p:spPr>
          <a:xfrm>
            <a:off x="8961120" y="3506632"/>
            <a:ext cx="384048" cy="384048"/>
          </a:xfrm>
          <a:prstGeom prst="roundRect">
            <a:avLst/>
          </a:prstGeom>
          <a:solidFill>
            <a:srgbClr val="E8F1FB"/>
          </a:solidFill>
          <a:ln w="10160">
            <a:solidFill>
              <a:srgbClr val="BFD2E8"/>
            </a:solidFill>
            <a:prstDash val="solid"/>
          </a:ln>
        </p:spPr>
      </p:sp>
      <p:sp>
        <p:nvSpPr>
          <p:cNvPr id="45" name="Text 43"/>
          <p:cNvSpPr/>
          <p:nvPr/>
        </p:nvSpPr>
        <p:spPr>
          <a:xfrm>
            <a:off x="9061704" y="3579784"/>
            <a:ext cx="182880" cy="164592"/>
          </a:xfrm>
          <a:prstGeom prst="rect">
            <a:avLst/>
          </a:prstGeom>
          <a:noFill/>
          <a:ln/>
        </p:spPr>
        <p:txBody>
          <a:bodyPr wrap="square" lIns="0" tIns="0" rIns="0" bIns="0" rtlCol="0" anchor="ctr"/>
          <a:lstStyle/>
          <a:p>
            <a:pPr marL="0" indent="0" algn="ctr">
              <a:buNone/>
            </a:pPr>
            <a:r>
              <a:rPr lang="en-US" sz="1000" b="1" dirty="0">
                <a:solidFill>
                  <a:srgbClr val="24547A"/>
                </a:solidFill>
              </a:rPr>
              <a:t>2</a:t>
            </a:r>
            <a:endParaRPr lang="en-US" sz="1000" dirty="0"/>
          </a:p>
        </p:txBody>
      </p:sp>
      <p:sp>
        <p:nvSpPr>
          <p:cNvPr id="46" name="Text 44"/>
          <p:cNvSpPr/>
          <p:nvPr/>
        </p:nvSpPr>
        <p:spPr>
          <a:xfrm>
            <a:off x="9454896" y="3497488"/>
            <a:ext cx="1901952" cy="201168"/>
          </a:xfrm>
          <a:prstGeom prst="rect">
            <a:avLst/>
          </a:prstGeom>
          <a:noFill/>
          <a:ln/>
        </p:spPr>
        <p:txBody>
          <a:bodyPr wrap="square" lIns="0" tIns="0" rIns="0" bIns="0" rtlCol="0" anchor="ctr"/>
          <a:lstStyle/>
          <a:p>
            <a:pPr marL="0" indent="0">
              <a:buNone/>
            </a:pPr>
            <a:r>
              <a:rPr lang="en-US" sz="1020" b="1" dirty="0">
                <a:solidFill>
                  <a:srgbClr val="263B4F"/>
                </a:solidFill>
              </a:rPr>
              <a:t>Set delimiter explicitly</a:t>
            </a:r>
            <a:endParaRPr lang="en-US" sz="1020" dirty="0"/>
          </a:p>
        </p:txBody>
      </p:sp>
      <p:sp>
        <p:nvSpPr>
          <p:cNvPr id="47" name="Text 45"/>
          <p:cNvSpPr/>
          <p:nvPr/>
        </p:nvSpPr>
        <p:spPr>
          <a:xfrm>
            <a:off x="9454896" y="3726088"/>
            <a:ext cx="1901952" cy="384048"/>
          </a:xfrm>
          <a:prstGeom prst="rect">
            <a:avLst/>
          </a:prstGeom>
          <a:noFill/>
          <a:ln/>
        </p:spPr>
        <p:txBody>
          <a:bodyPr wrap="square" lIns="0" tIns="0" rIns="0" bIns="0" rtlCol="0" anchor="ctr"/>
          <a:lstStyle/>
          <a:p>
            <a:pPr marL="0" indent="0">
              <a:buNone/>
            </a:pPr>
            <a:r>
              <a:rPr lang="en-US" sz="870" dirty="0">
                <a:solidFill>
                  <a:srgbClr val="667381"/>
                </a:solidFill>
              </a:rPr>
              <a:t>Choose comma, semicolon, tab, etc.</a:t>
            </a:r>
            <a:endParaRPr lang="en-US" sz="870" dirty="0"/>
          </a:p>
        </p:txBody>
      </p:sp>
      <p:sp>
        <p:nvSpPr>
          <p:cNvPr id="48" name="Shape 46"/>
          <p:cNvSpPr/>
          <p:nvPr/>
        </p:nvSpPr>
        <p:spPr>
          <a:xfrm>
            <a:off x="8961120" y="4128424"/>
            <a:ext cx="384048" cy="384048"/>
          </a:xfrm>
          <a:prstGeom prst="roundRect">
            <a:avLst/>
          </a:prstGeom>
          <a:solidFill>
            <a:srgbClr val="E8F1FB"/>
          </a:solidFill>
          <a:ln w="10160">
            <a:solidFill>
              <a:srgbClr val="BFD2E8"/>
            </a:solidFill>
            <a:prstDash val="solid"/>
          </a:ln>
        </p:spPr>
      </p:sp>
      <p:sp>
        <p:nvSpPr>
          <p:cNvPr id="49" name="Text 47"/>
          <p:cNvSpPr/>
          <p:nvPr/>
        </p:nvSpPr>
        <p:spPr>
          <a:xfrm>
            <a:off x="9061704" y="4201576"/>
            <a:ext cx="182880" cy="164592"/>
          </a:xfrm>
          <a:prstGeom prst="rect">
            <a:avLst/>
          </a:prstGeom>
          <a:noFill/>
          <a:ln/>
        </p:spPr>
        <p:txBody>
          <a:bodyPr wrap="square" lIns="0" tIns="0" rIns="0" bIns="0" rtlCol="0" anchor="ctr"/>
          <a:lstStyle/>
          <a:p>
            <a:pPr marL="0" indent="0" algn="ctr">
              <a:buNone/>
            </a:pPr>
            <a:r>
              <a:rPr lang="en-US" sz="1000" b="1" dirty="0">
                <a:solidFill>
                  <a:srgbClr val="24547A"/>
                </a:solidFill>
              </a:rPr>
              <a:t>3</a:t>
            </a:r>
            <a:endParaRPr lang="en-US" sz="1000" dirty="0"/>
          </a:p>
        </p:txBody>
      </p:sp>
      <p:sp>
        <p:nvSpPr>
          <p:cNvPr id="50" name="Text 48"/>
          <p:cNvSpPr/>
          <p:nvPr/>
        </p:nvSpPr>
        <p:spPr>
          <a:xfrm>
            <a:off x="9454896" y="4119280"/>
            <a:ext cx="1901952" cy="201168"/>
          </a:xfrm>
          <a:prstGeom prst="rect">
            <a:avLst/>
          </a:prstGeom>
          <a:noFill/>
          <a:ln/>
        </p:spPr>
        <p:txBody>
          <a:bodyPr wrap="square" lIns="0" tIns="0" rIns="0" bIns="0" rtlCol="0" anchor="ctr"/>
          <a:lstStyle/>
          <a:p>
            <a:pPr marL="0" indent="0">
              <a:buNone/>
            </a:pPr>
            <a:r>
              <a:rPr lang="en-US" sz="1020" b="1" dirty="0">
                <a:solidFill>
                  <a:srgbClr val="263B4F"/>
                </a:solidFill>
              </a:rPr>
              <a:t>Check File Origin / UTF-8</a:t>
            </a:r>
            <a:endParaRPr lang="en-US" sz="1020" dirty="0"/>
          </a:p>
        </p:txBody>
      </p:sp>
      <p:sp>
        <p:nvSpPr>
          <p:cNvPr id="51" name="Text 49"/>
          <p:cNvSpPr/>
          <p:nvPr/>
        </p:nvSpPr>
        <p:spPr>
          <a:xfrm>
            <a:off x="9454896" y="4347880"/>
            <a:ext cx="1901952" cy="384048"/>
          </a:xfrm>
          <a:prstGeom prst="rect">
            <a:avLst/>
          </a:prstGeom>
          <a:noFill/>
          <a:ln/>
        </p:spPr>
        <p:txBody>
          <a:bodyPr wrap="square" lIns="0" tIns="0" rIns="0" bIns="0" rtlCol="0" anchor="ctr"/>
          <a:lstStyle/>
          <a:p>
            <a:pPr marL="0" indent="0">
              <a:buNone/>
            </a:pPr>
            <a:r>
              <a:rPr lang="en-US" sz="870" dirty="0">
                <a:solidFill>
                  <a:srgbClr val="667381"/>
                </a:solidFill>
              </a:rPr>
              <a:t>Preserve accented characters and symbols.</a:t>
            </a:r>
            <a:endParaRPr lang="en-US" sz="870" dirty="0"/>
          </a:p>
        </p:txBody>
      </p:sp>
      <p:sp>
        <p:nvSpPr>
          <p:cNvPr id="52" name="Shape 50"/>
          <p:cNvSpPr/>
          <p:nvPr/>
        </p:nvSpPr>
        <p:spPr>
          <a:xfrm>
            <a:off x="8961120" y="4750216"/>
            <a:ext cx="384048" cy="384048"/>
          </a:xfrm>
          <a:prstGeom prst="roundRect">
            <a:avLst/>
          </a:prstGeom>
          <a:solidFill>
            <a:srgbClr val="E8F1FB"/>
          </a:solidFill>
          <a:ln w="10160">
            <a:solidFill>
              <a:srgbClr val="BFD2E8"/>
            </a:solidFill>
            <a:prstDash val="solid"/>
          </a:ln>
        </p:spPr>
      </p:sp>
      <p:sp>
        <p:nvSpPr>
          <p:cNvPr id="53" name="Text 51"/>
          <p:cNvSpPr/>
          <p:nvPr/>
        </p:nvSpPr>
        <p:spPr>
          <a:xfrm>
            <a:off x="9061704" y="4823368"/>
            <a:ext cx="182880" cy="164592"/>
          </a:xfrm>
          <a:prstGeom prst="rect">
            <a:avLst/>
          </a:prstGeom>
          <a:noFill/>
          <a:ln/>
        </p:spPr>
        <p:txBody>
          <a:bodyPr wrap="square" lIns="0" tIns="0" rIns="0" bIns="0" rtlCol="0" anchor="ctr"/>
          <a:lstStyle/>
          <a:p>
            <a:pPr marL="0" indent="0" algn="ctr">
              <a:buNone/>
            </a:pPr>
            <a:r>
              <a:rPr lang="en-US" sz="1000" b="1" dirty="0">
                <a:solidFill>
                  <a:srgbClr val="24547A"/>
                </a:solidFill>
              </a:rPr>
              <a:t>4</a:t>
            </a:r>
            <a:endParaRPr lang="en-US" sz="1000" dirty="0"/>
          </a:p>
        </p:txBody>
      </p:sp>
      <p:sp>
        <p:nvSpPr>
          <p:cNvPr id="54" name="Text 52"/>
          <p:cNvSpPr/>
          <p:nvPr/>
        </p:nvSpPr>
        <p:spPr>
          <a:xfrm>
            <a:off x="9454896" y="4741072"/>
            <a:ext cx="1901952" cy="201168"/>
          </a:xfrm>
          <a:prstGeom prst="rect">
            <a:avLst/>
          </a:prstGeom>
          <a:noFill/>
          <a:ln/>
        </p:spPr>
        <p:txBody>
          <a:bodyPr wrap="square" lIns="0" tIns="0" rIns="0" bIns="0" rtlCol="0" anchor="ctr"/>
          <a:lstStyle/>
          <a:p>
            <a:pPr marL="0" indent="0">
              <a:buNone/>
            </a:pPr>
            <a:r>
              <a:rPr lang="en-US" sz="1020" b="1" dirty="0">
                <a:solidFill>
                  <a:srgbClr val="263B4F"/>
                </a:solidFill>
              </a:rPr>
              <a:t>Set locale for numbers &amp; dates</a:t>
            </a:r>
            <a:endParaRPr lang="en-US" sz="1020" dirty="0"/>
          </a:p>
        </p:txBody>
      </p:sp>
      <p:sp>
        <p:nvSpPr>
          <p:cNvPr id="55" name="Text 53"/>
          <p:cNvSpPr/>
          <p:nvPr/>
        </p:nvSpPr>
        <p:spPr>
          <a:xfrm>
            <a:off x="9454896" y="4969672"/>
            <a:ext cx="1901952" cy="384048"/>
          </a:xfrm>
          <a:prstGeom prst="rect">
            <a:avLst/>
          </a:prstGeom>
          <a:noFill/>
          <a:ln/>
        </p:spPr>
        <p:txBody>
          <a:bodyPr wrap="square" lIns="0" tIns="0" rIns="0" bIns="0" rtlCol="0" anchor="ctr"/>
          <a:lstStyle/>
          <a:p>
            <a:pPr marL="0" indent="0">
              <a:buNone/>
            </a:pPr>
            <a:r>
              <a:rPr lang="en-US" sz="870" dirty="0">
                <a:solidFill>
                  <a:srgbClr val="667381"/>
                </a:solidFill>
              </a:rPr>
              <a:t>Especially decimal comma/dot and date order.</a:t>
            </a:r>
            <a:endParaRPr lang="en-US" sz="870" dirty="0"/>
          </a:p>
        </p:txBody>
      </p:sp>
      <p:sp>
        <p:nvSpPr>
          <p:cNvPr id="56" name="Shape 54"/>
          <p:cNvSpPr/>
          <p:nvPr/>
        </p:nvSpPr>
        <p:spPr>
          <a:xfrm>
            <a:off x="8961120" y="5372008"/>
            <a:ext cx="384048" cy="384048"/>
          </a:xfrm>
          <a:prstGeom prst="roundRect">
            <a:avLst/>
          </a:prstGeom>
          <a:solidFill>
            <a:srgbClr val="E8F1FB"/>
          </a:solidFill>
          <a:ln w="10160">
            <a:solidFill>
              <a:srgbClr val="BFD2E8"/>
            </a:solidFill>
            <a:prstDash val="solid"/>
          </a:ln>
        </p:spPr>
      </p:sp>
      <p:sp>
        <p:nvSpPr>
          <p:cNvPr id="57" name="Text 55"/>
          <p:cNvSpPr/>
          <p:nvPr/>
        </p:nvSpPr>
        <p:spPr>
          <a:xfrm>
            <a:off x="9061704" y="5445160"/>
            <a:ext cx="182880" cy="164592"/>
          </a:xfrm>
          <a:prstGeom prst="rect">
            <a:avLst/>
          </a:prstGeom>
          <a:noFill/>
          <a:ln/>
        </p:spPr>
        <p:txBody>
          <a:bodyPr wrap="square" lIns="0" tIns="0" rIns="0" bIns="0" rtlCol="0" anchor="ctr"/>
          <a:lstStyle/>
          <a:p>
            <a:pPr marL="0" indent="0" algn="ctr">
              <a:buNone/>
            </a:pPr>
            <a:r>
              <a:rPr lang="en-US" sz="1000" b="1" dirty="0">
                <a:solidFill>
                  <a:srgbClr val="24547A"/>
                </a:solidFill>
              </a:rPr>
              <a:t>5</a:t>
            </a:r>
            <a:endParaRPr lang="en-US" sz="1000" dirty="0"/>
          </a:p>
        </p:txBody>
      </p:sp>
      <p:sp>
        <p:nvSpPr>
          <p:cNvPr id="58" name="Text 56"/>
          <p:cNvSpPr/>
          <p:nvPr/>
        </p:nvSpPr>
        <p:spPr>
          <a:xfrm>
            <a:off x="9454896" y="5362864"/>
            <a:ext cx="1901952" cy="201168"/>
          </a:xfrm>
          <a:prstGeom prst="rect">
            <a:avLst/>
          </a:prstGeom>
          <a:noFill/>
          <a:ln/>
        </p:spPr>
        <p:txBody>
          <a:bodyPr wrap="square" lIns="0" tIns="0" rIns="0" bIns="0" rtlCol="0" anchor="ctr"/>
          <a:lstStyle/>
          <a:p>
            <a:pPr marL="0" indent="0">
              <a:buNone/>
            </a:pPr>
            <a:r>
              <a:rPr lang="en-US" sz="1020" b="1" dirty="0">
                <a:solidFill>
                  <a:srgbClr val="263B4F"/>
                </a:solidFill>
              </a:rPr>
              <a:t>Validate before analysis</a:t>
            </a:r>
            <a:endParaRPr lang="en-US" sz="1020" dirty="0"/>
          </a:p>
        </p:txBody>
      </p:sp>
      <p:sp>
        <p:nvSpPr>
          <p:cNvPr id="59" name="Text 57"/>
          <p:cNvSpPr/>
          <p:nvPr/>
        </p:nvSpPr>
        <p:spPr>
          <a:xfrm>
            <a:off x="9454896" y="5591464"/>
            <a:ext cx="1901952" cy="384048"/>
          </a:xfrm>
          <a:prstGeom prst="rect">
            <a:avLst/>
          </a:prstGeom>
          <a:noFill/>
          <a:ln/>
        </p:spPr>
        <p:txBody>
          <a:bodyPr wrap="square" lIns="0" tIns="0" rIns="0" bIns="0" rtlCol="0" anchor="ctr"/>
          <a:lstStyle/>
          <a:p>
            <a:pPr marL="0" indent="0">
              <a:buNone/>
            </a:pPr>
            <a:r>
              <a:rPr lang="en-US" sz="870" dirty="0">
                <a:solidFill>
                  <a:srgbClr val="667381"/>
                </a:solidFill>
              </a:rPr>
              <a:t>Check column count, data types, totals and sample rows.</a:t>
            </a:r>
            <a:endParaRPr lang="en-US" sz="870" dirty="0"/>
          </a:p>
        </p:txBody>
      </p:sp>
      <p:sp>
        <p:nvSpPr>
          <p:cNvPr id="60" name="Shape 58"/>
          <p:cNvSpPr/>
          <p:nvPr/>
        </p:nvSpPr>
        <p:spPr>
          <a:xfrm>
            <a:off x="8961120" y="6066952"/>
            <a:ext cx="2395728" cy="256032"/>
          </a:xfrm>
          <a:prstGeom prst="roundRect">
            <a:avLst/>
          </a:prstGeom>
          <a:solidFill>
            <a:srgbClr val="FFF8E8"/>
          </a:solidFill>
          <a:ln w="10160">
            <a:solidFill>
              <a:srgbClr val="F0D497"/>
            </a:solidFill>
            <a:prstDash val="solid"/>
          </a:ln>
        </p:spPr>
      </p:sp>
      <p:sp>
        <p:nvSpPr>
          <p:cNvPr id="61" name="Text 59"/>
          <p:cNvSpPr/>
          <p:nvPr/>
        </p:nvSpPr>
        <p:spPr>
          <a:xfrm>
            <a:off x="9098280" y="6121816"/>
            <a:ext cx="2103120" cy="118872"/>
          </a:xfrm>
          <a:prstGeom prst="rect">
            <a:avLst/>
          </a:prstGeom>
          <a:noFill/>
          <a:ln/>
        </p:spPr>
        <p:txBody>
          <a:bodyPr wrap="square" lIns="0" tIns="0" rIns="0" bIns="0" rtlCol="0" anchor="ctr"/>
          <a:lstStyle/>
          <a:p>
            <a:pPr marL="0" indent="0" algn="ctr">
              <a:buNone/>
            </a:pPr>
            <a:r>
              <a:rPr lang="en-US" sz="810" b="1" dirty="0">
                <a:solidFill>
                  <a:srgbClr val="7A5A10"/>
                </a:solidFill>
              </a:rPr>
              <a:t>For shared workflows: document the delimiter, encoding and locale.</a:t>
            </a:r>
            <a:endParaRPr lang="en-US" sz="810" dirty="0"/>
          </a:p>
        </p:txBody>
      </p:sp>
      <p:sp>
        <p:nvSpPr>
          <p:cNvPr id="64" name="Text 0">
            <a:extLst>
              <a:ext uri="{FF2B5EF4-FFF2-40B4-BE49-F238E27FC236}">
                <a16:creationId xmlns:a16="http://schemas.microsoft.com/office/drawing/2014/main" id="{EB76ABEC-F9C8-C217-1424-0B5A92341AC7}"/>
              </a:ext>
            </a:extLst>
          </p:cNvPr>
          <p:cNvSpPr/>
          <p:nvPr/>
        </p:nvSpPr>
        <p:spPr>
          <a:xfrm>
            <a:off x="519415" y="116183"/>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65" name="Slide Number Placeholder 0">
            <a:extLst>
              <a:ext uri="{FF2B5EF4-FFF2-40B4-BE49-F238E27FC236}">
                <a16:creationId xmlns:a16="http://schemas.microsoft.com/office/drawing/2014/main" id="{966DE99D-C867-AF43-50E8-5028DE2F11AC}"/>
              </a:ext>
            </a:extLst>
          </p:cNvPr>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42</a:t>
            </a:fld>
            <a:endParaRPr lang="en-US" dirty="0"/>
          </a:p>
        </p:txBody>
      </p:sp>
      <p:pic>
        <p:nvPicPr>
          <p:cNvPr id="67" name="Immagine 66">
            <a:extLst>
              <a:ext uri="{FF2B5EF4-FFF2-40B4-BE49-F238E27FC236}">
                <a16:creationId xmlns:a16="http://schemas.microsoft.com/office/drawing/2014/main" id="{DA4B10B2-C88B-7764-FD80-76FF7A76C969}"/>
              </a:ext>
            </a:extLst>
          </p:cNvPr>
          <p:cNvPicPr>
            <a:picLocks noChangeAspect="1"/>
          </p:cNvPicPr>
          <p:nvPr/>
        </p:nvPicPr>
        <p:blipFill>
          <a:blip r:embed="rId3"/>
          <a:stretch>
            <a:fillRect/>
          </a:stretch>
        </p:blipFill>
        <p:spPr>
          <a:xfrm>
            <a:off x="10954871" y="-51303"/>
            <a:ext cx="1237129" cy="70061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8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49130" y="443223"/>
            <a:ext cx="8503920" cy="457200"/>
          </a:xfrm>
          <a:prstGeom prst="rect">
            <a:avLst/>
          </a:prstGeom>
          <a:noFill/>
          <a:ln>
            <a:noFill/>
          </a:ln>
        </p:spPr>
        <p:txBody>
          <a:bodyPr wrap="square" lIns="73152" tIns="73152" rIns="73152" bIns="73152" anchor="t">
            <a:spAutoFit/>
          </a:bodyPr>
          <a:lstStyle/>
          <a:p>
            <a:pPr algn="l"/>
            <a:r>
              <a:rPr sz="2200" b="1">
                <a:solidFill>
                  <a:srgbClr val="18344D"/>
                </a:solidFill>
                <a:latin typeface="Aptos"/>
              </a:rPr>
              <a:t>CSV import in Excel: data type inference</a:t>
            </a:r>
          </a:p>
        </p:txBody>
      </p:sp>
      <p:sp>
        <p:nvSpPr>
          <p:cNvPr id="4" name="TextBox 3"/>
          <p:cNvSpPr txBox="1"/>
          <p:nvPr/>
        </p:nvSpPr>
        <p:spPr>
          <a:xfrm>
            <a:off x="449130" y="808983"/>
            <a:ext cx="6217920" cy="256032"/>
          </a:xfrm>
          <a:prstGeom prst="rect">
            <a:avLst/>
          </a:prstGeom>
          <a:noFill/>
          <a:ln>
            <a:noFill/>
          </a:ln>
        </p:spPr>
        <p:txBody>
          <a:bodyPr wrap="square" lIns="73152" tIns="73152" rIns="73152" bIns="73152" anchor="t">
            <a:spAutoFit/>
          </a:bodyPr>
          <a:lstStyle/>
          <a:p>
            <a:pPr algn="l"/>
            <a:r>
              <a:rPr sz="1050" b="0">
                <a:solidFill>
                  <a:srgbClr val="5F6368"/>
                </a:solidFill>
                <a:latin typeface="Aptos"/>
              </a:rPr>
              <a:t>Why the same CSV file can be interpreted differently across tools, locales and workflows</a:t>
            </a:r>
          </a:p>
        </p:txBody>
      </p:sp>
      <p:sp>
        <p:nvSpPr>
          <p:cNvPr id="5" name="Rounded Rectangle 4"/>
          <p:cNvSpPr/>
          <p:nvPr/>
        </p:nvSpPr>
        <p:spPr>
          <a:xfrm>
            <a:off x="449130" y="1110735"/>
            <a:ext cx="1143000" cy="228600"/>
          </a:xfrm>
          <a:prstGeom prst="roundRect">
            <a:avLst/>
          </a:prstGeom>
          <a:solidFill>
            <a:srgbClr val="41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WHAT EXCEL DOES</a:t>
            </a:r>
          </a:p>
        </p:txBody>
      </p:sp>
      <p:sp>
        <p:nvSpPr>
          <p:cNvPr id="6" name="Rounded Rectangle 5"/>
          <p:cNvSpPr/>
          <p:nvPr/>
        </p:nvSpPr>
        <p:spPr>
          <a:xfrm>
            <a:off x="449130" y="1430775"/>
            <a:ext cx="1920240" cy="658368"/>
          </a:xfrm>
          <a:prstGeom prst="roundRect">
            <a:avLst/>
          </a:prstGeom>
          <a:solidFill>
            <a:srgbClr val="E9F1FB"/>
          </a:solidFill>
          <a:ln>
            <a:solidFill>
              <a:srgbClr val="417FD6"/>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323232"/>
                </a:solidFill>
                <a:latin typeface="Aptos"/>
              </a:rPr>
              <a:t>CSV file
(raw text values)</a:t>
            </a:r>
          </a:p>
        </p:txBody>
      </p:sp>
      <p:sp>
        <p:nvSpPr>
          <p:cNvPr id="7" name="Rounded Rectangle 6"/>
          <p:cNvSpPr/>
          <p:nvPr/>
        </p:nvSpPr>
        <p:spPr>
          <a:xfrm>
            <a:off x="2643690" y="1430775"/>
            <a:ext cx="1920240" cy="658368"/>
          </a:xfrm>
          <a:prstGeom prst="roundRect">
            <a:avLst/>
          </a:prstGeom>
          <a:solidFill>
            <a:srgbClr val="E9F7EF"/>
          </a:solidFill>
          <a:ln>
            <a:solidFill>
              <a:srgbClr val="62B47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323232"/>
                </a:solidFill>
                <a:latin typeface="Aptos"/>
              </a:rPr>
              <a:t>Excel import engine
scans sample values</a:t>
            </a:r>
          </a:p>
        </p:txBody>
      </p:sp>
      <p:sp>
        <p:nvSpPr>
          <p:cNvPr id="8" name="Rounded Rectangle 7"/>
          <p:cNvSpPr/>
          <p:nvPr/>
        </p:nvSpPr>
        <p:spPr>
          <a:xfrm>
            <a:off x="4838250" y="1430775"/>
            <a:ext cx="1920240" cy="658368"/>
          </a:xfrm>
          <a:prstGeom prst="roundRect">
            <a:avLst/>
          </a:prstGeom>
          <a:solidFill>
            <a:srgbClr val="FCF3E2"/>
          </a:solidFill>
          <a:ln>
            <a:solidFill>
              <a:srgbClr val="EEA036"/>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323232"/>
                </a:solidFill>
                <a:latin typeface="Aptos"/>
              </a:rPr>
              <a:t>Excel infers
column data types</a:t>
            </a:r>
          </a:p>
        </p:txBody>
      </p:sp>
      <p:sp>
        <p:nvSpPr>
          <p:cNvPr id="9" name="Rounded Rectangle 8"/>
          <p:cNvSpPr/>
          <p:nvPr/>
        </p:nvSpPr>
        <p:spPr>
          <a:xfrm>
            <a:off x="7032810" y="1430775"/>
            <a:ext cx="1920240" cy="658368"/>
          </a:xfrm>
          <a:prstGeom prst="roundRect">
            <a:avLst/>
          </a:prstGeom>
          <a:solidFill>
            <a:srgbClr val="F1ECFA"/>
          </a:solidFill>
          <a:ln>
            <a:solidFill>
              <a:srgbClr val="8169B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323232"/>
                </a:solidFill>
                <a:latin typeface="Aptos"/>
              </a:rPr>
              <a:t>Worksheet result
(numbers, dates, text)</a:t>
            </a:r>
          </a:p>
        </p:txBody>
      </p:sp>
      <p:cxnSp>
        <p:nvCxnSpPr>
          <p:cNvPr id="10" name="Connector 9"/>
          <p:cNvCxnSpPr/>
          <p:nvPr/>
        </p:nvCxnSpPr>
        <p:spPr>
          <a:xfrm>
            <a:off x="2369370" y="1759959"/>
            <a:ext cx="274320" cy="0"/>
          </a:xfrm>
          <a:prstGeom prst="line">
            <a:avLst/>
          </a:prstGeom>
          <a:ln w="25400">
            <a:solidFill>
              <a:srgbClr val="417FD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63930" y="1759959"/>
            <a:ext cx="274320" cy="0"/>
          </a:xfrm>
          <a:prstGeom prst="line">
            <a:avLst/>
          </a:prstGeom>
          <a:ln w="25400">
            <a:solidFill>
              <a:srgbClr val="62B47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758490" y="1759959"/>
            <a:ext cx="274320" cy="0"/>
          </a:xfrm>
          <a:prstGeom prst="line">
            <a:avLst/>
          </a:prstGeom>
          <a:ln w="25400">
            <a:solidFill>
              <a:srgbClr val="EEA03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9130" y="2326886"/>
            <a:ext cx="5577840" cy="3246120"/>
          </a:xfrm>
          <a:prstGeom prst="roundRect">
            <a:avLst/>
          </a:prstGeom>
          <a:solidFill>
            <a:srgbClr val="F7F9FB"/>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4578" y="2454903"/>
            <a:ext cx="2743200" cy="274320"/>
          </a:xfrm>
          <a:prstGeom prst="rect">
            <a:avLst/>
          </a:prstGeom>
          <a:noFill/>
          <a:ln>
            <a:noFill/>
          </a:ln>
        </p:spPr>
        <p:txBody>
          <a:bodyPr wrap="square" lIns="73152" tIns="73152" rIns="73152" bIns="73152" anchor="t">
            <a:spAutoFit/>
          </a:bodyPr>
          <a:lstStyle/>
          <a:p>
            <a:pPr algn="l"/>
            <a:r>
              <a:rPr sz="1600" b="1">
                <a:solidFill>
                  <a:srgbClr val="18344D"/>
                </a:solidFill>
                <a:latin typeface="Aptos"/>
              </a:rPr>
              <a:t>Typical inference examples</a:t>
            </a:r>
          </a:p>
        </p:txBody>
      </p:sp>
      <p:sp>
        <p:nvSpPr>
          <p:cNvPr id="15" name="Rounded Rectangle 14"/>
          <p:cNvSpPr/>
          <p:nvPr/>
        </p:nvSpPr>
        <p:spPr>
          <a:xfrm>
            <a:off x="659442" y="2820663"/>
            <a:ext cx="1737360" cy="301752"/>
          </a:xfrm>
          <a:prstGeom prst="roundRect">
            <a:avLst/>
          </a:prstGeom>
          <a:solidFill>
            <a:srgbClr val="417FD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FFFFFF"/>
                </a:solidFill>
                <a:latin typeface="Aptos"/>
              </a:rPr>
              <a:t>CSV values</a:t>
            </a:r>
          </a:p>
        </p:txBody>
      </p:sp>
      <p:sp>
        <p:nvSpPr>
          <p:cNvPr id="16" name="Rounded Rectangle 15"/>
          <p:cNvSpPr/>
          <p:nvPr/>
        </p:nvSpPr>
        <p:spPr>
          <a:xfrm>
            <a:off x="2643690" y="2820663"/>
            <a:ext cx="1325880" cy="301752"/>
          </a:xfrm>
          <a:prstGeom prst="roundRect">
            <a:avLst/>
          </a:prstGeom>
          <a:solidFill>
            <a:srgbClr val="39A897"/>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FFFFFF"/>
                </a:solidFill>
                <a:latin typeface="Aptos"/>
              </a:rPr>
              <a:t>Inferred as</a:t>
            </a:r>
          </a:p>
        </p:txBody>
      </p:sp>
      <p:sp>
        <p:nvSpPr>
          <p:cNvPr id="17" name="Rounded Rectangle 16"/>
          <p:cNvSpPr/>
          <p:nvPr/>
        </p:nvSpPr>
        <p:spPr>
          <a:xfrm>
            <a:off x="4289610" y="2820663"/>
            <a:ext cx="1417320" cy="301752"/>
          </a:xfrm>
          <a:prstGeom prst="roundRect">
            <a:avLst/>
          </a:prstGeom>
          <a:solidFill>
            <a:srgbClr val="EEA03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FFFFFF"/>
                </a:solidFill>
                <a:latin typeface="Aptos"/>
              </a:rPr>
              <a:t>Possible issue</a:t>
            </a:r>
          </a:p>
        </p:txBody>
      </p:sp>
      <p:sp>
        <p:nvSpPr>
          <p:cNvPr id="18" name="TextBox 17"/>
          <p:cNvSpPr txBox="1"/>
          <p:nvPr/>
        </p:nvSpPr>
        <p:spPr>
          <a:xfrm>
            <a:off x="659442" y="3149847"/>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"00123"</a:t>
            </a:r>
          </a:p>
        </p:txBody>
      </p:sp>
      <p:sp>
        <p:nvSpPr>
          <p:cNvPr id="19" name="TextBox 18"/>
          <p:cNvSpPr txBox="1"/>
          <p:nvPr/>
        </p:nvSpPr>
        <p:spPr>
          <a:xfrm>
            <a:off x="2643690" y="3149847"/>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Number</a:t>
            </a:r>
          </a:p>
        </p:txBody>
      </p:sp>
      <p:sp>
        <p:nvSpPr>
          <p:cNvPr id="20" name="TextBox 19"/>
          <p:cNvSpPr txBox="1"/>
          <p:nvPr/>
        </p:nvSpPr>
        <p:spPr>
          <a:xfrm>
            <a:off x="4289610" y="3149847"/>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Leading zeros lost</a:t>
            </a:r>
          </a:p>
        </p:txBody>
      </p:sp>
      <p:sp>
        <p:nvSpPr>
          <p:cNvPr id="21" name="TextBox 20"/>
          <p:cNvSpPr txBox="1"/>
          <p:nvPr/>
        </p:nvSpPr>
        <p:spPr>
          <a:xfrm>
            <a:off x="659442" y="3533895"/>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"13/09/2026"</a:t>
            </a:r>
          </a:p>
        </p:txBody>
      </p:sp>
      <p:sp>
        <p:nvSpPr>
          <p:cNvPr id="22" name="TextBox 21"/>
          <p:cNvSpPr txBox="1"/>
          <p:nvPr/>
        </p:nvSpPr>
        <p:spPr>
          <a:xfrm>
            <a:off x="2643690" y="3533895"/>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Date</a:t>
            </a:r>
          </a:p>
        </p:txBody>
      </p:sp>
      <p:sp>
        <p:nvSpPr>
          <p:cNvPr id="23" name="TextBox 22"/>
          <p:cNvSpPr txBox="1"/>
          <p:nvPr/>
        </p:nvSpPr>
        <p:spPr>
          <a:xfrm>
            <a:off x="4289610" y="3533895"/>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Locale ambiguity</a:t>
            </a:r>
          </a:p>
        </p:txBody>
      </p:sp>
      <p:sp>
        <p:nvSpPr>
          <p:cNvPr id="24" name="TextBox 23"/>
          <p:cNvSpPr txBox="1"/>
          <p:nvPr/>
        </p:nvSpPr>
        <p:spPr>
          <a:xfrm>
            <a:off x="659442" y="3917943"/>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"1,234"</a:t>
            </a:r>
          </a:p>
        </p:txBody>
      </p:sp>
      <p:sp>
        <p:nvSpPr>
          <p:cNvPr id="25" name="TextBox 24"/>
          <p:cNvSpPr txBox="1"/>
          <p:nvPr/>
        </p:nvSpPr>
        <p:spPr>
          <a:xfrm>
            <a:off x="2643690" y="3917943"/>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Number/Text</a:t>
            </a:r>
          </a:p>
        </p:txBody>
      </p:sp>
      <p:sp>
        <p:nvSpPr>
          <p:cNvPr id="26" name="TextBox 25"/>
          <p:cNvSpPr txBox="1"/>
          <p:nvPr/>
        </p:nvSpPr>
        <p:spPr>
          <a:xfrm>
            <a:off x="4289610" y="3917943"/>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Decimal vs thousands</a:t>
            </a:r>
          </a:p>
        </p:txBody>
      </p:sp>
      <p:sp>
        <p:nvSpPr>
          <p:cNvPr id="27" name="TextBox 26"/>
          <p:cNvSpPr txBox="1"/>
          <p:nvPr/>
        </p:nvSpPr>
        <p:spPr>
          <a:xfrm>
            <a:off x="659442" y="4301991"/>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"TRUE"</a:t>
            </a:r>
          </a:p>
        </p:txBody>
      </p:sp>
      <p:sp>
        <p:nvSpPr>
          <p:cNvPr id="28" name="TextBox 27"/>
          <p:cNvSpPr txBox="1"/>
          <p:nvPr/>
        </p:nvSpPr>
        <p:spPr>
          <a:xfrm>
            <a:off x="2643690" y="4301991"/>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Logical/Text</a:t>
            </a:r>
          </a:p>
        </p:txBody>
      </p:sp>
      <p:sp>
        <p:nvSpPr>
          <p:cNvPr id="29" name="TextBox 28"/>
          <p:cNvSpPr txBox="1"/>
          <p:nvPr/>
        </p:nvSpPr>
        <p:spPr>
          <a:xfrm>
            <a:off x="4289610" y="4301991"/>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Depends on parser</a:t>
            </a:r>
          </a:p>
        </p:txBody>
      </p:sp>
      <p:sp>
        <p:nvSpPr>
          <p:cNvPr id="30" name="TextBox 29"/>
          <p:cNvSpPr txBox="1"/>
          <p:nvPr/>
        </p:nvSpPr>
        <p:spPr>
          <a:xfrm>
            <a:off x="659442" y="4686039"/>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"NA" / blank</a:t>
            </a:r>
          </a:p>
        </p:txBody>
      </p:sp>
      <p:sp>
        <p:nvSpPr>
          <p:cNvPr id="31" name="TextBox 30"/>
          <p:cNvSpPr txBox="1"/>
          <p:nvPr/>
        </p:nvSpPr>
        <p:spPr>
          <a:xfrm>
            <a:off x="2643690" y="4686039"/>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Missing/Text</a:t>
            </a:r>
          </a:p>
        </p:txBody>
      </p:sp>
      <p:sp>
        <p:nvSpPr>
          <p:cNvPr id="32" name="TextBox 31"/>
          <p:cNvSpPr txBox="1"/>
          <p:nvPr/>
        </p:nvSpPr>
        <p:spPr>
          <a:xfrm>
            <a:off x="4289610" y="4686039"/>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May not mean the same thing</a:t>
            </a:r>
          </a:p>
        </p:txBody>
      </p:sp>
      <p:sp>
        <p:nvSpPr>
          <p:cNvPr id="33" name="TextBox 32"/>
          <p:cNvSpPr txBox="1"/>
          <p:nvPr/>
        </p:nvSpPr>
        <p:spPr>
          <a:xfrm>
            <a:off x="659442" y="5070087"/>
            <a:ext cx="178308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"CL00015"</a:t>
            </a:r>
          </a:p>
        </p:txBody>
      </p:sp>
      <p:sp>
        <p:nvSpPr>
          <p:cNvPr id="34" name="TextBox 33"/>
          <p:cNvSpPr txBox="1"/>
          <p:nvPr/>
        </p:nvSpPr>
        <p:spPr>
          <a:xfrm>
            <a:off x="2643690" y="5070087"/>
            <a:ext cx="1371600"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Text</a:t>
            </a:r>
          </a:p>
        </p:txBody>
      </p:sp>
      <p:sp>
        <p:nvSpPr>
          <p:cNvPr id="35" name="TextBox 34"/>
          <p:cNvSpPr txBox="1"/>
          <p:nvPr/>
        </p:nvSpPr>
        <p:spPr>
          <a:xfrm>
            <a:off x="4289610" y="5070087"/>
            <a:ext cx="1481328" cy="329184"/>
          </a:xfrm>
          <a:prstGeom prst="rect">
            <a:avLst/>
          </a:prstGeom>
          <a:solidFill>
            <a:srgbClr val="FFFFFF"/>
          </a:solidFill>
          <a:ln>
            <a:solidFill>
              <a:srgbClr val="DAE1E8"/>
            </a:solidFill>
          </a:ln>
        </p:spPr>
        <p:txBody>
          <a:bodyPr wrap="square" lIns="73152" tIns="73152" rIns="73152" bIns="73152" anchor="ctr">
            <a:spAutoFit/>
          </a:bodyPr>
          <a:lstStyle/>
          <a:p>
            <a:pPr algn="l"/>
            <a:r>
              <a:rPr sz="1150" b="0">
                <a:solidFill>
                  <a:srgbClr val="5F6368"/>
                </a:solidFill>
                <a:latin typeface="Aptos"/>
              </a:rPr>
              <a:t>Usually OK</a:t>
            </a:r>
          </a:p>
        </p:txBody>
      </p:sp>
      <p:sp>
        <p:nvSpPr>
          <p:cNvPr id="36" name="TextBox 35"/>
          <p:cNvSpPr txBox="1"/>
          <p:nvPr/>
        </p:nvSpPr>
        <p:spPr>
          <a:xfrm>
            <a:off x="659442" y="5472423"/>
            <a:ext cx="5074920" cy="320040"/>
          </a:xfrm>
          <a:prstGeom prst="rect">
            <a:avLst/>
          </a:prstGeom>
          <a:noFill/>
          <a:ln>
            <a:noFill/>
          </a:ln>
        </p:spPr>
        <p:txBody>
          <a:bodyPr wrap="square" lIns="73152" tIns="73152" rIns="73152" bIns="73152" anchor="t">
            <a:spAutoFit/>
          </a:bodyPr>
          <a:lstStyle/>
          <a:p>
            <a:pPr algn="l"/>
            <a:r>
              <a:rPr sz="1050" b="0">
                <a:solidFill>
                  <a:srgbClr val="2980B9"/>
                </a:solidFill>
                <a:latin typeface="Aptos"/>
              </a:rPr>
              <a:t>Key idea: a CSV file stores text separated by delimiters; data types are reconstructed during import.</a:t>
            </a:r>
          </a:p>
        </p:txBody>
      </p:sp>
      <p:sp>
        <p:nvSpPr>
          <p:cNvPr id="37" name="Rounded Rectangle 36"/>
          <p:cNvSpPr/>
          <p:nvPr/>
        </p:nvSpPr>
        <p:spPr>
          <a:xfrm>
            <a:off x="6209850" y="2326886"/>
            <a:ext cx="5422392" cy="3246120"/>
          </a:xfrm>
          <a:prstGeom prst="roundRect">
            <a:avLst/>
          </a:prstGeom>
          <a:solidFill>
            <a:srgbClr val="FFFFFF"/>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74442" y="2454903"/>
            <a:ext cx="2560320" cy="274320"/>
          </a:xfrm>
          <a:prstGeom prst="rect">
            <a:avLst/>
          </a:prstGeom>
          <a:noFill/>
          <a:ln>
            <a:noFill/>
          </a:ln>
        </p:spPr>
        <p:txBody>
          <a:bodyPr wrap="square" lIns="73152" tIns="73152" rIns="73152" bIns="73152" anchor="t">
            <a:spAutoFit/>
          </a:bodyPr>
          <a:lstStyle/>
          <a:p>
            <a:pPr algn="l"/>
            <a:r>
              <a:rPr sz="1600" b="1">
                <a:solidFill>
                  <a:srgbClr val="18344D"/>
                </a:solidFill>
                <a:latin typeface="Aptos"/>
              </a:rPr>
              <a:t>Why this matters</a:t>
            </a:r>
          </a:p>
        </p:txBody>
      </p:sp>
      <p:sp>
        <p:nvSpPr>
          <p:cNvPr id="39" name="TextBox 38"/>
          <p:cNvSpPr txBox="1"/>
          <p:nvPr/>
        </p:nvSpPr>
        <p:spPr>
          <a:xfrm>
            <a:off x="6365298" y="2756655"/>
            <a:ext cx="5029200" cy="1371600"/>
          </a:xfrm>
          <a:prstGeom prst="rect">
            <a:avLst/>
          </a:prstGeom>
          <a:noFill/>
          <a:ln>
            <a:noFill/>
          </a:ln>
        </p:spPr>
        <p:txBody>
          <a:bodyPr wrap="square" lIns="73152" tIns="54864" rIns="73152" bIns="54864">
            <a:spAutoFit/>
          </a:bodyPr>
          <a:lstStyle/>
          <a:p>
            <a:pPr algn="l"/>
            <a:r>
              <a:rPr sz="1300">
                <a:solidFill>
                  <a:srgbClr val="5F6368"/>
                </a:solidFill>
                <a:latin typeface="Aptos"/>
              </a:rPr>
              <a:t>The same column may be imported as text, number or date.</a:t>
            </a:r>
          </a:p>
          <a:p>
            <a:pPr algn="l"/>
            <a:r>
              <a:rPr sz="1300">
                <a:solidFill>
                  <a:srgbClr val="5F6368"/>
                </a:solidFill>
                <a:latin typeface="Aptos"/>
              </a:rPr>
              <a:t>Wrong inference can distort sorting, filtering, formulas and charts.</a:t>
            </a:r>
          </a:p>
          <a:p>
            <a:pPr algn="l"/>
            <a:r>
              <a:rPr sz="1300">
                <a:solidFill>
                  <a:srgbClr val="5F6368"/>
                </a:solidFill>
                <a:latin typeface="Aptos"/>
              </a:rPr>
              <a:t>IDs, ZIP codes and account numbers can be damaged by numeric conversion.</a:t>
            </a:r>
          </a:p>
          <a:p>
            <a:pPr algn="l"/>
            <a:r>
              <a:rPr sz="1300">
                <a:solidFill>
                  <a:srgbClr val="5F6368"/>
                </a:solidFill>
                <a:latin typeface="Aptos"/>
              </a:rPr>
              <a:t>Cross-language imports may change decimal separators and date interpretation.</a:t>
            </a:r>
          </a:p>
        </p:txBody>
      </p:sp>
      <p:sp>
        <p:nvSpPr>
          <p:cNvPr id="40" name="Rounded Rectangle 39"/>
          <p:cNvSpPr/>
          <p:nvPr/>
        </p:nvSpPr>
        <p:spPr>
          <a:xfrm>
            <a:off x="6365298" y="4155687"/>
            <a:ext cx="5047488" cy="1115568"/>
          </a:xfrm>
          <a:prstGeom prst="roundRect">
            <a:avLst/>
          </a:prstGeom>
          <a:solidFill>
            <a:srgbClr val="E9F7EF"/>
          </a:solidFill>
          <a:ln>
            <a:solidFill>
              <a:srgbClr val="62B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11602" y="4265415"/>
            <a:ext cx="2377440" cy="228600"/>
          </a:xfrm>
          <a:prstGeom prst="rect">
            <a:avLst/>
          </a:prstGeom>
          <a:noFill/>
          <a:ln>
            <a:noFill/>
          </a:ln>
        </p:spPr>
        <p:txBody>
          <a:bodyPr wrap="square" lIns="73152" tIns="73152" rIns="73152" bIns="73152" anchor="t">
            <a:spAutoFit/>
          </a:bodyPr>
          <a:lstStyle/>
          <a:p>
            <a:pPr algn="l"/>
            <a:r>
              <a:rPr sz="1400" b="1">
                <a:solidFill>
                  <a:srgbClr val="2C613C"/>
                </a:solidFill>
                <a:latin typeface="Aptos"/>
              </a:rPr>
              <a:t>Safer Excel workflow</a:t>
            </a:r>
          </a:p>
        </p:txBody>
      </p:sp>
      <p:sp>
        <p:nvSpPr>
          <p:cNvPr id="42" name="TextBox 41"/>
          <p:cNvSpPr txBox="1"/>
          <p:nvPr/>
        </p:nvSpPr>
        <p:spPr>
          <a:xfrm>
            <a:off x="6493314" y="4521447"/>
            <a:ext cx="4663440" cy="640080"/>
          </a:xfrm>
          <a:prstGeom prst="rect">
            <a:avLst/>
          </a:prstGeom>
          <a:noFill/>
          <a:ln>
            <a:noFill/>
          </a:ln>
        </p:spPr>
        <p:txBody>
          <a:bodyPr wrap="square" lIns="73152" tIns="54864" rIns="73152" bIns="54864">
            <a:spAutoFit/>
          </a:bodyPr>
          <a:lstStyle/>
          <a:p>
            <a:pPr algn="l"/>
            <a:r>
              <a:rPr sz="1150">
                <a:solidFill>
                  <a:srgbClr val="3C3C3C"/>
                </a:solidFill>
                <a:latin typeface="Aptos"/>
              </a:rPr>
              <a:t>Use Data → From Text/CSV instead of double-clicking the file.</a:t>
            </a:r>
          </a:p>
          <a:p>
            <a:pPr algn="l"/>
            <a:r>
              <a:rPr sz="1150">
                <a:solidFill>
                  <a:srgbClr val="3C3C3C"/>
                </a:solidFill>
                <a:latin typeface="Aptos"/>
              </a:rPr>
              <a:t>Review delimiter, file origin / encoding, locale, and detected data type.</a:t>
            </a:r>
          </a:p>
          <a:p>
            <a:pPr algn="l"/>
            <a:r>
              <a:rPr sz="1150">
                <a:solidFill>
                  <a:srgbClr val="3C3C3C"/>
                </a:solidFill>
                <a:latin typeface="Aptos"/>
              </a:rPr>
              <a:t>Force Text for identifiers; verify dates, decimals and missing-value markers.</a:t>
            </a:r>
          </a:p>
        </p:txBody>
      </p:sp>
      <p:sp>
        <p:nvSpPr>
          <p:cNvPr id="43" name="Rounded Rectangle 42"/>
          <p:cNvSpPr/>
          <p:nvPr/>
        </p:nvSpPr>
        <p:spPr>
          <a:xfrm>
            <a:off x="449130" y="5865615"/>
            <a:ext cx="11173968" cy="640080"/>
          </a:xfrm>
          <a:prstGeom prst="roundRect">
            <a:avLst/>
          </a:prstGeom>
          <a:solidFill>
            <a:srgbClr val="F9FCFF"/>
          </a:solidFill>
          <a:ln>
            <a:solidFill>
              <a:srgbClr val="96C4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18344D"/>
                </a:solidFill>
                <a:latin typeface="Aptos"/>
              </a:rPr>
              <a:t>Takeaway: </a:t>
            </a:r>
            <a:r>
              <a:rPr sz="1400">
                <a:solidFill>
                  <a:srgbClr val="5F6368"/>
                </a:solidFill>
                <a:latin typeface="Aptos"/>
              </a:rPr>
              <a:t>CSV files do not carry rich type metadata. Excel infers types during import, so analysts must review the import settings before trusting the data.</a:t>
            </a:r>
          </a:p>
        </p:txBody>
      </p:sp>
      <p:sp>
        <p:nvSpPr>
          <p:cNvPr id="44" name="TextBox 43"/>
          <p:cNvSpPr txBox="1"/>
          <p:nvPr/>
        </p:nvSpPr>
        <p:spPr>
          <a:xfrm>
            <a:off x="449130" y="6642855"/>
            <a:ext cx="2926080" cy="164592"/>
          </a:xfrm>
          <a:prstGeom prst="rect">
            <a:avLst/>
          </a:prstGeom>
          <a:noFill/>
          <a:ln>
            <a:noFill/>
          </a:ln>
        </p:spPr>
        <p:txBody>
          <a:bodyPr wrap="square" lIns="73152" tIns="73152" rIns="73152" bIns="73152" anchor="t">
            <a:spAutoFit/>
          </a:bodyPr>
          <a:lstStyle/>
          <a:p>
            <a:pPr algn="l"/>
            <a:r>
              <a:rPr sz="850" b="0">
                <a:solidFill>
                  <a:srgbClr val="5F6368"/>
                </a:solidFill>
                <a:latin typeface="Aptos"/>
              </a:rPr>
              <a:t>Data Science with Excel</a:t>
            </a:r>
          </a:p>
        </p:txBody>
      </p:sp>
      <p:sp>
        <p:nvSpPr>
          <p:cNvPr id="46" name="Text 0">
            <a:extLst>
              <a:ext uri="{FF2B5EF4-FFF2-40B4-BE49-F238E27FC236}">
                <a16:creationId xmlns:a16="http://schemas.microsoft.com/office/drawing/2014/main" id="{CCE17EB8-F038-6755-DB42-D21CFE325B3C}"/>
              </a:ext>
            </a:extLst>
          </p:cNvPr>
          <p:cNvSpPr/>
          <p:nvPr/>
        </p:nvSpPr>
        <p:spPr>
          <a:xfrm>
            <a:off x="519415" y="116183"/>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47" name="Slide Number Placeholder 0">
            <a:extLst>
              <a:ext uri="{FF2B5EF4-FFF2-40B4-BE49-F238E27FC236}">
                <a16:creationId xmlns:a16="http://schemas.microsoft.com/office/drawing/2014/main" id="{019B7A7E-C554-C6CE-057C-3900D36B9189}"/>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43</a:t>
            </a:fld>
            <a:endParaRPr lang="en-US" dirty="0"/>
          </a:p>
        </p:txBody>
      </p:sp>
      <p:pic>
        <p:nvPicPr>
          <p:cNvPr id="49" name="Immagine 48">
            <a:extLst>
              <a:ext uri="{FF2B5EF4-FFF2-40B4-BE49-F238E27FC236}">
                <a16:creationId xmlns:a16="http://schemas.microsoft.com/office/drawing/2014/main" id="{63E9CF48-AFA5-5047-D9A4-963EF52F2259}"/>
              </a:ext>
            </a:extLst>
          </p:cNvPr>
          <p:cNvPicPr>
            <a:picLocks noChangeAspect="1"/>
          </p:cNvPicPr>
          <p:nvPr/>
        </p:nvPicPr>
        <p:blipFill>
          <a:blip r:embed="rId2"/>
          <a:stretch>
            <a:fillRect/>
          </a:stretch>
        </p:blipFill>
        <p:spPr>
          <a:xfrm>
            <a:off x="10954871" y="-51303"/>
            <a:ext cx="1237129" cy="7006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First look: create a dataset profile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Before any deep analysis, answer a small set of basic questions.</a:t>
            </a:r>
            <a:endParaRPr lang="en-US" sz="1300" dirty="0"/>
          </a:p>
        </p:txBody>
      </p:sp>
      <p:sp>
        <p:nvSpPr>
          <p:cNvPr id="7" name="Shape 5"/>
          <p:cNvSpPr/>
          <p:nvPr/>
        </p:nvSpPr>
        <p:spPr>
          <a:xfrm>
            <a:off x="694944" y="1417320"/>
            <a:ext cx="6080760" cy="4498848"/>
          </a:xfrm>
          <a:prstGeom prst="roundRect">
            <a:avLst>
              <a:gd name="adj" fmla="val 1016"/>
            </a:avLst>
          </a:prstGeom>
          <a:solidFill>
            <a:srgbClr val="FFFFFF"/>
          </a:solidFill>
          <a:ln w="10160">
            <a:solidFill>
              <a:srgbClr val="AEB8C5"/>
            </a:solidFill>
            <a:prstDash val="solid"/>
          </a:ln>
        </p:spPr>
      </p:sp>
      <p:sp>
        <p:nvSpPr>
          <p:cNvPr id="8" name="Shape 6"/>
          <p:cNvSpPr/>
          <p:nvPr/>
        </p:nvSpPr>
        <p:spPr>
          <a:xfrm>
            <a:off x="694944" y="1417320"/>
            <a:ext cx="6080760" cy="329184"/>
          </a:xfrm>
          <a:prstGeom prst="rect">
            <a:avLst/>
          </a:prstGeom>
          <a:solidFill>
            <a:srgbClr val="217346"/>
          </a:solidFill>
          <a:ln w="12700">
            <a:solidFill>
              <a:srgbClr val="217346"/>
            </a:solidFill>
            <a:prstDash val="solid"/>
          </a:ln>
        </p:spPr>
      </p:sp>
      <p:sp>
        <p:nvSpPr>
          <p:cNvPr id="9" name="Shape 7"/>
          <p:cNvSpPr/>
          <p:nvPr/>
        </p:nvSpPr>
        <p:spPr>
          <a:xfrm>
            <a:off x="804672" y="1463040"/>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804672" y="1472184"/>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115568" y="1490472"/>
            <a:ext cx="5550408" cy="182880"/>
          </a:xfrm>
          <a:prstGeom prst="rect">
            <a:avLst/>
          </a:prstGeom>
          <a:noFill/>
          <a:ln/>
        </p:spPr>
        <p:txBody>
          <a:bodyPr wrap="square" lIns="0" tIns="0" rIns="0" bIns="0" rtlCol="0" anchor="ctr"/>
          <a:lstStyle/>
          <a:p>
            <a:pPr marL="0" indent="0">
              <a:buNone/>
            </a:pPr>
            <a:r>
              <a:rPr lang="en-US" sz="950" b="1" dirty="0">
                <a:solidFill>
                  <a:srgbClr val="FFFFFF"/>
                </a:solidFill>
              </a:rPr>
              <a:t>Column profile</a:t>
            </a:r>
            <a:endParaRPr lang="en-US" sz="950" dirty="0"/>
          </a:p>
        </p:txBody>
      </p:sp>
      <p:sp>
        <p:nvSpPr>
          <p:cNvPr id="12" name="Shape 10"/>
          <p:cNvSpPr/>
          <p:nvPr/>
        </p:nvSpPr>
        <p:spPr>
          <a:xfrm>
            <a:off x="749808" y="1801368"/>
            <a:ext cx="5971032" cy="292608"/>
          </a:xfrm>
          <a:prstGeom prst="rect">
            <a:avLst/>
          </a:prstGeom>
          <a:solidFill>
            <a:srgbClr val="FAFCFD"/>
          </a:solidFill>
          <a:ln w="6350">
            <a:solidFill>
              <a:srgbClr val="D8E0EA"/>
            </a:solidFill>
            <a:prstDash val="solid"/>
          </a:ln>
        </p:spPr>
      </p:sp>
      <p:sp>
        <p:nvSpPr>
          <p:cNvPr id="13" name="Text 11"/>
          <p:cNvSpPr/>
          <p:nvPr/>
        </p:nvSpPr>
        <p:spPr>
          <a:xfrm>
            <a:off x="804672" y="1865376"/>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60704" y="1856232"/>
            <a:ext cx="560527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=COUNTBLANK(Table1[Income])</a:t>
            </a:r>
            <a:endParaRPr lang="en-US" sz="880" dirty="0"/>
          </a:p>
        </p:txBody>
      </p:sp>
      <p:sp>
        <p:nvSpPr>
          <p:cNvPr id="15" name="Shape 13"/>
          <p:cNvSpPr/>
          <p:nvPr/>
        </p:nvSpPr>
        <p:spPr>
          <a:xfrm>
            <a:off x="758952" y="2167128"/>
            <a:ext cx="992124" cy="612648"/>
          </a:xfrm>
          <a:prstGeom prst="rect">
            <a:avLst/>
          </a:prstGeom>
          <a:solidFill>
            <a:srgbClr val="E8F3EC"/>
          </a:solidFill>
          <a:ln w="5715">
            <a:solidFill>
              <a:srgbClr val="D8E0EA"/>
            </a:solidFill>
            <a:prstDash val="solid"/>
          </a:ln>
        </p:spPr>
      </p:sp>
      <p:sp>
        <p:nvSpPr>
          <p:cNvPr id="16" name="Text 14"/>
          <p:cNvSpPr/>
          <p:nvPr/>
        </p:nvSpPr>
        <p:spPr>
          <a:xfrm>
            <a:off x="777240"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Field</a:t>
            </a:r>
            <a:endParaRPr lang="en-US" sz="810" dirty="0"/>
          </a:p>
        </p:txBody>
      </p:sp>
      <p:sp>
        <p:nvSpPr>
          <p:cNvPr id="17" name="Shape 15"/>
          <p:cNvSpPr/>
          <p:nvPr/>
        </p:nvSpPr>
        <p:spPr>
          <a:xfrm>
            <a:off x="1751076" y="2167128"/>
            <a:ext cx="992124" cy="612648"/>
          </a:xfrm>
          <a:prstGeom prst="rect">
            <a:avLst/>
          </a:prstGeom>
          <a:solidFill>
            <a:srgbClr val="E8F3EC"/>
          </a:solidFill>
          <a:ln w="5715">
            <a:solidFill>
              <a:srgbClr val="D8E0EA"/>
            </a:solidFill>
            <a:prstDash val="solid"/>
          </a:ln>
        </p:spPr>
      </p:sp>
      <p:sp>
        <p:nvSpPr>
          <p:cNvPr id="18" name="Text 16"/>
          <p:cNvSpPr/>
          <p:nvPr/>
        </p:nvSpPr>
        <p:spPr>
          <a:xfrm>
            <a:off x="1769364"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Type</a:t>
            </a:r>
            <a:endParaRPr lang="en-US" sz="810" dirty="0"/>
          </a:p>
        </p:txBody>
      </p:sp>
      <p:sp>
        <p:nvSpPr>
          <p:cNvPr id="19" name="Shape 17"/>
          <p:cNvSpPr/>
          <p:nvPr/>
        </p:nvSpPr>
        <p:spPr>
          <a:xfrm>
            <a:off x="2743200" y="2167128"/>
            <a:ext cx="992124" cy="612648"/>
          </a:xfrm>
          <a:prstGeom prst="rect">
            <a:avLst/>
          </a:prstGeom>
          <a:solidFill>
            <a:srgbClr val="E8F3EC"/>
          </a:solidFill>
          <a:ln w="5715">
            <a:solidFill>
              <a:srgbClr val="D8E0EA"/>
            </a:solidFill>
            <a:prstDash val="solid"/>
          </a:ln>
        </p:spPr>
      </p:sp>
      <p:sp>
        <p:nvSpPr>
          <p:cNvPr id="20" name="Text 18"/>
          <p:cNvSpPr/>
          <p:nvPr/>
        </p:nvSpPr>
        <p:spPr>
          <a:xfrm>
            <a:off x="2761488"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Missing</a:t>
            </a:r>
            <a:endParaRPr lang="en-US" sz="810" dirty="0"/>
          </a:p>
        </p:txBody>
      </p:sp>
      <p:sp>
        <p:nvSpPr>
          <p:cNvPr id="21" name="Shape 19"/>
          <p:cNvSpPr/>
          <p:nvPr/>
        </p:nvSpPr>
        <p:spPr>
          <a:xfrm>
            <a:off x="3735324" y="2167128"/>
            <a:ext cx="992124" cy="612648"/>
          </a:xfrm>
          <a:prstGeom prst="rect">
            <a:avLst/>
          </a:prstGeom>
          <a:solidFill>
            <a:srgbClr val="E8F3EC"/>
          </a:solidFill>
          <a:ln w="5715">
            <a:solidFill>
              <a:srgbClr val="D8E0EA"/>
            </a:solidFill>
            <a:prstDash val="solid"/>
          </a:ln>
        </p:spPr>
      </p:sp>
      <p:sp>
        <p:nvSpPr>
          <p:cNvPr id="22" name="Text 20"/>
          <p:cNvSpPr/>
          <p:nvPr/>
        </p:nvSpPr>
        <p:spPr>
          <a:xfrm>
            <a:off x="3753612"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Unique</a:t>
            </a:r>
            <a:endParaRPr lang="en-US" sz="810" dirty="0"/>
          </a:p>
        </p:txBody>
      </p:sp>
      <p:sp>
        <p:nvSpPr>
          <p:cNvPr id="23" name="Shape 21"/>
          <p:cNvSpPr/>
          <p:nvPr/>
        </p:nvSpPr>
        <p:spPr>
          <a:xfrm>
            <a:off x="4727448" y="2167128"/>
            <a:ext cx="992124" cy="612648"/>
          </a:xfrm>
          <a:prstGeom prst="rect">
            <a:avLst/>
          </a:prstGeom>
          <a:solidFill>
            <a:srgbClr val="E8F3EC"/>
          </a:solidFill>
          <a:ln w="5715">
            <a:solidFill>
              <a:srgbClr val="D8E0EA"/>
            </a:solidFill>
            <a:prstDash val="solid"/>
          </a:ln>
        </p:spPr>
      </p:sp>
      <p:sp>
        <p:nvSpPr>
          <p:cNvPr id="24" name="Text 22"/>
          <p:cNvSpPr/>
          <p:nvPr/>
        </p:nvSpPr>
        <p:spPr>
          <a:xfrm>
            <a:off x="4745736"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Min</a:t>
            </a:r>
            <a:endParaRPr lang="en-US" sz="810" dirty="0"/>
          </a:p>
        </p:txBody>
      </p:sp>
      <p:sp>
        <p:nvSpPr>
          <p:cNvPr id="25" name="Shape 23"/>
          <p:cNvSpPr/>
          <p:nvPr/>
        </p:nvSpPr>
        <p:spPr>
          <a:xfrm>
            <a:off x="5719572" y="2167128"/>
            <a:ext cx="992124" cy="612648"/>
          </a:xfrm>
          <a:prstGeom prst="rect">
            <a:avLst/>
          </a:prstGeom>
          <a:solidFill>
            <a:srgbClr val="E8F3EC"/>
          </a:solidFill>
          <a:ln w="5715">
            <a:solidFill>
              <a:srgbClr val="D8E0EA"/>
            </a:solidFill>
            <a:prstDash val="solid"/>
          </a:ln>
        </p:spPr>
      </p:sp>
      <p:sp>
        <p:nvSpPr>
          <p:cNvPr id="26" name="Text 24"/>
          <p:cNvSpPr/>
          <p:nvPr/>
        </p:nvSpPr>
        <p:spPr>
          <a:xfrm>
            <a:off x="5737860" y="2194560"/>
            <a:ext cx="955548" cy="576072"/>
          </a:xfrm>
          <a:prstGeom prst="rect">
            <a:avLst/>
          </a:prstGeom>
          <a:noFill/>
          <a:ln/>
        </p:spPr>
        <p:txBody>
          <a:bodyPr wrap="square" lIns="0" tIns="0" rIns="0" bIns="0" rtlCol="0" anchor="ctr">
            <a:normAutofit/>
          </a:bodyPr>
          <a:lstStyle/>
          <a:p>
            <a:pPr marL="0" indent="0">
              <a:buNone/>
            </a:pPr>
            <a:r>
              <a:rPr lang="en-US" sz="810" b="1" dirty="0">
                <a:solidFill>
                  <a:srgbClr val="0B1F33"/>
                </a:solidFill>
              </a:rPr>
              <a:t>Max</a:t>
            </a:r>
            <a:endParaRPr lang="en-US" sz="810" dirty="0"/>
          </a:p>
        </p:txBody>
      </p:sp>
      <p:sp>
        <p:nvSpPr>
          <p:cNvPr id="27" name="Shape 25"/>
          <p:cNvSpPr/>
          <p:nvPr/>
        </p:nvSpPr>
        <p:spPr>
          <a:xfrm>
            <a:off x="758952" y="2779776"/>
            <a:ext cx="992124" cy="612648"/>
          </a:xfrm>
          <a:prstGeom prst="rect">
            <a:avLst/>
          </a:prstGeom>
          <a:solidFill>
            <a:srgbClr val="FFFFFF"/>
          </a:solidFill>
          <a:ln w="5715">
            <a:solidFill>
              <a:srgbClr val="D8E0EA"/>
            </a:solidFill>
            <a:prstDash val="solid"/>
          </a:ln>
        </p:spPr>
      </p:sp>
      <p:sp>
        <p:nvSpPr>
          <p:cNvPr id="28" name="Text 26"/>
          <p:cNvSpPr/>
          <p:nvPr/>
        </p:nvSpPr>
        <p:spPr>
          <a:xfrm>
            <a:off x="777240"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Age</a:t>
            </a:r>
            <a:endParaRPr lang="en-US" sz="780" dirty="0"/>
          </a:p>
        </p:txBody>
      </p:sp>
      <p:sp>
        <p:nvSpPr>
          <p:cNvPr id="29" name="Shape 27"/>
          <p:cNvSpPr/>
          <p:nvPr/>
        </p:nvSpPr>
        <p:spPr>
          <a:xfrm>
            <a:off x="1751076" y="2779776"/>
            <a:ext cx="992124" cy="612648"/>
          </a:xfrm>
          <a:prstGeom prst="rect">
            <a:avLst/>
          </a:prstGeom>
          <a:solidFill>
            <a:srgbClr val="FFFFFF"/>
          </a:solidFill>
          <a:ln w="5715">
            <a:solidFill>
              <a:srgbClr val="D8E0EA"/>
            </a:solidFill>
            <a:prstDash val="solid"/>
          </a:ln>
        </p:spPr>
      </p:sp>
      <p:sp>
        <p:nvSpPr>
          <p:cNvPr id="30" name="Text 28"/>
          <p:cNvSpPr/>
          <p:nvPr/>
        </p:nvSpPr>
        <p:spPr>
          <a:xfrm>
            <a:off x="1769364"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Numeric</a:t>
            </a:r>
            <a:endParaRPr lang="en-US" sz="780" dirty="0"/>
          </a:p>
        </p:txBody>
      </p:sp>
      <p:sp>
        <p:nvSpPr>
          <p:cNvPr id="31" name="Shape 29"/>
          <p:cNvSpPr/>
          <p:nvPr/>
        </p:nvSpPr>
        <p:spPr>
          <a:xfrm>
            <a:off x="2743200" y="2779776"/>
            <a:ext cx="992124" cy="612648"/>
          </a:xfrm>
          <a:prstGeom prst="rect">
            <a:avLst/>
          </a:prstGeom>
          <a:solidFill>
            <a:srgbClr val="FFFFFF"/>
          </a:solidFill>
          <a:ln w="5715">
            <a:solidFill>
              <a:srgbClr val="D8E0EA"/>
            </a:solidFill>
            <a:prstDash val="solid"/>
          </a:ln>
        </p:spPr>
      </p:sp>
      <p:sp>
        <p:nvSpPr>
          <p:cNvPr id="32" name="Text 30"/>
          <p:cNvSpPr/>
          <p:nvPr/>
        </p:nvSpPr>
        <p:spPr>
          <a:xfrm>
            <a:off x="2761488"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33" name="Shape 31"/>
          <p:cNvSpPr/>
          <p:nvPr/>
        </p:nvSpPr>
        <p:spPr>
          <a:xfrm>
            <a:off x="3735324" y="2779776"/>
            <a:ext cx="992124" cy="612648"/>
          </a:xfrm>
          <a:prstGeom prst="rect">
            <a:avLst/>
          </a:prstGeom>
          <a:solidFill>
            <a:srgbClr val="FFFFFF"/>
          </a:solidFill>
          <a:ln w="5715">
            <a:solidFill>
              <a:srgbClr val="D8E0EA"/>
            </a:solidFill>
            <a:prstDash val="solid"/>
          </a:ln>
        </p:spPr>
      </p:sp>
      <p:sp>
        <p:nvSpPr>
          <p:cNvPr id="34" name="Text 32"/>
          <p:cNvSpPr/>
          <p:nvPr/>
        </p:nvSpPr>
        <p:spPr>
          <a:xfrm>
            <a:off x="3753612"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41</a:t>
            </a:r>
            <a:endParaRPr lang="en-US" sz="780" dirty="0"/>
          </a:p>
        </p:txBody>
      </p:sp>
      <p:sp>
        <p:nvSpPr>
          <p:cNvPr id="35" name="Shape 33"/>
          <p:cNvSpPr/>
          <p:nvPr/>
        </p:nvSpPr>
        <p:spPr>
          <a:xfrm>
            <a:off x="4727448" y="2779776"/>
            <a:ext cx="992124" cy="612648"/>
          </a:xfrm>
          <a:prstGeom prst="rect">
            <a:avLst/>
          </a:prstGeom>
          <a:solidFill>
            <a:srgbClr val="FFFFFF"/>
          </a:solidFill>
          <a:ln w="5715">
            <a:solidFill>
              <a:srgbClr val="D8E0EA"/>
            </a:solidFill>
            <a:prstDash val="solid"/>
          </a:ln>
        </p:spPr>
      </p:sp>
      <p:sp>
        <p:nvSpPr>
          <p:cNvPr id="36" name="Text 34"/>
          <p:cNvSpPr/>
          <p:nvPr/>
        </p:nvSpPr>
        <p:spPr>
          <a:xfrm>
            <a:off x="4745736"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18</a:t>
            </a:r>
            <a:endParaRPr lang="en-US" sz="780" dirty="0"/>
          </a:p>
        </p:txBody>
      </p:sp>
      <p:sp>
        <p:nvSpPr>
          <p:cNvPr id="37" name="Shape 35"/>
          <p:cNvSpPr/>
          <p:nvPr/>
        </p:nvSpPr>
        <p:spPr>
          <a:xfrm>
            <a:off x="5719572" y="2779776"/>
            <a:ext cx="992124" cy="612648"/>
          </a:xfrm>
          <a:prstGeom prst="rect">
            <a:avLst/>
          </a:prstGeom>
          <a:solidFill>
            <a:srgbClr val="FFFFFF"/>
          </a:solidFill>
          <a:ln w="5715">
            <a:solidFill>
              <a:srgbClr val="D8E0EA"/>
            </a:solidFill>
            <a:prstDash val="solid"/>
          </a:ln>
        </p:spPr>
      </p:sp>
      <p:sp>
        <p:nvSpPr>
          <p:cNvPr id="38" name="Text 36"/>
          <p:cNvSpPr/>
          <p:nvPr/>
        </p:nvSpPr>
        <p:spPr>
          <a:xfrm>
            <a:off x="5737860" y="2807208"/>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86</a:t>
            </a:r>
            <a:endParaRPr lang="en-US" sz="780" dirty="0"/>
          </a:p>
        </p:txBody>
      </p:sp>
      <p:sp>
        <p:nvSpPr>
          <p:cNvPr id="39" name="Shape 37"/>
          <p:cNvSpPr/>
          <p:nvPr/>
        </p:nvSpPr>
        <p:spPr>
          <a:xfrm>
            <a:off x="758952" y="3392424"/>
            <a:ext cx="992124" cy="612648"/>
          </a:xfrm>
          <a:prstGeom prst="rect">
            <a:avLst/>
          </a:prstGeom>
          <a:solidFill>
            <a:srgbClr val="FFFFFF"/>
          </a:solidFill>
          <a:ln w="5715">
            <a:solidFill>
              <a:srgbClr val="D8E0EA"/>
            </a:solidFill>
            <a:prstDash val="solid"/>
          </a:ln>
        </p:spPr>
      </p:sp>
      <p:sp>
        <p:nvSpPr>
          <p:cNvPr id="40" name="Text 38"/>
          <p:cNvSpPr/>
          <p:nvPr/>
        </p:nvSpPr>
        <p:spPr>
          <a:xfrm>
            <a:off x="777240"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Income</a:t>
            </a:r>
            <a:endParaRPr lang="en-US" sz="780" dirty="0"/>
          </a:p>
        </p:txBody>
      </p:sp>
      <p:sp>
        <p:nvSpPr>
          <p:cNvPr id="41" name="Shape 39"/>
          <p:cNvSpPr/>
          <p:nvPr/>
        </p:nvSpPr>
        <p:spPr>
          <a:xfrm>
            <a:off x="1751076" y="3392424"/>
            <a:ext cx="992124" cy="612648"/>
          </a:xfrm>
          <a:prstGeom prst="rect">
            <a:avLst/>
          </a:prstGeom>
          <a:solidFill>
            <a:srgbClr val="FFFFFF"/>
          </a:solidFill>
          <a:ln w="5715">
            <a:solidFill>
              <a:srgbClr val="D8E0EA"/>
            </a:solidFill>
            <a:prstDash val="solid"/>
          </a:ln>
        </p:spPr>
      </p:sp>
      <p:sp>
        <p:nvSpPr>
          <p:cNvPr id="42" name="Text 40"/>
          <p:cNvSpPr/>
          <p:nvPr/>
        </p:nvSpPr>
        <p:spPr>
          <a:xfrm>
            <a:off x="1769364"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Numeric</a:t>
            </a:r>
            <a:endParaRPr lang="en-US" sz="780" dirty="0"/>
          </a:p>
        </p:txBody>
      </p:sp>
      <p:sp>
        <p:nvSpPr>
          <p:cNvPr id="43" name="Shape 41"/>
          <p:cNvSpPr/>
          <p:nvPr/>
        </p:nvSpPr>
        <p:spPr>
          <a:xfrm>
            <a:off x="2743200" y="3392424"/>
            <a:ext cx="992124" cy="612648"/>
          </a:xfrm>
          <a:prstGeom prst="rect">
            <a:avLst/>
          </a:prstGeom>
          <a:solidFill>
            <a:srgbClr val="FFFFFF"/>
          </a:solidFill>
          <a:ln w="5715">
            <a:solidFill>
              <a:srgbClr val="D8E0EA"/>
            </a:solidFill>
            <a:prstDash val="solid"/>
          </a:ln>
        </p:spPr>
      </p:sp>
      <p:sp>
        <p:nvSpPr>
          <p:cNvPr id="44" name="Text 42"/>
          <p:cNvSpPr/>
          <p:nvPr/>
        </p:nvSpPr>
        <p:spPr>
          <a:xfrm>
            <a:off x="2761488"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37</a:t>
            </a:r>
            <a:endParaRPr lang="en-US" sz="780" dirty="0"/>
          </a:p>
        </p:txBody>
      </p:sp>
      <p:sp>
        <p:nvSpPr>
          <p:cNvPr id="45" name="Shape 43"/>
          <p:cNvSpPr/>
          <p:nvPr/>
        </p:nvSpPr>
        <p:spPr>
          <a:xfrm>
            <a:off x="3735324" y="3392424"/>
            <a:ext cx="992124" cy="612648"/>
          </a:xfrm>
          <a:prstGeom prst="rect">
            <a:avLst/>
          </a:prstGeom>
          <a:solidFill>
            <a:srgbClr val="FFFFFF"/>
          </a:solidFill>
          <a:ln w="5715">
            <a:solidFill>
              <a:srgbClr val="D8E0EA"/>
            </a:solidFill>
            <a:prstDash val="solid"/>
          </a:ln>
        </p:spPr>
      </p:sp>
      <p:sp>
        <p:nvSpPr>
          <p:cNvPr id="46" name="Text 44"/>
          <p:cNvSpPr/>
          <p:nvPr/>
        </p:nvSpPr>
        <p:spPr>
          <a:xfrm>
            <a:off x="3753612"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1,204</a:t>
            </a:r>
            <a:endParaRPr lang="en-US" sz="780" dirty="0"/>
          </a:p>
        </p:txBody>
      </p:sp>
      <p:sp>
        <p:nvSpPr>
          <p:cNvPr id="47" name="Shape 45"/>
          <p:cNvSpPr/>
          <p:nvPr/>
        </p:nvSpPr>
        <p:spPr>
          <a:xfrm>
            <a:off x="4727448" y="3392424"/>
            <a:ext cx="992124" cy="612648"/>
          </a:xfrm>
          <a:prstGeom prst="rect">
            <a:avLst/>
          </a:prstGeom>
          <a:solidFill>
            <a:srgbClr val="FFFFFF"/>
          </a:solidFill>
          <a:ln w="5715">
            <a:solidFill>
              <a:srgbClr val="D8E0EA"/>
            </a:solidFill>
            <a:prstDash val="solid"/>
          </a:ln>
        </p:spPr>
      </p:sp>
      <p:sp>
        <p:nvSpPr>
          <p:cNvPr id="48" name="Text 46"/>
          <p:cNvSpPr/>
          <p:nvPr/>
        </p:nvSpPr>
        <p:spPr>
          <a:xfrm>
            <a:off x="4745736"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12k</a:t>
            </a:r>
            <a:endParaRPr lang="en-US" sz="780" dirty="0"/>
          </a:p>
        </p:txBody>
      </p:sp>
      <p:sp>
        <p:nvSpPr>
          <p:cNvPr id="49" name="Shape 47"/>
          <p:cNvSpPr/>
          <p:nvPr/>
        </p:nvSpPr>
        <p:spPr>
          <a:xfrm>
            <a:off x="5719572" y="3392424"/>
            <a:ext cx="992124" cy="612648"/>
          </a:xfrm>
          <a:prstGeom prst="rect">
            <a:avLst/>
          </a:prstGeom>
          <a:solidFill>
            <a:srgbClr val="FFFFFF"/>
          </a:solidFill>
          <a:ln w="5715">
            <a:solidFill>
              <a:srgbClr val="D8E0EA"/>
            </a:solidFill>
            <a:prstDash val="solid"/>
          </a:ln>
        </p:spPr>
      </p:sp>
      <p:sp>
        <p:nvSpPr>
          <p:cNvPr id="50" name="Text 48"/>
          <p:cNvSpPr/>
          <p:nvPr/>
        </p:nvSpPr>
        <p:spPr>
          <a:xfrm>
            <a:off x="5737860" y="3419856"/>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420k</a:t>
            </a:r>
            <a:endParaRPr lang="en-US" sz="780" dirty="0"/>
          </a:p>
        </p:txBody>
      </p:sp>
      <p:sp>
        <p:nvSpPr>
          <p:cNvPr id="51" name="Shape 49"/>
          <p:cNvSpPr/>
          <p:nvPr/>
        </p:nvSpPr>
        <p:spPr>
          <a:xfrm>
            <a:off x="758952" y="4005072"/>
            <a:ext cx="992124" cy="612648"/>
          </a:xfrm>
          <a:prstGeom prst="rect">
            <a:avLst/>
          </a:prstGeom>
          <a:solidFill>
            <a:srgbClr val="FFFFFF"/>
          </a:solidFill>
          <a:ln w="5715">
            <a:solidFill>
              <a:srgbClr val="D8E0EA"/>
            </a:solidFill>
            <a:prstDash val="solid"/>
          </a:ln>
        </p:spPr>
      </p:sp>
      <p:sp>
        <p:nvSpPr>
          <p:cNvPr id="52" name="Text 50"/>
          <p:cNvSpPr/>
          <p:nvPr/>
        </p:nvSpPr>
        <p:spPr>
          <a:xfrm>
            <a:off x="777240"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Segment</a:t>
            </a:r>
            <a:endParaRPr lang="en-US" sz="780" dirty="0"/>
          </a:p>
        </p:txBody>
      </p:sp>
      <p:sp>
        <p:nvSpPr>
          <p:cNvPr id="53" name="Shape 51"/>
          <p:cNvSpPr/>
          <p:nvPr/>
        </p:nvSpPr>
        <p:spPr>
          <a:xfrm>
            <a:off x="1751076" y="4005072"/>
            <a:ext cx="992124" cy="612648"/>
          </a:xfrm>
          <a:prstGeom prst="rect">
            <a:avLst/>
          </a:prstGeom>
          <a:solidFill>
            <a:srgbClr val="FFFFFF"/>
          </a:solidFill>
          <a:ln w="5715">
            <a:solidFill>
              <a:srgbClr val="D8E0EA"/>
            </a:solidFill>
            <a:prstDash val="solid"/>
          </a:ln>
        </p:spPr>
      </p:sp>
      <p:sp>
        <p:nvSpPr>
          <p:cNvPr id="54" name="Text 52"/>
          <p:cNvSpPr/>
          <p:nvPr/>
        </p:nvSpPr>
        <p:spPr>
          <a:xfrm>
            <a:off x="1769364"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Category</a:t>
            </a:r>
            <a:endParaRPr lang="en-US" sz="780" dirty="0"/>
          </a:p>
        </p:txBody>
      </p:sp>
      <p:sp>
        <p:nvSpPr>
          <p:cNvPr id="55" name="Shape 53"/>
          <p:cNvSpPr/>
          <p:nvPr/>
        </p:nvSpPr>
        <p:spPr>
          <a:xfrm>
            <a:off x="2743200" y="4005072"/>
            <a:ext cx="992124" cy="612648"/>
          </a:xfrm>
          <a:prstGeom prst="rect">
            <a:avLst/>
          </a:prstGeom>
          <a:solidFill>
            <a:srgbClr val="FFFFFF"/>
          </a:solidFill>
          <a:ln w="5715">
            <a:solidFill>
              <a:srgbClr val="D8E0EA"/>
            </a:solidFill>
            <a:prstDash val="solid"/>
          </a:ln>
        </p:spPr>
      </p:sp>
      <p:sp>
        <p:nvSpPr>
          <p:cNvPr id="56" name="Text 54"/>
          <p:cNvSpPr/>
          <p:nvPr/>
        </p:nvSpPr>
        <p:spPr>
          <a:xfrm>
            <a:off x="2761488"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57" name="Shape 55"/>
          <p:cNvSpPr/>
          <p:nvPr/>
        </p:nvSpPr>
        <p:spPr>
          <a:xfrm>
            <a:off x="3735324" y="4005072"/>
            <a:ext cx="992124" cy="612648"/>
          </a:xfrm>
          <a:prstGeom prst="rect">
            <a:avLst/>
          </a:prstGeom>
          <a:solidFill>
            <a:srgbClr val="FFFFFF"/>
          </a:solidFill>
          <a:ln w="5715">
            <a:solidFill>
              <a:srgbClr val="D8E0EA"/>
            </a:solidFill>
            <a:prstDash val="solid"/>
          </a:ln>
        </p:spPr>
      </p:sp>
      <p:sp>
        <p:nvSpPr>
          <p:cNvPr id="58" name="Text 56"/>
          <p:cNvSpPr/>
          <p:nvPr/>
        </p:nvSpPr>
        <p:spPr>
          <a:xfrm>
            <a:off x="3753612"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4</a:t>
            </a:r>
            <a:endParaRPr lang="en-US" sz="780" dirty="0"/>
          </a:p>
        </p:txBody>
      </p:sp>
      <p:sp>
        <p:nvSpPr>
          <p:cNvPr id="59" name="Shape 57"/>
          <p:cNvSpPr/>
          <p:nvPr/>
        </p:nvSpPr>
        <p:spPr>
          <a:xfrm>
            <a:off x="4727448" y="4005072"/>
            <a:ext cx="992124" cy="612648"/>
          </a:xfrm>
          <a:prstGeom prst="rect">
            <a:avLst/>
          </a:prstGeom>
          <a:solidFill>
            <a:srgbClr val="FFFFFF"/>
          </a:solidFill>
          <a:ln w="5715">
            <a:solidFill>
              <a:srgbClr val="D8E0EA"/>
            </a:solidFill>
            <a:prstDash val="solid"/>
          </a:ln>
        </p:spPr>
      </p:sp>
      <p:sp>
        <p:nvSpPr>
          <p:cNvPr id="60" name="Text 58"/>
          <p:cNvSpPr/>
          <p:nvPr/>
        </p:nvSpPr>
        <p:spPr>
          <a:xfrm>
            <a:off x="4745736"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a:t>
            </a:r>
            <a:endParaRPr lang="en-US" sz="780" dirty="0"/>
          </a:p>
        </p:txBody>
      </p:sp>
      <p:sp>
        <p:nvSpPr>
          <p:cNvPr id="61" name="Shape 59"/>
          <p:cNvSpPr/>
          <p:nvPr/>
        </p:nvSpPr>
        <p:spPr>
          <a:xfrm>
            <a:off x="5719572" y="4005072"/>
            <a:ext cx="992124" cy="612648"/>
          </a:xfrm>
          <a:prstGeom prst="rect">
            <a:avLst/>
          </a:prstGeom>
          <a:solidFill>
            <a:srgbClr val="FFFFFF"/>
          </a:solidFill>
          <a:ln w="5715">
            <a:solidFill>
              <a:srgbClr val="D8E0EA"/>
            </a:solidFill>
            <a:prstDash val="solid"/>
          </a:ln>
        </p:spPr>
      </p:sp>
      <p:sp>
        <p:nvSpPr>
          <p:cNvPr id="62" name="Text 60"/>
          <p:cNvSpPr/>
          <p:nvPr/>
        </p:nvSpPr>
        <p:spPr>
          <a:xfrm>
            <a:off x="5737860" y="4032504"/>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a:t>
            </a:r>
            <a:endParaRPr lang="en-US" sz="780" dirty="0"/>
          </a:p>
        </p:txBody>
      </p:sp>
      <p:sp>
        <p:nvSpPr>
          <p:cNvPr id="63" name="Shape 61"/>
          <p:cNvSpPr/>
          <p:nvPr/>
        </p:nvSpPr>
        <p:spPr>
          <a:xfrm>
            <a:off x="758952" y="4617720"/>
            <a:ext cx="992124" cy="612648"/>
          </a:xfrm>
          <a:prstGeom prst="rect">
            <a:avLst/>
          </a:prstGeom>
          <a:solidFill>
            <a:srgbClr val="FFFFFF"/>
          </a:solidFill>
          <a:ln w="5715">
            <a:solidFill>
              <a:srgbClr val="D8E0EA"/>
            </a:solidFill>
            <a:prstDash val="solid"/>
          </a:ln>
        </p:spPr>
      </p:sp>
      <p:sp>
        <p:nvSpPr>
          <p:cNvPr id="64" name="Text 62"/>
          <p:cNvSpPr/>
          <p:nvPr/>
        </p:nvSpPr>
        <p:spPr>
          <a:xfrm>
            <a:off x="777240"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Balance</a:t>
            </a:r>
            <a:endParaRPr lang="en-US" sz="780" dirty="0"/>
          </a:p>
        </p:txBody>
      </p:sp>
      <p:sp>
        <p:nvSpPr>
          <p:cNvPr id="65" name="Shape 63"/>
          <p:cNvSpPr/>
          <p:nvPr/>
        </p:nvSpPr>
        <p:spPr>
          <a:xfrm>
            <a:off x="1751076" y="4617720"/>
            <a:ext cx="992124" cy="612648"/>
          </a:xfrm>
          <a:prstGeom prst="rect">
            <a:avLst/>
          </a:prstGeom>
          <a:solidFill>
            <a:srgbClr val="FFFFFF"/>
          </a:solidFill>
          <a:ln w="5715">
            <a:solidFill>
              <a:srgbClr val="D8E0EA"/>
            </a:solidFill>
            <a:prstDash val="solid"/>
          </a:ln>
        </p:spPr>
      </p:sp>
      <p:sp>
        <p:nvSpPr>
          <p:cNvPr id="66" name="Text 64"/>
          <p:cNvSpPr/>
          <p:nvPr/>
        </p:nvSpPr>
        <p:spPr>
          <a:xfrm>
            <a:off x="1769364"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Numeric</a:t>
            </a:r>
            <a:endParaRPr lang="en-US" sz="780" dirty="0"/>
          </a:p>
        </p:txBody>
      </p:sp>
      <p:sp>
        <p:nvSpPr>
          <p:cNvPr id="67" name="Shape 65"/>
          <p:cNvSpPr/>
          <p:nvPr/>
        </p:nvSpPr>
        <p:spPr>
          <a:xfrm>
            <a:off x="2743200" y="4617720"/>
            <a:ext cx="992124" cy="612648"/>
          </a:xfrm>
          <a:prstGeom prst="rect">
            <a:avLst/>
          </a:prstGeom>
          <a:solidFill>
            <a:srgbClr val="FFFFFF"/>
          </a:solidFill>
          <a:ln w="5715">
            <a:solidFill>
              <a:srgbClr val="D8E0EA"/>
            </a:solidFill>
            <a:prstDash val="solid"/>
          </a:ln>
        </p:spPr>
      </p:sp>
      <p:sp>
        <p:nvSpPr>
          <p:cNvPr id="68" name="Text 66"/>
          <p:cNvSpPr/>
          <p:nvPr/>
        </p:nvSpPr>
        <p:spPr>
          <a:xfrm>
            <a:off x="2761488"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4</a:t>
            </a:r>
            <a:endParaRPr lang="en-US" sz="780" dirty="0"/>
          </a:p>
        </p:txBody>
      </p:sp>
      <p:sp>
        <p:nvSpPr>
          <p:cNvPr id="69" name="Shape 67"/>
          <p:cNvSpPr/>
          <p:nvPr/>
        </p:nvSpPr>
        <p:spPr>
          <a:xfrm>
            <a:off x="3735324" y="4617720"/>
            <a:ext cx="992124" cy="612648"/>
          </a:xfrm>
          <a:prstGeom prst="rect">
            <a:avLst/>
          </a:prstGeom>
          <a:solidFill>
            <a:srgbClr val="FFFFFF"/>
          </a:solidFill>
          <a:ln w="5715">
            <a:solidFill>
              <a:srgbClr val="D8E0EA"/>
            </a:solidFill>
            <a:prstDash val="solid"/>
          </a:ln>
        </p:spPr>
      </p:sp>
      <p:sp>
        <p:nvSpPr>
          <p:cNvPr id="70" name="Text 68"/>
          <p:cNvSpPr/>
          <p:nvPr/>
        </p:nvSpPr>
        <p:spPr>
          <a:xfrm>
            <a:off x="3753612"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8,951</a:t>
            </a:r>
            <a:endParaRPr lang="en-US" sz="780" dirty="0"/>
          </a:p>
        </p:txBody>
      </p:sp>
      <p:sp>
        <p:nvSpPr>
          <p:cNvPr id="71" name="Shape 69"/>
          <p:cNvSpPr/>
          <p:nvPr/>
        </p:nvSpPr>
        <p:spPr>
          <a:xfrm>
            <a:off x="4727448" y="4617720"/>
            <a:ext cx="992124" cy="612648"/>
          </a:xfrm>
          <a:prstGeom prst="rect">
            <a:avLst/>
          </a:prstGeom>
          <a:solidFill>
            <a:srgbClr val="FFFFFF"/>
          </a:solidFill>
          <a:ln w="5715">
            <a:solidFill>
              <a:srgbClr val="D8E0EA"/>
            </a:solidFill>
            <a:prstDash val="solid"/>
          </a:ln>
        </p:spPr>
      </p:sp>
      <p:sp>
        <p:nvSpPr>
          <p:cNvPr id="72" name="Text 70"/>
          <p:cNvSpPr/>
          <p:nvPr/>
        </p:nvSpPr>
        <p:spPr>
          <a:xfrm>
            <a:off x="4745736"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-1.2k</a:t>
            </a:r>
            <a:endParaRPr lang="en-US" sz="780" dirty="0"/>
          </a:p>
        </p:txBody>
      </p:sp>
      <p:sp>
        <p:nvSpPr>
          <p:cNvPr id="73" name="Shape 71"/>
          <p:cNvSpPr/>
          <p:nvPr/>
        </p:nvSpPr>
        <p:spPr>
          <a:xfrm>
            <a:off x="5719572" y="4617720"/>
            <a:ext cx="992124" cy="612648"/>
          </a:xfrm>
          <a:prstGeom prst="rect">
            <a:avLst/>
          </a:prstGeom>
          <a:solidFill>
            <a:srgbClr val="FFFFFF"/>
          </a:solidFill>
          <a:ln w="5715">
            <a:solidFill>
              <a:srgbClr val="D8E0EA"/>
            </a:solidFill>
            <a:prstDash val="solid"/>
          </a:ln>
        </p:spPr>
      </p:sp>
      <p:sp>
        <p:nvSpPr>
          <p:cNvPr id="74" name="Text 72"/>
          <p:cNvSpPr/>
          <p:nvPr/>
        </p:nvSpPr>
        <p:spPr>
          <a:xfrm>
            <a:off x="5737860" y="4645152"/>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650k</a:t>
            </a:r>
            <a:endParaRPr lang="en-US" sz="780" dirty="0"/>
          </a:p>
        </p:txBody>
      </p:sp>
      <p:sp>
        <p:nvSpPr>
          <p:cNvPr id="75" name="Shape 73"/>
          <p:cNvSpPr/>
          <p:nvPr/>
        </p:nvSpPr>
        <p:spPr>
          <a:xfrm>
            <a:off x="758952" y="5230368"/>
            <a:ext cx="992124" cy="612648"/>
          </a:xfrm>
          <a:prstGeom prst="rect">
            <a:avLst/>
          </a:prstGeom>
          <a:solidFill>
            <a:srgbClr val="FFFFFF"/>
          </a:solidFill>
          <a:ln w="5715">
            <a:solidFill>
              <a:srgbClr val="D8E0EA"/>
            </a:solidFill>
            <a:prstDash val="solid"/>
          </a:ln>
        </p:spPr>
      </p:sp>
      <p:sp>
        <p:nvSpPr>
          <p:cNvPr id="76" name="Text 74"/>
          <p:cNvSpPr/>
          <p:nvPr/>
        </p:nvSpPr>
        <p:spPr>
          <a:xfrm>
            <a:off x="777240"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Default</a:t>
            </a:r>
            <a:endParaRPr lang="en-US" sz="780" dirty="0"/>
          </a:p>
        </p:txBody>
      </p:sp>
      <p:sp>
        <p:nvSpPr>
          <p:cNvPr id="77" name="Shape 75"/>
          <p:cNvSpPr/>
          <p:nvPr/>
        </p:nvSpPr>
        <p:spPr>
          <a:xfrm>
            <a:off x="1751076" y="5230368"/>
            <a:ext cx="992124" cy="612648"/>
          </a:xfrm>
          <a:prstGeom prst="rect">
            <a:avLst/>
          </a:prstGeom>
          <a:solidFill>
            <a:srgbClr val="FFFFFF"/>
          </a:solidFill>
          <a:ln w="5715">
            <a:solidFill>
              <a:srgbClr val="D8E0EA"/>
            </a:solidFill>
            <a:prstDash val="solid"/>
          </a:ln>
        </p:spPr>
      </p:sp>
      <p:sp>
        <p:nvSpPr>
          <p:cNvPr id="78" name="Text 76"/>
          <p:cNvSpPr/>
          <p:nvPr/>
        </p:nvSpPr>
        <p:spPr>
          <a:xfrm>
            <a:off x="1769364"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Binary</a:t>
            </a:r>
            <a:endParaRPr lang="en-US" sz="780" dirty="0"/>
          </a:p>
        </p:txBody>
      </p:sp>
      <p:sp>
        <p:nvSpPr>
          <p:cNvPr id="79" name="Shape 77"/>
          <p:cNvSpPr/>
          <p:nvPr/>
        </p:nvSpPr>
        <p:spPr>
          <a:xfrm>
            <a:off x="2743200" y="5230368"/>
            <a:ext cx="992124" cy="612648"/>
          </a:xfrm>
          <a:prstGeom prst="rect">
            <a:avLst/>
          </a:prstGeom>
          <a:solidFill>
            <a:srgbClr val="FFFFFF"/>
          </a:solidFill>
          <a:ln w="5715">
            <a:solidFill>
              <a:srgbClr val="D8E0EA"/>
            </a:solidFill>
            <a:prstDash val="solid"/>
          </a:ln>
        </p:spPr>
      </p:sp>
      <p:sp>
        <p:nvSpPr>
          <p:cNvPr id="80" name="Text 78"/>
          <p:cNvSpPr/>
          <p:nvPr/>
        </p:nvSpPr>
        <p:spPr>
          <a:xfrm>
            <a:off x="2761488"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81" name="Shape 79"/>
          <p:cNvSpPr/>
          <p:nvPr/>
        </p:nvSpPr>
        <p:spPr>
          <a:xfrm>
            <a:off x="3735324" y="5230368"/>
            <a:ext cx="992124" cy="612648"/>
          </a:xfrm>
          <a:prstGeom prst="rect">
            <a:avLst/>
          </a:prstGeom>
          <a:solidFill>
            <a:srgbClr val="FFFFFF"/>
          </a:solidFill>
          <a:ln w="5715">
            <a:solidFill>
              <a:srgbClr val="D8E0EA"/>
            </a:solidFill>
            <a:prstDash val="solid"/>
          </a:ln>
        </p:spPr>
      </p:sp>
      <p:sp>
        <p:nvSpPr>
          <p:cNvPr id="82" name="Text 80"/>
          <p:cNvSpPr/>
          <p:nvPr/>
        </p:nvSpPr>
        <p:spPr>
          <a:xfrm>
            <a:off x="3753612"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2</a:t>
            </a:r>
            <a:endParaRPr lang="en-US" sz="780" dirty="0"/>
          </a:p>
        </p:txBody>
      </p:sp>
      <p:sp>
        <p:nvSpPr>
          <p:cNvPr id="83" name="Shape 81"/>
          <p:cNvSpPr/>
          <p:nvPr/>
        </p:nvSpPr>
        <p:spPr>
          <a:xfrm>
            <a:off x="4727448" y="5230368"/>
            <a:ext cx="992124" cy="612648"/>
          </a:xfrm>
          <a:prstGeom prst="rect">
            <a:avLst/>
          </a:prstGeom>
          <a:solidFill>
            <a:srgbClr val="FFFFFF"/>
          </a:solidFill>
          <a:ln w="5715">
            <a:solidFill>
              <a:srgbClr val="D8E0EA"/>
            </a:solidFill>
            <a:prstDash val="solid"/>
          </a:ln>
        </p:spPr>
      </p:sp>
      <p:sp>
        <p:nvSpPr>
          <p:cNvPr id="84" name="Text 82"/>
          <p:cNvSpPr/>
          <p:nvPr/>
        </p:nvSpPr>
        <p:spPr>
          <a:xfrm>
            <a:off x="4745736"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85" name="Shape 83"/>
          <p:cNvSpPr/>
          <p:nvPr/>
        </p:nvSpPr>
        <p:spPr>
          <a:xfrm>
            <a:off x="5719572" y="5230368"/>
            <a:ext cx="992124" cy="612648"/>
          </a:xfrm>
          <a:prstGeom prst="rect">
            <a:avLst/>
          </a:prstGeom>
          <a:solidFill>
            <a:srgbClr val="FFFFFF"/>
          </a:solidFill>
          <a:ln w="5715">
            <a:solidFill>
              <a:srgbClr val="D8E0EA"/>
            </a:solidFill>
            <a:prstDash val="solid"/>
          </a:ln>
        </p:spPr>
      </p:sp>
      <p:sp>
        <p:nvSpPr>
          <p:cNvPr id="86" name="Text 84"/>
          <p:cNvSpPr/>
          <p:nvPr/>
        </p:nvSpPr>
        <p:spPr>
          <a:xfrm>
            <a:off x="5737860" y="5257800"/>
            <a:ext cx="955548" cy="576072"/>
          </a:xfrm>
          <a:prstGeom prst="rect">
            <a:avLst/>
          </a:prstGeom>
          <a:noFill/>
          <a:ln/>
        </p:spPr>
        <p:txBody>
          <a:bodyPr wrap="square" lIns="0" tIns="0" rIns="0" bIns="0" rtlCol="0" anchor="ctr">
            <a:normAutofit/>
          </a:bodyPr>
          <a:lstStyle/>
          <a:p>
            <a:pPr marL="0" indent="0">
              <a:buNone/>
            </a:pPr>
            <a:r>
              <a:rPr lang="en-US" sz="780" dirty="0">
                <a:solidFill>
                  <a:srgbClr val="26364A"/>
                </a:solidFill>
              </a:rPr>
              <a:t>1</a:t>
            </a:r>
            <a:endParaRPr lang="en-US" sz="780" dirty="0"/>
          </a:p>
        </p:txBody>
      </p:sp>
      <p:sp>
        <p:nvSpPr>
          <p:cNvPr id="87" name="Shape 85"/>
          <p:cNvSpPr/>
          <p:nvPr/>
        </p:nvSpPr>
        <p:spPr>
          <a:xfrm>
            <a:off x="7132320" y="1591056"/>
            <a:ext cx="3950208" cy="960120"/>
          </a:xfrm>
          <a:prstGeom prst="roundRect">
            <a:avLst>
              <a:gd name="adj" fmla="val 7619"/>
            </a:avLst>
          </a:prstGeom>
          <a:solidFill>
            <a:srgbClr val="EAF1FF"/>
          </a:solidFill>
          <a:ln w="10160">
            <a:solidFill>
              <a:srgbClr val="E9EEF5"/>
            </a:solidFill>
            <a:prstDash val="solid"/>
          </a:ln>
        </p:spPr>
      </p:sp>
      <p:sp>
        <p:nvSpPr>
          <p:cNvPr id="88" name="Text 86"/>
          <p:cNvSpPr/>
          <p:nvPr/>
        </p:nvSpPr>
        <p:spPr>
          <a:xfrm>
            <a:off x="7296912" y="1728216"/>
            <a:ext cx="362102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How many rows?</a:t>
            </a:r>
            <a:endParaRPr lang="en-US" sz="1500" dirty="0"/>
          </a:p>
        </p:txBody>
      </p:sp>
      <p:sp>
        <p:nvSpPr>
          <p:cNvPr id="89" name="Text 87"/>
          <p:cNvSpPr/>
          <p:nvPr/>
        </p:nvSpPr>
        <p:spPr>
          <a:xfrm>
            <a:off x="7296912" y="2066544"/>
            <a:ext cx="3621024"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ROWS, COUNTA or Table totals.</a:t>
            </a:r>
            <a:endParaRPr lang="en-US" sz="1150" dirty="0"/>
          </a:p>
        </p:txBody>
      </p:sp>
      <p:sp>
        <p:nvSpPr>
          <p:cNvPr id="90" name="Shape 88"/>
          <p:cNvSpPr/>
          <p:nvPr/>
        </p:nvSpPr>
        <p:spPr>
          <a:xfrm>
            <a:off x="7132320" y="2715768"/>
            <a:ext cx="3950208" cy="960120"/>
          </a:xfrm>
          <a:prstGeom prst="roundRect">
            <a:avLst>
              <a:gd name="adj" fmla="val 7619"/>
            </a:avLst>
          </a:prstGeom>
          <a:solidFill>
            <a:srgbClr val="E6F7F5"/>
          </a:solidFill>
          <a:ln w="10160">
            <a:solidFill>
              <a:srgbClr val="E9EEF5"/>
            </a:solidFill>
            <a:prstDash val="solid"/>
          </a:ln>
        </p:spPr>
      </p:sp>
      <p:sp>
        <p:nvSpPr>
          <p:cNvPr id="91" name="Text 89"/>
          <p:cNvSpPr/>
          <p:nvPr/>
        </p:nvSpPr>
        <p:spPr>
          <a:xfrm>
            <a:off x="7296912" y="2852928"/>
            <a:ext cx="362102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How many unique values?</a:t>
            </a:r>
            <a:endParaRPr lang="en-US" sz="1500" dirty="0"/>
          </a:p>
        </p:txBody>
      </p:sp>
      <p:sp>
        <p:nvSpPr>
          <p:cNvPr id="92" name="Text 90"/>
          <p:cNvSpPr/>
          <p:nvPr/>
        </p:nvSpPr>
        <p:spPr>
          <a:xfrm>
            <a:off x="7296912" y="3191256"/>
            <a:ext cx="3621024"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UNIQUE + ROWS (modern Excel) or PivotTable.</a:t>
            </a:r>
            <a:endParaRPr lang="en-US" sz="1150" dirty="0"/>
          </a:p>
        </p:txBody>
      </p:sp>
      <p:sp>
        <p:nvSpPr>
          <p:cNvPr id="93" name="Shape 91"/>
          <p:cNvSpPr/>
          <p:nvPr/>
        </p:nvSpPr>
        <p:spPr>
          <a:xfrm>
            <a:off x="7132320" y="3840480"/>
            <a:ext cx="3950208" cy="960120"/>
          </a:xfrm>
          <a:prstGeom prst="roundRect">
            <a:avLst>
              <a:gd name="adj" fmla="val 7619"/>
            </a:avLst>
          </a:prstGeom>
          <a:solidFill>
            <a:srgbClr val="FFF4E2"/>
          </a:solidFill>
          <a:ln w="10160">
            <a:solidFill>
              <a:srgbClr val="E9EEF5"/>
            </a:solidFill>
            <a:prstDash val="solid"/>
          </a:ln>
        </p:spPr>
      </p:sp>
      <p:sp>
        <p:nvSpPr>
          <p:cNvPr id="94" name="Text 92"/>
          <p:cNvSpPr/>
          <p:nvPr/>
        </p:nvSpPr>
        <p:spPr>
          <a:xfrm>
            <a:off x="7296912" y="3977640"/>
            <a:ext cx="362102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What is missing?</a:t>
            </a:r>
            <a:endParaRPr lang="en-US" sz="1500" dirty="0"/>
          </a:p>
        </p:txBody>
      </p:sp>
      <p:sp>
        <p:nvSpPr>
          <p:cNvPr id="95" name="Text 93"/>
          <p:cNvSpPr/>
          <p:nvPr/>
        </p:nvSpPr>
        <p:spPr>
          <a:xfrm>
            <a:off x="7296912" y="4315968"/>
            <a:ext cx="3621024"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COUNTBLANK, ISBLANK, filters and conditional formatting.</a:t>
            </a:r>
            <a:endParaRPr lang="en-US" sz="1150" dirty="0"/>
          </a:p>
        </p:txBody>
      </p:sp>
      <p:sp>
        <p:nvSpPr>
          <p:cNvPr id="96" name="Shape 94"/>
          <p:cNvSpPr/>
          <p:nvPr/>
        </p:nvSpPr>
        <p:spPr>
          <a:xfrm>
            <a:off x="6976872" y="5148072"/>
            <a:ext cx="4169664" cy="420624"/>
          </a:xfrm>
          <a:prstGeom prst="roundRect">
            <a:avLst>
              <a:gd name="adj" fmla="val 10870"/>
            </a:avLst>
          </a:prstGeom>
          <a:solidFill>
            <a:srgbClr val="F8FBF9"/>
          </a:solidFill>
          <a:ln w="12700">
            <a:solidFill>
              <a:srgbClr val="217346"/>
            </a:solidFill>
            <a:prstDash val="solid"/>
          </a:ln>
        </p:spPr>
      </p:sp>
      <p:sp>
        <p:nvSpPr>
          <p:cNvPr id="97" name="Text 95"/>
          <p:cNvSpPr/>
          <p:nvPr/>
        </p:nvSpPr>
        <p:spPr>
          <a:xfrm>
            <a:off x="7086600" y="5230368"/>
            <a:ext cx="3950208" cy="219456"/>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132238"/>
                </a:solidFill>
                <a:latin typeface="Aptos Mono" pitchFamily="34" charset="0"/>
                <a:ea typeface="Aptos Mono" pitchFamily="34" charset="-122"/>
                <a:cs typeface="Aptos Mono" pitchFamily="34" charset="-120"/>
              </a:rPr>
              <a:t>=ROWS(Table1)   =COUNTA(Table1[CustomerID])   =COUNTBLANK(Table1[Income])</a:t>
            </a:r>
            <a:endParaRPr lang="en-US" sz="1050" dirty="0"/>
          </a:p>
        </p:txBody>
      </p:sp>
      <p:sp>
        <p:nvSpPr>
          <p:cNvPr id="9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Descriptive statistics: centre, spread and shape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Summary statistics compress a distribution into a few interpretable numbers.</a:t>
            </a:r>
            <a:endParaRPr lang="en-US" sz="1300" dirty="0"/>
          </a:p>
        </p:txBody>
      </p:sp>
      <p:sp>
        <p:nvSpPr>
          <p:cNvPr id="7" name="Shape 5"/>
          <p:cNvSpPr/>
          <p:nvPr/>
        </p:nvSpPr>
        <p:spPr>
          <a:xfrm>
            <a:off x="713232" y="1517904"/>
            <a:ext cx="3383280" cy="1444752"/>
          </a:xfrm>
          <a:prstGeom prst="roundRect">
            <a:avLst>
              <a:gd name="adj" fmla="val 5063"/>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877824" y="1655064"/>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Mean</a:t>
            </a:r>
            <a:endParaRPr lang="en-US" sz="1500" dirty="0"/>
          </a:p>
        </p:txBody>
      </p:sp>
      <p:sp>
        <p:nvSpPr>
          <p:cNvPr id="9" name="Text 7"/>
          <p:cNvSpPr/>
          <p:nvPr/>
        </p:nvSpPr>
        <p:spPr>
          <a:xfrm>
            <a:off x="877824" y="1993392"/>
            <a:ext cx="305409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Average level</a:t>
            </a:r>
            <a:endParaRPr lang="en-US" sz="1150" dirty="0"/>
          </a:p>
        </p:txBody>
      </p:sp>
      <p:sp>
        <p:nvSpPr>
          <p:cNvPr id="10" name="Shape 8"/>
          <p:cNvSpPr/>
          <p:nvPr/>
        </p:nvSpPr>
        <p:spPr>
          <a:xfrm>
            <a:off x="713232" y="1517904"/>
            <a:ext cx="73152" cy="1444752"/>
          </a:xfrm>
          <a:prstGeom prst="rect">
            <a:avLst/>
          </a:prstGeom>
          <a:solidFill>
            <a:srgbClr val="2F6BFF"/>
          </a:solidFill>
          <a:ln w="12700">
            <a:solidFill>
              <a:srgbClr val="2F6BFF"/>
            </a:solidFill>
            <a:prstDash val="solid"/>
          </a:ln>
        </p:spPr>
      </p:sp>
      <p:sp>
        <p:nvSpPr>
          <p:cNvPr id="11" name="Text 9"/>
          <p:cNvSpPr/>
          <p:nvPr/>
        </p:nvSpPr>
        <p:spPr>
          <a:xfrm>
            <a:off x="896112" y="2505456"/>
            <a:ext cx="2971800" cy="246888"/>
          </a:xfrm>
          <a:prstGeom prst="rect">
            <a:avLst/>
          </a:prstGeom>
          <a:noFill/>
          <a:ln/>
        </p:spPr>
        <p:txBody>
          <a:bodyPr wrap="square" lIns="0" tIns="0" rIns="0" bIns="0" rtlCol="0" anchor="ctr">
            <a:normAutofit/>
          </a:bodyPr>
          <a:lstStyle/>
          <a:p>
            <a:pPr marL="0" indent="0">
              <a:buNone/>
            </a:pPr>
            <a:r>
              <a:rPr lang="en-US" sz="940" dirty="0">
                <a:solidFill>
                  <a:srgbClr val="217346"/>
                </a:solidFill>
                <a:latin typeface="Aptos Mono" pitchFamily="34" charset="0"/>
                <a:ea typeface="Aptos Mono" pitchFamily="34" charset="-122"/>
                <a:cs typeface="Aptos Mono" pitchFamily="34" charset="-120"/>
              </a:rPr>
              <a:t>=AVERAGE(range)</a:t>
            </a:r>
            <a:endParaRPr lang="en-US" sz="940" dirty="0"/>
          </a:p>
        </p:txBody>
      </p:sp>
      <p:sp>
        <p:nvSpPr>
          <p:cNvPr id="12" name="Shape 10"/>
          <p:cNvSpPr/>
          <p:nvPr/>
        </p:nvSpPr>
        <p:spPr>
          <a:xfrm>
            <a:off x="4462272" y="1517904"/>
            <a:ext cx="3383280" cy="1444752"/>
          </a:xfrm>
          <a:prstGeom prst="roundRect">
            <a:avLst>
              <a:gd name="adj" fmla="val 5063"/>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3" name="Text 11"/>
          <p:cNvSpPr/>
          <p:nvPr/>
        </p:nvSpPr>
        <p:spPr>
          <a:xfrm>
            <a:off x="4626864" y="1655064"/>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Median</a:t>
            </a:r>
            <a:endParaRPr lang="en-US" sz="1500" dirty="0"/>
          </a:p>
        </p:txBody>
      </p:sp>
      <p:sp>
        <p:nvSpPr>
          <p:cNvPr id="14" name="Text 12"/>
          <p:cNvSpPr/>
          <p:nvPr/>
        </p:nvSpPr>
        <p:spPr>
          <a:xfrm>
            <a:off x="4626864" y="1993392"/>
            <a:ext cx="305409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Middle value</a:t>
            </a:r>
            <a:endParaRPr lang="en-US" sz="1150" dirty="0"/>
          </a:p>
        </p:txBody>
      </p:sp>
      <p:sp>
        <p:nvSpPr>
          <p:cNvPr id="15" name="Shape 13"/>
          <p:cNvSpPr/>
          <p:nvPr/>
        </p:nvSpPr>
        <p:spPr>
          <a:xfrm>
            <a:off x="4462272" y="1517904"/>
            <a:ext cx="73152" cy="1444752"/>
          </a:xfrm>
          <a:prstGeom prst="rect">
            <a:avLst/>
          </a:prstGeom>
          <a:solidFill>
            <a:srgbClr val="009E9A"/>
          </a:solidFill>
          <a:ln w="12700">
            <a:solidFill>
              <a:srgbClr val="009E9A"/>
            </a:solidFill>
            <a:prstDash val="solid"/>
          </a:ln>
        </p:spPr>
      </p:sp>
      <p:sp>
        <p:nvSpPr>
          <p:cNvPr id="16" name="Text 14"/>
          <p:cNvSpPr/>
          <p:nvPr/>
        </p:nvSpPr>
        <p:spPr>
          <a:xfrm>
            <a:off x="4645152" y="2505456"/>
            <a:ext cx="2971800" cy="246888"/>
          </a:xfrm>
          <a:prstGeom prst="rect">
            <a:avLst/>
          </a:prstGeom>
          <a:noFill/>
          <a:ln/>
        </p:spPr>
        <p:txBody>
          <a:bodyPr wrap="square" lIns="0" tIns="0" rIns="0" bIns="0" rtlCol="0" anchor="ctr">
            <a:normAutofit/>
          </a:bodyPr>
          <a:lstStyle/>
          <a:p>
            <a:pPr marL="0" indent="0">
              <a:buNone/>
            </a:pPr>
            <a:r>
              <a:rPr lang="en-US" sz="940" dirty="0">
                <a:solidFill>
                  <a:srgbClr val="217346"/>
                </a:solidFill>
                <a:latin typeface="Aptos Mono" pitchFamily="34" charset="0"/>
                <a:ea typeface="Aptos Mono" pitchFamily="34" charset="-122"/>
                <a:cs typeface="Aptos Mono" pitchFamily="34" charset="-120"/>
              </a:rPr>
              <a:t>=MEDIAN(range)</a:t>
            </a:r>
            <a:endParaRPr lang="en-US" sz="940" dirty="0"/>
          </a:p>
        </p:txBody>
      </p:sp>
      <p:sp>
        <p:nvSpPr>
          <p:cNvPr id="17" name="Shape 15"/>
          <p:cNvSpPr/>
          <p:nvPr/>
        </p:nvSpPr>
        <p:spPr>
          <a:xfrm>
            <a:off x="8211312" y="1517904"/>
            <a:ext cx="3383280" cy="1444752"/>
          </a:xfrm>
          <a:prstGeom prst="roundRect">
            <a:avLst>
              <a:gd name="adj" fmla="val 5063"/>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8" name="Text 16"/>
          <p:cNvSpPr/>
          <p:nvPr/>
        </p:nvSpPr>
        <p:spPr>
          <a:xfrm>
            <a:off x="8375904" y="1655064"/>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Std. deviation</a:t>
            </a:r>
            <a:endParaRPr lang="en-US" sz="1500" dirty="0"/>
          </a:p>
        </p:txBody>
      </p:sp>
      <p:sp>
        <p:nvSpPr>
          <p:cNvPr id="19" name="Text 17"/>
          <p:cNvSpPr/>
          <p:nvPr/>
        </p:nvSpPr>
        <p:spPr>
          <a:xfrm>
            <a:off x="8375904" y="1993392"/>
            <a:ext cx="305409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Typical spread</a:t>
            </a:r>
            <a:endParaRPr lang="en-US" sz="1150" dirty="0"/>
          </a:p>
        </p:txBody>
      </p:sp>
      <p:sp>
        <p:nvSpPr>
          <p:cNvPr id="20" name="Shape 18"/>
          <p:cNvSpPr/>
          <p:nvPr/>
        </p:nvSpPr>
        <p:spPr>
          <a:xfrm>
            <a:off x="8211312" y="1517904"/>
            <a:ext cx="73152" cy="1444752"/>
          </a:xfrm>
          <a:prstGeom prst="rect">
            <a:avLst/>
          </a:prstGeom>
          <a:solidFill>
            <a:srgbClr val="7A5AF8"/>
          </a:solidFill>
          <a:ln w="12700">
            <a:solidFill>
              <a:srgbClr val="7A5AF8"/>
            </a:solidFill>
            <a:prstDash val="solid"/>
          </a:ln>
        </p:spPr>
      </p:sp>
      <p:sp>
        <p:nvSpPr>
          <p:cNvPr id="21" name="Text 19"/>
          <p:cNvSpPr/>
          <p:nvPr/>
        </p:nvSpPr>
        <p:spPr>
          <a:xfrm>
            <a:off x="8394192" y="2505456"/>
            <a:ext cx="2971800" cy="246888"/>
          </a:xfrm>
          <a:prstGeom prst="rect">
            <a:avLst/>
          </a:prstGeom>
          <a:noFill/>
          <a:ln/>
        </p:spPr>
        <p:txBody>
          <a:bodyPr wrap="square" lIns="0" tIns="0" rIns="0" bIns="0" rtlCol="0" anchor="ctr">
            <a:normAutofit/>
          </a:bodyPr>
          <a:lstStyle/>
          <a:p>
            <a:pPr marL="0" indent="0">
              <a:buNone/>
            </a:pPr>
            <a:r>
              <a:rPr lang="en-US" sz="940" dirty="0">
                <a:solidFill>
                  <a:srgbClr val="217346"/>
                </a:solidFill>
                <a:latin typeface="Aptos Mono" pitchFamily="34" charset="0"/>
                <a:ea typeface="Aptos Mono" pitchFamily="34" charset="-122"/>
                <a:cs typeface="Aptos Mono" pitchFamily="34" charset="-120"/>
              </a:rPr>
              <a:t>=STDEV.S(range)</a:t>
            </a:r>
            <a:endParaRPr lang="en-US" sz="940" dirty="0"/>
          </a:p>
        </p:txBody>
      </p:sp>
      <p:sp>
        <p:nvSpPr>
          <p:cNvPr id="22" name="Shape 20"/>
          <p:cNvSpPr/>
          <p:nvPr/>
        </p:nvSpPr>
        <p:spPr>
          <a:xfrm>
            <a:off x="713232" y="3346704"/>
            <a:ext cx="3383280" cy="1444752"/>
          </a:xfrm>
          <a:prstGeom prst="roundRect">
            <a:avLst>
              <a:gd name="adj" fmla="val 5063"/>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3" name="Text 21"/>
          <p:cNvSpPr/>
          <p:nvPr/>
        </p:nvSpPr>
        <p:spPr>
          <a:xfrm>
            <a:off x="877824" y="3483864"/>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Min / Max</a:t>
            </a:r>
            <a:endParaRPr lang="en-US" sz="1500" dirty="0"/>
          </a:p>
        </p:txBody>
      </p:sp>
      <p:sp>
        <p:nvSpPr>
          <p:cNvPr id="24" name="Text 22"/>
          <p:cNvSpPr/>
          <p:nvPr/>
        </p:nvSpPr>
        <p:spPr>
          <a:xfrm>
            <a:off x="877824" y="3822192"/>
            <a:ext cx="305409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Observed range</a:t>
            </a:r>
            <a:endParaRPr lang="en-US" sz="1150" dirty="0"/>
          </a:p>
        </p:txBody>
      </p:sp>
      <p:sp>
        <p:nvSpPr>
          <p:cNvPr id="25" name="Shape 23"/>
          <p:cNvSpPr/>
          <p:nvPr/>
        </p:nvSpPr>
        <p:spPr>
          <a:xfrm>
            <a:off x="713232" y="3346704"/>
            <a:ext cx="73152" cy="1444752"/>
          </a:xfrm>
          <a:prstGeom prst="rect">
            <a:avLst/>
          </a:prstGeom>
          <a:solidFill>
            <a:srgbClr val="F59E0B"/>
          </a:solidFill>
          <a:ln w="12700">
            <a:solidFill>
              <a:srgbClr val="F59E0B"/>
            </a:solidFill>
            <a:prstDash val="solid"/>
          </a:ln>
        </p:spPr>
      </p:sp>
      <p:sp>
        <p:nvSpPr>
          <p:cNvPr id="26" name="Text 24"/>
          <p:cNvSpPr/>
          <p:nvPr/>
        </p:nvSpPr>
        <p:spPr>
          <a:xfrm>
            <a:off x="896112" y="4334256"/>
            <a:ext cx="2971800" cy="246888"/>
          </a:xfrm>
          <a:prstGeom prst="rect">
            <a:avLst/>
          </a:prstGeom>
          <a:noFill/>
          <a:ln/>
        </p:spPr>
        <p:txBody>
          <a:bodyPr wrap="square" lIns="0" tIns="0" rIns="0" bIns="0" rtlCol="0" anchor="ctr">
            <a:normAutofit/>
          </a:bodyPr>
          <a:lstStyle/>
          <a:p>
            <a:pPr marL="0" indent="0">
              <a:buNone/>
            </a:pPr>
            <a:r>
              <a:rPr lang="en-US" sz="940" dirty="0">
                <a:solidFill>
                  <a:srgbClr val="217346"/>
                </a:solidFill>
                <a:latin typeface="Aptos Mono" pitchFamily="34" charset="0"/>
                <a:ea typeface="Aptos Mono" pitchFamily="34" charset="-122"/>
                <a:cs typeface="Aptos Mono" pitchFamily="34" charset="-120"/>
              </a:rPr>
              <a:t>=MIN(range) / =MAX(range)</a:t>
            </a:r>
            <a:endParaRPr lang="en-US" sz="940" dirty="0"/>
          </a:p>
        </p:txBody>
      </p:sp>
      <p:sp>
        <p:nvSpPr>
          <p:cNvPr id="27" name="Shape 25"/>
          <p:cNvSpPr/>
          <p:nvPr/>
        </p:nvSpPr>
        <p:spPr>
          <a:xfrm>
            <a:off x="4462272" y="3346704"/>
            <a:ext cx="3383280" cy="1444752"/>
          </a:xfrm>
          <a:prstGeom prst="roundRect">
            <a:avLst>
              <a:gd name="adj" fmla="val 5063"/>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8" name="Text 26"/>
          <p:cNvSpPr/>
          <p:nvPr/>
        </p:nvSpPr>
        <p:spPr>
          <a:xfrm>
            <a:off x="4626864" y="3483864"/>
            <a:ext cx="30540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Quartiles</a:t>
            </a:r>
            <a:endParaRPr lang="en-US" sz="1500" dirty="0"/>
          </a:p>
        </p:txBody>
      </p:sp>
      <p:sp>
        <p:nvSpPr>
          <p:cNvPr id="29" name="Text 27"/>
          <p:cNvSpPr/>
          <p:nvPr/>
        </p:nvSpPr>
        <p:spPr>
          <a:xfrm>
            <a:off x="4626864" y="3822192"/>
            <a:ext cx="305409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25th / 50th / 75th percentiles</a:t>
            </a:r>
            <a:endParaRPr lang="en-US" sz="1150" dirty="0"/>
          </a:p>
        </p:txBody>
      </p:sp>
      <p:sp>
        <p:nvSpPr>
          <p:cNvPr id="30" name="Shape 28"/>
          <p:cNvSpPr/>
          <p:nvPr/>
        </p:nvSpPr>
        <p:spPr>
          <a:xfrm>
            <a:off x="4462272" y="3346704"/>
            <a:ext cx="73152" cy="1444752"/>
          </a:xfrm>
          <a:prstGeom prst="rect">
            <a:avLst/>
          </a:prstGeom>
          <a:solidFill>
            <a:srgbClr val="2DAA74"/>
          </a:solidFill>
          <a:ln w="12700">
            <a:solidFill>
              <a:srgbClr val="2DAA74"/>
            </a:solidFill>
            <a:prstDash val="solid"/>
          </a:ln>
        </p:spPr>
      </p:sp>
      <p:sp>
        <p:nvSpPr>
          <p:cNvPr id="31" name="Text 29"/>
          <p:cNvSpPr/>
          <p:nvPr/>
        </p:nvSpPr>
        <p:spPr>
          <a:xfrm>
            <a:off x="4645152" y="4334256"/>
            <a:ext cx="2971800" cy="246888"/>
          </a:xfrm>
          <a:prstGeom prst="rect">
            <a:avLst/>
          </a:prstGeom>
          <a:noFill/>
          <a:ln/>
        </p:spPr>
        <p:txBody>
          <a:bodyPr wrap="square" lIns="0" tIns="0" rIns="0" bIns="0" rtlCol="0" anchor="ctr">
            <a:normAutofit/>
          </a:bodyPr>
          <a:lstStyle/>
          <a:p>
            <a:pPr marL="0" indent="0">
              <a:buNone/>
            </a:pPr>
            <a:r>
              <a:rPr lang="en-US" sz="940" dirty="0">
                <a:solidFill>
                  <a:srgbClr val="217346"/>
                </a:solidFill>
                <a:latin typeface="Aptos Mono" pitchFamily="34" charset="0"/>
                <a:ea typeface="Aptos Mono" pitchFamily="34" charset="-122"/>
                <a:cs typeface="Aptos Mono" pitchFamily="34" charset="-120"/>
              </a:rPr>
              <a:t>=QUARTILE.INC(range,k)</a:t>
            </a:r>
            <a:endParaRPr lang="en-US" sz="940" dirty="0"/>
          </a:p>
        </p:txBody>
      </p:sp>
      <p:sp>
        <p:nvSpPr>
          <p:cNvPr id="32" name="Shape 30"/>
          <p:cNvSpPr/>
          <p:nvPr/>
        </p:nvSpPr>
        <p:spPr>
          <a:xfrm>
            <a:off x="8211312" y="3346704"/>
            <a:ext cx="3200400" cy="1444752"/>
          </a:xfrm>
          <a:prstGeom prst="roundRect">
            <a:avLst>
              <a:gd name="adj" fmla="val 5063"/>
            </a:avLst>
          </a:prstGeom>
          <a:solidFill>
            <a:srgbClr val="FDECEC"/>
          </a:solidFill>
          <a:ln w="10160">
            <a:solidFill>
              <a:srgbClr val="E9EEF5"/>
            </a:solidFill>
            <a:prstDash val="solid"/>
          </a:ln>
        </p:spPr>
      </p:sp>
      <p:sp>
        <p:nvSpPr>
          <p:cNvPr id="33" name="Text 31"/>
          <p:cNvSpPr/>
          <p:nvPr/>
        </p:nvSpPr>
        <p:spPr>
          <a:xfrm>
            <a:off x="8375904" y="3483864"/>
            <a:ext cx="28712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Important</a:t>
            </a:r>
            <a:endParaRPr lang="en-US" sz="1500" dirty="0"/>
          </a:p>
        </p:txBody>
      </p:sp>
      <p:sp>
        <p:nvSpPr>
          <p:cNvPr id="34" name="Text 32"/>
          <p:cNvSpPr/>
          <p:nvPr/>
        </p:nvSpPr>
        <p:spPr>
          <a:xfrm>
            <a:off x="8375904" y="3822192"/>
            <a:ext cx="2871216" cy="8412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Mean and standard deviation can be heavily affected by outliers. Always compare with median and quartiles.</a:t>
            </a:r>
            <a:endParaRPr lang="en-US" sz="1150" dirty="0"/>
          </a:p>
        </p:txBody>
      </p:sp>
      <p:sp>
        <p:nvSpPr>
          <p:cNvPr id="35" name="Shape 33"/>
          <p:cNvSpPr/>
          <p:nvPr/>
        </p:nvSpPr>
        <p:spPr>
          <a:xfrm>
            <a:off x="1170432" y="5669280"/>
            <a:ext cx="9829800" cy="530352"/>
          </a:xfrm>
          <a:prstGeom prst="roundRect">
            <a:avLst>
              <a:gd name="adj" fmla="val 8621"/>
            </a:avLst>
          </a:prstGeom>
          <a:solidFill>
            <a:srgbClr val="FFFFFF"/>
          </a:solidFill>
          <a:ln w="15240">
            <a:solidFill>
              <a:srgbClr val="2F6BFF"/>
            </a:solidFill>
            <a:prstDash val="solid"/>
          </a:ln>
        </p:spPr>
      </p:sp>
      <p:sp>
        <p:nvSpPr>
          <p:cNvPr id="36" name="Shape 34"/>
          <p:cNvSpPr/>
          <p:nvPr/>
        </p:nvSpPr>
        <p:spPr>
          <a:xfrm>
            <a:off x="1170432" y="5669280"/>
            <a:ext cx="73152" cy="530352"/>
          </a:xfrm>
          <a:prstGeom prst="rect">
            <a:avLst/>
          </a:prstGeom>
          <a:solidFill>
            <a:srgbClr val="2F6BFF"/>
          </a:solidFill>
          <a:ln w="12700">
            <a:solidFill>
              <a:srgbClr val="2F6BFF"/>
            </a:solidFill>
            <a:prstDash val="solid"/>
          </a:ln>
        </p:spPr>
      </p:sp>
      <p:sp>
        <p:nvSpPr>
          <p:cNvPr id="37" name="Text 35"/>
          <p:cNvSpPr/>
          <p:nvPr/>
        </p:nvSpPr>
        <p:spPr>
          <a:xfrm>
            <a:off x="1335024" y="5779008"/>
            <a:ext cx="9573768" cy="310896"/>
          </a:xfrm>
          <a:prstGeom prst="rect">
            <a:avLst/>
          </a:prstGeom>
          <a:noFill/>
          <a:ln/>
        </p:spPr>
        <p:txBody>
          <a:bodyPr wrap="square" lIns="0" tIns="0" rIns="0" bIns="0" rtlCol="0" anchor="ctr">
            <a:normAutofit/>
          </a:bodyPr>
          <a:lstStyle/>
          <a:p>
            <a:pPr marL="0" indent="0">
              <a:buNone/>
            </a:pPr>
            <a:r>
              <a:rPr lang="en-US" sz="1150" b="1" dirty="0">
                <a:solidFill>
                  <a:srgbClr val="0B1F33"/>
                </a:solidFill>
              </a:rPr>
              <a:t>The “Descriptive Statistics” option in Excel Analysis ToolPak can generate a compact summary table.</a:t>
            </a:r>
            <a:endParaRPr lang="en-US" sz="1150" dirty="0"/>
          </a:p>
        </p:txBody>
      </p:sp>
      <p:sp>
        <p:nvSpPr>
          <p:cNvPr id="3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PivotTables: fast multivariate EDA without writing formulas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PivotTables help answer “how does a metric differ across groups?”</a:t>
            </a:r>
            <a:endParaRPr lang="en-US" sz="1300" dirty="0"/>
          </a:p>
        </p:txBody>
      </p:sp>
      <p:sp>
        <p:nvSpPr>
          <p:cNvPr id="7" name="Shape 5"/>
          <p:cNvSpPr/>
          <p:nvPr/>
        </p:nvSpPr>
        <p:spPr>
          <a:xfrm>
            <a:off x="658368" y="1426464"/>
            <a:ext cx="5596128" cy="4498848"/>
          </a:xfrm>
          <a:prstGeom prst="roundRect">
            <a:avLst>
              <a:gd name="adj" fmla="val 1016"/>
            </a:avLst>
          </a:prstGeom>
          <a:solidFill>
            <a:srgbClr val="FFFFFF"/>
          </a:solidFill>
          <a:ln w="10160">
            <a:solidFill>
              <a:srgbClr val="AEB8C5"/>
            </a:solidFill>
            <a:prstDash val="solid"/>
          </a:ln>
        </p:spPr>
      </p:sp>
      <p:sp>
        <p:nvSpPr>
          <p:cNvPr id="8" name="Shape 6"/>
          <p:cNvSpPr/>
          <p:nvPr/>
        </p:nvSpPr>
        <p:spPr>
          <a:xfrm>
            <a:off x="658368" y="1426464"/>
            <a:ext cx="5596128" cy="329184"/>
          </a:xfrm>
          <a:prstGeom prst="rect">
            <a:avLst/>
          </a:prstGeom>
          <a:solidFill>
            <a:srgbClr val="217346"/>
          </a:solidFill>
          <a:ln w="12700">
            <a:solidFill>
              <a:srgbClr val="217346"/>
            </a:solidFill>
            <a:prstDash val="solid"/>
          </a:ln>
        </p:spPr>
      </p:sp>
      <p:sp>
        <p:nvSpPr>
          <p:cNvPr id="9" name="Shape 7"/>
          <p:cNvSpPr/>
          <p:nvPr/>
        </p:nvSpPr>
        <p:spPr>
          <a:xfrm>
            <a:off x="768096" y="1472184"/>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68096" y="1481328"/>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78992" y="1499616"/>
            <a:ext cx="5065776" cy="182880"/>
          </a:xfrm>
          <a:prstGeom prst="rect">
            <a:avLst/>
          </a:prstGeom>
          <a:noFill/>
          <a:ln/>
        </p:spPr>
        <p:txBody>
          <a:bodyPr wrap="square" lIns="0" tIns="0" rIns="0" bIns="0" rtlCol="0" anchor="ctr"/>
          <a:lstStyle/>
          <a:p>
            <a:pPr marL="0" indent="0">
              <a:buNone/>
            </a:pPr>
            <a:r>
              <a:rPr lang="en-US" sz="950" b="1" dirty="0">
                <a:solidFill>
                  <a:srgbClr val="FFFFFF"/>
                </a:solidFill>
              </a:rPr>
              <a:t>PivotTable output</a:t>
            </a:r>
            <a:endParaRPr lang="en-US" sz="950" dirty="0"/>
          </a:p>
        </p:txBody>
      </p:sp>
      <p:sp>
        <p:nvSpPr>
          <p:cNvPr id="12" name="Shape 10"/>
          <p:cNvSpPr/>
          <p:nvPr/>
        </p:nvSpPr>
        <p:spPr>
          <a:xfrm>
            <a:off x="713232" y="1810512"/>
            <a:ext cx="5486400" cy="292608"/>
          </a:xfrm>
          <a:prstGeom prst="rect">
            <a:avLst/>
          </a:prstGeom>
          <a:solidFill>
            <a:srgbClr val="FAFCFD"/>
          </a:solidFill>
          <a:ln w="6350">
            <a:solidFill>
              <a:srgbClr val="D8E0EA"/>
            </a:solidFill>
            <a:prstDash val="solid"/>
          </a:ln>
        </p:spPr>
      </p:sp>
      <p:sp>
        <p:nvSpPr>
          <p:cNvPr id="13" name="Text 11"/>
          <p:cNvSpPr/>
          <p:nvPr/>
        </p:nvSpPr>
        <p:spPr>
          <a:xfrm>
            <a:off x="768096" y="1874520"/>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24128" y="1865376"/>
            <a:ext cx="5120640"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Average of Balance / Count of CustomerID</a:t>
            </a:r>
            <a:endParaRPr lang="en-US" sz="880" dirty="0"/>
          </a:p>
        </p:txBody>
      </p:sp>
      <p:sp>
        <p:nvSpPr>
          <p:cNvPr id="15" name="Shape 13"/>
          <p:cNvSpPr/>
          <p:nvPr/>
        </p:nvSpPr>
        <p:spPr>
          <a:xfrm>
            <a:off x="722376" y="2176272"/>
            <a:ext cx="1093622" cy="735178"/>
          </a:xfrm>
          <a:prstGeom prst="rect">
            <a:avLst/>
          </a:prstGeom>
          <a:solidFill>
            <a:srgbClr val="E8F3EC"/>
          </a:solidFill>
          <a:ln w="5715">
            <a:solidFill>
              <a:srgbClr val="D8E0EA"/>
            </a:solidFill>
            <a:prstDash val="solid"/>
          </a:ln>
        </p:spPr>
      </p:sp>
      <p:sp>
        <p:nvSpPr>
          <p:cNvPr id="16" name="Text 14"/>
          <p:cNvSpPr/>
          <p:nvPr/>
        </p:nvSpPr>
        <p:spPr>
          <a:xfrm>
            <a:off x="740664" y="2203704"/>
            <a:ext cx="1057046" cy="698602"/>
          </a:xfrm>
          <a:prstGeom prst="rect">
            <a:avLst/>
          </a:prstGeom>
          <a:noFill/>
          <a:ln/>
        </p:spPr>
        <p:txBody>
          <a:bodyPr wrap="square" lIns="0" tIns="0" rIns="0" bIns="0" rtlCol="0" anchor="ctr">
            <a:normAutofit/>
          </a:bodyPr>
          <a:lstStyle/>
          <a:p>
            <a:pPr marL="0" indent="0">
              <a:buNone/>
            </a:pPr>
            <a:r>
              <a:rPr lang="en-US" sz="810" b="1" dirty="0">
                <a:solidFill>
                  <a:srgbClr val="0B1F33"/>
                </a:solidFill>
              </a:rPr>
              <a:t>Segment</a:t>
            </a:r>
            <a:endParaRPr lang="en-US" sz="810" dirty="0"/>
          </a:p>
        </p:txBody>
      </p:sp>
      <p:sp>
        <p:nvSpPr>
          <p:cNvPr id="17" name="Shape 15"/>
          <p:cNvSpPr/>
          <p:nvPr/>
        </p:nvSpPr>
        <p:spPr>
          <a:xfrm>
            <a:off x="1815998" y="2176272"/>
            <a:ext cx="1093622" cy="735178"/>
          </a:xfrm>
          <a:prstGeom prst="rect">
            <a:avLst/>
          </a:prstGeom>
          <a:solidFill>
            <a:srgbClr val="E8F3EC"/>
          </a:solidFill>
          <a:ln w="5715">
            <a:solidFill>
              <a:srgbClr val="D8E0EA"/>
            </a:solidFill>
            <a:prstDash val="solid"/>
          </a:ln>
        </p:spPr>
      </p:sp>
      <p:sp>
        <p:nvSpPr>
          <p:cNvPr id="18" name="Text 16"/>
          <p:cNvSpPr/>
          <p:nvPr/>
        </p:nvSpPr>
        <p:spPr>
          <a:xfrm>
            <a:off x="1834286" y="2203704"/>
            <a:ext cx="1057046" cy="698602"/>
          </a:xfrm>
          <a:prstGeom prst="rect">
            <a:avLst/>
          </a:prstGeom>
          <a:noFill/>
          <a:ln/>
        </p:spPr>
        <p:txBody>
          <a:bodyPr wrap="square" lIns="0" tIns="0" rIns="0" bIns="0" rtlCol="0" anchor="ctr">
            <a:normAutofit/>
          </a:bodyPr>
          <a:lstStyle/>
          <a:p>
            <a:pPr marL="0" indent="0">
              <a:buNone/>
            </a:pPr>
            <a:r>
              <a:rPr lang="en-US" sz="810" b="1" dirty="0">
                <a:solidFill>
                  <a:srgbClr val="0B1F33"/>
                </a:solidFill>
              </a:rPr>
              <a:t>Region</a:t>
            </a:r>
            <a:endParaRPr lang="en-US" sz="810" dirty="0"/>
          </a:p>
        </p:txBody>
      </p:sp>
      <p:sp>
        <p:nvSpPr>
          <p:cNvPr id="19" name="Shape 17"/>
          <p:cNvSpPr/>
          <p:nvPr/>
        </p:nvSpPr>
        <p:spPr>
          <a:xfrm>
            <a:off x="2909621" y="2176272"/>
            <a:ext cx="1093622" cy="735178"/>
          </a:xfrm>
          <a:prstGeom prst="rect">
            <a:avLst/>
          </a:prstGeom>
          <a:solidFill>
            <a:srgbClr val="E8F3EC"/>
          </a:solidFill>
          <a:ln w="5715">
            <a:solidFill>
              <a:srgbClr val="D8E0EA"/>
            </a:solidFill>
            <a:prstDash val="solid"/>
          </a:ln>
        </p:spPr>
      </p:sp>
      <p:sp>
        <p:nvSpPr>
          <p:cNvPr id="20" name="Text 18"/>
          <p:cNvSpPr/>
          <p:nvPr/>
        </p:nvSpPr>
        <p:spPr>
          <a:xfrm>
            <a:off x="2927909" y="2203704"/>
            <a:ext cx="1057046" cy="698602"/>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Customers</a:t>
            </a:r>
            <a:endParaRPr lang="en-US" sz="810" dirty="0"/>
          </a:p>
        </p:txBody>
      </p:sp>
      <p:sp>
        <p:nvSpPr>
          <p:cNvPr id="21" name="Shape 19"/>
          <p:cNvSpPr/>
          <p:nvPr/>
        </p:nvSpPr>
        <p:spPr>
          <a:xfrm>
            <a:off x="4003243" y="2176272"/>
            <a:ext cx="1093622" cy="735178"/>
          </a:xfrm>
          <a:prstGeom prst="rect">
            <a:avLst/>
          </a:prstGeom>
          <a:solidFill>
            <a:srgbClr val="E8F3EC"/>
          </a:solidFill>
          <a:ln w="5715">
            <a:solidFill>
              <a:srgbClr val="D8E0EA"/>
            </a:solidFill>
            <a:prstDash val="solid"/>
          </a:ln>
        </p:spPr>
      </p:sp>
      <p:sp>
        <p:nvSpPr>
          <p:cNvPr id="22" name="Text 20"/>
          <p:cNvSpPr/>
          <p:nvPr/>
        </p:nvSpPr>
        <p:spPr>
          <a:xfrm>
            <a:off x="4021531" y="2203704"/>
            <a:ext cx="1057046" cy="698602"/>
          </a:xfrm>
          <a:prstGeom prst="rect">
            <a:avLst/>
          </a:prstGeom>
          <a:noFill/>
          <a:ln/>
        </p:spPr>
        <p:txBody>
          <a:bodyPr wrap="square" lIns="0" tIns="0" rIns="0" bIns="0" rtlCol="0" anchor="ctr">
            <a:normAutofit/>
          </a:bodyPr>
          <a:lstStyle/>
          <a:p>
            <a:pPr marL="0" indent="0">
              <a:buNone/>
            </a:pPr>
            <a:r>
              <a:rPr lang="en-US" sz="810" b="1" dirty="0">
                <a:solidFill>
                  <a:srgbClr val="0B1F33"/>
                </a:solidFill>
              </a:rPr>
              <a:t>Avg Balance</a:t>
            </a:r>
            <a:endParaRPr lang="en-US" sz="810" dirty="0"/>
          </a:p>
        </p:txBody>
      </p:sp>
      <p:sp>
        <p:nvSpPr>
          <p:cNvPr id="23" name="Shape 21"/>
          <p:cNvSpPr/>
          <p:nvPr/>
        </p:nvSpPr>
        <p:spPr>
          <a:xfrm>
            <a:off x="5096866" y="2176272"/>
            <a:ext cx="1093622" cy="735178"/>
          </a:xfrm>
          <a:prstGeom prst="rect">
            <a:avLst/>
          </a:prstGeom>
          <a:solidFill>
            <a:srgbClr val="E8F3EC"/>
          </a:solidFill>
          <a:ln w="5715">
            <a:solidFill>
              <a:srgbClr val="D8E0EA"/>
            </a:solidFill>
            <a:prstDash val="solid"/>
          </a:ln>
        </p:spPr>
      </p:sp>
      <p:sp>
        <p:nvSpPr>
          <p:cNvPr id="24" name="Text 22"/>
          <p:cNvSpPr/>
          <p:nvPr/>
        </p:nvSpPr>
        <p:spPr>
          <a:xfrm>
            <a:off x="5115154" y="2203704"/>
            <a:ext cx="1057046" cy="698602"/>
          </a:xfrm>
          <a:prstGeom prst="rect">
            <a:avLst/>
          </a:prstGeom>
          <a:noFill/>
          <a:ln/>
        </p:spPr>
        <p:txBody>
          <a:bodyPr wrap="square" lIns="0" tIns="0" rIns="0" bIns="0" rtlCol="0" anchor="ctr">
            <a:normAutofit/>
          </a:bodyPr>
          <a:lstStyle/>
          <a:p>
            <a:pPr marL="0" indent="0">
              <a:buNone/>
            </a:pPr>
            <a:r>
              <a:rPr lang="en-US" sz="810" b="1" dirty="0">
                <a:solidFill>
                  <a:srgbClr val="0B1F33"/>
                </a:solidFill>
              </a:rPr>
              <a:t>Default %</a:t>
            </a:r>
            <a:endParaRPr lang="en-US" sz="810" dirty="0"/>
          </a:p>
        </p:txBody>
      </p:sp>
      <p:sp>
        <p:nvSpPr>
          <p:cNvPr id="25" name="Shape 23"/>
          <p:cNvSpPr/>
          <p:nvPr/>
        </p:nvSpPr>
        <p:spPr>
          <a:xfrm>
            <a:off x="722376" y="2911450"/>
            <a:ext cx="1093622" cy="735178"/>
          </a:xfrm>
          <a:prstGeom prst="rect">
            <a:avLst/>
          </a:prstGeom>
          <a:solidFill>
            <a:srgbClr val="FFFFFF"/>
          </a:solidFill>
          <a:ln w="5715">
            <a:solidFill>
              <a:srgbClr val="D8E0EA"/>
            </a:solidFill>
            <a:prstDash val="solid"/>
          </a:ln>
        </p:spPr>
      </p:sp>
      <p:sp>
        <p:nvSpPr>
          <p:cNvPr id="26" name="Text 24"/>
          <p:cNvSpPr/>
          <p:nvPr/>
        </p:nvSpPr>
        <p:spPr>
          <a:xfrm>
            <a:off x="740664" y="2938882"/>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27" name="Shape 25"/>
          <p:cNvSpPr/>
          <p:nvPr/>
        </p:nvSpPr>
        <p:spPr>
          <a:xfrm>
            <a:off x="1815998" y="2911450"/>
            <a:ext cx="1093622" cy="735178"/>
          </a:xfrm>
          <a:prstGeom prst="rect">
            <a:avLst/>
          </a:prstGeom>
          <a:solidFill>
            <a:srgbClr val="FFFFFF"/>
          </a:solidFill>
          <a:ln w="5715">
            <a:solidFill>
              <a:srgbClr val="D8E0EA"/>
            </a:solidFill>
            <a:prstDash val="solid"/>
          </a:ln>
        </p:spPr>
      </p:sp>
      <p:sp>
        <p:nvSpPr>
          <p:cNvPr id="28" name="Text 26"/>
          <p:cNvSpPr/>
          <p:nvPr/>
        </p:nvSpPr>
        <p:spPr>
          <a:xfrm>
            <a:off x="1834286" y="2938882"/>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North</a:t>
            </a:r>
            <a:endParaRPr lang="en-US" sz="780" dirty="0"/>
          </a:p>
        </p:txBody>
      </p:sp>
      <p:sp>
        <p:nvSpPr>
          <p:cNvPr id="29" name="Shape 27"/>
          <p:cNvSpPr/>
          <p:nvPr/>
        </p:nvSpPr>
        <p:spPr>
          <a:xfrm>
            <a:off x="2909621" y="2911450"/>
            <a:ext cx="1093622" cy="735178"/>
          </a:xfrm>
          <a:prstGeom prst="rect">
            <a:avLst/>
          </a:prstGeom>
          <a:solidFill>
            <a:srgbClr val="FFFFFF"/>
          </a:solidFill>
          <a:ln w="5715">
            <a:solidFill>
              <a:srgbClr val="D8E0EA"/>
            </a:solidFill>
            <a:prstDash val="solid"/>
          </a:ln>
        </p:spPr>
      </p:sp>
      <p:sp>
        <p:nvSpPr>
          <p:cNvPr id="30" name="Text 28"/>
          <p:cNvSpPr/>
          <p:nvPr/>
        </p:nvSpPr>
        <p:spPr>
          <a:xfrm>
            <a:off x="2927909" y="2938882"/>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1,240</a:t>
            </a:r>
            <a:endParaRPr lang="en-US" sz="780" dirty="0"/>
          </a:p>
        </p:txBody>
      </p:sp>
      <p:sp>
        <p:nvSpPr>
          <p:cNvPr id="31" name="Shape 29"/>
          <p:cNvSpPr/>
          <p:nvPr/>
        </p:nvSpPr>
        <p:spPr>
          <a:xfrm>
            <a:off x="4003243" y="2911450"/>
            <a:ext cx="1093622" cy="735178"/>
          </a:xfrm>
          <a:prstGeom prst="rect">
            <a:avLst/>
          </a:prstGeom>
          <a:solidFill>
            <a:srgbClr val="FFFFFF"/>
          </a:solidFill>
          <a:ln w="5715">
            <a:solidFill>
              <a:srgbClr val="D8E0EA"/>
            </a:solidFill>
            <a:prstDash val="solid"/>
          </a:ln>
        </p:spPr>
      </p:sp>
      <p:sp>
        <p:nvSpPr>
          <p:cNvPr id="32" name="Text 30"/>
          <p:cNvSpPr/>
          <p:nvPr/>
        </p:nvSpPr>
        <p:spPr>
          <a:xfrm>
            <a:off x="4021531" y="2938882"/>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46,200</a:t>
            </a:r>
            <a:endParaRPr lang="en-US" sz="780" dirty="0"/>
          </a:p>
        </p:txBody>
      </p:sp>
      <p:sp>
        <p:nvSpPr>
          <p:cNvPr id="33" name="Shape 31"/>
          <p:cNvSpPr/>
          <p:nvPr/>
        </p:nvSpPr>
        <p:spPr>
          <a:xfrm>
            <a:off x="5096866" y="2911450"/>
            <a:ext cx="1093622" cy="735178"/>
          </a:xfrm>
          <a:prstGeom prst="rect">
            <a:avLst/>
          </a:prstGeom>
          <a:solidFill>
            <a:srgbClr val="FFFFFF"/>
          </a:solidFill>
          <a:ln w="5715">
            <a:solidFill>
              <a:srgbClr val="D8E0EA"/>
            </a:solidFill>
            <a:prstDash val="solid"/>
          </a:ln>
        </p:spPr>
      </p:sp>
      <p:sp>
        <p:nvSpPr>
          <p:cNvPr id="34" name="Text 32"/>
          <p:cNvSpPr/>
          <p:nvPr/>
        </p:nvSpPr>
        <p:spPr>
          <a:xfrm>
            <a:off x="5115154" y="2938882"/>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0.8%</a:t>
            </a:r>
            <a:endParaRPr lang="en-US" sz="780" dirty="0"/>
          </a:p>
        </p:txBody>
      </p:sp>
      <p:sp>
        <p:nvSpPr>
          <p:cNvPr id="35" name="Shape 33"/>
          <p:cNvSpPr/>
          <p:nvPr/>
        </p:nvSpPr>
        <p:spPr>
          <a:xfrm>
            <a:off x="722376" y="3646627"/>
            <a:ext cx="1093622" cy="735178"/>
          </a:xfrm>
          <a:prstGeom prst="rect">
            <a:avLst/>
          </a:prstGeom>
          <a:solidFill>
            <a:srgbClr val="FFFFFF"/>
          </a:solidFill>
          <a:ln w="5715">
            <a:solidFill>
              <a:srgbClr val="D8E0EA"/>
            </a:solidFill>
            <a:prstDash val="solid"/>
          </a:ln>
        </p:spPr>
      </p:sp>
      <p:sp>
        <p:nvSpPr>
          <p:cNvPr id="36" name="Text 34"/>
          <p:cNvSpPr/>
          <p:nvPr/>
        </p:nvSpPr>
        <p:spPr>
          <a:xfrm>
            <a:off x="740664" y="3674059"/>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Affluent</a:t>
            </a:r>
            <a:endParaRPr lang="en-US" sz="780" dirty="0"/>
          </a:p>
        </p:txBody>
      </p:sp>
      <p:sp>
        <p:nvSpPr>
          <p:cNvPr id="37" name="Shape 35"/>
          <p:cNvSpPr/>
          <p:nvPr/>
        </p:nvSpPr>
        <p:spPr>
          <a:xfrm>
            <a:off x="1815998" y="3646627"/>
            <a:ext cx="1093622" cy="735178"/>
          </a:xfrm>
          <a:prstGeom prst="rect">
            <a:avLst/>
          </a:prstGeom>
          <a:solidFill>
            <a:srgbClr val="FFFFFF"/>
          </a:solidFill>
          <a:ln w="5715">
            <a:solidFill>
              <a:srgbClr val="D8E0EA"/>
            </a:solidFill>
            <a:prstDash val="solid"/>
          </a:ln>
        </p:spPr>
      </p:sp>
      <p:sp>
        <p:nvSpPr>
          <p:cNvPr id="38" name="Text 36"/>
          <p:cNvSpPr/>
          <p:nvPr/>
        </p:nvSpPr>
        <p:spPr>
          <a:xfrm>
            <a:off x="1834286" y="3674059"/>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South</a:t>
            </a:r>
            <a:endParaRPr lang="en-US" sz="780" dirty="0"/>
          </a:p>
        </p:txBody>
      </p:sp>
      <p:sp>
        <p:nvSpPr>
          <p:cNvPr id="39" name="Shape 37"/>
          <p:cNvSpPr/>
          <p:nvPr/>
        </p:nvSpPr>
        <p:spPr>
          <a:xfrm>
            <a:off x="2909621" y="3646627"/>
            <a:ext cx="1093622" cy="735178"/>
          </a:xfrm>
          <a:prstGeom prst="rect">
            <a:avLst/>
          </a:prstGeom>
          <a:solidFill>
            <a:srgbClr val="FFFFFF"/>
          </a:solidFill>
          <a:ln w="5715">
            <a:solidFill>
              <a:srgbClr val="D8E0EA"/>
            </a:solidFill>
            <a:prstDash val="solid"/>
          </a:ln>
        </p:spPr>
      </p:sp>
      <p:sp>
        <p:nvSpPr>
          <p:cNvPr id="40" name="Text 38"/>
          <p:cNvSpPr/>
          <p:nvPr/>
        </p:nvSpPr>
        <p:spPr>
          <a:xfrm>
            <a:off x="2927909" y="3674059"/>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980</a:t>
            </a:r>
            <a:endParaRPr lang="en-US" sz="780" dirty="0"/>
          </a:p>
        </p:txBody>
      </p:sp>
      <p:sp>
        <p:nvSpPr>
          <p:cNvPr id="41" name="Shape 39"/>
          <p:cNvSpPr/>
          <p:nvPr/>
        </p:nvSpPr>
        <p:spPr>
          <a:xfrm>
            <a:off x="4003243" y="3646627"/>
            <a:ext cx="1093622" cy="735178"/>
          </a:xfrm>
          <a:prstGeom prst="rect">
            <a:avLst/>
          </a:prstGeom>
          <a:solidFill>
            <a:srgbClr val="FFFFFF"/>
          </a:solidFill>
          <a:ln w="5715">
            <a:solidFill>
              <a:srgbClr val="D8E0EA"/>
            </a:solidFill>
            <a:prstDash val="solid"/>
          </a:ln>
        </p:spPr>
      </p:sp>
      <p:sp>
        <p:nvSpPr>
          <p:cNvPr id="42" name="Text 40"/>
          <p:cNvSpPr/>
          <p:nvPr/>
        </p:nvSpPr>
        <p:spPr>
          <a:xfrm>
            <a:off x="4021531" y="3674059"/>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42,900</a:t>
            </a:r>
            <a:endParaRPr lang="en-US" sz="780" dirty="0"/>
          </a:p>
        </p:txBody>
      </p:sp>
      <p:sp>
        <p:nvSpPr>
          <p:cNvPr id="43" name="Shape 41"/>
          <p:cNvSpPr/>
          <p:nvPr/>
        </p:nvSpPr>
        <p:spPr>
          <a:xfrm>
            <a:off x="5096866" y="3646627"/>
            <a:ext cx="1093622" cy="735178"/>
          </a:xfrm>
          <a:prstGeom prst="rect">
            <a:avLst/>
          </a:prstGeom>
          <a:solidFill>
            <a:srgbClr val="FFFFFF"/>
          </a:solidFill>
          <a:ln w="5715">
            <a:solidFill>
              <a:srgbClr val="D8E0EA"/>
            </a:solidFill>
            <a:prstDash val="solid"/>
          </a:ln>
        </p:spPr>
      </p:sp>
      <p:sp>
        <p:nvSpPr>
          <p:cNvPr id="44" name="Text 42"/>
          <p:cNvSpPr/>
          <p:nvPr/>
        </p:nvSpPr>
        <p:spPr>
          <a:xfrm>
            <a:off x="5115154" y="3674059"/>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1.1%</a:t>
            </a:r>
            <a:endParaRPr lang="en-US" sz="780" dirty="0"/>
          </a:p>
        </p:txBody>
      </p:sp>
      <p:sp>
        <p:nvSpPr>
          <p:cNvPr id="45" name="Shape 43"/>
          <p:cNvSpPr/>
          <p:nvPr/>
        </p:nvSpPr>
        <p:spPr>
          <a:xfrm>
            <a:off x="722376" y="4381805"/>
            <a:ext cx="1093622" cy="735178"/>
          </a:xfrm>
          <a:prstGeom prst="rect">
            <a:avLst/>
          </a:prstGeom>
          <a:solidFill>
            <a:srgbClr val="FFFFFF"/>
          </a:solidFill>
          <a:ln w="5715">
            <a:solidFill>
              <a:srgbClr val="D8E0EA"/>
            </a:solidFill>
            <a:prstDash val="solid"/>
          </a:ln>
        </p:spPr>
      </p:sp>
      <p:sp>
        <p:nvSpPr>
          <p:cNvPr id="46" name="Text 44"/>
          <p:cNvSpPr/>
          <p:nvPr/>
        </p:nvSpPr>
        <p:spPr>
          <a:xfrm>
            <a:off x="740664" y="4409237"/>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47" name="Shape 45"/>
          <p:cNvSpPr/>
          <p:nvPr/>
        </p:nvSpPr>
        <p:spPr>
          <a:xfrm>
            <a:off x="1815998" y="4381805"/>
            <a:ext cx="1093622" cy="735178"/>
          </a:xfrm>
          <a:prstGeom prst="rect">
            <a:avLst/>
          </a:prstGeom>
          <a:solidFill>
            <a:srgbClr val="FFFFFF"/>
          </a:solidFill>
          <a:ln w="5715">
            <a:solidFill>
              <a:srgbClr val="D8E0EA"/>
            </a:solidFill>
            <a:prstDash val="solid"/>
          </a:ln>
        </p:spPr>
      </p:sp>
      <p:sp>
        <p:nvSpPr>
          <p:cNvPr id="48" name="Text 46"/>
          <p:cNvSpPr/>
          <p:nvPr/>
        </p:nvSpPr>
        <p:spPr>
          <a:xfrm>
            <a:off x="1834286" y="4409237"/>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North</a:t>
            </a:r>
            <a:endParaRPr lang="en-US" sz="780" dirty="0"/>
          </a:p>
        </p:txBody>
      </p:sp>
      <p:sp>
        <p:nvSpPr>
          <p:cNvPr id="49" name="Shape 47"/>
          <p:cNvSpPr/>
          <p:nvPr/>
        </p:nvSpPr>
        <p:spPr>
          <a:xfrm>
            <a:off x="2909621" y="4381805"/>
            <a:ext cx="1093622" cy="735178"/>
          </a:xfrm>
          <a:prstGeom prst="rect">
            <a:avLst/>
          </a:prstGeom>
          <a:solidFill>
            <a:srgbClr val="FFFFFF"/>
          </a:solidFill>
          <a:ln w="5715">
            <a:solidFill>
              <a:srgbClr val="D8E0EA"/>
            </a:solidFill>
            <a:prstDash val="solid"/>
          </a:ln>
        </p:spPr>
      </p:sp>
      <p:sp>
        <p:nvSpPr>
          <p:cNvPr id="50" name="Text 48"/>
          <p:cNvSpPr/>
          <p:nvPr/>
        </p:nvSpPr>
        <p:spPr>
          <a:xfrm>
            <a:off x="2927909" y="4409237"/>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4,650</a:t>
            </a:r>
            <a:endParaRPr lang="en-US" sz="780" dirty="0"/>
          </a:p>
        </p:txBody>
      </p:sp>
      <p:sp>
        <p:nvSpPr>
          <p:cNvPr id="51" name="Shape 49"/>
          <p:cNvSpPr/>
          <p:nvPr/>
        </p:nvSpPr>
        <p:spPr>
          <a:xfrm>
            <a:off x="4003243" y="4381805"/>
            <a:ext cx="1093622" cy="735178"/>
          </a:xfrm>
          <a:prstGeom prst="rect">
            <a:avLst/>
          </a:prstGeom>
          <a:solidFill>
            <a:srgbClr val="FFFFFF"/>
          </a:solidFill>
          <a:ln w="5715">
            <a:solidFill>
              <a:srgbClr val="D8E0EA"/>
            </a:solidFill>
            <a:prstDash val="solid"/>
          </a:ln>
        </p:spPr>
      </p:sp>
      <p:sp>
        <p:nvSpPr>
          <p:cNvPr id="52" name="Text 50"/>
          <p:cNvSpPr/>
          <p:nvPr/>
        </p:nvSpPr>
        <p:spPr>
          <a:xfrm>
            <a:off x="4021531" y="4409237"/>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8,400</a:t>
            </a:r>
            <a:endParaRPr lang="en-US" sz="780" dirty="0"/>
          </a:p>
        </p:txBody>
      </p:sp>
      <p:sp>
        <p:nvSpPr>
          <p:cNvPr id="53" name="Shape 51"/>
          <p:cNvSpPr/>
          <p:nvPr/>
        </p:nvSpPr>
        <p:spPr>
          <a:xfrm>
            <a:off x="5096866" y="4381805"/>
            <a:ext cx="1093622" cy="735178"/>
          </a:xfrm>
          <a:prstGeom prst="rect">
            <a:avLst/>
          </a:prstGeom>
          <a:solidFill>
            <a:srgbClr val="FFFFFF"/>
          </a:solidFill>
          <a:ln w="5715">
            <a:solidFill>
              <a:srgbClr val="D8E0EA"/>
            </a:solidFill>
            <a:prstDash val="solid"/>
          </a:ln>
        </p:spPr>
      </p:sp>
      <p:sp>
        <p:nvSpPr>
          <p:cNvPr id="54" name="Text 52"/>
          <p:cNvSpPr/>
          <p:nvPr/>
        </p:nvSpPr>
        <p:spPr>
          <a:xfrm>
            <a:off x="5115154" y="4409237"/>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2.9%</a:t>
            </a:r>
            <a:endParaRPr lang="en-US" sz="780" dirty="0"/>
          </a:p>
        </p:txBody>
      </p:sp>
      <p:sp>
        <p:nvSpPr>
          <p:cNvPr id="55" name="Shape 53"/>
          <p:cNvSpPr/>
          <p:nvPr/>
        </p:nvSpPr>
        <p:spPr>
          <a:xfrm>
            <a:off x="722376" y="5116982"/>
            <a:ext cx="1093622" cy="735178"/>
          </a:xfrm>
          <a:prstGeom prst="rect">
            <a:avLst/>
          </a:prstGeom>
          <a:solidFill>
            <a:srgbClr val="FFFFFF"/>
          </a:solidFill>
          <a:ln w="5715">
            <a:solidFill>
              <a:srgbClr val="D8E0EA"/>
            </a:solidFill>
            <a:prstDash val="solid"/>
          </a:ln>
        </p:spPr>
      </p:sp>
      <p:sp>
        <p:nvSpPr>
          <p:cNvPr id="56" name="Text 54"/>
          <p:cNvSpPr/>
          <p:nvPr/>
        </p:nvSpPr>
        <p:spPr>
          <a:xfrm>
            <a:off x="740664" y="5144414"/>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Mass</a:t>
            </a:r>
            <a:endParaRPr lang="en-US" sz="780" dirty="0"/>
          </a:p>
        </p:txBody>
      </p:sp>
      <p:sp>
        <p:nvSpPr>
          <p:cNvPr id="57" name="Shape 55"/>
          <p:cNvSpPr/>
          <p:nvPr/>
        </p:nvSpPr>
        <p:spPr>
          <a:xfrm>
            <a:off x="1815998" y="5116982"/>
            <a:ext cx="1093622" cy="735178"/>
          </a:xfrm>
          <a:prstGeom prst="rect">
            <a:avLst/>
          </a:prstGeom>
          <a:solidFill>
            <a:srgbClr val="FFFFFF"/>
          </a:solidFill>
          <a:ln w="5715">
            <a:solidFill>
              <a:srgbClr val="D8E0EA"/>
            </a:solidFill>
            <a:prstDash val="solid"/>
          </a:ln>
        </p:spPr>
      </p:sp>
      <p:sp>
        <p:nvSpPr>
          <p:cNvPr id="58" name="Text 56"/>
          <p:cNvSpPr/>
          <p:nvPr/>
        </p:nvSpPr>
        <p:spPr>
          <a:xfrm>
            <a:off x="1834286" y="5144414"/>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South</a:t>
            </a:r>
            <a:endParaRPr lang="en-US" sz="780" dirty="0"/>
          </a:p>
        </p:txBody>
      </p:sp>
      <p:sp>
        <p:nvSpPr>
          <p:cNvPr id="59" name="Shape 57"/>
          <p:cNvSpPr/>
          <p:nvPr/>
        </p:nvSpPr>
        <p:spPr>
          <a:xfrm>
            <a:off x="2909621" y="5116982"/>
            <a:ext cx="1093622" cy="735178"/>
          </a:xfrm>
          <a:prstGeom prst="rect">
            <a:avLst/>
          </a:prstGeom>
          <a:solidFill>
            <a:srgbClr val="FFFFFF"/>
          </a:solidFill>
          <a:ln w="5715">
            <a:solidFill>
              <a:srgbClr val="D8E0EA"/>
            </a:solidFill>
            <a:prstDash val="solid"/>
          </a:ln>
        </p:spPr>
      </p:sp>
      <p:sp>
        <p:nvSpPr>
          <p:cNvPr id="60" name="Text 58"/>
          <p:cNvSpPr/>
          <p:nvPr/>
        </p:nvSpPr>
        <p:spPr>
          <a:xfrm>
            <a:off x="2927909" y="5144414"/>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4,210</a:t>
            </a:r>
            <a:endParaRPr lang="en-US" sz="780" dirty="0"/>
          </a:p>
        </p:txBody>
      </p:sp>
      <p:sp>
        <p:nvSpPr>
          <p:cNvPr id="61" name="Shape 59"/>
          <p:cNvSpPr/>
          <p:nvPr/>
        </p:nvSpPr>
        <p:spPr>
          <a:xfrm>
            <a:off x="4003243" y="5116982"/>
            <a:ext cx="1093622" cy="735178"/>
          </a:xfrm>
          <a:prstGeom prst="rect">
            <a:avLst/>
          </a:prstGeom>
          <a:solidFill>
            <a:srgbClr val="FFFFFF"/>
          </a:solidFill>
          <a:ln w="5715">
            <a:solidFill>
              <a:srgbClr val="D8E0EA"/>
            </a:solidFill>
            <a:prstDash val="solid"/>
          </a:ln>
        </p:spPr>
      </p:sp>
      <p:sp>
        <p:nvSpPr>
          <p:cNvPr id="62" name="Text 60"/>
          <p:cNvSpPr/>
          <p:nvPr/>
        </p:nvSpPr>
        <p:spPr>
          <a:xfrm>
            <a:off x="4021531" y="5144414"/>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7,950</a:t>
            </a:r>
            <a:endParaRPr lang="en-US" sz="780" dirty="0"/>
          </a:p>
        </p:txBody>
      </p:sp>
      <p:sp>
        <p:nvSpPr>
          <p:cNvPr id="63" name="Shape 61"/>
          <p:cNvSpPr/>
          <p:nvPr/>
        </p:nvSpPr>
        <p:spPr>
          <a:xfrm>
            <a:off x="5096866" y="5116982"/>
            <a:ext cx="1093622" cy="735178"/>
          </a:xfrm>
          <a:prstGeom prst="rect">
            <a:avLst/>
          </a:prstGeom>
          <a:solidFill>
            <a:srgbClr val="FFFFFF"/>
          </a:solidFill>
          <a:ln w="5715">
            <a:solidFill>
              <a:srgbClr val="D8E0EA"/>
            </a:solidFill>
            <a:prstDash val="solid"/>
          </a:ln>
        </p:spPr>
      </p:sp>
      <p:sp>
        <p:nvSpPr>
          <p:cNvPr id="64" name="Text 62"/>
          <p:cNvSpPr/>
          <p:nvPr/>
        </p:nvSpPr>
        <p:spPr>
          <a:xfrm>
            <a:off x="5115154" y="5144414"/>
            <a:ext cx="1057046" cy="698602"/>
          </a:xfrm>
          <a:prstGeom prst="rect">
            <a:avLst/>
          </a:prstGeom>
          <a:noFill/>
          <a:ln/>
        </p:spPr>
        <p:txBody>
          <a:bodyPr wrap="square" lIns="0" tIns="0" rIns="0" bIns="0" rtlCol="0" anchor="ctr">
            <a:normAutofit/>
          </a:bodyPr>
          <a:lstStyle/>
          <a:p>
            <a:pPr marL="0" indent="0">
              <a:buNone/>
            </a:pPr>
            <a:r>
              <a:rPr lang="en-US" sz="780" dirty="0">
                <a:solidFill>
                  <a:srgbClr val="26364A"/>
                </a:solidFill>
              </a:rPr>
              <a:t>3.4%</a:t>
            </a:r>
            <a:endParaRPr lang="en-US" sz="780" dirty="0"/>
          </a:p>
        </p:txBody>
      </p:sp>
      <p:sp>
        <p:nvSpPr>
          <p:cNvPr id="65" name="Shape 63"/>
          <p:cNvSpPr/>
          <p:nvPr/>
        </p:nvSpPr>
        <p:spPr>
          <a:xfrm>
            <a:off x="6473952" y="2779776"/>
            <a:ext cx="438912" cy="960120"/>
          </a:xfrm>
          <a:prstGeom prst="chevron">
            <a:avLst/>
          </a:prstGeom>
          <a:solidFill>
            <a:srgbClr val="AEB8C5"/>
          </a:solidFill>
          <a:ln w="12700">
            <a:solidFill>
              <a:srgbClr val="AEB8C5"/>
            </a:solidFill>
            <a:prstDash val="solid"/>
          </a:ln>
        </p:spPr>
      </p:sp>
      <p:sp>
        <p:nvSpPr>
          <p:cNvPr id="66" name="Shape 64"/>
          <p:cNvSpPr/>
          <p:nvPr/>
        </p:nvSpPr>
        <p:spPr>
          <a:xfrm>
            <a:off x="7269480" y="4160520"/>
            <a:ext cx="3794760" cy="0"/>
          </a:xfrm>
          <a:prstGeom prst="line">
            <a:avLst/>
          </a:prstGeom>
          <a:noFill/>
          <a:ln w="12700">
            <a:solidFill>
              <a:srgbClr val="AEB8C5"/>
            </a:solidFill>
            <a:prstDash val="solid"/>
          </a:ln>
        </p:spPr>
      </p:sp>
      <p:sp>
        <p:nvSpPr>
          <p:cNvPr id="67" name="Shape 65"/>
          <p:cNvSpPr/>
          <p:nvPr/>
        </p:nvSpPr>
        <p:spPr>
          <a:xfrm>
            <a:off x="7379208" y="1828800"/>
            <a:ext cx="729234" cy="2331720"/>
          </a:xfrm>
          <a:prstGeom prst="rect">
            <a:avLst/>
          </a:prstGeom>
          <a:solidFill>
            <a:srgbClr val="009E9A">
              <a:alpha val="90000"/>
            </a:srgbClr>
          </a:solidFill>
          <a:ln w="6350">
            <a:solidFill>
              <a:srgbClr val="009E9A"/>
            </a:solidFill>
            <a:prstDash val="solid"/>
          </a:ln>
        </p:spPr>
      </p:sp>
      <p:sp>
        <p:nvSpPr>
          <p:cNvPr id="68" name="Text 66"/>
          <p:cNvSpPr/>
          <p:nvPr/>
        </p:nvSpPr>
        <p:spPr>
          <a:xfrm>
            <a:off x="7269480" y="4215384"/>
            <a:ext cx="94869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Aff N</a:t>
            </a:r>
            <a:endParaRPr lang="en-US" sz="820" dirty="0"/>
          </a:p>
        </p:txBody>
      </p:sp>
      <p:sp>
        <p:nvSpPr>
          <p:cNvPr id="69" name="Shape 67"/>
          <p:cNvSpPr/>
          <p:nvPr/>
        </p:nvSpPr>
        <p:spPr>
          <a:xfrm>
            <a:off x="8327898" y="1995351"/>
            <a:ext cx="729234" cy="2165169"/>
          </a:xfrm>
          <a:prstGeom prst="rect">
            <a:avLst/>
          </a:prstGeom>
          <a:solidFill>
            <a:srgbClr val="009E9A">
              <a:alpha val="90000"/>
            </a:srgbClr>
          </a:solidFill>
          <a:ln w="6350">
            <a:solidFill>
              <a:srgbClr val="009E9A"/>
            </a:solidFill>
            <a:prstDash val="solid"/>
          </a:ln>
        </p:spPr>
      </p:sp>
      <p:sp>
        <p:nvSpPr>
          <p:cNvPr id="70" name="Text 68"/>
          <p:cNvSpPr/>
          <p:nvPr/>
        </p:nvSpPr>
        <p:spPr>
          <a:xfrm>
            <a:off x="8218170" y="4215384"/>
            <a:ext cx="94869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Aff S</a:t>
            </a:r>
            <a:endParaRPr lang="en-US" sz="820" dirty="0"/>
          </a:p>
        </p:txBody>
      </p:sp>
      <p:sp>
        <p:nvSpPr>
          <p:cNvPr id="71" name="Shape 69"/>
          <p:cNvSpPr/>
          <p:nvPr/>
        </p:nvSpPr>
        <p:spPr>
          <a:xfrm>
            <a:off x="9276588" y="3736571"/>
            <a:ext cx="729234" cy="423949"/>
          </a:xfrm>
          <a:prstGeom prst="rect">
            <a:avLst/>
          </a:prstGeom>
          <a:solidFill>
            <a:srgbClr val="009E9A">
              <a:alpha val="90000"/>
            </a:srgbClr>
          </a:solidFill>
          <a:ln w="6350">
            <a:solidFill>
              <a:srgbClr val="009E9A"/>
            </a:solidFill>
            <a:prstDash val="solid"/>
          </a:ln>
        </p:spPr>
      </p:sp>
      <p:sp>
        <p:nvSpPr>
          <p:cNvPr id="72" name="Text 70"/>
          <p:cNvSpPr/>
          <p:nvPr/>
        </p:nvSpPr>
        <p:spPr>
          <a:xfrm>
            <a:off x="9166860" y="4215384"/>
            <a:ext cx="94869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Mass N</a:t>
            </a:r>
            <a:endParaRPr lang="en-US" sz="820" dirty="0"/>
          </a:p>
        </p:txBody>
      </p:sp>
      <p:sp>
        <p:nvSpPr>
          <p:cNvPr id="73" name="Shape 71"/>
          <p:cNvSpPr/>
          <p:nvPr/>
        </p:nvSpPr>
        <p:spPr>
          <a:xfrm>
            <a:off x="10225278" y="3759282"/>
            <a:ext cx="729234" cy="401238"/>
          </a:xfrm>
          <a:prstGeom prst="rect">
            <a:avLst/>
          </a:prstGeom>
          <a:solidFill>
            <a:srgbClr val="009E9A">
              <a:alpha val="90000"/>
            </a:srgbClr>
          </a:solidFill>
          <a:ln w="6350">
            <a:solidFill>
              <a:srgbClr val="009E9A"/>
            </a:solidFill>
            <a:prstDash val="solid"/>
          </a:ln>
        </p:spPr>
      </p:sp>
      <p:sp>
        <p:nvSpPr>
          <p:cNvPr id="74" name="Text 72"/>
          <p:cNvSpPr/>
          <p:nvPr/>
        </p:nvSpPr>
        <p:spPr>
          <a:xfrm>
            <a:off x="10115550" y="4215384"/>
            <a:ext cx="94869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Mass S</a:t>
            </a:r>
            <a:endParaRPr lang="en-US" sz="820" dirty="0"/>
          </a:p>
        </p:txBody>
      </p:sp>
      <p:sp>
        <p:nvSpPr>
          <p:cNvPr id="75" name="Text 73"/>
          <p:cNvSpPr/>
          <p:nvPr/>
        </p:nvSpPr>
        <p:spPr>
          <a:xfrm>
            <a:off x="7132320" y="4407408"/>
            <a:ext cx="4069080" cy="292608"/>
          </a:xfrm>
          <a:prstGeom prst="rect">
            <a:avLst/>
          </a:prstGeom>
          <a:noFill/>
          <a:ln/>
        </p:spPr>
        <p:txBody>
          <a:bodyPr wrap="square" lIns="0" tIns="0" rIns="0" bIns="0" rtlCol="0" anchor="ctr"/>
          <a:lstStyle/>
          <a:p>
            <a:pPr marL="0" indent="0" algn="ctr">
              <a:buNone/>
            </a:pPr>
            <a:r>
              <a:rPr lang="en-US" sz="1200" b="1" dirty="0">
                <a:solidFill>
                  <a:srgbClr val="0B1F33"/>
                </a:solidFill>
              </a:rPr>
              <a:t>Average balance by segment &amp; region</a:t>
            </a:r>
            <a:endParaRPr lang="en-US" sz="1200" dirty="0"/>
          </a:p>
        </p:txBody>
      </p:sp>
      <p:sp>
        <p:nvSpPr>
          <p:cNvPr id="76" name="Shape 74"/>
          <p:cNvSpPr/>
          <p:nvPr/>
        </p:nvSpPr>
        <p:spPr>
          <a:xfrm>
            <a:off x="7150608" y="4956048"/>
            <a:ext cx="3977640" cy="603504"/>
          </a:xfrm>
          <a:prstGeom prst="roundRect">
            <a:avLst>
              <a:gd name="adj" fmla="val 7576"/>
            </a:avLst>
          </a:prstGeom>
          <a:solidFill>
            <a:srgbClr val="FFFFFF"/>
          </a:solidFill>
          <a:ln w="15240">
            <a:solidFill>
              <a:srgbClr val="009E9A"/>
            </a:solidFill>
            <a:prstDash val="solid"/>
          </a:ln>
        </p:spPr>
      </p:sp>
      <p:sp>
        <p:nvSpPr>
          <p:cNvPr id="77" name="Shape 75"/>
          <p:cNvSpPr/>
          <p:nvPr/>
        </p:nvSpPr>
        <p:spPr>
          <a:xfrm>
            <a:off x="7150608" y="4956048"/>
            <a:ext cx="73152" cy="603504"/>
          </a:xfrm>
          <a:prstGeom prst="rect">
            <a:avLst/>
          </a:prstGeom>
          <a:solidFill>
            <a:srgbClr val="009E9A"/>
          </a:solidFill>
          <a:ln w="12700">
            <a:solidFill>
              <a:srgbClr val="009E9A"/>
            </a:solidFill>
            <a:prstDash val="solid"/>
          </a:ln>
        </p:spPr>
      </p:sp>
      <p:sp>
        <p:nvSpPr>
          <p:cNvPr id="78" name="Text 76"/>
          <p:cNvSpPr/>
          <p:nvPr/>
        </p:nvSpPr>
        <p:spPr>
          <a:xfrm>
            <a:off x="7315200" y="5065776"/>
            <a:ext cx="3721608" cy="384048"/>
          </a:xfrm>
          <a:prstGeom prst="rect">
            <a:avLst/>
          </a:prstGeom>
          <a:noFill/>
          <a:ln/>
        </p:spPr>
        <p:txBody>
          <a:bodyPr wrap="square" lIns="0" tIns="0" rIns="0" bIns="0" rtlCol="0" anchor="ctr">
            <a:normAutofit/>
          </a:bodyPr>
          <a:lstStyle/>
          <a:p>
            <a:pPr marL="0" indent="0">
              <a:buNone/>
            </a:pPr>
            <a:r>
              <a:rPr lang="en-US" sz="1150" b="1" dirty="0">
                <a:solidFill>
                  <a:srgbClr val="0B1F33"/>
                </a:solidFill>
              </a:rPr>
              <a:t>PivotTables are a bridge between raw tables and clear business questions.</a:t>
            </a:r>
            <a:endParaRPr lang="en-US" sz="1150" dirty="0"/>
          </a:p>
        </p:txBody>
      </p:sp>
      <p:sp>
        <p:nvSpPr>
          <p:cNvPr id="79"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03 · EXPLORATORY DATA ANALYSIS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Sorting, filtering and conditional formatting are EDA tools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Simple spreadsheet operations often reveal data issues faster than complex methods.</a:t>
            </a:r>
            <a:endParaRPr lang="en-US" sz="1300" dirty="0"/>
          </a:p>
        </p:txBody>
      </p:sp>
      <p:sp>
        <p:nvSpPr>
          <p:cNvPr id="7" name="Shape 5"/>
          <p:cNvSpPr/>
          <p:nvPr/>
        </p:nvSpPr>
        <p:spPr>
          <a:xfrm>
            <a:off x="676656" y="1426464"/>
            <a:ext cx="5897880" cy="4443984"/>
          </a:xfrm>
          <a:prstGeom prst="roundRect">
            <a:avLst>
              <a:gd name="adj" fmla="val 1029"/>
            </a:avLst>
          </a:prstGeom>
          <a:solidFill>
            <a:srgbClr val="FFFFFF"/>
          </a:solidFill>
          <a:ln w="10160">
            <a:solidFill>
              <a:srgbClr val="AEB8C5"/>
            </a:solidFill>
            <a:prstDash val="solid"/>
          </a:ln>
        </p:spPr>
      </p:sp>
      <p:sp>
        <p:nvSpPr>
          <p:cNvPr id="8" name="Shape 6"/>
          <p:cNvSpPr/>
          <p:nvPr/>
        </p:nvSpPr>
        <p:spPr>
          <a:xfrm>
            <a:off x="676656" y="1426464"/>
            <a:ext cx="5897880" cy="329184"/>
          </a:xfrm>
          <a:prstGeom prst="rect">
            <a:avLst/>
          </a:prstGeom>
          <a:solidFill>
            <a:srgbClr val="217346"/>
          </a:solidFill>
          <a:ln w="12700">
            <a:solidFill>
              <a:srgbClr val="217346"/>
            </a:solidFill>
            <a:prstDash val="solid"/>
          </a:ln>
        </p:spPr>
      </p:sp>
      <p:sp>
        <p:nvSpPr>
          <p:cNvPr id="9" name="Shape 7"/>
          <p:cNvSpPr/>
          <p:nvPr/>
        </p:nvSpPr>
        <p:spPr>
          <a:xfrm>
            <a:off x="786384" y="1472184"/>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86384" y="1481328"/>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97280" y="1499616"/>
            <a:ext cx="5367528" cy="182880"/>
          </a:xfrm>
          <a:prstGeom prst="rect">
            <a:avLst/>
          </a:prstGeom>
          <a:noFill/>
          <a:ln/>
        </p:spPr>
        <p:txBody>
          <a:bodyPr wrap="square" lIns="0" tIns="0" rIns="0" bIns="0" rtlCol="0" anchor="ctr"/>
          <a:lstStyle/>
          <a:p>
            <a:pPr marL="0" indent="0">
              <a:buNone/>
            </a:pPr>
            <a:r>
              <a:rPr lang="en-US" sz="950" b="1" dirty="0">
                <a:solidFill>
                  <a:srgbClr val="FFFFFF"/>
                </a:solidFill>
              </a:rPr>
              <a:t>Filter &amp; inspect</a:t>
            </a:r>
            <a:endParaRPr lang="en-US" sz="950" dirty="0"/>
          </a:p>
        </p:txBody>
      </p:sp>
      <p:sp>
        <p:nvSpPr>
          <p:cNvPr id="12" name="Shape 10"/>
          <p:cNvSpPr/>
          <p:nvPr/>
        </p:nvSpPr>
        <p:spPr>
          <a:xfrm>
            <a:off x="731520" y="1810512"/>
            <a:ext cx="5788152" cy="292608"/>
          </a:xfrm>
          <a:prstGeom prst="rect">
            <a:avLst/>
          </a:prstGeom>
          <a:solidFill>
            <a:srgbClr val="FAFCFD"/>
          </a:solidFill>
          <a:ln w="6350">
            <a:solidFill>
              <a:srgbClr val="D8E0EA"/>
            </a:solidFill>
            <a:prstDash val="solid"/>
          </a:ln>
        </p:spPr>
      </p:sp>
      <p:sp>
        <p:nvSpPr>
          <p:cNvPr id="13" name="Text 11"/>
          <p:cNvSpPr/>
          <p:nvPr/>
        </p:nvSpPr>
        <p:spPr>
          <a:xfrm>
            <a:off x="786384" y="1874520"/>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42416" y="1865376"/>
            <a:ext cx="542239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=SORT(Table1[Balance],,-1)</a:t>
            </a:r>
            <a:endParaRPr lang="en-US" sz="880" dirty="0"/>
          </a:p>
        </p:txBody>
      </p:sp>
      <p:sp>
        <p:nvSpPr>
          <p:cNvPr id="15" name="Shape 13"/>
          <p:cNvSpPr/>
          <p:nvPr/>
        </p:nvSpPr>
        <p:spPr>
          <a:xfrm>
            <a:off x="740664" y="2176272"/>
            <a:ext cx="1442466" cy="517289"/>
          </a:xfrm>
          <a:prstGeom prst="rect">
            <a:avLst/>
          </a:prstGeom>
          <a:solidFill>
            <a:srgbClr val="E8F3EC"/>
          </a:solidFill>
          <a:ln w="5715">
            <a:solidFill>
              <a:srgbClr val="D8E0EA"/>
            </a:solidFill>
            <a:prstDash val="solid"/>
          </a:ln>
        </p:spPr>
      </p:sp>
      <p:sp>
        <p:nvSpPr>
          <p:cNvPr id="16" name="Text 14"/>
          <p:cNvSpPr/>
          <p:nvPr/>
        </p:nvSpPr>
        <p:spPr>
          <a:xfrm>
            <a:off x="758952" y="2203704"/>
            <a:ext cx="1405890" cy="480713"/>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a:t>
            </a:r>
            <a:endParaRPr lang="en-US" sz="810" dirty="0"/>
          </a:p>
        </p:txBody>
      </p:sp>
      <p:sp>
        <p:nvSpPr>
          <p:cNvPr id="17" name="Shape 15"/>
          <p:cNvSpPr/>
          <p:nvPr/>
        </p:nvSpPr>
        <p:spPr>
          <a:xfrm>
            <a:off x="2183130" y="2176272"/>
            <a:ext cx="1442466" cy="517289"/>
          </a:xfrm>
          <a:prstGeom prst="rect">
            <a:avLst/>
          </a:prstGeom>
          <a:solidFill>
            <a:srgbClr val="E8F3EC"/>
          </a:solidFill>
          <a:ln w="5715">
            <a:solidFill>
              <a:srgbClr val="D8E0EA"/>
            </a:solidFill>
            <a:prstDash val="solid"/>
          </a:ln>
        </p:spPr>
      </p:sp>
      <p:sp>
        <p:nvSpPr>
          <p:cNvPr id="18" name="Text 16"/>
          <p:cNvSpPr/>
          <p:nvPr/>
        </p:nvSpPr>
        <p:spPr>
          <a:xfrm>
            <a:off x="2201418" y="2203704"/>
            <a:ext cx="1405890" cy="480713"/>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19" name="Shape 17"/>
          <p:cNvSpPr/>
          <p:nvPr/>
        </p:nvSpPr>
        <p:spPr>
          <a:xfrm>
            <a:off x="3625596" y="2176272"/>
            <a:ext cx="1442466" cy="517289"/>
          </a:xfrm>
          <a:prstGeom prst="rect">
            <a:avLst/>
          </a:prstGeom>
          <a:solidFill>
            <a:srgbClr val="E8F3EC"/>
          </a:solidFill>
          <a:ln w="5715">
            <a:solidFill>
              <a:srgbClr val="D8E0EA"/>
            </a:solidFill>
            <a:prstDash val="solid"/>
          </a:ln>
        </p:spPr>
      </p:sp>
      <p:sp>
        <p:nvSpPr>
          <p:cNvPr id="20" name="Text 18"/>
          <p:cNvSpPr/>
          <p:nvPr/>
        </p:nvSpPr>
        <p:spPr>
          <a:xfrm>
            <a:off x="3643884" y="2203704"/>
            <a:ext cx="1405890" cy="480713"/>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1" name="Shape 19"/>
          <p:cNvSpPr/>
          <p:nvPr/>
        </p:nvSpPr>
        <p:spPr>
          <a:xfrm>
            <a:off x="5068062" y="2176272"/>
            <a:ext cx="1442466" cy="517289"/>
          </a:xfrm>
          <a:prstGeom prst="rect">
            <a:avLst/>
          </a:prstGeom>
          <a:solidFill>
            <a:srgbClr val="E8F3EC"/>
          </a:solidFill>
          <a:ln w="5715">
            <a:solidFill>
              <a:srgbClr val="D8E0EA"/>
            </a:solidFill>
            <a:prstDash val="solid"/>
          </a:ln>
        </p:spPr>
      </p:sp>
      <p:sp>
        <p:nvSpPr>
          <p:cNvPr id="22" name="Text 20"/>
          <p:cNvSpPr/>
          <p:nvPr/>
        </p:nvSpPr>
        <p:spPr>
          <a:xfrm>
            <a:off x="5086350" y="2203704"/>
            <a:ext cx="1405890" cy="480713"/>
          </a:xfrm>
          <a:prstGeom prst="rect">
            <a:avLst/>
          </a:prstGeom>
          <a:noFill/>
          <a:ln/>
        </p:spPr>
        <p:txBody>
          <a:bodyPr wrap="square" lIns="0" tIns="0" rIns="0" bIns="0" rtlCol="0" anchor="ctr">
            <a:normAutofit/>
          </a:bodyPr>
          <a:lstStyle/>
          <a:p>
            <a:pPr marL="0" indent="0">
              <a:buNone/>
            </a:pPr>
            <a:r>
              <a:rPr lang="en-US" sz="810" b="1" dirty="0">
                <a:solidFill>
                  <a:srgbClr val="0B1F33"/>
                </a:solidFill>
              </a:rPr>
              <a:t>DaysPastDue</a:t>
            </a:r>
            <a:endParaRPr lang="en-US" sz="810" dirty="0"/>
          </a:p>
        </p:txBody>
      </p:sp>
      <p:sp>
        <p:nvSpPr>
          <p:cNvPr id="23" name="Shape 21"/>
          <p:cNvSpPr/>
          <p:nvPr/>
        </p:nvSpPr>
        <p:spPr>
          <a:xfrm>
            <a:off x="740664" y="2693561"/>
            <a:ext cx="1442466" cy="517289"/>
          </a:xfrm>
          <a:prstGeom prst="rect">
            <a:avLst/>
          </a:prstGeom>
          <a:solidFill>
            <a:srgbClr val="FFFFFF"/>
          </a:solidFill>
          <a:ln w="5715">
            <a:solidFill>
              <a:srgbClr val="D8E0EA"/>
            </a:solidFill>
            <a:prstDash val="solid"/>
          </a:ln>
        </p:spPr>
      </p:sp>
      <p:sp>
        <p:nvSpPr>
          <p:cNvPr id="24" name="Text 22"/>
          <p:cNvSpPr/>
          <p:nvPr/>
        </p:nvSpPr>
        <p:spPr>
          <a:xfrm>
            <a:off x="758952" y="2720993"/>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5" name="Shape 23"/>
          <p:cNvSpPr/>
          <p:nvPr/>
        </p:nvSpPr>
        <p:spPr>
          <a:xfrm>
            <a:off x="2183130" y="2693561"/>
            <a:ext cx="1442466" cy="517289"/>
          </a:xfrm>
          <a:prstGeom prst="rect">
            <a:avLst/>
          </a:prstGeom>
          <a:solidFill>
            <a:srgbClr val="FFFFFF"/>
          </a:solidFill>
          <a:ln w="5715">
            <a:solidFill>
              <a:srgbClr val="D8E0EA"/>
            </a:solidFill>
            <a:prstDash val="solid"/>
          </a:ln>
        </p:spPr>
      </p:sp>
      <p:sp>
        <p:nvSpPr>
          <p:cNvPr id="26" name="Text 24"/>
          <p:cNvSpPr/>
          <p:nvPr/>
        </p:nvSpPr>
        <p:spPr>
          <a:xfrm>
            <a:off x="2201418" y="2720993"/>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27" name="Shape 25"/>
          <p:cNvSpPr/>
          <p:nvPr/>
        </p:nvSpPr>
        <p:spPr>
          <a:xfrm>
            <a:off x="3625596" y="2693561"/>
            <a:ext cx="1442466" cy="517289"/>
          </a:xfrm>
          <a:prstGeom prst="rect">
            <a:avLst/>
          </a:prstGeom>
          <a:solidFill>
            <a:srgbClr val="FFFFFF"/>
          </a:solidFill>
          <a:ln w="5715">
            <a:solidFill>
              <a:srgbClr val="D8E0EA"/>
            </a:solidFill>
            <a:prstDash val="solid"/>
          </a:ln>
        </p:spPr>
      </p:sp>
      <p:sp>
        <p:nvSpPr>
          <p:cNvPr id="28" name="Text 26"/>
          <p:cNvSpPr/>
          <p:nvPr/>
        </p:nvSpPr>
        <p:spPr>
          <a:xfrm>
            <a:off x="3643884" y="2720993"/>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29" name="Shape 27"/>
          <p:cNvSpPr/>
          <p:nvPr/>
        </p:nvSpPr>
        <p:spPr>
          <a:xfrm>
            <a:off x="5068062" y="2693561"/>
            <a:ext cx="1442466" cy="517289"/>
          </a:xfrm>
          <a:prstGeom prst="rect">
            <a:avLst/>
          </a:prstGeom>
          <a:solidFill>
            <a:srgbClr val="FFFFFF"/>
          </a:solidFill>
          <a:ln w="5715">
            <a:solidFill>
              <a:srgbClr val="D8E0EA"/>
            </a:solidFill>
            <a:prstDash val="solid"/>
          </a:ln>
        </p:spPr>
      </p:sp>
      <p:sp>
        <p:nvSpPr>
          <p:cNvPr id="30" name="Text 28"/>
          <p:cNvSpPr/>
          <p:nvPr/>
        </p:nvSpPr>
        <p:spPr>
          <a:xfrm>
            <a:off x="5086350" y="2720993"/>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31" name="Shape 29"/>
          <p:cNvSpPr/>
          <p:nvPr/>
        </p:nvSpPr>
        <p:spPr>
          <a:xfrm>
            <a:off x="740664" y="3210850"/>
            <a:ext cx="1442466" cy="517289"/>
          </a:xfrm>
          <a:prstGeom prst="rect">
            <a:avLst/>
          </a:prstGeom>
          <a:solidFill>
            <a:srgbClr val="FFFFFF"/>
          </a:solidFill>
          <a:ln w="5715">
            <a:solidFill>
              <a:srgbClr val="D8E0EA"/>
            </a:solidFill>
            <a:prstDash val="solid"/>
          </a:ln>
        </p:spPr>
      </p:sp>
      <p:sp>
        <p:nvSpPr>
          <p:cNvPr id="32" name="Text 30"/>
          <p:cNvSpPr/>
          <p:nvPr/>
        </p:nvSpPr>
        <p:spPr>
          <a:xfrm>
            <a:off x="758952" y="3238282"/>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33" name="Shape 31"/>
          <p:cNvSpPr/>
          <p:nvPr/>
        </p:nvSpPr>
        <p:spPr>
          <a:xfrm>
            <a:off x="2183130" y="3210850"/>
            <a:ext cx="1442466" cy="517289"/>
          </a:xfrm>
          <a:prstGeom prst="rect">
            <a:avLst/>
          </a:prstGeom>
          <a:solidFill>
            <a:srgbClr val="FFFFFF"/>
          </a:solidFill>
          <a:ln w="5715">
            <a:solidFill>
              <a:srgbClr val="D8E0EA"/>
            </a:solidFill>
            <a:prstDash val="solid"/>
          </a:ln>
        </p:spPr>
      </p:sp>
      <p:sp>
        <p:nvSpPr>
          <p:cNvPr id="34" name="Text 32"/>
          <p:cNvSpPr/>
          <p:nvPr/>
        </p:nvSpPr>
        <p:spPr>
          <a:xfrm>
            <a:off x="2201418" y="3238282"/>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35" name="Shape 33"/>
          <p:cNvSpPr/>
          <p:nvPr/>
        </p:nvSpPr>
        <p:spPr>
          <a:xfrm>
            <a:off x="3625596" y="3210850"/>
            <a:ext cx="1442466" cy="517289"/>
          </a:xfrm>
          <a:prstGeom prst="rect">
            <a:avLst/>
          </a:prstGeom>
          <a:solidFill>
            <a:srgbClr val="FFFFFF"/>
          </a:solidFill>
          <a:ln w="5715">
            <a:solidFill>
              <a:srgbClr val="D8E0EA"/>
            </a:solidFill>
            <a:prstDash val="solid"/>
          </a:ln>
        </p:spPr>
      </p:sp>
      <p:sp>
        <p:nvSpPr>
          <p:cNvPr id="36" name="Text 34"/>
          <p:cNvSpPr/>
          <p:nvPr/>
        </p:nvSpPr>
        <p:spPr>
          <a:xfrm>
            <a:off x="3643884" y="3238282"/>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37" name="Shape 35"/>
          <p:cNvSpPr/>
          <p:nvPr/>
        </p:nvSpPr>
        <p:spPr>
          <a:xfrm>
            <a:off x="5068062" y="3210850"/>
            <a:ext cx="1442466" cy="517289"/>
          </a:xfrm>
          <a:prstGeom prst="rect">
            <a:avLst/>
          </a:prstGeom>
          <a:solidFill>
            <a:srgbClr val="FFFFFF"/>
          </a:solidFill>
          <a:ln w="5715">
            <a:solidFill>
              <a:srgbClr val="D8E0EA"/>
            </a:solidFill>
            <a:prstDash val="solid"/>
          </a:ln>
        </p:spPr>
      </p:sp>
      <p:sp>
        <p:nvSpPr>
          <p:cNvPr id="38" name="Text 36"/>
          <p:cNvSpPr/>
          <p:nvPr/>
        </p:nvSpPr>
        <p:spPr>
          <a:xfrm>
            <a:off x="5086350" y="3238282"/>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39" name="Shape 37"/>
          <p:cNvSpPr/>
          <p:nvPr/>
        </p:nvSpPr>
        <p:spPr>
          <a:xfrm>
            <a:off x="740664" y="3728139"/>
            <a:ext cx="1442466" cy="517289"/>
          </a:xfrm>
          <a:prstGeom prst="rect">
            <a:avLst/>
          </a:prstGeom>
          <a:solidFill>
            <a:srgbClr val="FFFFFF"/>
          </a:solidFill>
          <a:ln w="5715">
            <a:solidFill>
              <a:srgbClr val="D8E0EA"/>
            </a:solidFill>
            <a:prstDash val="solid"/>
          </a:ln>
        </p:spPr>
      </p:sp>
      <p:sp>
        <p:nvSpPr>
          <p:cNvPr id="40" name="Text 38"/>
          <p:cNvSpPr/>
          <p:nvPr/>
        </p:nvSpPr>
        <p:spPr>
          <a:xfrm>
            <a:off x="758952" y="375557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41" name="Shape 39"/>
          <p:cNvSpPr/>
          <p:nvPr/>
        </p:nvSpPr>
        <p:spPr>
          <a:xfrm>
            <a:off x="2183130" y="3728139"/>
            <a:ext cx="1442466" cy="517289"/>
          </a:xfrm>
          <a:prstGeom prst="rect">
            <a:avLst/>
          </a:prstGeom>
          <a:solidFill>
            <a:srgbClr val="FFFFFF"/>
          </a:solidFill>
          <a:ln w="5715">
            <a:solidFill>
              <a:srgbClr val="D8E0EA"/>
            </a:solidFill>
            <a:prstDash val="solid"/>
          </a:ln>
        </p:spPr>
      </p:sp>
      <p:sp>
        <p:nvSpPr>
          <p:cNvPr id="42" name="Text 40"/>
          <p:cNvSpPr/>
          <p:nvPr/>
        </p:nvSpPr>
        <p:spPr>
          <a:xfrm>
            <a:off x="2201418" y="375557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92,000</a:t>
            </a:r>
            <a:endParaRPr lang="en-US" sz="780" dirty="0"/>
          </a:p>
        </p:txBody>
      </p:sp>
      <p:sp>
        <p:nvSpPr>
          <p:cNvPr id="43" name="Shape 41"/>
          <p:cNvSpPr/>
          <p:nvPr/>
        </p:nvSpPr>
        <p:spPr>
          <a:xfrm>
            <a:off x="3625596" y="3728139"/>
            <a:ext cx="1442466" cy="517289"/>
          </a:xfrm>
          <a:prstGeom prst="rect">
            <a:avLst/>
          </a:prstGeom>
          <a:solidFill>
            <a:srgbClr val="FFFFFF"/>
          </a:solidFill>
          <a:ln w="5715">
            <a:solidFill>
              <a:srgbClr val="D8E0EA"/>
            </a:solidFill>
            <a:prstDash val="solid"/>
          </a:ln>
        </p:spPr>
      </p:sp>
      <p:sp>
        <p:nvSpPr>
          <p:cNvPr id="44" name="Text 42"/>
          <p:cNvSpPr/>
          <p:nvPr/>
        </p:nvSpPr>
        <p:spPr>
          <a:xfrm>
            <a:off x="3643884" y="375557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45" name="Shape 43"/>
          <p:cNvSpPr/>
          <p:nvPr/>
        </p:nvSpPr>
        <p:spPr>
          <a:xfrm>
            <a:off x="5068062" y="3728139"/>
            <a:ext cx="1442466" cy="517289"/>
          </a:xfrm>
          <a:prstGeom prst="rect">
            <a:avLst/>
          </a:prstGeom>
          <a:solidFill>
            <a:srgbClr val="FFFFFF"/>
          </a:solidFill>
          <a:ln w="5715">
            <a:solidFill>
              <a:srgbClr val="D8E0EA"/>
            </a:solidFill>
            <a:prstDash val="solid"/>
          </a:ln>
        </p:spPr>
      </p:sp>
      <p:sp>
        <p:nvSpPr>
          <p:cNvPr id="46" name="Text 44"/>
          <p:cNvSpPr/>
          <p:nvPr/>
        </p:nvSpPr>
        <p:spPr>
          <a:xfrm>
            <a:off x="5086350" y="375557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12</a:t>
            </a:r>
            <a:endParaRPr lang="en-US" sz="780" dirty="0"/>
          </a:p>
        </p:txBody>
      </p:sp>
      <p:sp>
        <p:nvSpPr>
          <p:cNvPr id="47" name="Shape 45"/>
          <p:cNvSpPr/>
          <p:nvPr/>
        </p:nvSpPr>
        <p:spPr>
          <a:xfrm>
            <a:off x="740664" y="4245429"/>
            <a:ext cx="1442466" cy="517289"/>
          </a:xfrm>
          <a:prstGeom prst="rect">
            <a:avLst/>
          </a:prstGeom>
          <a:solidFill>
            <a:srgbClr val="FFFFFF"/>
          </a:solidFill>
          <a:ln w="5715">
            <a:solidFill>
              <a:srgbClr val="D8E0EA"/>
            </a:solidFill>
            <a:prstDash val="solid"/>
          </a:ln>
        </p:spPr>
      </p:sp>
      <p:sp>
        <p:nvSpPr>
          <p:cNvPr id="48" name="Text 46"/>
          <p:cNvSpPr/>
          <p:nvPr/>
        </p:nvSpPr>
        <p:spPr>
          <a:xfrm>
            <a:off x="758952" y="427286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49" name="Shape 47"/>
          <p:cNvSpPr/>
          <p:nvPr/>
        </p:nvSpPr>
        <p:spPr>
          <a:xfrm>
            <a:off x="2183130" y="4245429"/>
            <a:ext cx="1442466" cy="517289"/>
          </a:xfrm>
          <a:prstGeom prst="rect">
            <a:avLst/>
          </a:prstGeom>
          <a:solidFill>
            <a:srgbClr val="FDECEC"/>
          </a:solidFill>
          <a:ln w="5715">
            <a:solidFill>
              <a:srgbClr val="D8E0EA"/>
            </a:solidFill>
            <a:prstDash val="solid"/>
          </a:ln>
        </p:spPr>
      </p:sp>
      <p:sp>
        <p:nvSpPr>
          <p:cNvPr id="50" name="Text 48"/>
          <p:cNvSpPr/>
          <p:nvPr/>
        </p:nvSpPr>
        <p:spPr>
          <a:xfrm>
            <a:off x="2201418" y="4272861"/>
            <a:ext cx="1405890" cy="480713"/>
          </a:xfrm>
          <a:prstGeom prst="rect">
            <a:avLst/>
          </a:prstGeom>
          <a:noFill/>
          <a:ln/>
        </p:spPr>
        <p:txBody>
          <a:bodyPr wrap="square" lIns="0" tIns="0" rIns="0" bIns="0" rtlCol="0" anchor="ctr">
            <a:normAutofit/>
          </a:bodyPr>
          <a:lstStyle/>
          <a:p>
            <a:pPr marL="0" indent="0">
              <a:buNone/>
            </a:pPr>
            <a:endParaRPr lang="en-US" sz="780" dirty="0"/>
          </a:p>
        </p:txBody>
      </p:sp>
      <p:sp>
        <p:nvSpPr>
          <p:cNvPr id="51" name="Shape 49"/>
          <p:cNvSpPr/>
          <p:nvPr/>
        </p:nvSpPr>
        <p:spPr>
          <a:xfrm>
            <a:off x="3625596" y="4245429"/>
            <a:ext cx="1442466" cy="517289"/>
          </a:xfrm>
          <a:prstGeom prst="rect">
            <a:avLst/>
          </a:prstGeom>
          <a:solidFill>
            <a:srgbClr val="FFFFFF"/>
          </a:solidFill>
          <a:ln w="5715">
            <a:solidFill>
              <a:srgbClr val="D8E0EA"/>
            </a:solidFill>
            <a:prstDash val="solid"/>
          </a:ln>
        </p:spPr>
      </p:sp>
      <p:sp>
        <p:nvSpPr>
          <p:cNvPr id="52" name="Text 50"/>
          <p:cNvSpPr/>
          <p:nvPr/>
        </p:nvSpPr>
        <p:spPr>
          <a:xfrm>
            <a:off x="3643884" y="427286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3,200</a:t>
            </a:r>
            <a:endParaRPr lang="en-US" sz="780" dirty="0"/>
          </a:p>
        </p:txBody>
      </p:sp>
      <p:sp>
        <p:nvSpPr>
          <p:cNvPr id="53" name="Shape 51"/>
          <p:cNvSpPr/>
          <p:nvPr/>
        </p:nvSpPr>
        <p:spPr>
          <a:xfrm>
            <a:off x="5068062" y="4245429"/>
            <a:ext cx="1442466" cy="517289"/>
          </a:xfrm>
          <a:prstGeom prst="rect">
            <a:avLst/>
          </a:prstGeom>
          <a:solidFill>
            <a:srgbClr val="FFFFFF"/>
          </a:solidFill>
          <a:ln w="5715">
            <a:solidFill>
              <a:srgbClr val="D8E0EA"/>
            </a:solidFill>
            <a:prstDash val="solid"/>
          </a:ln>
        </p:spPr>
      </p:sp>
      <p:sp>
        <p:nvSpPr>
          <p:cNvPr id="54" name="Text 52"/>
          <p:cNvSpPr/>
          <p:nvPr/>
        </p:nvSpPr>
        <p:spPr>
          <a:xfrm>
            <a:off x="5086350" y="4272861"/>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55" name="Shape 53"/>
          <p:cNvSpPr/>
          <p:nvPr/>
        </p:nvSpPr>
        <p:spPr>
          <a:xfrm>
            <a:off x="740664" y="4762718"/>
            <a:ext cx="1442466" cy="517289"/>
          </a:xfrm>
          <a:prstGeom prst="rect">
            <a:avLst/>
          </a:prstGeom>
          <a:solidFill>
            <a:srgbClr val="FFFFFF"/>
          </a:solidFill>
          <a:ln w="5715">
            <a:solidFill>
              <a:srgbClr val="D8E0EA"/>
            </a:solidFill>
            <a:prstDash val="solid"/>
          </a:ln>
        </p:spPr>
      </p:sp>
      <p:sp>
        <p:nvSpPr>
          <p:cNvPr id="56" name="Text 54"/>
          <p:cNvSpPr/>
          <p:nvPr/>
        </p:nvSpPr>
        <p:spPr>
          <a:xfrm>
            <a:off x="758952" y="4790150"/>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57" name="Shape 55"/>
          <p:cNvSpPr/>
          <p:nvPr/>
        </p:nvSpPr>
        <p:spPr>
          <a:xfrm>
            <a:off x="2183130" y="4762718"/>
            <a:ext cx="1442466" cy="517289"/>
          </a:xfrm>
          <a:prstGeom prst="rect">
            <a:avLst/>
          </a:prstGeom>
          <a:solidFill>
            <a:srgbClr val="FFFFFF"/>
          </a:solidFill>
          <a:ln w="5715">
            <a:solidFill>
              <a:srgbClr val="D8E0EA"/>
            </a:solidFill>
            <a:prstDash val="solid"/>
          </a:ln>
        </p:spPr>
      </p:sp>
      <p:sp>
        <p:nvSpPr>
          <p:cNvPr id="58" name="Text 56"/>
          <p:cNvSpPr/>
          <p:nvPr/>
        </p:nvSpPr>
        <p:spPr>
          <a:xfrm>
            <a:off x="2201418" y="4790150"/>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71,000</a:t>
            </a:r>
            <a:endParaRPr lang="en-US" sz="780" dirty="0"/>
          </a:p>
        </p:txBody>
      </p:sp>
      <p:sp>
        <p:nvSpPr>
          <p:cNvPr id="59" name="Shape 57"/>
          <p:cNvSpPr/>
          <p:nvPr/>
        </p:nvSpPr>
        <p:spPr>
          <a:xfrm>
            <a:off x="3625596" y="4762718"/>
            <a:ext cx="1442466" cy="517289"/>
          </a:xfrm>
          <a:prstGeom prst="rect">
            <a:avLst/>
          </a:prstGeom>
          <a:solidFill>
            <a:srgbClr val="FFF4E2"/>
          </a:solidFill>
          <a:ln w="5715">
            <a:solidFill>
              <a:srgbClr val="D8E0EA"/>
            </a:solidFill>
            <a:prstDash val="solid"/>
          </a:ln>
        </p:spPr>
      </p:sp>
      <p:sp>
        <p:nvSpPr>
          <p:cNvPr id="60" name="Text 58"/>
          <p:cNvSpPr/>
          <p:nvPr/>
        </p:nvSpPr>
        <p:spPr>
          <a:xfrm>
            <a:off x="3643884" y="4790150"/>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61" name="Shape 59"/>
          <p:cNvSpPr/>
          <p:nvPr/>
        </p:nvSpPr>
        <p:spPr>
          <a:xfrm>
            <a:off x="5068062" y="4762718"/>
            <a:ext cx="1442466" cy="517289"/>
          </a:xfrm>
          <a:prstGeom prst="rect">
            <a:avLst/>
          </a:prstGeom>
          <a:solidFill>
            <a:srgbClr val="FFF4E2"/>
          </a:solidFill>
          <a:ln w="5715">
            <a:solidFill>
              <a:srgbClr val="D8E0EA"/>
            </a:solidFill>
            <a:prstDash val="solid"/>
          </a:ln>
        </p:spPr>
      </p:sp>
      <p:sp>
        <p:nvSpPr>
          <p:cNvPr id="62" name="Text 60"/>
          <p:cNvSpPr/>
          <p:nvPr/>
        </p:nvSpPr>
        <p:spPr>
          <a:xfrm>
            <a:off x="5086350" y="4790150"/>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97</a:t>
            </a:r>
            <a:endParaRPr lang="en-US" sz="780" dirty="0"/>
          </a:p>
        </p:txBody>
      </p:sp>
      <p:sp>
        <p:nvSpPr>
          <p:cNvPr id="63" name="Shape 61"/>
          <p:cNvSpPr/>
          <p:nvPr/>
        </p:nvSpPr>
        <p:spPr>
          <a:xfrm>
            <a:off x="740664" y="5280007"/>
            <a:ext cx="1442466" cy="517289"/>
          </a:xfrm>
          <a:prstGeom prst="rect">
            <a:avLst/>
          </a:prstGeom>
          <a:solidFill>
            <a:srgbClr val="FFFFFF"/>
          </a:solidFill>
          <a:ln w="5715">
            <a:solidFill>
              <a:srgbClr val="D8E0EA"/>
            </a:solidFill>
            <a:prstDash val="solid"/>
          </a:ln>
        </p:spPr>
      </p:sp>
      <p:sp>
        <p:nvSpPr>
          <p:cNvPr id="64" name="Text 62"/>
          <p:cNvSpPr/>
          <p:nvPr/>
        </p:nvSpPr>
        <p:spPr>
          <a:xfrm>
            <a:off x="758952" y="5307439"/>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C1006</a:t>
            </a:r>
            <a:endParaRPr lang="en-US" sz="780" dirty="0"/>
          </a:p>
        </p:txBody>
      </p:sp>
      <p:sp>
        <p:nvSpPr>
          <p:cNvPr id="65" name="Shape 63"/>
          <p:cNvSpPr/>
          <p:nvPr/>
        </p:nvSpPr>
        <p:spPr>
          <a:xfrm>
            <a:off x="2183130" y="5280007"/>
            <a:ext cx="1442466" cy="517289"/>
          </a:xfrm>
          <a:prstGeom prst="rect">
            <a:avLst/>
          </a:prstGeom>
          <a:solidFill>
            <a:srgbClr val="FFFFFF"/>
          </a:solidFill>
          <a:ln w="5715">
            <a:solidFill>
              <a:srgbClr val="D8E0EA"/>
            </a:solidFill>
            <a:prstDash val="solid"/>
          </a:ln>
        </p:spPr>
      </p:sp>
      <p:sp>
        <p:nvSpPr>
          <p:cNvPr id="66" name="Text 64"/>
          <p:cNvSpPr/>
          <p:nvPr/>
        </p:nvSpPr>
        <p:spPr>
          <a:xfrm>
            <a:off x="2201418" y="5307439"/>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58,000</a:t>
            </a:r>
            <a:endParaRPr lang="en-US" sz="780" dirty="0"/>
          </a:p>
        </p:txBody>
      </p:sp>
      <p:sp>
        <p:nvSpPr>
          <p:cNvPr id="67" name="Shape 65"/>
          <p:cNvSpPr/>
          <p:nvPr/>
        </p:nvSpPr>
        <p:spPr>
          <a:xfrm>
            <a:off x="3625596" y="5280007"/>
            <a:ext cx="1442466" cy="517289"/>
          </a:xfrm>
          <a:prstGeom prst="rect">
            <a:avLst/>
          </a:prstGeom>
          <a:solidFill>
            <a:srgbClr val="FFFFFF"/>
          </a:solidFill>
          <a:ln w="5715">
            <a:solidFill>
              <a:srgbClr val="D8E0EA"/>
            </a:solidFill>
            <a:prstDash val="solid"/>
          </a:ln>
        </p:spPr>
      </p:sp>
      <p:sp>
        <p:nvSpPr>
          <p:cNvPr id="68" name="Text 66"/>
          <p:cNvSpPr/>
          <p:nvPr/>
        </p:nvSpPr>
        <p:spPr>
          <a:xfrm>
            <a:off x="3643884" y="5307439"/>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9,700</a:t>
            </a:r>
            <a:endParaRPr lang="en-US" sz="780" dirty="0"/>
          </a:p>
        </p:txBody>
      </p:sp>
      <p:sp>
        <p:nvSpPr>
          <p:cNvPr id="69" name="Shape 67"/>
          <p:cNvSpPr/>
          <p:nvPr/>
        </p:nvSpPr>
        <p:spPr>
          <a:xfrm>
            <a:off x="5068062" y="5280007"/>
            <a:ext cx="1442466" cy="517289"/>
          </a:xfrm>
          <a:prstGeom prst="rect">
            <a:avLst/>
          </a:prstGeom>
          <a:solidFill>
            <a:srgbClr val="FFFFFF"/>
          </a:solidFill>
          <a:ln w="5715">
            <a:solidFill>
              <a:srgbClr val="D8E0EA"/>
            </a:solidFill>
            <a:prstDash val="solid"/>
          </a:ln>
        </p:spPr>
      </p:sp>
      <p:sp>
        <p:nvSpPr>
          <p:cNvPr id="70" name="Text 68"/>
          <p:cNvSpPr/>
          <p:nvPr/>
        </p:nvSpPr>
        <p:spPr>
          <a:xfrm>
            <a:off x="5086350" y="5307439"/>
            <a:ext cx="1405890" cy="480713"/>
          </a:xfrm>
          <a:prstGeom prst="rect">
            <a:avLst/>
          </a:prstGeom>
          <a:noFill/>
          <a:ln/>
        </p:spPr>
        <p:txBody>
          <a:bodyPr wrap="square" lIns="0" tIns="0" rIns="0" bIns="0" rtlCol="0" anchor="ctr">
            <a:normAutofit/>
          </a:bodyPr>
          <a:lstStyle/>
          <a:p>
            <a:pPr marL="0" indent="0">
              <a:buNone/>
            </a:pPr>
            <a:r>
              <a:rPr lang="en-US" sz="780" dirty="0">
                <a:solidFill>
                  <a:srgbClr val="26364A"/>
                </a:solidFill>
              </a:rPr>
              <a:t>0</a:t>
            </a:r>
            <a:endParaRPr lang="en-US" sz="780" dirty="0"/>
          </a:p>
        </p:txBody>
      </p:sp>
      <p:sp>
        <p:nvSpPr>
          <p:cNvPr id="71" name="Shape 69"/>
          <p:cNvSpPr/>
          <p:nvPr/>
        </p:nvSpPr>
        <p:spPr>
          <a:xfrm>
            <a:off x="6903720" y="1499616"/>
            <a:ext cx="4151376" cy="804672"/>
          </a:xfrm>
          <a:prstGeom prst="roundRect">
            <a:avLst>
              <a:gd name="adj" fmla="val 9091"/>
            </a:avLst>
          </a:prstGeom>
          <a:solidFill>
            <a:srgbClr val="FFFFFF"/>
          </a:solidFill>
          <a:ln w="10160">
            <a:solidFill>
              <a:srgbClr val="E9EEF5"/>
            </a:solidFill>
            <a:prstDash val="solid"/>
          </a:ln>
        </p:spPr>
      </p:sp>
      <p:sp>
        <p:nvSpPr>
          <p:cNvPr id="72" name="Text 70"/>
          <p:cNvSpPr/>
          <p:nvPr/>
        </p:nvSpPr>
        <p:spPr>
          <a:xfrm>
            <a:off x="7068312" y="1636776"/>
            <a:ext cx="382219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Sort</a:t>
            </a:r>
            <a:endParaRPr lang="en-US" sz="1500" dirty="0"/>
          </a:p>
        </p:txBody>
      </p:sp>
      <p:sp>
        <p:nvSpPr>
          <p:cNvPr id="73" name="Text 71"/>
          <p:cNvSpPr/>
          <p:nvPr/>
        </p:nvSpPr>
        <p:spPr>
          <a:xfrm>
            <a:off x="7068312" y="1975104"/>
            <a:ext cx="3822192" cy="2011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Find top/bottom values and suspicious extremes.</a:t>
            </a:r>
            <a:endParaRPr lang="en-US" sz="1150" dirty="0"/>
          </a:p>
        </p:txBody>
      </p:sp>
      <p:sp>
        <p:nvSpPr>
          <p:cNvPr id="74" name="Shape 72"/>
          <p:cNvSpPr/>
          <p:nvPr/>
        </p:nvSpPr>
        <p:spPr>
          <a:xfrm>
            <a:off x="6903720" y="2514600"/>
            <a:ext cx="4151376" cy="804672"/>
          </a:xfrm>
          <a:prstGeom prst="roundRect">
            <a:avLst>
              <a:gd name="adj" fmla="val 9091"/>
            </a:avLst>
          </a:prstGeom>
          <a:solidFill>
            <a:srgbClr val="F2F5F9"/>
          </a:solidFill>
          <a:ln w="10160">
            <a:solidFill>
              <a:srgbClr val="E9EEF5"/>
            </a:solidFill>
            <a:prstDash val="solid"/>
          </a:ln>
        </p:spPr>
      </p:sp>
      <p:sp>
        <p:nvSpPr>
          <p:cNvPr id="75" name="Text 73"/>
          <p:cNvSpPr/>
          <p:nvPr/>
        </p:nvSpPr>
        <p:spPr>
          <a:xfrm>
            <a:off x="7068312" y="2651760"/>
            <a:ext cx="382219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Filter</a:t>
            </a:r>
            <a:endParaRPr lang="en-US" sz="1500" dirty="0"/>
          </a:p>
        </p:txBody>
      </p:sp>
      <p:sp>
        <p:nvSpPr>
          <p:cNvPr id="76" name="Text 74"/>
          <p:cNvSpPr/>
          <p:nvPr/>
        </p:nvSpPr>
        <p:spPr>
          <a:xfrm>
            <a:off x="7068312" y="2990088"/>
            <a:ext cx="3822192" cy="201168"/>
          </a:xfrm>
          <a:prstGeom prst="rect">
            <a:avLst/>
          </a:prstGeom>
          <a:noFill/>
          <a:ln/>
        </p:spPr>
        <p:txBody>
          <a:bodyPr wrap="square" lIns="381" tIns="381" rIns="381" bIns="381" rtlCol="0" anchor="ctr">
            <a:normAutofit fontScale="92500"/>
          </a:bodyPr>
          <a:lstStyle/>
          <a:p>
            <a:pPr marL="0" indent="0">
              <a:buNone/>
            </a:pPr>
            <a:r>
              <a:rPr lang="en-US" sz="1150" dirty="0">
                <a:solidFill>
                  <a:srgbClr val="26364A"/>
                </a:solidFill>
              </a:rPr>
              <a:t>Inspect one segment, branch, category or exception at a time.</a:t>
            </a:r>
            <a:endParaRPr lang="en-US" sz="1150" dirty="0"/>
          </a:p>
        </p:txBody>
      </p:sp>
      <p:sp>
        <p:nvSpPr>
          <p:cNvPr id="77" name="Shape 75"/>
          <p:cNvSpPr/>
          <p:nvPr/>
        </p:nvSpPr>
        <p:spPr>
          <a:xfrm>
            <a:off x="6903720" y="3529584"/>
            <a:ext cx="4151376" cy="804672"/>
          </a:xfrm>
          <a:prstGeom prst="roundRect">
            <a:avLst>
              <a:gd name="adj" fmla="val 9091"/>
            </a:avLst>
          </a:prstGeom>
          <a:solidFill>
            <a:srgbClr val="FFFFFF"/>
          </a:solidFill>
          <a:ln w="10160">
            <a:solidFill>
              <a:srgbClr val="E9EEF5"/>
            </a:solidFill>
            <a:prstDash val="solid"/>
          </a:ln>
        </p:spPr>
      </p:sp>
      <p:sp>
        <p:nvSpPr>
          <p:cNvPr id="78" name="Text 76"/>
          <p:cNvSpPr/>
          <p:nvPr/>
        </p:nvSpPr>
        <p:spPr>
          <a:xfrm>
            <a:off x="7068312" y="3666744"/>
            <a:ext cx="382219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Conditional formatting</a:t>
            </a:r>
            <a:endParaRPr lang="en-US" sz="1500" dirty="0"/>
          </a:p>
        </p:txBody>
      </p:sp>
      <p:sp>
        <p:nvSpPr>
          <p:cNvPr id="79" name="Text 77"/>
          <p:cNvSpPr/>
          <p:nvPr/>
        </p:nvSpPr>
        <p:spPr>
          <a:xfrm>
            <a:off x="7068312" y="4005072"/>
            <a:ext cx="3822192" cy="2011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Highlight blanks, duplicates, thresholds and unusual values.</a:t>
            </a:r>
            <a:endParaRPr lang="en-US" sz="1150" dirty="0"/>
          </a:p>
        </p:txBody>
      </p:sp>
      <p:sp>
        <p:nvSpPr>
          <p:cNvPr id="80" name="Shape 78"/>
          <p:cNvSpPr/>
          <p:nvPr/>
        </p:nvSpPr>
        <p:spPr>
          <a:xfrm>
            <a:off x="6903720" y="4544568"/>
            <a:ext cx="4151376" cy="804672"/>
          </a:xfrm>
          <a:prstGeom prst="roundRect">
            <a:avLst>
              <a:gd name="adj" fmla="val 9091"/>
            </a:avLst>
          </a:prstGeom>
          <a:solidFill>
            <a:srgbClr val="F2F5F9"/>
          </a:solidFill>
          <a:ln w="10160">
            <a:solidFill>
              <a:srgbClr val="E9EEF5"/>
            </a:solidFill>
            <a:prstDash val="solid"/>
          </a:ln>
        </p:spPr>
      </p:sp>
      <p:sp>
        <p:nvSpPr>
          <p:cNvPr id="81" name="Text 79"/>
          <p:cNvSpPr/>
          <p:nvPr/>
        </p:nvSpPr>
        <p:spPr>
          <a:xfrm>
            <a:off x="7068312" y="4681728"/>
            <a:ext cx="3822192"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Freeze panes / Table headers</a:t>
            </a:r>
            <a:endParaRPr lang="en-US" sz="1500" dirty="0"/>
          </a:p>
        </p:txBody>
      </p:sp>
      <p:sp>
        <p:nvSpPr>
          <p:cNvPr id="82" name="Text 80"/>
          <p:cNvSpPr/>
          <p:nvPr/>
        </p:nvSpPr>
        <p:spPr>
          <a:xfrm>
            <a:off x="7068312" y="5020056"/>
            <a:ext cx="3822192" cy="2011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Keep context while scanning many rows.</a:t>
            </a:r>
            <a:endParaRPr lang="en-US" sz="1150" dirty="0"/>
          </a:p>
        </p:txBody>
      </p:sp>
      <p:sp>
        <p:nvSpPr>
          <p:cNvPr id="83" name="Shape 81"/>
          <p:cNvSpPr/>
          <p:nvPr/>
        </p:nvSpPr>
        <p:spPr>
          <a:xfrm>
            <a:off x="6931152" y="5605272"/>
            <a:ext cx="4133088" cy="420624"/>
          </a:xfrm>
          <a:prstGeom prst="roundRect">
            <a:avLst>
              <a:gd name="adj" fmla="val 10870"/>
            </a:avLst>
          </a:prstGeom>
          <a:solidFill>
            <a:srgbClr val="F8FBF9"/>
          </a:solidFill>
          <a:ln w="12700">
            <a:solidFill>
              <a:srgbClr val="F59E0B"/>
            </a:solidFill>
            <a:prstDash val="solid"/>
          </a:ln>
        </p:spPr>
      </p:sp>
      <p:sp>
        <p:nvSpPr>
          <p:cNvPr id="84" name="Text 82"/>
          <p:cNvSpPr/>
          <p:nvPr/>
        </p:nvSpPr>
        <p:spPr>
          <a:xfrm>
            <a:off x="7040880" y="5687568"/>
            <a:ext cx="3913632" cy="219456"/>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132238"/>
                </a:solidFill>
                <a:latin typeface="Aptos Mono" pitchFamily="34" charset="0"/>
                <a:ea typeface="Aptos Mono" pitchFamily="34" charset="-122"/>
                <a:cs typeface="Aptos Mono" pitchFamily="34" charset="-120"/>
              </a:rPr>
              <a:t>Tip: “show me the 20 largest values” is often a very good EDA question.</a:t>
            </a:r>
            <a:endParaRPr lang="en-US" sz="1050" dirty="0"/>
          </a:p>
        </p:txBody>
      </p:sp>
      <p:sp>
        <p:nvSpPr>
          <p:cNvPr id="8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Random variables: a bridge from data to probability</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random variable represents a quantity whose observed value depends on an uncertain outcome.</a:t>
            </a:r>
            <a:endParaRPr lang="en-US" sz="1300" dirty="0"/>
          </a:p>
        </p:txBody>
      </p:sp>
      <p:sp>
        <p:nvSpPr>
          <p:cNvPr id="7" name="Shape 5"/>
          <p:cNvSpPr/>
          <p:nvPr/>
        </p:nvSpPr>
        <p:spPr>
          <a:xfrm>
            <a:off x="804672" y="1554480"/>
            <a:ext cx="3063240" cy="1965960"/>
          </a:xfrm>
          <a:prstGeom prst="roundRect">
            <a:avLst>
              <a:gd name="adj" fmla="val 3721"/>
            </a:avLst>
          </a:prstGeom>
          <a:solidFill>
            <a:srgbClr val="EAF1FF"/>
          </a:solidFill>
          <a:ln w="10160">
            <a:solidFill>
              <a:srgbClr val="E9EEF5"/>
            </a:solidFill>
            <a:prstDash val="solid"/>
          </a:ln>
        </p:spPr>
      </p:sp>
      <p:sp>
        <p:nvSpPr>
          <p:cNvPr id="8" name="Text 6"/>
          <p:cNvSpPr/>
          <p:nvPr/>
        </p:nvSpPr>
        <p:spPr>
          <a:xfrm>
            <a:off x="969264" y="1691640"/>
            <a:ext cx="27340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Experiment / process</a:t>
            </a:r>
            <a:endParaRPr lang="en-US" sz="1500" dirty="0"/>
          </a:p>
        </p:txBody>
      </p:sp>
      <p:sp>
        <p:nvSpPr>
          <p:cNvPr id="9" name="Text 7"/>
          <p:cNvSpPr/>
          <p:nvPr/>
        </p:nvSpPr>
        <p:spPr>
          <a:xfrm>
            <a:off x="969264" y="2029968"/>
            <a:ext cx="2734056" cy="13624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customer may or may not default within 12 months.</a:t>
            </a:r>
            <a:endParaRPr lang="en-US" sz="1150" dirty="0"/>
          </a:p>
        </p:txBody>
      </p:sp>
      <p:sp>
        <p:nvSpPr>
          <p:cNvPr id="10" name="Shape 8"/>
          <p:cNvSpPr/>
          <p:nvPr/>
        </p:nvSpPr>
        <p:spPr>
          <a:xfrm>
            <a:off x="4151376" y="2057400"/>
            <a:ext cx="530352" cy="960120"/>
          </a:xfrm>
          <a:prstGeom prst="chevron">
            <a:avLst/>
          </a:prstGeom>
          <a:solidFill>
            <a:srgbClr val="AEB8C5"/>
          </a:solidFill>
          <a:ln w="12700">
            <a:solidFill>
              <a:srgbClr val="AEB8C5"/>
            </a:solidFill>
            <a:prstDash val="solid"/>
          </a:ln>
        </p:spPr>
      </p:sp>
      <p:sp>
        <p:nvSpPr>
          <p:cNvPr id="11" name="Shape 9"/>
          <p:cNvSpPr/>
          <p:nvPr/>
        </p:nvSpPr>
        <p:spPr>
          <a:xfrm>
            <a:off x="5010912" y="1554480"/>
            <a:ext cx="3063240" cy="1965960"/>
          </a:xfrm>
          <a:prstGeom prst="roundRect">
            <a:avLst>
              <a:gd name="adj" fmla="val 3721"/>
            </a:avLst>
          </a:prstGeom>
          <a:solidFill>
            <a:srgbClr val="E6F7F5"/>
          </a:solidFill>
          <a:ln w="10160">
            <a:solidFill>
              <a:srgbClr val="E9EEF5"/>
            </a:solidFill>
            <a:prstDash val="solid"/>
          </a:ln>
        </p:spPr>
      </p:sp>
      <p:sp>
        <p:nvSpPr>
          <p:cNvPr id="12" name="Text 10"/>
          <p:cNvSpPr/>
          <p:nvPr/>
        </p:nvSpPr>
        <p:spPr>
          <a:xfrm>
            <a:off x="5175504" y="1691640"/>
            <a:ext cx="27340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Random variable X</a:t>
            </a:r>
            <a:endParaRPr lang="en-US" sz="1500" dirty="0"/>
          </a:p>
        </p:txBody>
      </p:sp>
      <p:sp>
        <p:nvSpPr>
          <p:cNvPr id="13" name="Text 11"/>
          <p:cNvSpPr/>
          <p:nvPr/>
        </p:nvSpPr>
        <p:spPr>
          <a:xfrm>
            <a:off x="5175504" y="2029968"/>
            <a:ext cx="2734056" cy="13624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X = 1 if default occurs</a:t>
            </a:r>
            <a:endParaRPr lang="en-US" sz="1150" dirty="0"/>
          </a:p>
          <a:p>
            <a:pPr marL="0" indent="0">
              <a:buNone/>
            </a:pPr>
            <a:r>
              <a:rPr lang="en-US" sz="1150" dirty="0">
                <a:solidFill>
                  <a:srgbClr val="26364A"/>
                </a:solidFill>
              </a:rPr>
              <a:t>X = 0 otherwise</a:t>
            </a:r>
            <a:endParaRPr lang="en-US" sz="1150" dirty="0"/>
          </a:p>
        </p:txBody>
      </p:sp>
      <p:sp>
        <p:nvSpPr>
          <p:cNvPr id="14" name="Shape 12"/>
          <p:cNvSpPr/>
          <p:nvPr/>
        </p:nvSpPr>
        <p:spPr>
          <a:xfrm>
            <a:off x="8357616" y="2057400"/>
            <a:ext cx="530352" cy="960120"/>
          </a:xfrm>
          <a:prstGeom prst="chevron">
            <a:avLst/>
          </a:prstGeom>
          <a:solidFill>
            <a:srgbClr val="AEB8C5"/>
          </a:solidFill>
          <a:ln w="12700">
            <a:solidFill>
              <a:srgbClr val="AEB8C5"/>
            </a:solidFill>
            <a:prstDash val="solid"/>
          </a:ln>
        </p:spPr>
      </p:sp>
      <p:sp>
        <p:nvSpPr>
          <p:cNvPr id="15" name="Shape 13"/>
          <p:cNvSpPr/>
          <p:nvPr/>
        </p:nvSpPr>
        <p:spPr>
          <a:xfrm>
            <a:off x="9162288" y="1554480"/>
            <a:ext cx="2148840" cy="1965960"/>
          </a:xfrm>
          <a:prstGeom prst="roundRect">
            <a:avLst>
              <a:gd name="adj" fmla="val 3721"/>
            </a:avLst>
          </a:prstGeom>
          <a:solidFill>
            <a:srgbClr val="EAF7EF"/>
          </a:solidFill>
          <a:ln w="10160">
            <a:solidFill>
              <a:srgbClr val="E9EEF5"/>
            </a:solidFill>
            <a:prstDash val="solid"/>
          </a:ln>
        </p:spPr>
      </p:sp>
      <p:sp>
        <p:nvSpPr>
          <p:cNvPr id="16" name="Text 14"/>
          <p:cNvSpPr/>
          <p:nvPr/>
        </p:nvSpPr>
        <p:spPr>
          <a:xfrm>
            <a:off x="9326880" y="1691640"/>
            <a:ext cx="18196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Observed value</a:t>
            </a:r>
            <a:endParaRPr lang="en-US" sz="1500" dirty="0"/>
          </a:p>
        </p:txBody>
      </p:sp>
      <p:sp>
        <p:nvSpPr>
          <p:cNvPr id="17" name="Text 15"/>
          <p:cNvSpPr/>
          <p:nvPr/>
        </p:nvSpPr>
        <p:spPr>
          <a:xfrm>
            <a:off x="9326880" y="2029968"/>
            <a:ext cx="1819656" cy="136245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For one customer: X = 0</a:t>
            </a:r>
            <a:endParaRPr lang="en-US" sz="1150" dirty="0"/>
          </a:p>
        </p:txBody>
      </p:sp>
      <p:sp>
        <p:nvSpPr>
          <p:cNvPr id="18" name="Shape 16"/>
          <p:cNvSpPr/>
          <p:nvPr/>
        </p:nvSpPr>
        <p:spPr>
          <a:xfrm>
            <a:off x="1024128" y="4041648"/>
            <a:ext cx="9966960" cy="1234440"/>
          </a:xfrm>
          <a:prstGeom prst="roundRect">
            <a:avLst>
              <a:gd name="adj" fmla="val 5926"/>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9" name="Text 17"/>
          <p:cNvSpPr/>
          <p:nvPr/>
        </p:nvSpPr>
        <p:spPr>
          <a:xfrm>
            <a:off x="1188720" y="4178808"/>
            <a:ext cx="96377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Other examples</a:t>
            </a:r>
            <a:endParaRPr lang="en-US" sz="1500" dirty="0"/>
          </a:p>
        </p:txBody>
      </p:sp>
      <p:sp>
        <p:nvSpPr>
          <p:cNvPr id="20" name="Text 18"/>
          <p:cNvSpPr/>
          <p:nvPr/>
        </p:nvSpPr>
        <p:spPr>
          <a:xfrm>
            <a:off x="1188720" y="4517136"/>
            <a:ext cx="9637776" cy="63093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Transaction amount · number of late payments · account balance next month · time until loan closure · daily loss.</a:t>
            </a:r>
            <a:endParaRPr lang="en-US" sz="1150" dirty="0"/>
          </a:p>
        </p:txBody>
      </p:sp>
      <p:sp>
        <p:nvSpPr>
          <p:cNvPr id="21" name="Shape 19"/>
          <p:cNvSpPr/>
          <p:nvPr/>
        </p:nvSpPr>
        <p:spPr>
          <a:xfrm>
            <a:off x="1417320" y="5650992"/>
            <a:ext cx="9372600" cy="530352"/>
          </a:xfrm>
          <a:prstGeom prst="roundRect">
            <a:avLst>
              <a:gd name="adj" fmla="val 8621"/>
            </a:avLst>
          </a:prstGeom>
          <a:solidFill>
            <a:srgbClr val="FFFFFF"/>
          </a:solidFill>
          <a:ln w="15240">
            <a:solidFill>
              <a:srgbClr val="7A5AF8"/>
            </a:solidFill>
            <a:prstDash val="solid"/>
          </a:ln>
        </p:spPr>
      </p:sp>
      <p:sp>
        <p:nvSpPr>
          <p:cNvPr id="22" name="Shape 20"/>
          <p:cNvSpPr/>
          <p:nvPr/>
        </p:nvSpPr>
        <p:spPr>
          <a:xfrm>
            <a:off x="1417320" y="5650992"/>
            <a:ext cx="73152" cy="530352"/>
          </a:xfrm>
          <a:prstGeom prst="rect">
            <a:avLst/>
          </a:prstGeom>
          <a:solidFill>
            <a:srgbClr val="7A5AF8"/>
          </a:solidFill>
          <a:ln w="12700">
            <a:solidFill>
              <a:srgbClr val="7A5AF8"/>
            </a:solidFill>
            <a:prstDash val="solid"/>
          </a:ln>
        </p:spPr>
      </p:sp>
      <p:sp>
        <p:nvSpPr>
          <p:cNvPr id="23" name="Text 21"/>
          <p:cNvSpPr/>
          <p:nvPr/>
        </p:nvSpPr>
        <p:spPr>
          <a:xfrm>
            <a:off x="1581912" y="5760720"/>
            <a:ext cx="9116568" cy="310896"/>
          </a:xfrm>
          <a:prstGeom prst="rect">
            <a:avLst/>
          </a:prstGeom>
          <a:noFill/>
          <a:ln/>
        </p:spPr>
        <p:txBody>
          <a:bodyPr wrap="square" lIns="0" tIns="0" rIns="0" bIns="0" rtlCol="0" anchor="ctr">
            <a:normAutofit/>
          </a:bodyPr>
          <a:lstStyle/>
          <a:p>
            <a:pPr marL="0" indent="0">
              <a:buNone/>
            </a:pPr>
            <a:r>
              <a:rPr lang="en-US" sz="1150" b="1" dirty="0">
                <a:solidFill>
                  <a:srgbClr val="0B1F33"/>
                </a:solidFill>
              </a:rPr>
              <a:t>Random does not mean “without structure”. It means the exact outcome is uncertain before observation.</a:t>
            </a:r>
            <a:endParaRPr lang="en-US" sz="1150" dirty="0"/>
          </a:p>
        </p:txBody>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Probability distributions: the “shape” of uncertainty</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distribution describes which values a random variable can take and how likely they are.</a:t>
            </a:r>
            <a:endParaRPr lang="en-US" sz="1300" dirty="0"/>
          </a:p>
        </p:txBody>
      </p:sp>
      <p:sp>
        <p:nvSpPr>
          <p:cNvPr id="7" name="Shape 5"/>
          <p:cNvSpPr/>
          <p:nvPr/>
        </p:nvSpPr>
        <p:spPr>
          <a:xfrm>
            <a:off x="868680" y="3200400"/>
            <a:ext cx="2834640" cy="0"/>
          </a:xfrm>
          <a:prstGeom prst="line">
            <a:avLst/>
          </a:prstGeom>
          <a:noFill/>
          <a:ln w="12700">
            <a:solidFill>
              <a:srgbClr val="AEB8C5"/>
            </a:solidFill>
            <a:prstDash val="solid"/>
          </a:ln>
        </p:spPr>
      </p:sp>
      <p:sp>
        <p:nvSpPr>
          <p:cNvPr id="8" name="Shape 6"/>
          <p:cNvSpPr/>
          <p:nvPr/>
        </p:nvSpPr>
        <p:spPr>
          <a:xfrm>
            <a:off x="868680" y="3185260"/>
            <a:ext cx="47244" cy="0"/>
          </a:xfrm>
          <a:prstGeom prst="line">
            <a:avLst/>
          </a:prstGeom>
          <a:noFill/>
          <a:ln w="27940">
            <a:solidFill>
              <a:srgbClr val="2F6BFF"/>
            </a:solidFill>
            <a:prstDash val="solid"/>
          </a:ln>
        </p:spPr>
      </p:sp>
      <p:sp>
        <p:nvSpPr>
          <p:cNvPr id="9" name="Shape 7"/>
          <p:cNvSpPr/>
          <p:nvPr/>
        </p:nvSpPr>
        <p:spPr>
          <a:xfrm>
            <a:off x="915924" y="3180066"/>
            <a:ext cx="47244" cy="0"/>
          </a:xfrm>
          <a:prstGeom prst="line">
            <a:avLst/>
          </a:prstGeom>
          <a:noFill/>
          <a:ln w="27940">
            <a:solidFill>
              <a:srgbClr val="2F6BFF"/>
            </a:solidFill>
            <a:prstDash val="solid"/>
          </a:ln>
        </p:spPr>
      </p:sp>
      <p:sp>
        <p:nvSpPr>
          <p:cNvPr id="10" name="Shape 8"/>
          <p:cNvSpPr/>
          <p:nvPr/>
        </p:nvSpPr>
        <p:spPr>
          <a:xfrm>
            <a:off x="963168" y="3173360"/>
            <a:ext cx="47244" cy="0"/>
          </a:xfrm>
          <a:prstGeom prst="line">
            <a:avLst/>
          </a:prstGeom>
          <a:noFill/>
          <a:ln w="27940">
            <a:solidFill>
              <a:srgbClr val="2F6BFF"/>
            </a:solidFill>
            <a:prstDash val="solid"/>
          </a:ln>
        </p:spPr>
      </p:sp>
      <p:sp>
        <p:nvSpPr>
          <p:cNvPr id="11" name="Shape 9"/>
          <p:cNvSpPr/>
          <p:nvPr/>
        </p:nvSpPr>
        <p:spPr>
          <a:xfrm>
            <a:off x="1010412" y="3164801"/>
            <a:ext cx="47244" cy="0"/>
          </a:xfrm>
          <a:prstGeom prst="line">
            <a:avLst/>
          </a:prstGeom>
          <a:noFill/>
          <a:ln w="27940">
            <a:solidFill>
              <a:srgbClr val="2F6BFF"/>
            </a:solidFill>
            <a:prstDash val="solid"/>
          </a:ln>
        </p:spPr>
      </p:sp>
      <p:sp>
        <p:nvSpPr>
          <p:cNvPr id="12" name="Shape 10"/>
          <p:cNvSpPr/>
          <p:nvPr/>
        </p:nvSpPr>
        <p:spPr>
          <a:xfrm>
            <a:off x="1057656" y="3153999"/>
            <a:ext cx="47244" cy="0"/>
          </a:xfrm>
          <a:prstGeom prst="line">
            <a:avLst/>
          </a:prstGeom>
          <a:noFill/>
          <a:ln w="27940">
            <a:solidFill>
              <a:srgbClr val="2F6BFF"/>
            </a:solidFill>
            <a:prstDash val="solid"/>
          </a:ln>
        </p:spPr>
      </p:sp>
      <p:sp>
        <p:nvSpPr>
          <p:cNvPr id="13" name="Shape 11"/>
          <p:cNvSpPr/>
          <p:nvPr/>
        </p:nvSpPr>
        <p:spPr>
          <a:xfrm>
            <a:off x="1104900" y="3140522"/>
            <a:ext cx="47244" cy="0"/>
          </a:xfrm>
          <a:prstGeom prst="line">
            <a:avLst/>
          </a:prstGeom>
          <a:noFill/>
          <a:ln w="27940">
            <a:solidFill>
              <a:srgbClr val="2F6BFF"/>
            </a:solidFill>
            <a:prstDash val="solid"/>
          </a:ln>
        </p:spPr>
      </p:sp>
      <p:sp>
        <p:nvSpPr>
          <p:cNvPr id="14" name="Shape 12"/>
          <p:cNvSpPr/>
          <p:nvPr/>
        </p:nvSpPr>
        <p:spPr>
          <a:xfrm>
            <a:off x="1152144" y="3123898"/>
            <a:ext cx="47244" cy="0"/>
          </a:xfrm>
          <a:prstGeom prst="line">
            <a:avLst/>
          </a:prstGeom>
          <a:noFill/>
          <a:ln w="27940">
            <a:solidFill>
              <a:srgbClr val="2F6BFF"/>
            </a:solidFill>
            <a:prstDash val="solid"/>
          </a:ln>
        </p:spPr>
      </p:sp>
      <p:sp>
        <p:nvSpPr>
          <p:cNvPr id="15" name="Shape 13"/>
          <p:cNvSpPr/>
          <p:nvPr/>
        </p:nvSpPr>
        <p:spPr>
          <a:xfrm>
            <a:off x="1199388" y="3103632"/>
            <a:ext cx="47244" cy="0"/>
          </a:xfrm>
          <a:prstGeom prst="line">
            <a:avLst/>
          </a:prstGeom>
          <a:noFill/>
          <a:ln w="27940">
            <a:solidFill>
              <a:srgbClr val="2F6BFF"/>
            </a:solidFill>
            <a:prstDash val="solid"/>
          </a:ln>
        </p:spPr>
      </p:sp>
      <p:sp>
        <p:nvSpPr>
          <p:cNvPr id="16" name="Shape 14"/>
          <p:cNvSpPr/>
          <p:nvPr/>
        </p:nvSpPr>
        <p:spPr>
          <a:xfrm>
            <a:off x="1246632" y="3079216"/>
            <a:ext cx="47244" cy="0"/>
          </a:xfrm>
          <a:prstGeom prst="line">
            <a:avLst/>
          </a:prstGeom>
          <a:noFill/>
          <a:ln w="27940">
            <a:solidFill>
              <a:srgbClr val="2F6BFF"/>
            </a:solidFill>
            <a:prstDash val="solid"/>
          </a:ln>
        </p:spPr>
      </p:sp>
      <p:sp>
        <p:nvSpPr>
          <p:cNvPr id="17" name="Shape 15"/>
          <p:cNvSpPr/>
          <p:nvPr/>
        </p:nvSpPr>
        <p:spPr>
          <a:xfrm>
            <a:off x="1293876" y="3050148"/>
            <a:ext cx="47244" cy="0"/>
          </a:xfrm>
          <a:prstGeom prst="line">
            <a:avLst/>
          </a:prstGeom>
          <a:noFill/>
          <a:ln w="27940">
            <a:solidFill>
              <a:srgbClr val="2F6BFF"/>
            </a:solidFill>
            <a:prstDash val="solid"/>
          </a:ln>
        </p:spPr>
      </p:sp>
      <p:sp>
        <p:nvSpPr>
          <p:cNvPr id="18" name="Shape 16"/>
          <p:cNvSpPr/>
          <p:nvPr/>
        </p:nvSpPr>
        <p:spPr>
          <a:xfrm>
            <a:off x="1341120" y="3015962"/>
            <a:ext cx="47244" cy="0"/>
          </a:xfrm>
          <a:prstGeom prst="line">
            <a:avLst/>
          </a:prstGeom>
          <a:noFill/>
          <a:ln w="27940">
            <a:solidFill>
              <a:srgbClr val="2F6BFF"/>
            </a:solidFill>
            <a:prstDash val="solid"/>
          </a:ln>
        </p:spPr>
      </p:sp>
      <p:sp>
        <p:nvSpPr>
          <p:cNvPr id="19" name="Shape 17"/>
          <p:cNvSpPr/>
          <p:nvPr/>
        </p:nvSpPr>
        <p:spPr>
          <a:xfrm>
            <a:off x="1388364" y="2976251"/>
            <a:ext cx="47244" cy="0"/>
          </a:xfrm>
          <a:prstGeom prst="line">
            <a:avLst/>
          </a:prstGeom>
          <a:noFill/>
          <a:ln w="27940">
            <a:solidFill>
              <a:srgbClr val="2F6BFF"/>
            </a:solidFill>
            <a:prstDash val="solid"/>
          </a:ln>
        </p:spPr>
      </p:sp>
      <p:sp>
        <p:nvSpPr>
          <p:cNvPr id="20" name="Shape 18"/>
          <p:cNvSpPr/>
          <p:nvPr/>
        </p:nvSpPr>
        <p:spPr>
          <a:xfrm>
            <a:off x="1435608" y="2930699"/>
            <a:ext cx="47244" cy="0"/>
          </a:xfrm>
          <a:prstGeom prst="line">
            <a:avLst/>
          </a:prstGeom>
          <a:noFill/>
          <a:ln w="27940">
            <a:solidFill>
              <a:srgbClr val="2F6BFF"/>
            </a:solidFill>
            <a:prstDash val="solid"/>
          </a:ln>
        </p:spPr>
      </p:sp>
      <p:sp>
        <p:nvSpPr>
          <p:cNvPr id="21" name="Shape 19"/>
          <p:cNvSpPr/>
          <p:nvPr/>
        </p:nvSpPr>
        <p:spPr>
          <a:xfrm>
            <a:off x="1482852" y="2879120"/>
            <a:ext cx="47244" cy="0"/>
          </a:xfrm>
          <a:prstGeom prst="line">
            <a:avLst/>
          </a:prstGeom>
          <a:noFill/>
          <a:ln w="27940">
            <a:solidFill>
              <a:srgbClr val="2F6BFF"/>
            </a:solidFill>
            <a:prstDash val="solid"/>
          </a:ln>
        </p:spPr>
      </p:sp>
      <p:sp>
        <p:nvSpPr>
          <p:cNvPr id="22" name="Shape 20"/>
          <p:cNvSpPr/>
          <p:nvPr/>
        </p:nvSpPr>
        <p:spPr>
          <a:xfrm>
            <a:off x="1530096" y="2821485"/>
            <a:ext cx="47244" cy="0"/>
          </a:xfrm>
          <a:prstGeom prst="line">
            <a:avLst/>
          </a:prstGeom>
          <a:noFill/>
          <a:ln w="27940">
            <a:solidFill>
              <a:srgbClr val="2F6BFF"/>
            </a:solidFill>
            <a:prstDash val="solid"/>
          </a:ln>
        </p:spPr>
      </p:sp>
      <p:sp>
        <p:nvSpPr>
          <p:cNvPr id="23" name="Shape 21"/>
          <p:cNvSpPr/>
          <p:nvPr/>
        </p:nvSpPr>
        <p:spPr>
          <a:xfrm>
            <a:off x="1577340" y="2757957"/>
            <a:ext cx="47244" cy="0"/>
          </a:xfrm>
          <a:prstGeom prst="line">
            <a:avLst/>
          </a:prstGeom>
          <a:noFill/>
          <a:ln w="27940">
            <a:solidFill>
              <a:srgbClr val="2F6BFF"/>
            </a:solidFill>
            <a:prstDash val="solid"/>
          </a:ln>
        </p:spPr>
      </p:sp>
      <p:sp>
        <p:nvSpPr>
          <p:cNvPr id="24" name="Shape 22"/>
          <p:cNvSpPr/>
          <p:nvPr/>
        </p:nvSpPr>
        <p:spPr>
          <a:xfrm>
            <a:off x="1624584" y="2688918"/>
            <a:ext cx="47244" cy="0"/>
          </a:xfrm>
          <a:prstGeom prst="line">
            <a:avLst/>
          </a:prstGeom>
          <a:noFill/>
          <a:ln w="27940">
            <a:solidFill>
              <a:srgbClr val="2F6BFF"/>
            </a:solidFill>
            <a:prstDash val="solid"/>
          </a:ln>
        </p:spPr>
      </p:sp>
      <p:sp>
        <p:nvSpPr>
          <p:cNvPr id="25" name="Shape 23"/>
          <p:cNvSpPr/>
          <p:nvPr/>
        </p:nvSpPr>
        <p:spPr>
          <a:xfrm>
            <a:off x="1671828" y="2614990"/>
            <a:ext cx="47244" cy="0"/>
          </a:xfrm>
          <a:prstGeom prst="line">
            <a:avLst/>
          </a:prstGeom>
          <a:noFill/>
          <a:ln w="27940">
            <a:solidFill>
              <a:srgbClr val="2F6BFF"/>
            </a:solidFill>
            <a:prstDash val="solid"/>
          </a:ln>
        </p:spPr>
      </p:sp>
      <p:sp>
        <p:nvSpPr>
          <p:cNvPr id="26" name="Shape 24"/>
          <p:cNvSpPr/>
          <p:nvPr/>
        </p:nvSpPr>
        <p:spPr>
          <a:xfrm>
            <a:off x="1719072" y="2537043"/>
            <a:ext cx="47244" cy="0"/>
          </a:xfrm>
          <a:prstGeom prst="line">
            <a:avLst/>
          </a:prstGeom>
          <a:noFill/>
          <a:ln w="27940">
            <a:solidFill>
              <a:srgbClr val="2F6BFF"/>
            </a:solidFill>
            <a:prstDash val="solid"/>
          </a:ln>
        </p:spPr>
      </p:sp>
      <p:sp>
        <p:nvSpPr>
          <p:cNvPr id="27" name="Shape 25"/>
          <p:cNvSpPr/>
          <p:nvPr/>
        </p:nvSpPr>
        <p:spPr>
          <a:xfrm>
            <a:off x="1766316" y="2456198"/>
            <a:ext cx="47244" cy="0"/>
          </a:xfrm>
          <a:prstGeom prst="line">
            <a:avLst/>
          </a:prstGeom>
          <a:noFill/>
          <a:ln w="27940">
            <a:solidFill>
              <a:srgbClr val="2F6BFF"/>
            </a:solidFill>
            <a:prstDash val="solid"/>
          </a:ln>
        </p:spPr>
      </p:sp>
      <p:sp>
        <p:nvSpPr>
          <p:cNvPr id="28" name="Shape 26"/>
          <p:cNvSpPr/>
          <p:nvPr/>
        </p:nvSpPr>
        <p:spPr>
          <a:xfrm>
            <a:off x="1813560" y="2373807"/>
            <a:ext cx="47244" cy="0"/>
          </a:xfrm>
          <a:prstGeom prst="line">
            <a:avLst/>
          </a:prstGeom>
          <a:noFill/>
          <a:ln w="27940">
            <a:solidFill>
              <a:srgbClr val="2F6BFF"/>
            </a:solidFill>
            <a:prstDash val="solid"/>
          </a:ln>
        </p:spPr>
      </p:sp>
      <p:sp>
        <p:nvSpPr>
          <p:cNvPr id="29" name="Shape 27"/>
          <p:cNvSpPr/>
          <p:nvPr/>
        </p:nvSpPr>
        <p:spPr>
          <a:xfrm>
            <a:off x="1860804" y="2291429"/>
            <a:ext cx="47244" cy="0"/>
          </a:xfrm>
          <a:prstGeom prst="line">
            <a:avLst/>
          </a:prstGeom>
          <a:noFill/>
          <a:ln w="27940">
            <a:solidFill>
              <a:srgbClr val="2F6BFF"/>
            </a:solidFill>
            <a:prstDash val="solid"/>
          </a:ln>
        </p:spPr>
      </p:sp>
      <p:sp>
        <p:nvSpPr>
          <p:cNvPr id="30" name="Shape 28"/>
          <p:cNvSpPr/>
          <p:nvPr/>
        </p:nvSpPr>
        <p:spPr>
          <a:xfrm>
            <a:off x="1908048" y="2210788"/>
            <a:ext cx="47244" cy="0"/>
          </a:xfrm>
          <a:prstGeom prst="line">
            <a:avLst/>
          </a:prstGeom>
          <a:noFill/>
          <a:ln w="27940">
            <a:solidFill>
              <a:srgbClr val="2F6BFF"/>
            </a:solidFill>
            <a:prstDash val="solid"/>
          </a:ln>
        </p:spPr>
      </p:sp>
      <p:sp>
        <p:nvSpPr>
          <p:cNvPr id="31" name="Shape 29"/>
          <p:cNvSpPr/>
          <p:nvPr/>
        </p:nvSpPr>
        <p:spPr>
          <a:xfrm>
            <a:off x="1955292" y="2133713"/>
            <a:ext cx="47244" cy="0"/>
          </a:xfrm>
          <a:prstGeom prst="line">
            <a:avLst/>
          </a:prstGeom>
          <a:noFill/>
          <a:ln w="27940">
            <a:solidFill>
              <a:srgbClr val="2F6BFF"/>
            </a:solidFill>
            <a:prstDash val="solid"/>
          </a:ln>
        </p:spPr>
      </p:sp>
      <p:sp>
        <p:nvSpPr>
          <p:cNvPr id="32" name="Shape 30"/>
          <p:cNvSpPr/>
          <p:nvPr/>
        </p:nvSpPr>
        <p:spPr>
          <a:xfrm>
            <a:off x="2002536" y="2062076"/>
            <a:ext cx="47244" cy="0"/>
          </a:xfrm>
          <a:prstGeom prst="line">
            <a:avLst/>
          </a:prstGeom>
          <a:noFill/>
          <a:ln w="27940">
            <a:solidFill>
              <a:srgbClr val="2F6BFF"/>
            </a:solidFill>
            <a:prstDash val="solid"/>
          </a:ln>
        </p:spPr>
      </p:sp>
      <p:sp>
        <p:nvSpPr>
          <p:cNvPr id="33" name="Shape 31"/>
          <p:cNvSpPr/>
          <p:nvPr/>
        </p:nvSpPr>
        <p:spPr>
          <a:xfrm>
            <a:off x="2049780" y="1997714"/>
            <a:ext cx="47244" cy="0"/>
          </a:xfrm>
          <a:prstGeom prst="line">
            <a:avLst/>
          </a:prstGeom>
          <a:noFill/>
          <a:ln w="27940">
            <a:solidFill>
              <a:srgbClr val="2F6BFF"/>
            </a:solidFill>
            <a:prstDash val="solid"/>
          </a:ln>
        </p:spPr>
      </p:sp>
      <p:sp>
        <p:nvSpPr>
          <p:cNvPr id="34" name="Shape 32"/>
          <p:cNvSpPr/>
          <p:nvPr/>
        </p:nvSpPr>
        <p:spPr>
          <a:xfrm>
            <a:off x="2097024" y="1942357"/>
            <a:ext cx="47244" cy="0"/>
          </a:xfrm>
          <a:prstGeom prst="line">
            <a:avLst/>
          </a:prstGeom>
          <a:noFill/>
          <a:ln w="27940">
            <a:solidFill>
              <a:srgbClr val="2F6BFF"/>
            </a:solidFill>
            <a:prstDash val="solid"/>
          </a:ln>
        </p:spPr>
      </p:sp>
      <p:sp>
        <p:nvSpPr>
          <p:cNvPr id="35" name="Shape 33"/>
          <p:cNvSpPr/>
          <p:nvPr/>
        </p:nvSpPr>
        <p:spPr>
          <a:xfrm>
            <a:off x="2144268" y="1897546"/>
            <a:ext cx="47244" cy="0"/>
          </a:xfrm>
          <a:prstGeom prst="line">
            <a:avLst/>
          </a:prstGeom>
          <a:noFill/>
          <a:ln w="27940">
            <a:solidFill>
              <a:srgbClr val="2F6BFF"/>
            </a:solidFill>
            <a:prstDash val="solid"/>
          </a:ln>
        </p:spPr>
      </p:sp>
      <p:sp>
        <p:nvSpPr>
          <p:cNvPr id="36" name="Shape 34"/>
          <p:cNvSpPr/>
          <p:nvPr/>
        </p:nvSpPr>
        <p:spPr>
          <a:xfrm>
            <a:off x="2191512" y="1864564"/>
            <a:ext cx="47244" cy="0"/>
          </a:xfrm>
          <a:prstGeom prst="line">
            <a:avLst/>
          </a:prstGeom>
          <a:noFill/>
          <a:ln w="27940">
            <a:solidFill>
              <a:srgbClr val="2F6BFF"/>
            </a:solidFill>
            <a:prstDash val="solid"/>
          </a:ln>
        </p:spPr>
      </p:sp>
      <p:sp>
        <p:nvSpPr>
          <p:cNvPr id="37" name="Shape 35"/>
          <p:cNvSpPr/>
          <p:nvPr/>
        </p:nvSpPr>
        <p:spPr>
          <a:xfrm>
            <a:off x="2238756" y="1844375"/>
            <a:ext cx="47244" cy="0"/>
          </a:xfrm>
          <a:prstGeom prst="line">
            <a:avLst/>
          </a:prstGeom>
          <a:noFill/>
          <a:ln w="27940">
            <a:solidFill>
              <a:srgbClr val="2F6BFF"/>
            </a:solidFill>
            <a:prstDash val="solid"/>
          </a:ln>
        </p:spPr>
      </p:sp>
      <p:sp>
        <p:nvSpPr>
          <p:cNvPr id="38" name="Shape 36"/>
          <p:cNvSpPr/>
          <p:nvPr/>
        </p:nvSpPr>
        <p:spPr>
          <a:xfrm>
            <a:off x="2286000" y="1837578"/>
            <a:ext cx="47244" cy="6797"/>
          </a:xfrm>
          <a:prstGeom prst="line">
            <a:avLst/>
          </a:prstGeom>
          <a:noFill/>
          <a:ln w="27940">
            <a:solidFill>
              <a:srgbClr val="2F6BFF"/>
            </a:solidFill>
            <a:prstDash val="solid"/>
          </a:ln>
        </p:spPr>
      </p:sp>
      <p:sp>
        <p:nvSpPr>
          <p:cNvPr id="39" name="Shape 37"/>
          <p:cNvSpPr/>
          <p:nvPr/>
        </p:nvSpPr>
        <p:spPr>
          <a:xfrm>
            <a:off x="2333244" y="1844375"/>
            <a:ext cx="47244" cy="20189"/>
          </a:xfrm>
          <a:prstGeom prst="line">
            <a:avLst/>
          </a:prstGeom>
          <a:noFill/>
          <a:ln w="27940">
            <a:solidFill>
              <a:srgbClr val="2F6BFF"/>
            </a:solidFill>
            <a:prstDash val="solid"/>
          </a:ln>
        </p:spPr>
      </p:sp>
      <p:sp>
        <p:nvSpPr>
          <p:cNvPr id="40" name="Shape 38"/>
          <p:cNvSpPr/>
          <p:nvPr/>
        </p:nvSpPr>
        <p:spPr>
          <a:xfrm>
            <a:off x="2380488" y="1864564"/>
            <a:ext cx="47244" cy="32982"/>
          </a:xfrm>
          <a:prstGeom prst="line">
            <a:avLst/>
          </a:prstGeom>
          <a:noFill/>
          <a:ln w="27940">
            <a:solidFill>
              <a:srgbClr val="2F6BFF"/>
            </a:solidFill>
            <a:prstDash val="solid"/>
          </a:ln>
        </p:spPr>
      </p:sp>
      <p:sp>
        <p:nvSpPr>
          <p:cNvPr id="41" name="Shape 39"/>
          <p:cNvSpPr/>
          <p:nvPr/>
        </p:nvSpPr>
        <p:spPr>
          <a:xfrm>
            <a:off x="2427732" y="1897546"/>
            <a:ext cx="47244" cy="44811"/>
          </a:xfrm>
          <a:prstGeom prst="line">
            <a:avLst/>
          </a:prstGeom>
          <a:noFill/>
          <a:ln w="27940">
            <a:solidFill>
              <a:srgbClr val="2F6BFF"/>
            </a:solidFill>
            <a:prstDash val="solid"/>
          </a:ln>
        </p:spPr>
      </p:sp>
      <p:sp>
        <p:nvSpPr>
          <p:cNvPr id="42" name="Shape 40"/>
          <p:cNvSpPr/>
          <p:nvPr/>
        </p:nvSpPr>
        <p:spPr>
          <a:xfrm>
            <a:off x="2474976" y="1942357"/>
            <a:ext cx="47244" cy="55357"/>
          </a:xfrm>
          <a:prstGeom prst="line">
            <a:avLst/>
          </a:prstGeom>
          <a:noFill/>
          <a:ln w="27940">
            <a:solidFill>
              <a:srgbClr val="2F6BFF"/>
            </a:solidFill>
            <a:prstDash val="solid"/>
          </a:ln>
        </p:spPr>
      </p:sp>
      <p:sp>
        <p:nvSpPr>
          <p:cNvPr id="43" name="Shape 41"/>
          <p:cNvSpPr/>
          <p:nvPr/>
        </p:nvSpPr>
        <p:spPr>
          <a:xfrm>
            <a:off x="2522220" y="1997714"/>
            <a:ext cx="47244" cy="64362"/>
          </a:xfrm>
          <a:prstGeom prst="line">
            <a:avLst/>
          </a:prstGeom>
          <a:noFill/>
          <a:ln w="27940">
            <a:solidFill>
              <a:srgbClr val="2F6BFF"/>
            </a:solidFill>
            <a:prstDash val="solid"/>
          </a:ln>
        </p:spPr>
      </p:sp>
      <p:sp>
        <p:nvSpPr>
          <p:cNvPr id="44" name="Shape 42"/>
          <p:cNvSpPr/>
          <p:nvPr/>
        </p:nvSpPr>
        <p:spPr>
          <a:xfrm>
            <a:off x="2569464" y="2062076"/>
            <a:ext cx="47244" cy="71638"/>
          </a:xfrm>
          <a:prstGeom prst="line">
            <a:avLst/>
          </a:prstGeom>
          <a:noFill/>
          <a:ln w="27940">
            <a:solidFill>
              <a:srgbClr val="2F6BFF"/>
            </a:solidFill>
            <a:prstDash val="solid"/>
          </a:ln>
        </p:spPr>
      </p:sp>
      <p:sp>
        <p:nvSpPr>
          <p:cNvPr id="45" name="Shape 43"/>
          <p:cNvSpPr/>
          <p:nvPr/>
        </p:nvSpPr>
        <p:spPr>
          <a:xfrm>
            <a:off x="2616708" y="2133713"/>
            <a:ext cx="47244" cy="77075"/>
          </a:xfrm>
          <a:prstGeom prst="line">
            <a:avLst/>
          </a:prstGeom>
          <a:noFill/>
          <a:ln w="27940">
            <a:solidFill>
              <a:srgbClr val="2F6BFF"/>
            </a:solidFill>
            <a:prstDash val="solid"/>
          </a:ln>
        </p:spPr>
      </p:sp>
      <p:sp>
        <p:nvSpPr>
          <p:cNvPr id="46" name="Shape 44"/>
          <p:cNvSpPr/>
          <p:nvPr/>
        </p:nvSpPr>
        <p:spPr>
          <a:xfrm>
            <a:off x="2663952" y="2210788"/>
            <a:ext cx="47244" cy="80641"/>
          </a:xfrm>
          <a:prstGeom prst="line">
            <a:avLst/>
          </a:prstGeom>
          <a:noFill/>
          <a:ln w="27940">
            <a:solidFill>
              <a:srgbClr val="2F6BFF"/>
            </a:solidFill>
            <a:prstDash val="solid"/>
          </a:ln>
        </p:spPr>
      </p:sp>
      <p:sp>
        <p:nvSpPr>
          <p:cNvPr id="47" name="Shape 45"/>
          <p:cNvSpPr/>
          <p:nvPr/>
        </p:nvSpPr>
        <p:spPr>
          <a:xfrm>
            <a:off x="2711196" y="2291429"/>
            <a:ext cx="47244" cy="82377"/>
          </a:xfrm>
          <a:prstGeom prst="line">
            <a:avLst/>
          </a:prstGeom>
          <a:noFill/>
          <a:ln w="27940">
            <a:solidFill>
              <a:srgbClr val="2F6BFF"/>
            </a:solidFill>
            <a:prstDash val="solid"/>
          </a:ln>
        </p:spPr>
      </p:sp>
      <p:sp>
        <p:nvSpPr>
          <p:cNvPr id="48" name="Shape 46"/>
          <p:cNvSpPr/>
          <p:nvPr/>
        </p:nvSpPr>
        <p:spPr>
          <a:xfrm>
            <a:off x="2758440" y="2373807"/>
            <a:ext cx="47244" cy="82391"/>
          </a:xfrm>
          <a:prstGeom prst="line">
            <a:avLst/>
          </a:prstGeom>
          <a:noFill/>
          <a:ln w="27940">
            <a:solidFill>
              <a:srgbClr val="2F6BFF"/>
            </a:solidFill>
            <a:prstDash val="solid"/>
          </a:ln>
        </p:spPr>
      </p:sp>
      <p:sp>
        <p:nvSpPr>
          <p:cNvPr id="49" name="Shape 47"/>
          <p:cNvSpPr/>
          <p:nvPr/>
        </p:nvSpPr>
        <p:spPr>
          <a:xfrm>
            <a:off x="2805684" y="2456198"/>
            <a:ext cx="47244" cy="80846"/>
          </a:xfrm>
          <a:prstGeom prst="line">
            <a:avLst/>
          </a:prstGeom>
          <a:noFill/>
          <a:ln w="27940">
            <a:solidFill>
              <a:srgbClr val="2F6BFF"/>
            </a:solidFill>
            <a:prstDash val="solid"/>
          </a:ln>
        </p:spPr>
      </p:sp>
      <p:sp>
        <p:nvSpPr>
          <p:cNvPr id="50" name="Shape 48"/>
          <p:cNvSpPr/>
          <p:nvPr/>
        </p:nvSpPr>
        <p:spPr>
          <a:xfrm>
            <a:off x="2852928" y="2537043"/>
            <a:ext cx="47244" cy="77946"/>
          </a:xfrm>
          <a:prstGeom prst="line">
            <a:avLst/>
          </a:prstGeom>
          <a:noFill/>
          <a:ln w="27940">
            <a:solidFill>
              <a:srgbClr val="2F6BFF"/>
            </a:solidFill>
            <a:prstDash val="solid"/>
          </a:ln>
        </p:spPr>
      </p:sp>
      <p:sp>
        <p:nvSpPr>
          <p:cNvPr id="51" name="Shape 49"/>
          <p:cNvSpPr/>
          <p:nvPr/>
        </p:nvSpPr>
        <p:spPr>
          <a:xfrm>
            <a:off x="2900172" y="2614990"/>
            <a:ext cx="47244" cy="73928"/>
          </a:xfrm>
          <a:prstGeom prst="line">
            <a:avLst/>
          </a:prstGeom>
          <a:noFill/>
          <a:ln w="27940">
            <a:solidFill>
              <a:srgbClr val="2F6BFF"/>
            </a:solidFill>
            <a:prstDash val="solid"/>
          </a:ln>
        </p:spPr>
      </p:sp>
      <p:sp>
        <p:nvSpPr>
          <p:cNvPr id="52" name="Shape 50"/>
          <p:cNvSpPr/>
          <p:nvPr/>
        </p:nvSpPr>
        <p:spPr>
          <a:xfrm>
            <a:off x="2947416" y="2688918"/>
            <a:ext cx="47244" cy="69039"/>
          </a:xfrm>
          <a:prstGeom prst="line">
            <a:avLst/>
          </a:prstGeom>
          <a:noFill/>
          <a:ln w="27940">
            <a:solidFill>
              <a:srgbClr val="2F6BFF"/>
            </a:solidFill>
            <a:prstDash val="solid"/>
          </a:ln>
        </p:spPr>
      </p:sp>
      <p:sp>
        <p:nvSpPr>
          <p:cNvPr id="53" name="Shape 51"/>
          <p:cNvSpPr/>
          <p:nvPr/>
        </p:nvSpPr>
        <p:spPr>
          <a:xfrm>
            <a:off x="2994660" y="2757957"/>
            <a:ext cx="47244" cy="63528"/>
          </a:xfrm>
          <a:prstGeom prst="line">
            <a:avLst/>
          </a:prstGeom>
          <a:noFill/>
          <a:ln w="27940">
            <a:solidFill>
              <a:srgbClr val="2F6BFF"/>
            </a:solidFill>
            <a:prstDash val="solid"/>
          </a:ln>
        </p:spPr>
      </p:sp>
      <p:sp>
        <p:nvSpPr>
          <p:cNvPr id="54" name="Shape 52"/>
          <p:cNvSpPr/>
          <p:nvPr/>
        </p:nvSpPr>
        <p:spPr>
          <a:xfrm>
            <a:off x="3041904" y="2821485"/>
            <a:ext cx="47244" cy="57635"/>
          </a:xfrm>
          <a:prstGeom prst="line">
            <a:avLst/>
          </a:prstGeom>
          <a:noFill/>
          <a:ln w="27940">
            <a:solidFill>
              <a:srgbClr val="2F6BFF"/>
            </a:solidFill>
            <a:prstDash val="solid"/>
          </a:ln>
        </p:spPr>
      </p:sp>
      <p:sp>
        <p:nvSpPr>
          <p:cNvPr id="55" name="Shape 53"/>
          <p:cNvSpPr/>
          <p:nvPr/>
        </p:nvSpPr>
        <p:spPr>
          <a:xfrm>
            <a:off x="3089148" y="2879120"/>
            <a:ext cx="47244" cy="51579"/>
          </a:xfrm>
          <a:prstGeom prst="line">
            <a:avLst/>
          </a:prstGeom>
          <a:noFill/>
          <a:ln w="27940">
            <a:solidFill>
              <a:srgbClr val="2F6BFF"/>
            </a:solidFill>
            <a:prstDash val="solid"/>
          </a:ln>
        </p:spPr>
      </p:sp>
      <p:sp>
        <p:nvSpPr>
          <p:cNvPr id="56" name="Shape 54"/>
          <p:cNvSpPr/>
          <p:nvPr/>
        </p:nvSpPr>
        <p:spPr>
          <a:xfrm>
            <a:off x="3136392" y="2930699"/>
            <a:ext cx="47244" cy="45551"/>
          </a:xfrm>
          <a:prstGeom prst="line">
            <a:avLst/>
          </a:prstGeom>
          <a:noFill/>
          <a:ln w="27940">
            <a:solidFill>
              <a:srgbClr val="2F6BFF"/>
            </a:solidFill>
            <a:prstDash val="solid"/>
          </a:ln>
        </p:spPr>
      </p:sp>
      <p:sp>
        <p:nvSpPr>
          <p:cNvPr id="57" name="Shape 55"/>
          <p:cNvSpPr/>
          <p:nvPr/>
        </p:nvSpPr>
        <p:spPr>
          <a:xfrm>
            <a:off x="3183636" y="2976251"/>
            <a:ext cx="47244" cy="39711"/>
          </a:xfrm>
          <a:prstGeom prst="line">
            <a:avLst/>
          </a:prstGeom>
          <a:noFill/>
          <a:ln w="27940">
            <a:solidFill>
              <a:srgbClr val="2F6BFF"/>
            </a:solidFill>
            <a:prstDash val="solid"/>
          </a:ln>
        </p:spPr>
      </p:sp>
      <p:sp>
        <p:nvSpPr>
          <p:cNvPr id="58" name="Shape 56"/>
          <p:cNvSpPr/>
          <p:nvPr/>
        </p:nvSpPr>
        <p:spPr>
          <a:xfrm>
            <a:off x="3230880" y="3015962"/>
            <a:ext cx="47244" cy="34186"/>
          </a:xfrm>
          <a:prstGeom prst="line">
            <a:avLst/>
          </a:prstGeom>
          <a:noFill/>
          <a:ln w="27940">
            <a:solidFill>
              <a:srgbClr val="2F6BFF"/>
            </a:solidFill>
            <a:prstDash val="solid"/>
          </a:ln>
        </p:spPr>
      </p:sp>
      <p:sp>
        <p:nvSpPr>
          <p:cNvPr id="59" name="Shape 57"/>
          <p:cNvSpPr/>
          <p:nvPr/>
        </p:nvSpPr>
        <p:spPr>
          <a:xfrm>
            <a:off x="3278124" y="3050148"/>
            <a:ext cx="47244" cy="29067"/>
          </a:xfrm>
          <a:prstGeom prst="line">
            <a:avLst/>
          </a:prstGeom>
          <a:noFill/>
          <a:ln w="27940">
            <a:solidFill>
              <a:srgbClr val="2F6BFF"/>
            </a:solidFill>
            <a:prstDash val="solid"/>
          </a:ln>
        </p:spPr>
      </p:sp>
      <p:sp>
        <p:nvSpPr>
          <p:cNvPr id="60" name="Shape 58"/>
          <p:cNvSpPr/>
          <p:nvPr/>
        </p:nvSpPr>
        <p:spPr>
          <a:xfrm>
            <a:off x="3325368" y="3079216"/>
            <a:ext cx="47244" cy="24417"/>
          </a:xfrm>
          <a:prstGeom prst="line">
            <a:avLst/>
          </a:prstGeom>
          <a:noFill/>
          <a:ln w="27940">
            <a:solidFill>
              <a:srgbClr val="2F6BFF"/>
            </a:solidFill>
            <a:prstDash val="solid"/>
          </a:ln>
        </p:spPr>
      </p:sp>
      <p:sp>
        <p:nvSpPr>
          <p:cNvPr id="61" name="Shape 59"/>
          <p:cNvSpPr/>
          <p:nvPr/>
        </p:nvSpPr>
        <p:spPr>
          <a:xfrm>
            <a:off x="3372612" y="3103632"/>
            <a:ext cx="47244" cy="20266"/>
          </a:xfrm>
          <a:prstGeom prst="line">
            <a:avLst/>
          </a:prstGeom>
          <a:noFill/>
          <a:ln w="27940">
            <a:solidFill>
              <a:srgbClr val="2F6BFF"/>
            </a:solidFill>
            <a:prstDash val="solid"/>
          </a:ln>
        </p:spPr>
      </p:sp>
      <p:sp>
        <p:nvSpPr>
          <p:cNvPr id="62" name="Shape 60"/>
          <p:cNvSpPr/>
          <p:nvPr/>
        </p:nvSpPr>
        <p:spPr>
          <a:xfrm>
            <a:off x="3419856" y="3123898"/>
            <a:ext cx="47244" cy="16623"/>
          </a:xfrm>
          <a:prstGeom prst="line">
            <a:avLst/>
          </a:prstGeom>
          <a:noFill/>
          <a:ln w="27940">
            <a:solidFill>
              <a:srgbClr val="2F6BFF"/>
            </a:solidFill>
            <a:prstDash val="solid"/>
          </a:ln>
        </p:spPr>
      </p:sp>
      <p:sp>
        <p:nvSpPr>
          <p:cNvPr id="63" name="Shape 61"/>
          <p:cNvSpPr/>
          <p:nvPr/>
        </p:nvSpPr>
        <p:spPr>
          <a:xfrm>
            <a:off x="3467100" y="3140522"/>
            <a:ext cx="47244" cy="13478"/>
          </a:xfrm>
          <a:prstGeom prst="line">
            <a:avLst/>
          </a:prstGeom>
          <a:noFill/>
          <a:ln w="27940">
            <a:solidFill>
              <a:srgbClr val="2F6BFF"/>
            </a:solidFill>
            <a:prstDash val="solid"/>
          </a:ln>
        </p:spPr>
      </p:sp>
      <p:sp>
        <p:nvSpPr>
          <p:cNvPr id="64" name="Shape 62"/>
          <p:cNvSpPr/>
          <p:nvPr/>
        </p:nvSpPr>
        <p:spPr>
          <a:xfrm>
            <a:off x="3514344" y="3153999"/>
            <a:ext cx="47244" cy="10802"/>
          </a:xfrm>
          <a:prstGeom prst="line">
            <a:avLst/>
          </a:prstGeom>
          <a:noFill/>
          <a:ln w="27940">
            <a:solidFill>
              <a:srgbClr val="2F6BFF"/>
            </a:solidFill>
            <a:prstDash val="solid"/>
          </a:ln>
        </p:spPr>
      </p:sp>
      <p:sp>
        <p:nvSpPr>
          <p:cNvPr id="65" name="Shape 63"/>
          <p:cNvSpPr/>
          <p:nvPr/>
        </p:nvSpPr>
        <p:spPr>
          <a:xfrm>
            <a:off x="3561588" y="3164801"/>
            <a:ext cx="47244" cy="8559"/>
          </a:xfrm>
          <a:prstGeom prst="line">
            <a:avLst/>
          </a:prstGeom>
          <a:noFill/>
          <a:ln w="27940">
            <a:solidFill>
              <a:srgbClr val="2F6BFF"/>
            </a:solidFill>
            <a:prstDash val="solid"/>
          </a:ln>
        </p:spPr>
      </p:sp>
      <p:sp>
        <p:nvSpPr>
          <p:cNvPr id="66" name="Shape 64"/>
          <p:cNvSpPr/>
          <p:nvPr/>
        </p:nvSpPr>
        <p:spPr>
          <a:xfrm>
            <a:off x="3608832" y="3173360"/>
            <a:ext cx="47244" cy="6706"/>
          </a:xfrm>
          <a:prstGeom prst="line">
            <a:avLst/>
          </a:prstGeom>
          <a:noFill/>
          <a:ln w="27940">
            <a:solidFill>
              <a:srgbClr val="2F6BFF"/>
            </a:solidFill>
            <a:prstDash val="solid"/>
          </a:ln>
        </p:spPr>
      </p:sp>
      <p:sp>
        <p:nvSpPr>
          <p:cNvPr id="67" name="Shape 65"/>
          <p:cNvSpPr/>
          <p:nvPr/>
        </p:nvSpPr>
        <p:spPr>
          <a:xfrm>
            <a:off x="3656076" y="3180066"/>
            <a:ext cx="47244" cy="5195"/>
          </a:xfrm>
          <a:prstGeom prst="line">
            <a:avLst/>
          </a:prstGeom>
          <a:noFill/>
          <a:ln w="27940">
            <a:solidFill>
              <a:srgbClr val="2F6BFF"/>
            </a:solidFill>
            <a:prstDash val="solid"/>
          </a:ln>
        </p:spPr>
      </p:sp>
      <p:sp>
        <p:nvSpPr>
          <p:cNvPr id="68" name="Shape 66"/>
          <p:cNvSpPr/>
          <p:nvPr/>
        </p:nvSpPr>
        <p:spPr>
          <a:xfrm>
            <a:off x="2286000" y="1828800"/>
            <a:ext cx="0" cy="1371600"/>
          </a:xfrm>
          <a:prstGeom prst="line">
            <a:avLst/>
          </a:prstGeom>
          <a:noFill/>
          <a:ln w="12700">
            <a:solidFill>
              <a:srgbClr val="F59E0B"/>
            </a:solidFill>
            <a:prstDash val="solid"/>
          </a:ln>
        </p:spPr>
      </p:sp>
      <p:sp>
        <p:nvSpPr>
          <p:cNvPr id="69" name="Text 67"/>
          <p:cNvSpPr/>
          <p:nvPr/>
        </p:nvSpPr>
        <p:spPr>
          <a:xfrm>
            <a:off x="868680" y="3291840"/>
            <a:ext cx="2834640" cy="256032"/>
          </a:xfrm>
          <a:prstGeom prst="rect">
            <a:avLst/>
          </a:prstGeom>
          <a:noFill/>
          <a:ln/>
        </p:spPr>
        <p:txBody>
          <a:bodyPr wrap="square" lIns="0" tIns="0" rIns="0" bIns="0" rtlCol="0" anchor="ctr"/>
          <a:lstStyle/>
          <a:p>
            <a:pPr marL="0" indent="0" algn="ctr">
              <a:buNone/>
            </a:pPr>
            <a:r>
              <a:rPr lang="en-US" sz="1200" b="1" dirty="0">
                <a:solidFill>
                  <a:srgbClr val="0B1F33"/>
                </a:solidFill>
              </a:rPr>
              <a:t>Continuous distribution</a:t>
            </a:r>
            <a:endParaRPr lang="en-US" sz="1200" dirty="0"/>
          </a:p>
        </p:txBody>
      </p:sp>
      <p:sp>
        <p:nvSpPr>
          <p:cNvPr id="70" name="Shape 68"/>
          <p:cNvSpPr/>
          <p:nvPr/>
        </p:nvSpPr>
        <p:spPr>
          <a:xfrm>
            <a:off x="4690872" y="3200400"/>
            <a:ext cx="2834640" cy="0"/>
          </a:xfrm>
          <a:prstGeom prst="line">
            <a:avLst/>
          </a:prstGeom>
          <a:noFill/>
          <a:ln w="12700">
            <a:solidFill>
              <a:srgbClr val="AEB8C5"/>
            </a:solidFill>
            <a:prstDash val="solid"/>
          </a:ln>
        </p:spPr>
      </p:sp>
      <p:sp>
        <p:nvSpPr>
          <p:cNvPr id="71" name="Shape 69"/>
          <p:cNvSpPr/>
          <p:nvPr/>
        </p:nvSpPr>
        <p:spPr>
          <a:xfrm>
            <a:off x="4690872" y="1719072"/>
            <a:ext cx="0" cy="1481328"/>
          </a:xfrm>
          <a:prstGeom prst="line">
            <a:avLst/>
          </a:prstGeom>
          <a:noFill/>
          <a:ln w="12700">
            <a:solidFill>
              <a:srgbClr val="AEB8C5"/>
            </a:solidFill>
            <a:prstDash val="solid"/>
          </a:ln>
        </p:spPr>
      </p:sp>
      <p:sp>
        <p:nvSpPr>
          <p:cNvPr id="72" name="Shape 70"/>
          <p:cNvSpPr/>
          <p:nvPr/>
        </p:nvSpPr>
        <p:spPr>
          <a:xfrm>
            <a:off x="4709160" y="1719072"/>
            <a:ext cx="672084" cy="1481328"/>
          </a:xfrm>
          <a:prstGeom prst="rect">
            <a:avLst/>
          </a:prstGeom>
          <a:solidFill>
            <a:srgbClr val="009E9A">
              <a:alpha val="85000"/>
            </a:srgbClr>
          </a:solidFill>
          <a:ln w="6350">
            <a:solidFill>
              <a:srgbClr val="009E9A">
                <a:alpha val="85000"/>
              </a:srgbClr>
            </a:solidFill>
            <a:prstDash val="solid"/>
          </a:ln>
        </p:spPr>
      </p:sp>
      <p:sp>
        <p:nvSpPr>
          <p:cNvPr id="73" name="Shape 71"/>
          <p:cNvSpPr/>
          <p:nvPr/>
        </p:nvSpPr>
        <p:spPr>
          <a:xfrm>
            <a:off x="5417820" y="1965960"/>
            <a:ext cx="672084" cy="1234440"/>
          </a:xfrm>
          <a:prstGeom prst="rect">
            <a:avLst/>
          </a:prstGeom>
          <a:solidFill>
            <a:srgbClr val="009E9A">
              <a:alpha val="85000"/>
            </a:srgbClr>
          </a:solidFill>
          <a:ln w="6350">
            <a:solidFill>
              <a:srgbClr val="009E9A">
                <a:alpha val="85000"/>
              </a:srgbClr>
            </a:solidFill>
            <a:prstDash val="solid"/>
          </a:ln>
        </p:spPr>
      </p:sp>
      <p:sp>
        <p:nvSpPr>
          <p:cNvPr id="74" name="Shape 72"/>
          <p:cNvSpPr/>
          <p:nvPr/>
        </p:nvSpPr>
        <p:spPr>
          <a:xfrm>
            <a:off x="6126480" y="2459736"/>
            <a:ext cx="672084" cy="740664"/>
          </a:xfrm>
          <a:prstGeom prst="rect">
            <a:avLst/>
          </a:prstGeom>
          <a:solidFill>
            <a:srgbClr val="009E9A">
              <a:alpha val="85000"/>
            </a:srgbClr>
          </a:solidFill>
          <a:ln w="6350">
            <a:solidFill>
              <a:srgbClr val="009E9A">
                <a:alpha val="85000"/>
              </a:srgbClr>
            </a:solidFill>
            <a:prstDash val="solid"/>
          </a:ln>
        </p:spPr>
      </p:sp>
      <p:sp>
        <p:nvSpPr>
          <p:cNvPr id="75" name="Shape 73"/>
          <p:cNvSpPr/>
          <p:nvPr/>
        </p:nvSpPr>
        <p:spPr>
          <a:xfrm>
            <a:off x="6835140" y="2953512"/>
            <a:ext cx="672084" cy="246888"/>
          </a:xfrm>
          <a:prstGeom prst="rect">
            <a:avLst/>
          </a:prstGeom>
          <a:solidFill>
            <a:srgbClr val="009E9A">
              <a:alpha val="85000"/>
            </a:srgbClr>
          </a:solidFill>
          <a:ln w="6350">
            <a:solidFill>
              <a:srgbClr val="009E9A">
                <a:alpha val="85000"/>
              </a:srgbClr>
            </a:solidFill>
            <a:prstDash val="solid"/>
          </a:ln>
        </p:spPr>
      </p:sp>
      <p:sp>
        <p:nvSpPr>
          <p:cNvPr id="76" name="Text 74"/>
          <p:cNvSpPr/>
          <p:nvPr/>
        </p:nvSpPr>
        <p:spPr>
          <a:xfrm>
            <a:off x="4690872" y="3291840"/>
            <a:ext cx="2834640" cy="256032"/>
          </a:xfrm>
          <a:prstGeom prst="rect">
            <a:avLst/>
          </a:prstGeom>
          <a:noFill/>
          <a:ln/>
        </p:spPr>
        <p:txBody>
          <a:bodyPr wrap="square" lIns="0" tIns="0" rIns="0" bIns="0" rtlCol="0" anchor="ctr"/>
          <a:lstStyle/>
          <a:p>
            <a:pPr marL="0" indent="0" algn="ctr">
              <a:buNone/>
            </a:pPr>
            <a:r>
              <a:rPr lang="en-US" sz="1200" b="1" dirty="0">
                <a:solidFill>
                  <a:srgbClr val="0B1F33"/>
                </a:solidFill>
              </a:rPr>
              <a:t>Discrete distribution</a:t>
            </a:r>
            <a:endParaRPr lang="en-US" sz="1200" dirty="0"/>
          </a:p>
        </p:txBody>
      </p:sp>
      <p:sp>
        <p:nvSpPr>
          <p:cNvPr id="77" name="Shape 75"/>
          <p:cNvSpPr/>
          <p:nvPr/>
        </p:nvSpPr>
        <p:spPr>
          <a:xfrm>
            <a:off x="8513064" y="3200400"/>
            <a:ext cx="2834640" cy="0"/>
          </a:xfrm>
          <a:prstGeom prst="line">
            <a:avLst/>
          </a:prstGeom>
          <a:noFill/>
          <a:ln w="12700">
            <a:solidFill>
              <a:srgbClr val="AEB8C5"/>
            </a:solidFill>
            <a:prstDash val="solid"/>
          </a:ln>
        </p:spPr>
      </p:sp>
      <p:sp>
        <p:nvSpPr>
          <p:cNvPr id="78" name="Shape 76"/>
          <p:cNvSpPr/>
          <p:nvPr/>
        </p:nvSpPr>
        <p:spPr>
          <a:xfrm>
            <a:off x="8513064" y="1719072"/>
            <a:ext cx="0" cy="1481328"/>
          </a:xfrm>
          <a:prstGeom prst="line">
            <a:avLst/>
          </a:prstGeom>
          <a:noFill/>
          <a:ln w="12700">
            <a:solidFill>
              <a:srgbClr val="AEB8C5"/>
            </a:solidFill>
            <a:prstDash val="solid"/>
          </a:ln>
        </p:spPr>
      </p:sp>
      <p:sp>
        <p:nvSpPr>
          <p:cNvPr id="79" name="Shape 77"/>
          <p:cNvSpPr/>
          <p:nvPr/>
        </p:nvSpPr>
        <p:spPr>
          <a:xfrm>
            <a:off x="8531352" y="1719072"/>
            <a:ext cx="1380744" cy="1481328"/>
          </a:xfrm>
          <a:prstGeom prst="rect">
            <a:avLst/>
          </a:prstGeom>
          <a:solidFill>
            <a:srgbClr val="F59E0B">
              <a:alpha val="85000"/>
            </a:srgbClr>
          </a:solidFill>
          <a:ln w="6350">
            <a:solidFill>
              <a:srgbClr val="F59E0B">
                <a:alpha val="85000"/>
              </a:srgbClr>
            </a:solidFill>
            <a:prstDash val="solid"/>
          </a:ln>
        </p:spPr>
      </p:sp>
      <p:sp>
        <p:nvSpPr>
          <p:cNvPr id="80" name="Shape 78"/>
          <p:cNvSpPr/>
          <p:nvPr/>
        </p:nvSpPr>
        <p:spPr>
          <a:xfrm>
            <a:off x="9948672" y="2274570"/>
            <a:ext cx="1380744" cy="925830"/>
          </a:xfrm>
          <a:prstGeom prst="rect">
            <a:avLst/>
          </a:prstGeom>
          <a:solidFill>
            <a:srgbClr val="F59E0B">
              <a:alpha val="85000"/>
            </a:srgbClr>
          </a:solidFill>
          <a:ln w="6350">
            <a:solidFill>
              <a:srgbClr val="F59E0B">
                <a:alpha val="85000"/>
              </a:srgbClr>
            </a:solidFill>
            <a:prstDash val="solid"/>
          </a:ln>
        </p:spPr>
      </p:sp>
      <p:sp>
        <p:nvSpPr>
          <p:cNvPr id="81" name="Text 79"/>
          <p:cNvSpPr/>
          <p:nvPr/>
        </p:nvSpPr>
        <p:spPr>
          <a:xfrm>
            <a:off x="8513064" y="3291840"/>
            <a:ext cx="2834640" cy="256032"/>
          </a:xfrm>
          <a:prstGeom prst="rect">
            <a:avLst/>
          </a:prstGeom>
          <a:noFill/>
          <a:ln/>
        </p:spPr>
        <p:txBody>
          <a:bodyPr wrap="square" lIns="0" tIns="0" rIns="0" bIns="0" rtlCol="0" anchor="ctr"/>
          <a:lstStyle/>
          <a:p>
            <a:pPr marL="0" indent="0" algn="ctr">
              <a:buNone/>
            </a:pPr>
            <a:r>
              <a:rPr lang="en-US" sz="1200" b="1" dirty="0">
                <a:solidFill>
                  <a:srgbClr val="0B1F33"/>
                </a:solidFill>
              </a:rPr>
              <a:t>Binary distribution</a:t>
            </a:r>
            <a:endParaRPr lang="en-US" sz="1200" dirty="0"/>
          </a:p>
        </p:txBody>
      </p:sp>
      <p:sp>
        <p:nvSpPr>
          <p:cNvPr id="82" name="Shape 80"/>
          <p:cNvSpPr/>
          <p:nvPr/>
        </p:nvSpPr>
        <p:spPr>
          <a:xfrm>
            <a:off x="932688" y="4133088"/>
            <a:ext cx="100584" cy="100584"/>
          </a:xfrm>
          <a:prstGeom prst="ellipse">
            <a:avLst/>
          </a:prstGeom>
          <a:solidFill>
            <a:srgbClr val="009E9A"/>
          </a:solidFill>
          <a:ln w="12700">
            <a:solidFill>
              <a:srgbClr val="009E9A"/>
            </a:solidFill>
            <a:prstDash val="solid"/>
          </a:ln>
        </p:spPr>
      </p:sp>
      <p:sp>
        <p:nvSpPr>
          <p:cNvPr id="83" name="Text 81"/>
          <p:cNvSpPr/>
          <p:nvPr/>
        </p:nvSpPr>
        <p:spPr>
          <a:xfrm>
            <a:off x="1133856" y="4041648"/>
            <a:ext cx="1013155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Distributions help us reason about typical values, variability and tail risk.</a:t>
            </a:r>
            <a:endParaRPr lang="en-US" sz="1300" dirty="0"/>
          </a:p>
        </p:txBody>
      </p:sp>
      <p:sp>
        <p:nvSpPr>
          <p:cNvPr id="84" name="Shape 82"/>
          <p:cNvSpPr/>
          <p:nvPr/>
        </p:nvSpPr>
        <p:spPr>
          <a:xfrm>
            <a:off x="932688" y="4553712"/>
            <a:ext cx="100584" cy="100584"/>
          </a:xfrm>
          <a:prstGeom prst="ellipse">
            <a:avLst/>
          </a:prstGeom>
          <a:solidFill>
            <a:srgbClr val="009E9A"/>
          </a:solidFill>
          <a:ln w="12700">
            <a:solidFill>
              <a:srgbClr val="009E9A"/>
            </a:solidFill>
            <a:prstDash val="solid"/>
          </a:ln>
        </p:spPr>
      </p:sp>
      <p:sp>
        <p:nvSpPr>
          <p:cNvPr id="85" name="Text 83"/>
          <p:cNvSpPr/>
          <p:nvPr/>
        </p:nvSpPr>
        <p:spPr>
          <a:xfrm>
            <a:off x="1133856" y="4462272"/>
            <a:ext cx="1013155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The empirical distribution comes from observed data; a theoretical distribution is a model.</a:t>
            </a:r>
            <a:endParaRPr lang="en-US" sz="1300" dirty="0"/>
          </a:p>
        </p:txBody>
      </p:sp>
      <p:sp>
        <p:nvSpPr>
          <p:cNvPr id="86" name="Shape 84"/>
          <p:cNvSpPr/>
          <p:nvPr/>
        </p:nvSpPr>
        <p:spPr>
          <a:xfrm>
            <a:off x="932688" y="4974336"/>
            <a:ext cx="100584" cy="100584"/>
          </a:xfrm>
          <a:prstGeom prst="ellipse">
            <a:avLst/>
          </a:prstGeom>
          <a:solidFill>
            <a:srgbClr val="009E9A"/>
          </a:solidFill>
          <a:ln w="12700">
            <a:solidFill>
              <a:srgbClr val="009E9A"/>
            </a:solidFill>
            <a:prstDash val="solid"/>
          </a:ln>
        </p:spPr>
      </p:sp>
      <p:sp>
        <p:nvSpPr>
          <p:cNvPr id="87" name="Text 85"/>
          <p:cNvSpPr/>
          <p:nvPr/>
        </p:nvSpPr>
        <p:spPr>
          <a:xfrm>
            <a:off x="1133856" y="4882896"/>
            <a:ext cx="1013155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EDA asks whether the observed shape is symmetric, skewed, multi-modal, heavy-tailed or irregular.</a:t>
            </a:r>
            <a:endParaRPr lang="en-US" sz="1300" dirty="0"/>
          </a:p>
        </p:txBody>
      </p:sp>
      <p:sp>
        <p:nvSpPr>
          <p:cNvPr id="8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The Normal distribution: useful model, not universal law</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Many measurement errors and aggregate quantities are approximately bell-shaped — but financial data often has skew and heavy tails.</a:t>
            </a:r>
            <a:endParaRPr lang="en-US" sz="1300" dirty="0"/>
          </a:p>
        </p:txBody>
      </p:sp>
      <p:sp>
        <p:nvSpPr>
          <p:cNvPr id="7" name="Shape 5"/>
          <p:cNvSpPr/>
          <p:nvPr/>
        </p:nvSpPr>
        <p:spPr>
          <a:xfrm>
            <a:off x="914400" y="3931920"/>
            <a:ext cx="5577840" cy="0"/>
          </a:xfrm>
          <a:prstGeom prst="line">
            <a:avLst/>
          </a:prstGeom>
          <a:noFill/>
          <a:ln w="12700">
            <a:solidFill>
              <a:srgbClr val="AEB8C5"/>
            </a:solidFill>
            <a:prstDash val="solid"/>
          </a:ln>
        </p:spPr>
      </p:sp>
      <p:sp>
        <p:nvSpPr>
          <p:cNvPr id="8" name="Shape 6"/>
          <p:cNvSpPr/>
          <p:nvPr/>
        </p:nvSpPr>
        <p:spPr>
          <a:xfrm>
            <a:off x="914400" y="3908089"/>
            <a:ext cx="92964" cy="0"/>
          </a:xfrm>
          <a:prstGeom prst="line">
            <a:avLst/>
          </a:prstGeom>
          <a:noFill/>
          <a:ln w="27940">
            <a:solidFill>
              <a:srgbClr val="2F6BFF"/>
            </a:solidFill>
            <a:prstDash val="solid"/>
          </a:ln>
        </p:spPr>
      </p:sp>
      <p:sp>
        <p:nvSpPr>
          <p:cNvPr id="9" name="Shape 7"/>
          <p:cNvSpPr/>
          <p:nvPr/>
        </p:nvSpPr>
        <p:spPr>
          <a:xfrm>
            <a:off x="1007364" y="3899912"/>
            <a:ext cx="92964" cy="0"/>
          </a:xfrm>
          <a:prstGeom prst="line">
            <a:avLst/>
          </a:prstGeom>
          <a:noFill/>
          <a:ln w="27940">
            <a:solidFill>
              <a:srgbClr val="2F6BFF"/>
            </a:solidFill>
            <a:prstDash val="solid"/>
          </a:ln>
        </p:spPr>
      </p:sp>
      <p:sp>
        <p:nvSpPr>
          <p:cNvPr id="10" name="Shape 8"/>
          <p:cNvSpPr/>
          <p:nvPr/>
        </p:nvSpPr>
        <p:spPr>
          <a:xfrm>
            <a:off x="1100328" y="3889357"/>
            <a:ext cx="92964" cy="0"/>
          </a:xfrm>
          <a:prstGeom prst="line">
            <a:avLst/>
          </a:prstGeom>
          <a:noFill/>
          <a:ln w="27940">
            <a:solidFill>
              <a:srgbClr val="2F6BFF"/>
            </a:solidFill>
            <a:prstDash val="solid"/>
          </a:ln>
        </p:spPr>
      </p:sp>
      <p:sp>
        <p:nvSpPr>
          <p:cNvPr id="11" name="Shape 9"/>
          <p:cNvSpPr/>
          <p:nvPr/>
        </p:nvSpPr>
        <p:spPr>
          <a:xfrm>
            <a:off x="1193292" y="3875885"/>
            <a:ext cx="92964" cy="0"/>
          </a:xfrm>
          <a:prstGeom prst="line">
            <a:avLst/>
          </a:prstGeom>
          <a:noFill/>
          <a:ln w="27940">
            <a:solidFill>
              <a:srgbClr val="2F6BFF"/>
            </a:solidFill>
            <a:prstDash val="solid"/>
          </a:ln>
        </p:spPr>
      </p:sp>
      <p:sp>
        <p:nvSpPr>
          <p:cNvPr id="12" name="Shape 10"/>
          <p:cNvSpPr/>
          <p:nvPr/>
        </p:nvSpPr>
        <p:spPr>
          <a:xfrm>
            <a:off x="1286256" y="3858882"/>
            <a:ext cx="92964" cy="0"/>
          </a:xfrm>
          <a:prstGeom prst="line">
            <a:avLst/>
          </a:prstGeom>
          <a:noFill/>
          <a:ln w="27940">
            <a:solidFill>
              <a:srgbClr val="2F6BFF"/>
            </a:solidFill>
            <a:prstDash val="solid"/>
          </a:ln>
        </p:spPr>
      </p:sp>
      <p:sp>
        <p:nvSpPr>
          <p:cNvPr id="13" name="Shape 11"/>
          <p:cNvSpPr/>
          <p:nvPr/>
        </p:nvSpPr>
        <p:spPr>
          <a:xfrm>
            <a:off x="1379220" y="3837667"/>
            <a:ext cx="92964" cy="0"/>
          </a:xfrm>
          <a:prstGeom prst="line">
            <a:avLst/>
          </a:prstGeom>
          <a:noFill/>
          <a:ln w="27940">
            <a:solidFill>
              <a:srgbClr val="2F6BFF"/>
            </a:solidFill>
            <a:prstDash val="solid"/>
          </a:ln>
        </p:spPr>
      </p:sp>
      <p:sp>
        <p:nvSpPr>
          <p:cNvPr id="14" name="Shape 12"/>
          <p:cNvSpPr/>
          <p:nvPr/>
        </p:nvSpPr>
        <p:spPr>
          <a:xfrm>
            <a:off x="1472184" y="3811501"/>
            <a:ext cx="92964" cy="0"/>
          </a:xfrm>
          <a:prstGeom prst="line">
            <a:avLst/>
          </a:prstGeom>
          <a:noFill/>
          <a:ln w="27940">
            <a:solidFill>
              <a:srgbClr val="2F6BFF"/>
            </a:solidFill>
            <a:prstDash val="solid"/>
          </a:ln>
        </p:spPr>
      </p:sp>
      <p:sp>
        <p:nvSpPr>
          <p:cNvPr id="15" name="Shape 13"/>
          <p:cNvSpPr/>
          <p:nvPr/>
        </p:nvSpPr>
        <p:spPr>
          <a:xfrm>
            <a:off x="1565148" y="3779601"/>
            <a:ext cx="92964" cy="0"/>
          </a:xfrm>
          <a:prstGeom prst="line">
            <a:avLst/>
          </a:prstGeom>
          <a:noFill/>
          <a:ln w="27940">
            <a:solidFill>
              <a:srgbClr val="2F6BFF"/>
            </a:solidFill>
            <a:prstDash val="solid"/>
          </a:ln>
        </p:spPr>
      </p:sp>
      <p:sp>
        <p:nvSpPr>
          <p:cNvPr id="16" name="Shape 14"/>
          <p:cNvSpPr/>
          <p:nvPr/>
        </p:nvSpPr>
        <p:spPr>
          <a:xfrm>
            <a:off x="1658112" y="3741167"/>
            <a:ext cx="92964" cy="0"/>
          </a:xfrm>
          <a:prstGeom prst="line">
            <a:avLst/>
          </a:prstGeom>
          <a:noFill/>
          <a:ln w="27940">
            <a:solidFill>
              <a:srgbClr val="2F6BFF"/>
            </a:solidFill>
            <a:prstDash val="solid"/>
          </a:ln>
        </p:spPr>
      </p:sp>
      <p:sp>
        <p:nvSpPr>
          <p:cNvPr id="17" name="Shape 15"/>
          <p:cNvSpPr/>
          <p:nvPr/>
        </p:nvSpPr>
        <p:spPr>
          <a:xfrm>
            <a:off x="1751076" y="3695413"/>
            <a:ext cx="92964" cy="0"/>
          </a:xfrm>
          <a:prstGeom prst="line">
            <a:avLst/>
          </a:prstGeom>
          <a:noFill/>
          <a:ln w="27940">
            <a:solidFill>
              <a:srgbClr val="2F6BFF"/>
            </a:solidFill>
            <a:prstDash val="solid"/>
          </a:ln>
        </p:spPr>
      </p:sp>
      <p:sp>
        <p:nvSpPr>
          <p:cNvPr id="18" name="Shape 16"/>
          <p:cNvSpPr/>
          <p:nvPr/>
        </p:nvSpPr>
        <p:spPr>
          <a:xfrm>
            <a:off x="1844040" y="3641601"/>
            <a:ext cx="92964" cy="0"/>
          </a:xfrm>
          <a:prstGeom prst="line">
            <a:avLst/>
          </a:prstGeom>
          <a:noFill/>
          <a:ln w="27940">
            <a:solidFill>
              <a:srgbClr val="2F6BFF"/>
            </a:solidFill>
            <a:prstDash val="solid"/>
          </a:ln>
        </p:spPr>
      </p:sp>
      <p:sp>
        <p:nvSpPr>
          <p:cNvPr id="19" name="Shape 17"/>
          <p:cNvSpPr/>
          <p:nvPr/>
        </p:nvSpPr>
        <p:spPr>
          <a:xfrm>
            <a:off x="1937004" y="3579092"/>
            <a:ext cx="92964" cy="0"/>
          </a:xfrm>
          <a:prstGeom prst="line">
            <a:avLst/>
          </a:prstGeom>
          <a:noFill/>
          <a:ln w="27940">
            <a:solidFill>
              <a:srgbClr val="2F6BFF"/>
            </a:solidFill>
            <a:prstDash val="solid"/>
          </a:ln>
        </p:spPr>
      </p:sp>
      <p:sp>
        <p:nvSpPr>
          <p:cNvPr id="20" name="Shape 18"/>
          <p:cNvSpPr/>
          <p:nvPr/>
        </p:nvSpPr>
        <p:spPr>
          <a:xfrm>
            <a:off x="2029968" y="3507391"/>
            <a:ext cx="92964" cy="0"/>
          </a:xfrm>
          <a:prstGeom prst="line">
            <a:avLst/>
          </a:prstGeom>
          <a:noFill/>
          <a:ln w="27940">
            <a:solidFill>
              <a:srgbClr val="2F6BFF"/>
            </a:solidFill>
            <a:prstDash val="solid"/>
          </a:ln>
        </p:spPr>
      </p:sp>
      <p:sp>
        <p:nvSpPr>
          <p:cNvPr id="21" name="Shape 19"/>
          <p:cNvSpPr/>
          <p:nvPr/>
        </p:nvSpPr>
        <p:spPr>
          <a:xfrm>
            <a:off x="2122932" y="3426202"/>
            <a:ext cx="92964" cy="0"/>
          </a:xfrm>
          <a:prstGeom prst="line">
            <a:avLst/>
          </a:prstGeom>
          <a:noFill/>
          <a:ln w="27940">
            <a:solidFill>
              <a:srgbClr val="2F6BFF"/>
            </a:solidFill>
            <a:prstDash val="solid"/>
          </a:ln>
        </p:spPr>
      </p:sp>
      <p:sp>
        <p:nvSpPr>
          <p:cNvPr id="22" name="Shape 20"/>
          <p:cNvSpPr/>
          <p:nvPr/>
        </p:nvSpPr>
        <p:spPr>
          <a:xfrm>
            <a:off x="2215896" y="3335479"/>
            <a:ext cx="92964" cy="0"/>
          </a:xfrm>
          <a:prstGeom prst="line">
            <a:avLst/>
          </a:prstGeom>
          <a:noFill/>
          <a:ln w="27940">
            <a:solidFill>
              <a:srgbClr val="2F6BFF"/>
            </a:solidFill>
            <a:prstDash val="solid"/>
          </a:ln>
        </p:spPr>
      </p:sp>
      <p:sp>
        <p:nvSpPr>
          <p:cNvPr id="23" name="Shape 21"/>
          <p:cNvSpPr/>
          <p:nvPr/>
        </p:nvSpPr>
        <p:spPr>
          <a:xfrm>
            <a:off x="2308860" y="3235481"/>
            <a:ext cx="92964" cy="0"/>
          </a:xfrm>
          <a:prstGeom prst="line">
            <a:avLst/>
          </a:prstGeom>
          <a:noFill/>
          <a:ln w="27940">
            <a:solidFill>
              <a:srgbClr val="2F6BFF"/>
            </a:solidFill>
            <a:prstDash val="solid"/>
          </a:ln>
        </p:spPr>
      </p:sp>
      <p:sp>
        <p:nvSpPr>
          <p:cNvPr id="24" name="Shape 22"/>
          <p:cNvSpPr/>
          <p:nvPr/>
        </p:nvSpPr>
        <p:spPr>
          <a:xfrm>
            <a:off x="2401824" y="3126809"/>
            <a:ext cx="92964" cy="0"/>
          </a:xfrm>
          <a:prstGeom prst="line">
            <a:avLst/>
          </a:prstGeom>
          <a:noFill/>
          <a:ln w="27940">
            <a:solidFill>
              <a:srgbClr val="2F6BFF"/>
            </a:solidFill>
            <a:prstDash val="solid"/>
          </a:ln>
        </p:spPr>
      </p:sp>
      <p:sp>
        <p:nvSpPr>
          <p:cNvPr id="25" name="Shape 23"/>
          <p:cNvSpPr/>
          <p:nvPr/>
        </p:nvSpPr>
        <p:spPr>
          <a:xfrm>
            <a:off x="2494788" y="3010441"/>
            <a:ext cx="92964" cy="0"/>
          </a:xfrm>
          <a:prstGeom prst="line">
            <a:avLst/>
          </a:prstGeom>
          <a:noFill/>
          <a:ln w="27940">
            <a:solidFill>
              <a:srgbClr val="2F6BFF"/>
            </a:solidFill>
            <a:prstDash val="solid"/>
          </a:ln>
        </p:spPr>
      </p:sp>
      <p:sp>
        <p:nvSpPr>
          <p:cNvPr id="26" name="Shape 24"/>
          <p:cNvSpPr/>
          <p:nvPr/>
        </p:nvSpPr>
        <p:spPr>
          <a:xfrm>
            <a:off x="2587752" y="2887748"/>
            <a:ext cx="92964" cy="0"/>
          </a:xfrm>
          <a:prstGeom prst="line">
            <a:avLst/>
          </a:prstGeom>
          <a:noFill/>
          <a:ln w="27940">
            <a:solidFill>
              <a:srgbClr val="2F6BFF"/>
            </a:solidFill>
            <a:prstDash val="solid"/>
          </a:ln>
        </p:spPr>
      </p:sp>
      <p:sp>
        <p:nvSpPr>
          <p:cNvPr id="27" name="Shape 25"/>
          <p:cNvSpPr/>
          <p:nvPr/>
        </p:nvSpPr>
        <p:spPr>
          <a:xfrm>
            <a:off x="2680716" y="2760491"/>
            <a:ext cx="92964" cy="0"/>
          </a:xfrm>
          <a:prstGeom prst="line">
            <a:avLst/>
          </a:prstGeom>
          <a:noFill/>
          <a:ln w="27940">
            <a:solidFill>
              <a:srgbClr val="2F6BFF"/>
            </a:solidFill>
            <a:prstDash val="solid"/>
          </a:ln>
        </p:spPr>
      </p:sp>
      <p:sp>
        <p:nvSpPr>
          <p:cNvPr id="28" name="Shape 26"/>
          <p:cNvSpPr/>
          <p:nvPr/>
        </p:nvSpPr>
        <p:spPr>
          <a:xfrm>
            <a:off x="2773680" y="2630801"/>
            <a:ext cx="92964" cy="0"/>
          </a:xfrm>
          <a:prstGeom prst="line">
            <a:avLst/>
          </a:prstGeom>
          <a:noFill/>
          <a:ln w="27940">
            <a:solidFill>
              <a:srgbClr val="2F6BFF"/>
            </a:solidFill>
            <a:prstDash val="solid"/>
          </a:ln>
        </p:spPr>
      </p:sp>
      <p:sp>
        <p:nvSpPr>
          <p:cNvPr id="29" name="Shape 27"/>
          <p:cNvSpPr/>
          <p:nvPr/>
        </p:nvSpPr>
        <p:spPr>
          <a:xfrm>
            <a:off x="2866644" y="2501133"/>
            <a:ext cx="92964" cy="0"/>
          </a:xfrm>
          <a:prstGeom prst="line">
            <a:avLst/>
          </a:prstGeom>
          <a:noFill/>
          <a:ln w="27940">
            <a:solidFill>
              <a:srgbClr val="2F6BFF"/>
            </a:solidFill>
            <a:prstDash val="solid"/>
          </a:ln>
        </p:spPr>
      </p:sp>
      <p:sp>
        <p:nvSpPr>
          <p:cNvPr id="30" name="Shape 28"/>
          <p:cNvSpPr/>
          <p:nvPr/>
        </p:nvSpPr>
        <p:spPr>
          <a:xfrm>
            <a:off x="2959608" y="2374198"/>
            <a:ext cx="92964" cy="0"/>
          </a:xfrm>
          <a:prstGeom prst="line">
            <a:avLst/>
          </a:prstGeom>
          <a:noFill/>
          <a:ln w="27940">
            <a:solidFill>
              <a:srgbClr val="2F6BFF"/>
            </a:solidFill>
            <a:prstDash val="solid"/>
          </a:ln>
        </p:spPr>
      </p:sp>
      <p:sp>
        <p:nvSpPr>
          <p:cNvPr id="31" name="Shape 29"/>
          <p:cNvSpPr/>
          <p:nvPr/>
        </p:nvSpPr>
        <p:spPr>
          <a:xfrm>
            <a:off x="3052572" y="2252876"/>
            <a:ext cx="92964" cy="0"/>
          </a:xfrm>
          <a:prstGeom prst="line">
            <a:avLst/>
          </a:prstGeom>
          <a:noFill/>
          <a:ln w="27940">
            <a:solidFill>
              <a:srgbClr val="2F6BFF"/>
            </a:solidFill>
            <a:prstDash val="solid"/>
          </a:ln>
        </p:spPr>
      </p:sp>
      <p:sp>
        <p:nvSpPr>
          <p:cNvPr id="32" name="Shape 30"/>
          <p:cNvSpPr/>
          <p:nvPr/>
        </p:nvSpPr>
        <p:spPr>
          <a:xfrm>
            <a:off x="3145536" y="2140113"/>
            <a:ext cx="92964" cy="0"/>
          </a:xfrm>
          <a:prstGeom prst="line">
            <a:avLst/>
          </a:prstGeom>
          <a:noFill/>
          <a:ln w="27940">
            <a:solidFill>
              <a:srgbClr val="2F6BFF"/>
            </a:solidFill>
            <a:prstDash val="solid"/>
          </a:ln>
        </p:spPr>
      </p:sp>
      <p:sp>
        <p:nvSpPr>
          <p:cNvPr id="33" name="Shape 31"/>
          <p:cNvSpPr/>
          <p:nvPr/>
        </p:nvSpPr>
        <p:spPr>
          <a:xfrm>
            <a:off x="3238500" y="2038803"/>
            <a:ext cx="92964" cy="0"/>
          </a:xfrm>
          <a:prstGeom prst="line">
            <a:avLst/>
          </a:prstGeom>
          <a:noFill/>
          <a:ln w="27940">
            <a:solidFill>
              <a:srgbClr val="2F6BFF"/>
            </a:solidFill>
            <a:prstDash val="solid"/>
          </a:ln>
        </p:spPr>
      </p:sp>
      <p:sp>
        <p:nvSpPr>
          <p:cNvPr id="34" name="Shape 32"/>
          <p:cNvSpPr/>
          <p:nvPr/>
        </p:nvSpPr>
        <p:spPr>
          <a:xfrm>
            <a:off x="3331464" y="1951667"/>
            <a:ext cx="92964" cy="0"/>
          </a:xfrm>
          <a:prstGeom prst="line">
            <a:avLst/>
          </a:prstGeom>
          <a:noFill/>
          <a:ln w="27940">
            <a:solidFill>
              <a:srgbClr val="2F6BFF"/>
            </a:solidFill>
            <a:prstDash val="solid"/>
          </a:ln>
        </p:spPr>
      </p:sp>
      <p:sp>
        <p:nvSpPr>
          <p:cNvPr id="35" name="Shape 33"/>
          <p:cNvSpPr/>
          <p:nvPr/>
        </p:nvSpPr>
        <p:spPr>
          <a:xfrm>
            <a:off x="3424428" y="1881131"/>
            <a:ext cx="92964" cy="0"/>
          </a:xfrm>
          <a:prstGeom prst="line">
            <a:avLst/>
          </a:prstGeom>
          <a:noFill/>
          <a:ln w="27940">
            <a:solidFill>
              <a:srgbClr val="2F6BFF"/>
            </a:solidFill>
            <a:prstDash val="solid"/>
          </a:ln>
        </p:spPr>
      </p:sp>
      <p:sp>
        <p:nvSpPr>
          <p:cNvPr id="36" name="Shape 34"/>
          <p:cNvSpPr/>
          <p:nvPr/>
        </p:nvSpPr>
        <p:spPr>
          <a:xfrm>
            <a:off x="3517392" y="1829215"/>
            <a:ext cx="92964" cy="0"/>
          </a:xfrm>
          <a:prstGeom prst="line">
            <a:avLst/>
          </a:prstGeom>
          <a:noFill/>
          <a:ln w="27940">
            <a:solidFill>
              <a:srgbClr val="2F6BFF"/>
            </a:solidFill>
            <a:prstDash val="solid"/>
          </a:ln>
        </p:spPr>
      </p:sp>
      <p:sp>
        <p:nvSpPr>
          <p:cNvPr id="37" name="Shape 35"/>
          <p:cNvSpPr/>
          <p:nvPr/>
        </p:nvSpPr>
        <p:spPr>
          <a:xfrm>
            <a:off x="3610356" y="1797437"/>
            <a:ext cx="92964" cy="0"/>
          </a:xfrm>
          <a:prstGeom prst="line">
            <a:avLst/>
          </a:prstGeom>
          <a:noFill/>
          <a:ln w="27940">
            <a:solidFill>
              <a:srgbClr val="2F6BFF"/>
            </a:solidFill>
            <a:prstDash val="solid"/>
          </a:ln>
        </p:spPr>
      </p:sp>
      <p:sp>
        <p:nvSpPr>
          <p:cNvPr id="38" name="Shape 36"/>
          <p:cNvSpPr/>
          <p:nvPr/>
        </p:nvSpPr>
        <p:spPr>
          <a:xfrm>
            <a:off x="3703320" y="1786738"/>
            <a:ext cx="92964" cy="10699"/>
          </a:xfrm>
          <a:prstGeom prst="line">
            <a:avLst/>
          </a:prstGeom>
          <a:noFill/>
          <a:ln w="27940">
            <a:solidFill>
              <a:srgbClr val="2F6BFF"/>
            </a:solidFill>
            <a:prstDash val="solid"/>
          </a:ln>
        </p:spPr>
      </p:sp>
      <p:sp>
        <p:nvSpPr>
          <p:cNvPr id="39" name="Shape 37"/>
          <p:cNvSpPr/>
          <p:nvPr/>
        </p:nvSpPr>
        <p:spPr>
          <a:xfrm>
            <a:off x="3796284" y="1797437"/>
            <a:ext cx="92964" cy="31778"/>
          </a:xfrm>
          <a:prstGeom prst="line">
            <a:avLst/>
          </a:prstGeom>
          <a:noFill/>
          <a:ln w="27940">
            <a:solidFill>
              <a:srgbClr val="2F6BFF"/>
            </a:solidFill>
            <a:prstDash val="solid"/>
          </a:ln>
        </p:spPr>
      </p:sp>
      <p:sp>
        <p:nvSpPr>
          <p:cNvPr id="40" name="Shape 38"/>
          <p:cNvSpPr/>
          <p:nvPr/>
        </p:nvSpPr>
        <p:spPr>
          <a:xfrm>
            <a:off x="3889248" y="1829215"/>
            <a:ext cx="92964" cy="51916"/>
          </a:xfrm>
          <a:prstGeom prst="line">
            <a:avLst/>
          </a:prstGeom>
          <a:noFill/>
          <a:ln w="27940">
            <a:solidFill>
              <a:srgbClr val="2F6BFF"/>
            </a:solidFill>
            <a:prstDash val="solid"/>
          </a:ln>
        </p:spPr>
      </p:sp>
      <p:sp>
        <p:nvSpPr>
          <p:cNvPr id="41" name="Shape 39"/>
          <p:cNvSpPr/>
          <p:nvPr/>
        </p:nvSpPr>
        <p:spPr>
          <a:xfrm>
            <a:off x="3982212" y="1881131"/>
            <a:ext cx="92964" cy="70536"/>
          </a:xfrm>
          <a:prstGeom prst="line">
            <a:avLst/>
          </a:prstGeom>
          <a:noFill/>
          <a:ln w="27940">
            <a:solidFill>
              <a:srgbClr val="2F6BFF"/>
            </a:solidFill>
            <a:prstDash val="solid"/>
          </a:ln>
        </p:spPr>
      </p:sp>
      <p:sp>
        <p:nvSpPr>
          <p:cNvPr id="42" name="Shape 40"/>
          <p:cNvSpPr/>
          <p:nvPr/>
        </p:nvSpPr>
        <p:spPr>
          <a:xfrm>
            <a:off x="4075176" y="1951667"/>
            <a:ext cx="92964" cy="87136"/>
          </a:xfrm>
          <a:prstGeom prst="line">
            <a:avLst/>
          </a:prstGeom>
          <a:noFill/>
          <a:ln w="27940">
            <a:solidFill>
              <a:srgbClr val="2F6BFF"/>
            </a:solidFill>
            <a:prstDash val="solid"/>
          </a:ln>
        </p:spPr>
      </p:sp>
      <p:sp>
        <p:nvSpPr>
          <p:cNvPr id="43" name="Shape 41"/>
          <p:cNvSpPr/>
          <p:nvPr/>
        </p:nvSpPr>
        <p:spPr>
          <a:xfrm>
            <a:off x="4168140" y="2038803"/>
            <a:ext cx="92964" cy="101310"/>
          </a:xfrm>
          <a:prstGeom prst="line">
            <a:avLst/>
          </a:prstGeom>
          <a:noFill/>
          <a:ln w="27940">
            <a:solidFill>
              <a:srgbClr val="2F6BFF"/>
            </a:solidFill>
            <a:prstDash val="solid"/>
          </a:ln>
        </p:spPr>
      </p:sp>
      <p:sp>
        <p:nvSpPr>
          <p:cNvPr id="44" name="Shape 42"/>
          <p:cNvSpPr/>
          <p:nvPr/>
        </p:nvSpPr>
        <p:spPr>
          <a:xfrm>
            <a:off x="4261104" y="2140113"/>
            <a:ext cx="92964" cy="112763"/>
          </a:xfrm>
          <a:prstGeom prst="line">
            <a:avLst/>
          </a:prstGeom>
          <a:noFill/>
          <a:ln w="27940">
            <a:solidFill>
              <a:srgbClr val="2F6BFF"/>
            </a:solidFill>
            <a:prstDash val="solid"/>
          </a:ln>
        </p:spPr>
      </p:sp>
      <p:sp>
        <p:nvSpPr>
          <p:cNvPr id="45" name="Shape 43"/>
          <p:cNvSpPr/>
          <p:nvPr/>
        </p:nvSpPr>
        <p:spPr>
          <a:xfrm>
            <a:off x="4354068" y="2252876"/>
            <a:ext cx="92964" cy="121322"/>
          </a:xfrm>
          <a:prstGeom prst="line">
            <a:avLst/>
          </a:prstGeom>
          <a:noFill/>
          <a:ln w="27940">
            <a:solidFill>
              <a:srgbClr val="2F6BFF"/>
            </a:solidFill>
            <a:prstDash val="solid"/>
          </a:ln>
        </p:spPr>
      </p:sp>
      <p:sp>
        <p:nvSpPr>
          <p:cNvPr id="46" name="Shape 44"/>
          <p:cNvSpPr/>
          <p:nvPr/>
        </p:nvSpPr>
        <p:spPr>
          <a:xfrm>
            <a:off x="4447032" y="2374198"/>
            <a:ext cx="92964" cy="126935"/>
          </a:xfrm>
          <a:prstGeom prst="line">
            <a:avLst/>
          </a:prstGeom>
          <a:noFill/>
          <a:ln w="27940">
            <a:solidFill>
              <a:srgbClr val="2F6BFF"/>
            </a:solidFill>
            <a:prstDash val="solid"/>
          </a:ln>
        </p:spPr>
      </p:sp>
      <p:sp>
        <p:nvSpPr>
          <p:cNvPr id="47" name="Shape 45"/>
          <p:cNvSpPr/>
          <p:nvPr/>
        </p:nvSpPr>
        <p:spPr>
          <a:xfrm>
            <a:off x="4539996" y="2501133"/>
            <a:ext cx="92964" cy="129668"/>
          </a:xfrm>
          <a:prstGeom prst="line">
            <a:avLst/>
          </a:prstGeom>
          <a:noFill/>
          <a:ln w="27940">
            <a:solidFill>
              <a:srgbClr val="2F6BFF"/>
            </a:solidFill>
            <a:prstDash val="solid"/>
          </a:ln>
        </p:spPr>
      </p:sp>
      <p:sp>
        <p:nvSpPr>
          <p:cNvPr id="48" name="Shape 46"/>
          <p:cNvSpPr/>
          <p:nvPr/>
        </p:nvSpPr>
        <p:spPr>
          <a:xfrm>
            <a:off x="4632960" y="2630801"/>
            <a:ext cx="92964" cy="129690"/>
          </a:xfrm>
          <a:prstGeom prst="line">
            <a:avLst/>
          </a:prstGeom>
          <a:noFill/>
          <a:ln w="27940">
            <a:solidFill>
              <a:srgbClr val="2F6BFF"/>
            </a:solidFill>
            <a:prstDash val="solid"/>
          </a:ln>
        </p:spPr>
      </p:sp>
      <p:sp>
        <p:nvSpPr>
          <p:cNvPr id="49" name="Shape 47"/>
          <p:cNvSpPr/>
          <p:nvPr/>
        </p:nvSpPr>
        <p:spPr>
          <a:xfrm>
            <a:off x="4725924" y="2760491"/>
            <a:ext cx="92964" cy="127257"/>
          </a:xfrm>
          <a:prstGeom prst="line">
            <a:avLst/>
          </a:prstGeom>
          <a:noFill/>
          <a:ln w="27940">
            <a:solidFill>
              <a:srgbClr val="2F6BFF"/>
            </a:solidFill>
            <a:prstDash val="solid"/>
          </a:ln>
        </p:spPr>
      </p:sp>
      <p:sp>
        <p:nvSpPr>
          <p:cNvPr id="50" name="Shape 48"/>
          <p:cNvSpPr/>
          <p:nvPr/>
        </p:nvSpPr>
        <p:spPr>
          <a:xfrm>
            <a:off x="4818888" y="2887748"/>
            <a:ext cx="92964" cy="122693"/>
          </a:xfrm>
          <a:prstGeom prst="line">
            <a:avLst/>
          </a:prstGeom>
          <a:noFill/>
          <a:ln w="27940">
            <a:solidFill>
              <a:srgbClr val="2F6BFF"/>
            </a:solidFill>
            <a:prstDash val="solid"/>
          </a:ln>
        </p:spPr>
      </p:sp>
      <p:sp>
        <p:nvSpPr>
          <p:cNvPr id="51" name="Shape 49"/>
          <p:cNvSpPr/>
          <p:nvPr/>
        </p:nvSpPr>
        <p:spPr>
          <a:xfrm>
            <a:off x="4911852" y="3010441"/>
            <a:ext cx="92964" cy="116368"/>
          </a:xfrm>
          <a:prstGeom prst="line">
            <a:avLst/>
          </a:prstGeom>
          <a:noFill/>
          <a:ln w="27940">
            <a:solidFill>
              <a:srgbClr val="2F6BFF"/>
            </a:solidFill>
            <a:prstDash val="solid"/>
          </a:ln>
        </p:spPr>
      </p:sp>
      <p:sp>
        <p:nvSpPr>
          <p:cNvPr id="52" name="Shape 50"/>
          <p:cNvSpPr/>
          <p:nvPr/>
        </p:nvSpPr>
        <p:spPr>
          <a:xfrm>
            <a:off x="5004816" y="3126809"/>
            <a:ext cx="92964" cy="108672"/>
          </a:xfrm>
          <a:prstGeom prst="line">
            <a:avLst/>
          </a:prstGeom>
          <a:noFill/>
          <a:ln w="27940">
            <a:solidFill>
              <a:srgbClr val="2F6BFF"/>
            </a:solidFill>
            <a:prstDash val="solid"/>
          </a:ln>
        </p:spPr>
      </p:sp>
      <p:sp>
        <p:nvSpPr>
          <p:cNvPr id="53" name="Shape 51"/>
          <p:cNvSpPr/>
          <p:nvPr/>
        </p:nvSpPr>
        <p:spPr>
          <a:xfrm>
            <a:off x="5097780" y="3235481"/>
            <a:ext cx="92964" cy="99998"/>
          </a:xfrm>
          <a:prstGeom prst="line">
            <a:avLst/>
          </a:prstGeom>
          <a:noFill/>
          <a:ln w="27940">
            <a:solidFill>
              <a:srgbClr val="2F6BFF"/>
            </a:solidFill>
            <a:prstDash val="solid"/>
          </a:ln>
        </p:spPr>
      </p:sp>
      <p:sp>
        <p:nvSpPr>
          <p:cNvPr id="54" name="Shape 52"/>
          <p:cNvSpPr/>
          <p:nvPr/>
        </p:nvSpPr>
        <p:spPr>
          <a:xfrm>
            <a:off x="5190744" y="3335479"/>
            <a:ext cx="92964" cy="90722"/>
          </a:xfrm>
          <a:prstGeom prst="line">
            <a:avLst/>
          </a:prstGeom>
          <a:noFill/>
          <a:ln w="27940">
            <a:solidFill>
              <a:srgbClr val="2F6BFF"/>
            </a:solidFill>
            <a:prstDash val="solid"/>
          </a:ln>
        </p:spPr>
      </p:sp>
      <p:sp>
        <p:nvSpPr>
          <p:cNvPr id="55" name="Shape 53"/>
          <p:cNvSpPr/>
          <p:nvPr/>
        </p:nvSpPr>
        <p:spPr>
          <a:xfrm>
            <a:off x="5283708" y="3426202"/>
            <a:ext cx="92964" cy="81190"/>
          </a:xfrm>
          <a:prstGeom prst="line">
            <a:avLst/>
          </a:prstGeom>
          <a:noFill/>
          <a:ln w="27940">
            <a:solidFill>
              <a:srgbClr val="2F6BFF"/>
            </a:solidFill>
            <a:prstDash val="solid"/>
          </a:ln>
        </p:spPr>
      </p:sp>
      <p:sp>
        <p:nvSpPr>
          <p:cNvPr id="56" name="Shape 54"/>
          <p:cNvSpPr/>
          <p:nvPr/>
        </p:nvSpPr>
        <p:spPr>
          <a:xfrm>
            <a:off x="5376672" y="3507391"/>
            <a:ext cx="92964" cy="71701"/>
          </a:xfrm>
          <a:prstGeom prst="line">
            <a:avLst/>
          </a:prstGeom>
          <a:noFill/>
          <a:ln w="27940">
            <a:solidFill>
              <a:srgbClr val="2F6BFF"/>
            </a:solidFill>
            <a:prstDash val="solid"/>
          </a:ln>
        </p:spPr>
      </p:sp>
      <p:sp>
        <p:nvSpPr>
          <p:cNvPr id="57" name="Shape 55"/>
          <p:cNvSpPr/>
          <p:nvPr/>
        </p:nvSpPr>
        <p:spPr>
          <a:xfrm>
            <a:off x="5469636" y="3579092"/>
            <a:ext cx="92964" cy="62509"/>
          </a:xfrm>
          <a:prstGeom prst="line">
            <a:avLst/>
          </a:prstGeom>
          <a:noFill/>
          <a:ln w="27940">
            <a:solidFill>
              <a:srgbClr val="2F6BFF"/>
            </a:solidFill>
            <a:prstDash val="solid"/>
          </a:ln>
        </p:spPr>
      </p:sp>
      <p:sp>
        <p:nvSpPr>
          <p:cNvPr id="58" name="Shape 56"/>
          <p:cNvSpPr/>
          <p:nvPr/>
        </p:nvSpPr>
        <p:spPr>
          <a:xfrm>
            <a:off x="5562600" y="3641601"/>
            <a:ext cx="92964" cy="53811"/>
          </a:xfrm>
          <a:prstGeom prst="line">
            <a:avLst/>
          </a:prstGeom>
          <a:noFill/>
          <a:ln w="27940">
            <a:solidFill>
              <a:srgbClr val="2F6BFF"/>
            </a:solidFill>
            <a:prstDash val="solid"/>
          </a:ln>
        </p:spPr>
      </p:sp>
      <p:sp>
        <p:nvSpPr>
          <p:cNvPr id="59" name="Shape 57"/>
          <p:cNvSpPr/>
          <p:nvPr/>
        </p:nvSpPr>
        <p:spPr>
          <a:xfrm>
            <a:off x="5655564" y="3695413"/>
            <a:ext cx="92964" cy="45754"/>
          </a:xfrm>
          <a:prstGeom prst="line">
            <a:avLst/>
          </a:prstGeom>
          <a:noFill/>
          <a:ln w="27940">
            <a:solidFill>
              <a:srgbClr val="2F6BFF"/>
            </a:solidFill>
            <a:prstDash val="solid"/>
          </a:ln>
        </p:spPr>
      </p:sp>
      <p:sp>
        <p:nvSpPr>
          <p:cNvPr id="60" name="Shape 58"/>
          <p:cNvSpPr/>
          <p:nvPr/>
        </p:nvSpPr>
        <p:spPr>
          <a:xfrm>
            <a:off x="5748528" y="3741167"/>
            <a:ext cx="92964" cy="38434"/>
          </a:xfrm>
          <a:prstGeom prst="line">
            <a:avLst/>
          </a:prstGeom>
          <a:noFill/>
          <a:ln w="27940">
            <a:solidFill>
              <a:srgbClr val="2F6BFF"/>
            </a:solidFill>
            <a:prstDash val="solid"/>
          </a:ln>
        </p:spPr>
      </p:sp>
      <p:sp>
        <p:nvSpPr>
          <p:cNvPr id="61" name="Shape 59"/>
          <p:cNvSpPr/>
          <p:nvPr/>
        </p:nvSpPr>
        <p:spPr>
          <a:xfrm>
            <a:off x="5841492" y="3779601"/>
            <a:ext cx="92964" cy="31900"/>
          </a:xfrm>
          <a:prstGeom prst="line">
            <a:avLst/>
          </a:prstGeom>
          <a:noFill/>
          <a:ln w="27940">
            <a:solidFill>
              <a:srgbClr val="2F6BFF"/>
            </a:solidFill>
            <a:prstDash val="solid"/>
          </a:ln>
        </p:spPr>
      </p:sp>
      <p:sp>
        <p:nvSpPr>
          <p:cNvPr id="62" name="Shape 60"/>
          <p:cNvSpPr/>
          <p:nvPr/>
        </p:nvSpPr>
        <p:spPr>
          <a:xfrm>
            <a:off x="5934456" y="3811501"/>
            <a:ext cx="92964" cy="26167"/>
          </a:xfrm>
          <a:prstGeom prst="line">
            <a:avLst/>
          </a:prstGeom>
          <a:noFill/>
          <a:ln w="27940">
            <a:solidFill>
              <a:srgbClr val="2F6BFF"/>
            </a:solidFill>
            <a:prstDash val="solid"/>
          </a:ln>
        </p:spPr>
      </p:sp>
      <p:sp>
        <p:nvSpPr>
          <p:cNvPr id="63" name="Shape 61"/>
          <p:cNvSpPr/>
          <p:nvPr/>
        </p:nvSpPr>
        <p:spPr>
          <a:xfrm>
            <a:off x="6027420" y="3837667"/>
            <a:ext cx="92964" cy="21215"/>
          </a:xfrm>
          <a:prstGeom prst="line">
            <a:avLst/>
          </a:prstGeom>
          <a:noFill/>
          <a:ln w="27940">
            <a:solidFill>
              <a:srgbClr val="2F6BFF"/>
            </a:solidFill>
            <a:prstDash val="solid"/>
          </a:ln>
        </p:spPr>
      </p:sp>
      <p:sp>
        <p:nvSpPr>
          <p:cNvPr id="64" name="Shape 62"/>
          <p:cNvSpPr/>
          <p:nvPr/>
        </p:nvSpPr>
        <p:spPr>
          <a:xfrm>
            <a:off x="6120384" y="3858882"/>
            <a:ext cx="92964" cy="17003"/>
          </a:xfrm>
          <a:prstGeom prst="line">
            <a:avLst/>
          </a:prstGeom>
          <a:noFill/>
          <a:ln w="27940">
            <a:solidFill>
              <a:srgbClr val="2F6BFF"/>
            </a:solidFill>
            <a:prstDash val="solid"/>
          </a:ln>
        </p:spPr>
      </p:sp>
      <p:sp>
        <p:nvSpPr>
          <p:cNvPr id="65" name="Shape 63"/>
          <p:cNvSpPr/>
          <p:nvPr/>
        </p:nvSpPr>
        <p:spPr>
          <a:xfrm>
            <a:off x="6213348" y="3875885"/>
            <a:ext cx="92964" cy="13472"/>
          </a:xfrm>
          <a:prstGeom prst="line">
            <a:avLst/>
          </a:prstGeom>
          <a:noFill/>
          <a:ln w="27940">
            <a:solidFill>
              <a:srgbClr val="2F6BFF"/>
            </a:solidFill>
            <a:prstDash val="solid"/>
          </a:ln>
        </p:spPr>
      </p:sp>
      <p:sp>
        <p:nvSpPr>
          <p:cNvPr id="66" name="Shape 64"/>
          <p:cNvSpPr/>
          <p:nvPr/>
        </p:nvSpPr>
        <p:spPr>
          <a:xfrm>
            <a:off x="6306312" y="3889357"/>
            <a:ext cx="92964" cy="10555"/>
          </a:xfrm>
          <a:prstGeom prst="line">
            <a:avLst/>
          </a:prstGeom>
          <a:noFill/>
          <a:ln w="27940">
            <a:solidFill>
              <a:srgbClr val="2F6BFF"/>
            </a:solidFill>
            <a:prstDash val="solid"/>
          </a:ln>
        </p:spPr>
      </p:sp>
      <p:sp>
        <p:nvSpPr>
          <p:cNvPr id="67" name="Shape 65"/>
          <p:cNvSpPr/>
          <p:nvPr/>
        </p:nvSpPr>
        <p:spPr>
          <a:xfrm>
            <a:off x="6399276" y="3899912"/>
            <a:ext cx="92964" cy="8177"/>
          </a:xfrm>
          <a:prstGeom prst="line">
            <a:avLst/>
          </a:prstGeom>
          <a:noFill/>
          <a:ln w="27940">
            <a:solidFill>
              <a:srgbClr val="2F6BFF"/>
            </a:solidFill>
            <a:prstDash val="solid"/>
          </a:ln>
        </p:spPr>
      </p:sp>
      <p:sp>
        <p:nvSpPr>
          <p:cNvPr id="68" name="Shape 66"/>
          <p:cNvSpPr/>
          <p:nvPr/>
        </p:nvSpPr>
        <p:spPr>
          <a:xfrm>
            <a:off x="3703320" y="1709928"/>
            <a:ext cx="0" cy="2221992"/>
          </a:xfrm>
          <a:prstGeom prst="line">
            <a:avLst/>
          </a:prstGeom>
          <a:noFill/>
          <a:ln w="12700">
            <a:solidFill>
              <a:srgbClr val="F59E0B"/>
            </a:solidFill>
            <a:prstDash val="solid"/>
          </a:ln>
        </p:spPr>
      </p:sp>
      <p:sp>
        <p:nvSpPr>
          <p:cNvPr id="69" name="Text 67"/>
          <p:cNvSpPr/>
          <p:nvPr/>
        </p:nvSpPr>
        <p:spPr>
          <a:xfrm>
            <a:off x="1517904" y="3986784"/>
            <a:ext cx="685800" cy="219456"/>
          </a:xfrm>
          <a:prstGeom prst="rect">
            <a:avLst/>
          </a:prstGeom>
          <a:noFill/>
          <a:ln/>
        </p:spPr>
        <p:txBody>
          <a:bodyPr wrap="square" lIns="0" tIns="0" rIns="0" bIns="0" rtlCol="0" anchor="ctr"/>
          <a:lstStyle/>
          <a:p>
            <a:pPr marL="0" indent="0" algn="ctr">
              <a:buNone/>
            </a:pPr>
            <a:r>
              <a:rPr lang="en-US" sz="930" dirty="0">
                <a:solidFill>
                  <a:srgbClr val="667085"/>
                </a:solidFill>
              </a:rPr>
              <a:t>μ − 2σ</a:t>
            </a:r>
            <a:endParaRPr lang="en-US" sz="930" dirty="0"/>
          </a:p>
        </p:txBody>
      </p:sp>
      <p:sp>
        <p:nvSpPr>
          <p:cNvPr id="70" name="Text 68"/>
          <p:cNvSpPr/>
          <p:nvPr/>
        </p:nvSpPr>
        <p:spPr>
          <a:xfrm>
            <a:off x="3374136" y="3986784"/>
            <a:ext cx="685800" cy="219456"/>
          </a:xfrm>
          <a:prstGeom prst="rect">
            <a:avLst/>
          </a:prstGeom>
          <a:noFill/>
          <a:ln/>
        </p:spPr>
        <p:txBody>
          <a:bodyPr wrap="square" lIns="0" tIns="0" rIns="0" bIns="0" rtlCol="0" anchor="ctr"/>
          <a:lstStyle/>
          <a:p>
            <a:pPr marL="0" indent="0" algn="ctr">
              <a:buNone/>
            </a:pPr>
            <a:r>
              <a:rPr lang="en-US" sz="930" b="1" dirty="0">
                <a:solidFill>
                  <a:srgbClr val="F59E0B"/>
                </a:solidFill>
              </a:rPr>
              <a:t>μ</a:t>
            </a:r>
            <a:endParaRPr lang="en-US" sz="930" dirty="0"/>
          </a:p>
        </p:txBody>
      </p:sp>
      <p:sp>
        <p:nvSpPr>
          <p:cNvPr id="71" name="Text 69"/>
          <p:cNvSpPr/>
          <p:nvPr/>
        </p:nvSpPr>
        <p:spPr>
          <a:xfrm>
            <a:off x="4956048" y="3986784"/>
            <a:ext cx="685800" cy="219456"/>
          </a:xfrm>
          <a:prstGeom prst="rect">
            <a:avLst/>
          </a:prstGeom>
          <a:noFill/>
          <a:ln/>
        </p:spPr>
        <p:txBody>
          <a:bodyPr wrap="square" lIns="0" tIns="0" rIns="0" bIns="0" rtlCol="0" anchor="ctr"/>
          <a:lstStyle/>
          <a:p>
            <a:pPr marL="0" indent="0" algn="ctr">
              <a:buNone/>
            </a:pPr>
            <a:r>
              <a:rPr lang="en-US" sz="930" dirty="0">
                <a:solidFill>
                  <a:srgbClr val="667085"/>
                </a:solidFill>
              </a:rPr>
              <a:t>μ + 2σ</a:t>
            </a:r>
            <a:endParaRPr lang="en-US" sz="930" dirty="0"/>
          </a:p>
        </p:txBody>
      </p:sp>
      <p:sp>
        <p:nvSpPr>
          <p:cNvPr id="72" name="Shape 70"/>
          <p:cNvSpPr/>
          <p:nvPr/>
        </p:nvSpPr>
        <p:spPr>
          <a:xfrm>
            <a:off x="6967728" y="1572768"/>
            <a:ext cx="4114800" cy="1143000"/>
          </a:xfrm>
          <a:prstGeom prst="roundRect">
            <a:avLst>
              <a:gd name="adj" fmla="val 6400"/>
            </a:avLst>
          </a:prstGeom>
          <a:solidFill>
            <a:srgbClr val="EAF1FF"/>
          </a:solidFill>
          <a:ln w="10160">
            <a:solidFill>
              <a:srgbClr val="E9EEF5"/>
            </a:solidFill>
            <a:prstDash val="solid"/>
          </a:ln>
        </p:spPr>
      </p:sp>
      <p:sp>
        <p:nvSpPr>
          <p:cNvPr id="73" name="Text 71"/>
          <p:cNvSpPr/>
          <p:nvPr/>
        </p:nvSpPr>
        <p:spPr>
          <a:xfrm>
            <a:off x="7132320" y="1709928"/>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Parameters</a:t>
            </a:r>
            <a:endParaRPr lang="en-US" sz="1500" dirty="0"/>
          </a:p>
        </p:txBody>
      </p:sp>
      <p:sp>
        <p:nvSpPr>
          <p:cNvPr id="74" name="Text 72"/>
          <p:cNvSpPr/>
          <p:nvPr/>
        </p:nvSpPr>
        <p:spPr>
          <a:xfrm>
            <a:off x="7132320" y="2048256"/>
            <a:ext cx="378561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Mean μ controls location; standard deviation σ controls spread.</a:t>
            </a:r>
            <a:endParaRPr lang="en-US" sz="1150" dirty="0"/>
          </a:p>
        </p:txBody>
      </p:sp>
      <p:sp>
        <p:nvSpPr>
          <p:cNvPr id="75" name="Shape 73"/>
          <p:cNvSpPr/>
          <p:nvPr/>
        </p:nvSpPr>
        <p:spPr>
          <a:xfrm>
            <a:off x="6967728" y="2880360"/>
            <a:ext cx="4114800" cy="1143000"/>
          </a:xfrm>
          <a:prstGeom prst="roundRect">
            <a:avLst>
              <a:gd name="adj" fmla="val 6400"/>
            </a:avLst>
          </a:prstGeom>
          <a:solidFill>
            <a:srgbClr val="E6F7F5"/>
          </a:solidFill>
          <a:ln w="10160">
            <a:solidFill>
              <a:srgbClr val="E9EEF5"/>
            </a:solidFill>
            <a:prstDash val="solid"/>
          </a:ln>
        </p:spPr>
      </p:sp>
      <p:sp>
        <p:nvSpPr>
          <p:cNvPr id="76" name="Text 74"/>
          <p:cNvSpPr/>
          <p:nvPr/>
        </p:nvSpPr>
        <p:spPr>
          <a:xfrm>
            <a:off x="7132320" y="3017520"/>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EDA question</a:t>
            </a:r>
            <a:endParaRPr lang="en-US" sz="1500" dirty="0"/>
          </a:p>
        </p:txBody>
      </p:sp>
      <p:sp>
        <p:nvSpPr>
          <p:cNvPr id="77" name="Text 75"/>
          <p:cNvSpPr/>
          <p:nvPr/>
        </p:nvSpPr>
        <p:spPr>
          <a:xfrm>
            <a:off x="7132320" y="3355848"/>
            <a:ext cx="378561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Does the histogram look roughly symmetric and bell-shaped?</a:t>
            </a:r>
            <a:endParaRPr lang="en-US" sz="1150" dirty="0"/>
          </a:p>
        </p:txBody>
      </p:sp>
      <p:sp>
        <p:nvSpPr>
          <p:cNvPr id="78" name="Shape 76"/>
          <p:cNvSpPr/>
          <p:nvPr/>
        </p:nvSpPr>
        <p:spPr>
          <a:xfrm>
            <a:off x="6967728" y="4187952"/>
            <a:ext cx="4114800" cy="1143000"/>
          </a:xfrm>
          <a:prstGeom prst="roundRect">
            <a:avLst>
              <a:gd name="adj" fmla="val 6400"/>
            </a:avLst>
          </a:prstGeom>
          <a:solidFill>
            <a:srgbClr val="FFF4E2"/>
          </a:solidFill>
          <a:ln w="10160">
            <a:solidFill>
              <a:srgbClr val="E9EEF5"/>
            </a:solidFill>
            <a:prstDash val="solid"/>
          </a:ln>
        </p:spPr>
      </p:sp>
      <p:sp>
        <p:nvSpPr>
          <p:cNvPr id="79" name="Text 77"/>
          <p:cNvSpPr/>
          <p:nvPr/>
        </p:nvSpPr>
        <p:spPr>
          <a:xfrm>
            <a:off x="7132320" y="4325112"/>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Banking caution</a:t>
            </a:r>
            <a:endParaRPr lang="en-US" sz="1500" dirty="0"/>
          </a:p>
        </p:txBody>
      </p:sp>
      <p:sp>
        <p:nvSpPr>
          <p:cNvPr id="80" name="Text 78"/>
          <p:cNvSpPr/>
          <p:nvPr/>
        </p:nvSpPr>
        <p:spPr>
          <a:xfrm>
            <a:off x="7132320" y="4663440"/>
            <a:ext cx="3785616" cy="53949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Losses, balances and transaction amounts are often skewed and may have heavy tails.</a:t>
            </a:r>
            <a:endParaRPr lang="en-US" sz="1150" dirty="0"/>
          </a:p>
        </p:txBody>
      </p:sp>
      <p:sp>
        <p:nvSpPr>
          <p:cNvPr id="81" name="Shape 79"/>
          <p:cNvSpPr/>
          <p:nvPr/>
        </p:nvSpPr>
        <p:spPr>
          <a:xfrm>
            <a:off x="1865376" y="5705856"/>
            <a:ext cx="8458200" cy="420624"/>
          </a:xfrm>
          <a:prstGeom prst="roundRect">
            <a:avLst>
              <a:gd name="adj" fmla="val 10870"/>
            </a:avLst>
          </a:prstGeom>
          <a:solidFill>
            <a:srgbClr val="F8FBF9"/>
          </a:solidFill>
          <a:ln w="12700">
            <a:solidFill>
              <a:srgbClr val="217346"/>
            </a:solidFill>
            <a:prstDash val="solid"/>
          </a:ln>
        </p:spPr>
      </p:sp>
      <p:sp>
        <p:nvSpPr>
          <p:cNvPr id="82" name="Text 80"/>
          <p:cNvSpPr/>
          <p:nvPr/>
        </p:nvSpPr>
        <p:spPr>
          <a:xfrm>
            <a:off x="1975104" y="5788152"/>
            <a:ext cx="823874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Excel examples: =NORM.DIST(x, mean, stdev, FALSE)   |   =NORM.INV(p, mean, stdev)</a:t>
            </a:r>
            <a:endParaRPr lang="en-US" sz="1050" dirty="0"/>
          </a:p>
        </p:txBody>
      </p:sp>
      <p:sp>
        <p:nvSpPr>
          <p:cNvPr id="83"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Bernoulli and Binomial: natural distributions for “event / no event”</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Binary outcomes appear everywhere in banking: default, fraud flag, churn, approval, response.</a:t>
            </a:r>
            <a:endParaRPr lang="en-US" sz="1300" dirty="0"/>
          </a:p>
        </p:txBody>
      </p:sp>
      <p:sp>
        <p:nvSpPr>
          <p:cNvPr id="7" name="Shape 5"/>
          <p:cNvSpPr/>
          <p:nvPr/>
        </p:nvSpPr>
        <p:spPr>
          <a:xfrm>
            <a:off x="822960" y="1572768"/>
            <a:ext cx="4709160" cy="1901952"/>
          </a:xfrm>
          <a:prstGeom prst="roundRect">
            <a:avLst>
              <a:gd name="adj" fmla="val 3846"/>
            </a:avLst>
          </a:prstGeom>
          <a:solidFill>
            <a:srgbClr val="E6F7F5"/>
          </a:solidFill>
          <a:ln w="10160">
            <a:solidFill>
              <a:srgbClr val="E9EEF5"/>
            </a:solidFill>
            <a:prstDash val="solid"/>
          </a:ln>
        </p:spPr>
      </p:sp>
      <p:sp>
        <p:nvSpPr>
          <p:cNvPr id="8" name="Text 6"/>
          <p:cNvSpPr/>
          <p:nvPr/>
        </p:nvSpPr>
        <p:spPr>
          <a:xfrm>
            <a:off x="987552" y="1709928"/>
            <a:ext cx="43799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Bernoulli random variable</a:t>
            </a:r>
            <a:endParaRPr lang="en-US" sz="1500" dirty="0"/>
          </a:p>
        </p:txBody>
      </p:sp>
      <p:sp>
        <p:nvSpPr>
          <p:cNvPr id="9" name="Text 7"/>
          <p:cNvSpPr/>
          <p:nvPr/>
        </p:nvSpPr>
        <p:spPr>
          <a:xfrm>
            <a:off x="987552" y="2048256"/>
            <a:ext cx="4379976" cy="12984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One trial with two outcomes.</a:t>
            </a:r>
            <a:endParaRPr lang="en-US" sz="1150" dirty="0"/>
          </a:p>
          <a:p>
            <a:pPr marL="0" indent="0">
              <a:buNone/>
            </a:pPr>
            <a:endParaRPr lang="en-US" sz="1150" dirty="0"/>
          </a:p>
          <a:p>
            <a:pPr marL="0" indent="0">
              <a:buNone/>
            </a:pPr>
            <a:r>
              <a:rPr lang="en-US" sz="1150" dirty="0">
                <a:solidFill>
                  <a:srgbClr val="26364A"/>
                </a:solidFill>
              </a:rPr>
              <a:t>X = 1 with probability p</a:t>
            </a:r>
            <a:endParaRPr lang="en-US" sz="1150" dirty="0"/>
          </a:p>
          <a:p>
            <a:pPr marL="0" indent="0">
              <a:buNone/>
            </a:pPr>
            <a:r>
              <a:rPr lang="en-US" sz="1150" dirty="0">
                <a:solidFill>
                  <a:srgbClr val="26364A"/>
                </a:solidFill>
              </a:rPr>
              <a:t>X = 0 with probability 1 − p</a:t>
            </a:r>
            <a:endParaRPr lang="en-US" sz="1150" dirty="0"/>
          </a:p>
        </p:txBody>
      </p:sp>
      <p:sp>
        <p:nvSpPr>
          <p:cNvPr id="10" name="Shape 8"/>
          <p:cNvSpPr/>
          <p:nvPr/>
        </p:nvSpPr>
        <p:spPr>
          <a:xfrm>
            <a:off x="6492240" y="1572768"/>
            <a:ext cx="4709160" cy="1901952"/>
          </a:xfrm>
          <a:prstGeom prst="roundRect">
            <a:avLst>
              <a:gd name="adj" fmla="val 3846"/>
            </a:avLst>
          </a:prstGeom>
          <a:solidFill>
            <a:srgbClr val="EAF1FF"/>
          </a:solidFill>
          <a:ln w="10160">
            <a:solidFill>
              <a:srgbClr val="E9EEF5"/>
            </a:solidFill>
            <a:prstDash val="solid"/>
          </a:ln>
        </p:spPr>
      </p:sp>
      <p:sp>
        <p:nvSpPr>
          <p:cNvPr id="11" name="Text 9"/>
          <p:cNvSpPr/>
          <p:nvPr/>
        </p:nvSpPr>
        <p:spPr>
          <a:xfrm>
            <a:off x="6656832" y="1709928"/>
            <a:ext cx="437997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Binomial random variable</a:t>
            </a:r>
            <a:endParaRPr lang="en-US" sz="1500" dirty="0"/>
          </a:p>
        </p:txBody>
      </p:sp>
      <p:sp>
        <p:nvSpPr>
          <p:cNvPr id="12" name="Text 10"/>
          <p:cNvSpPr/>
          <p:nvPr/>
        </p:nvSpPr>
        <p:spPr>
          <a:xfrm>
            <a:off x="6656832" y="2048256"/>
            <a:ext cx="4379976" cy="12984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Counts how many “successes” occur in n comparable Bernoulli trials.</a:t>
            </a:r>
            <a:endParaRPr lang="en-US" sz="1150" dirty="0"/>
          </a:p>
          <a:p>
            <a:pPr marL="0" indent="0">
              <a:buNone/>
            </a:pPr>
            <a:endParaRPr lang="en-US" sz="1150" dirty="0"/>
          </a:p>
          <a:p>
            <a:pPr marL="0" indent="0">
              <a:buNone/>
            </a:pPr>
            <a:r>
              <a:rPr lang="en-US" sz="1150" dirty="0">
                <a:solidFill>
                  <a:srgbClr val="26364A"/>
                </a:solidFill>
              </a:rPr>
              <a:t>Example: number of defaults among 100 similar loans.</a:t>
            </a:r>
            <a:endParaRPr lang="en-US" sz="1150" dirty="0"/>
          </a:p>
        </p:txBody>
      </p:sp>
      <p:sp>
        <p:nvSpPr>
          <p:cNvPr id="13" name="Shape 11"/>
          <p:cNvSpPr/>
          <p:nvPr/>
        </p:nvSpPr>
        <p:spPr>
          <a:xfrm>
            <a:off x="5779008" y="2057400"/>
            <a:ext cx="475488" cy="914400"/>
          </a:xfrm>
          <a:prstGeom prst="chevron">
            <a:avLst/>
          </a:prstGeom>
          <a:solidFill>
            <a:srgbClr val="AEB8C5"/>
          </a:solidFill>
          <a:ln w="12700">
            <a:solidFill>
              <a:srgbClr val="AEB8C5"/>
            </a:solidFill>
            <a:prstDash val="solid"/>
          </a:ln>
        </p:spPr>
      </p:sp>
      <p:sp>
        <p:nvSpPr>
          <p:cNvPr id="14" name="Shape 12"/>
          <p:cNvSpPr/>
          <p:nvPr/>
        </p:nvSpPr>
        <p:spPr>
          <a:xfrm>
            <a:off x="1298448" y="5440680"/>
            <a:ext cx="3520440" cy="0"/>
          </a:xfrm>
          <a:prstGeom prst="line">
            <a:avLst/>
          </a:prstGeom>
          <a:noFill/>
          <a:ln w="12700">
            <a:solidFill>
              <a:srgbClr val="AEB8C5"/>
            </a:solidFill>
            <a:prstDash val="solid"/>
          </a:ln>
        </p:spPr>
      </p:sp>
      <p:sp>
        <p:nvSpPr>
          <p:cNvPr id="15" name="Shape 13"/>
          <p:cNvSpPr/>
          <p:nvPr/>
        </p:nvSpPr>
        <p:spPr>
          <a:xfrm>
            <a:off x="1298448" y="4297680"/>
            <a:ext cx="0" cy="1143000"/>
          </a:xfrm>
          <a:prstGeom prst="line">
            <a:avLst/>
          </a:prstGeom>
          <a:noFill/>
          <a:ln w="12700">
            <a:solidFill>
              <a:srgbClr val="AEB8C5"/>
            </a:solidFill>
            <a:prstDash val="solid"/>
          </a:ln>
        </p:spPr>
      </p:sp>
      <p:sp>
        <p:nvSpPr>
          <p:cNvPr id="16" name="Shape 14"/>
          <p:cNvSpPr/>
          <p:nvPr/>
        </p:nvSpPr>
        <p:spPr>
          <a:xfrm>
            <a:off x="1316736" y="4297680"/>
            <a:ext cx="1723644" cy="1143000"/>
          </a:xfrm>
          <a:prstGeom prst="rect">
            <a:avLst/>
          </a:prstGeom>
          <a:solidFill>
            <a:srgbClr val="009E9A">
              <a:alpha val="85000"/>
            </a:srgbClr>
          </a:solidFill>
          <a:ln w="6350">
            <a:solidFill>
              <a:srgbClr val="009E9A">
                <a:alpha val="85000"/>
              </a:srgbClr>
            </a:solidFill>
            <a:prstDash val="solid"/>
          </a:ln>
        </p:spPr>
      </p:sp>
      <p:sp>
        <p:nvSpPr>
          <p:cNvPr id="17" name="Shape 15"/>
          <p:cNvSpPr/>
          <p:nvPr/>
        </p:nvSpPr>
        <p:spPr>
          <a:xfrm>
            <a:off x="3076956" y="5154930"/>
            <a:ext cx="1723644" cy="285750"/>
          </a:xfrm>
          <a:prstGeom prst="rect">
            <a:avLst/>
          </a:prstGeom>
          <a:solidFill>
            <a:srgbClr val="009E9A">
              <a:alpha val="85000"/>
            </a:srgbClr>
          </a:solidFill>
          <a:ln w="6350">
            <a:solidFill>
              <a:srgbClr val="009E9A">
                <a:alpha val="85000"/>
              </a:srgbClr>
            </a:solidFill>
            <a:prstDash val="solid"/>
          </a:ln>
        </p:spPr>
      </p:sp>
      <p:sp>
        <p:nvSpPr>
          <p:cNvPr id="18" name="Text 16"/>
          <p:cNvSpPr/>
          <p:nvPr/>
        </p:nvSpPr>
        <p:spPr>
          <a:xfrm>
            <a:off x="1298448" y="5513832"/>
            <a:ext cx="3520440" cy="219456"/>
          </a:xfrm>
          <a:prstGeom prst="rect">
            <a:avLst/>
          </a:prstGeom>
          <a:noFill/>
          <a:ln/>
        </p:spPr>
        <p:txBody>
          <a:bodyPr wrap="square" lIns="0" tIns="0" rIns="0" bIns="0" rtlCol="0" anchor="ctr"/>
          <a:lstStyle/>
          <a:p>
            <a:pPr marL="0" indent="0" algn="ctr">
              <a:buNone/>
            </a:pPr>
            <a:r>
              <a:rPr lang="en-US" sz="1050" dirty="0">
                <a:solidFill>
                  <a:srgbClr val="667085"/>
                </a:solidFill>
              </a:rPr>
              <a:t>Bernoulli: one customer</a:t>
            </a:r>
            <a:endParaRPr lang="en-US" sz="1050" dirty="0"/>
          </a:p>
        </p:txBody>
      </p:sp>
      <p:sp>
        <p:nvSpPr>
          <p:cNvPr id="19" name="Shape 17"/>
          <p:cNvSpPr/>
          <p:nvPr/>
        </p:nvSpPr>
        <p:spPr>
          <a:xfrm>
            <a:off x="7086600" y="5440680"/>
            <a:ext cx="3520440" cy="0"/>
          </a:xfrm>
          <a:prstGeom prst="line">
            <a:avLst/>
          </a:prstGeom>
          <a:noFill/>
          <a:ln w="12700">
            <a:solidFill>
              <a:srgbClr val="AEB8C5"/>
            </a:solidFill>
            <a:prstDash val="solid"/>
          </a:ln>
        </p:spPr>
      </p:sp>
      <p:sp>
        <p:nvSpPr>
          <p:cNvPr id="20" name="Shape 18"/>
          <p:cNvSpPr/>
          <p:nvPr/>
        </p:nvSpPr>
        <p:spPr>
          <a:xfrm>
            <a:off x="7086600" y="4297680"/>
            <a:ext cx="0" cy="1143000"/>
          </a:xfrm>
          <a:prstGeom prst="line">
            <a:avLst/>
          </a:prstGeom>
          <a:noFill/>
          <a:ln w="12700">
            <a:solidFill>
              <a:srgbClr val="AEB8C5"/>
            </a:solidFill>
            <a:prstDash val="solid"/>
          </a:ln>
        </p:spPr>
      </p:sp>
      <p:sp>
        <p:nvSpPr>
          <p:cNvPr id="21" name="Shape 19"/>
          <p:cNvSpPr/>
          <p:nvPr/>
        </p:nvSpPr>
        <p:spPr>
          <a:xfrm>
            <a:off x="7104888" y="5313680"/>
            <a:ext cx="354584" cy="127000"/>
          </a:xfrm>
          <a:prstGeom prst="rect">
            <a:avLst/>
          </a:prstGeom>
          <a:solidFill>
            <a:srgbClr val="2F6BFF">
              <a:alpha val="85000"/>
            </a:srgbClr>
          </a:solidFill>
          <a:ln w="6350">
            <a:solidFill>
              <a:srgbClr val="2F6BFF">
                <a:alpha val="85000"/>
              </a:srgbClr>
            </a:solidFill>
            <a:prstDash val="solid"/>
          </a:ln>
        </p:spPr>
      </p:sp>
      <p:sp>
        <p:nvSpPr>
          <p:cNvPr id="22" name="Shape 20"/>
          <p:cNvSpPr/>
          <p:nvPr/>
        </p:nvSpPr>
        <p:spPr>
          <a:xfrm>
            <a:off x="7496048" y="5186680"/>
            <a:ext cx="354584" cy="254000"/>
          </a:xfrm>
          <a:prstGeom prst="rect">
            <a:avLst/>
          </a:prstGeom>
          <a:solidFill>
            <a:srgbClr val="2F6BFF">
              <a:alpha val="85000"/>
            </a:srgbClr>
          </a:solidFill>
          <a:ln w="6350">
            <a:solidFill>
              <a:srgbClr val="2F6BFF">
                <a:alpha val="85000"/>
              </a:srgbClr>
            </a:solidFill>
            <a:prstDash val="solid"/>
          </a:ln>
        </p:spPr>
      </p:sp>
      <p:sp>
        <p:nvSpPr>
          <p:cNvPr id="23" name="Shape 21"/>
          <p:cNvSpPr/>
          <p:nvPr/>
        </p:nvSpPr>
        <p:spPr>
          <a:xfrm>
            <a:off x="7887208" y="4932680"/>
            <a:ext cx="354584" cy="508000"/>
          </a:xfrm>
          <a:prstGeom prst="rect">
            <a:avLst/>
          </a:prstGeom>
          <a:solidFill>
            <a:srgbClr val="2F6BFF">
              <a:alpha val="85000"/>
            </a:srgbClr>
          </a:solidFill>
          <a:ln w="6350">
            <a:solidFill>
              <a:srgbClr val="2F6BFF">
                <a:alpha val="85000"/>
              </a:srgbClr>
            </a:solidFill>
            <a:prstDash val="solid"/>
          </a:ln>
        </p:spPr>
      </p:sp>
      <p:sp>
        <p:nvSpPr>
          <p:cNvPr id="24" name="Shape 22"/>
          <p:cNvSpPr/>
          <p:nvPr/>
        </p:nvSpPr>
        <p:spPr>
          <a:xfrm>
            <a:off x="8278368" y="4551680"/>
            <a:ext cx="354584" cy="889000"/>
          </a:xfrm>
          <a:prstGeom prst="rect">
            <a:avLst/>
          </a:prstGeom>
          <a:solidFill>
            <a:srgbClr val="2F6BFF">
              <a:alpha val="85000"/>
            </a:srgbClr>
          </a:solidFill>
          <a:ln w="6350">
            <a:solidFill>
              <a:srgbClr val="2F6BFF">
                <a:alpha val="85000"/>
              </a:srgbClr>
            </a:solidFill>
            <a:prstDash val="solid"/>
          </a:ln>
        </p:spPr>
      </p:sp>
      <p:sp>
        <p:nvSpPr>
          <p:cNvPr id="25" name="Shape 23"/>
          <p:cNvSpPr/>
          <p:nvPr/>
        </p:nvSpPr>
        <p:spPr>
          <a:xfrm>
            <a:off x="8669528" y="4297680"/>
            <a:ext cx="354584" cy="1143000"/>
          </a:xfrm>
          <a:prstGeom prst="rect">
            <a:avLst/>
          </a:prstGeom>
          <a:solidFill>
            <a:srgbClr val="2F6BFF">
              <a:alpha val="85000"/>
            </a:srgbClr>
          </a:solidFill>
          <a:ln w="6350">
            <a:solidFill>
              <a:srgbClr val="2F6BFF">
                <a:alpha val="85000"/>
              </a:srgbClr>
            </a:solidFill>
            <a:prstDash val="solid"/>
          </a:ln>
        </p:spPr>
      </p:sp>
      <p:sp>
        <p:nvSpPr>
          <p:cNvPr id="26" name="Shape 24"/>
          <p:cNvSpPr/>
          <p:nvPr/>
        </p:nvSpPr>
        <p:spPr>
          <a:xfrm>
            <a:off x="9060688" y="4551680"/>
            <a:ext cx="354584" cy="889000"/>
          </a:xfrm>
          <a:prstGeom prst="rect">
            <a:avLst/>
          </a:prstGeom>
          <a:solidFill>
            <a:srgbClr val="2F6BFF">
              <a:alpha val="85000"/>
            </a:srgbClr>
          </a:solidFill>
          <a:ln w="6350">
            <a:solidFill>
              <a:srgbClr val="2F6BFF">
                <a:alpha val="85000"/>
              </a:srgbClr>
            </a:solidFill>
            <a:prstDash val="solid"/>
          </a:ln>
        </p:spPr>
      </p:sp>
      <p:sp>
        <p:nvSpPr>
          <p:cNvPr id="27" name="Shape 25"/>
          <p:cNvSpPr/>
          <p:nvPr/>
        </p:nvSpPr>
        <p:spPr>
          <a:xfrm>
            <a:off x="9451848" y="4932680"/>
            <a:ext cx="354584" cy="508000"/>
          </a:xfrm>
          <a:prstGeom prst="rect">
            <a:avLst/>
          </a:prstGeom>
          <a:solidFill>
            <a:srgbClr val="2F6BFF">
              <a:alpha val="85000"/>
            </a:srgbClr>
          </a:solidFill>
          <a:ln w="6350">
            <a:solidFill>
              <a:srgbClr val="2F6BFF">
                <a:alpha val="85000"/>
              </a:srgbClr>
            </a:solidFill>
            <a:prstDash val="solid"/>
          </a:ln>
        </p:spPr>
      </p:sp>
      <p:sp>
        <p:nvSpPr>
          <p:cNvPr id="28" name="Shape 26"/>
          <p:cNvSpPr/>
          <p:nvPr/>
        </p:nvSpPr>
        <p:spPr>
          <a:xfrm>
            <a:off x="9843008" y="5186680"/>
            <a:ext cx="354584" cy="254000"/>
          </a:xfrm>
          <a:prstGeom prst="rect">
            <a:avLst/>
          </a:prstGeom>
          <a:solidFill>
            <a:srgbClr val="2F6BFF">
              <a:alpha val="85000"/>
            </a:srgbClr>
          </a:solidFill>
          <a:ln w="6350">
            <a:solidFill>
              <a:srgbClr val="2F6BFF">
                <a:alpha val="85000"/>
              </a:srgbClr>
            </a:solidFill>
            <a:prstDash val="solid"/>
          </a:ln>
        </p:spPr>
      </p:sp>
      <p:sp>
        <p:nvSpPr>
          <p:cNvPr id="29" name="Shape 27"/>
          <p:cNvSpPr/>
          <p:nvPr/>
        </p:nvSpPr>
        <p:spPr>
          <a:xfrm>
            <a:off x="10234168" y="5313680"/>
            <a:ext cx="354584" cy="127000"/>
          </a:xfrm>
          <a:prstGeom prst="rect">
            <a:avLst/>
          </a:prstGeom>
          <a:solidFill>
            <a:srgbClr val="2F6BFF">
              <a:alpha val="85000"/>
            </a:srgbClr>
          </a:solidFill>
          <a:ln w="6350">
            <a:solidFill>
              <a:srgbClr val="2F6BFF">
                <a:alpha val="85000"/>
              </a:srgbClr>
            </a:solidFill>
            <a:prstDash val="solid"/>
          </a:ln>
        </p:spPr>
      </p:sp>
      <p:sp>
        <p:nvSpPr>
          <p:cNvPr id="30" name="Text 28"/>
          <p:cNvSpPr/>
          <p:nvPr/>
        </p:nvSpPr>
        <p:spPr>
          <a:xfrm>
            <a:off x="6903720" y="5513832"/>
            <a:ext cx="3886200" cy="219456"/>
          </a:xfrm>
          <a:prstGeom prst="rect">
            <a:avLst/>
          </a:prstGeom>
          <a:noFill/>
          <a:ln/>
        </p:spPr>
        <p:txBody>
          <a:bodyPr wrap="square" lIns="0" tIns="0" rIns="0" bIns="0" rtlCol="0" anchor="ctr"/>
          <a:lstStyle/>
          <a:p>
            <a:pPr marL="0" indent="0" algn="ctr">
              <a:buNone/>
            </a:pPr>
            <a:r>
              <a:rPr lang="en-US" sz="1050" dirty="0">
                <a:solidFill>
                  <a:srgbClr val="667085"/>
                </a:solidFill>
              </a:rPr>
              <a:t>Binomial: count across many customers</a:t>
            </a:r>
            <a:endParaRPr lang="en-US" sz="1050" dirty="0"/>
          </a:p>
        </p:txBody>
      </p:sp>
      <p:sp>
        <p:nvSpPr>
          <p:cNvPr id="31"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Probability vs statistics: opposite directions of reasoning</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Probability starts from a model; statistics starts from data.</a:t>
            </a:r>
            <a:endParaRPr lang="en-US" sz="1300" dirty="0"/>
          </a:p>
        </p:txBody>
      </p:sp>
      <p:sp>
        <p:nvSpPr>
          <p:cNvPr id="7" name="Shape 5"/>
          <p:cNvSpPr/>
          <p:nvPr/>
        </p:nvSpPr>
        <p:spPr>
          <a:xfrm>
            <a:off x="804672" y="1508760"/>
            <a:ext cx="4800600" cy="3474720"/>
          </a:xfrm>
          <a:prstGeom prst="roundRect">
            <a:avLst>
              <a:gd name="adj" fmla="val 2105"/>
            </a:avLst>
          </a:prstGeom>
          <a:solidFill>
            <a:srgbClr val="EAF1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969264" y="1645920"/>
            <a:ext cx="44714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Probability</a:t>
            </a:r>
            <a:endParaRPr lang="en-US" sz="1500" dirty="0"/>
          </a:p>
        </p:txBody>
      </p:sp>
      <p:sp>
        <p:nvSpPr>
          <p:cNvPr id="9" name="Text 7"/>
          <p:cNvSpPr/>
          <p:nvPr/>
        </p:nvSpPr>
        <p:spPr>
          <a:xfrm>
            <a:off x="1325880" y="2194560"/>
            <a:ext cx="3566160" cy="347472"/>
          </a:xfrm>
          <a:prstGeom prst="rect">
            <a:avLst/>
          </a:prstGeom>
          <a:noFill/>
          <a:ln/>
        </p:spPr>
        <p:txBody>
          <a:bodyPr wrap="square" lIns="0" tIns="0" rIns="0" bIns="0" rtlCol="0" anchor="ctr"/>
          <a:lstStyle/>
          <a:p>
            <a:pPr marL="0" indent="0" algn="ctr">
              <a:buNone/>
            </a:pPr>
            <a:r>
              <a:rPr lang="en-US" sz="1700" b="1" dirty="0">
                <a:solidFill>
                  <a:srgbClr val="0B1F33"/>
                </a:solidFill>
              </a:rPr>
              <a:t>MODEL / assumptions</a:t>
            </a:r>
            <a:endParaRPr lang="en-US" sz="1700" dirty="0"/>
          </a:p>
        </p:txBody>
      </p:sp>
      <p:sp>
        <p:nvSpPr>
          <p:cNvPr id="10" name="Shape 8"/>
          <p:cNvSpPr/>
          <p:nvPr/>
        </p:nvSpPr>
        <p:spPr>
          <a:xfrm>
            <a:off x="2487168" y="2697480"/>
            <a:ext cx="1143000" cy="841248"/>
          </a:xfrm>
          <a:prstGeom prst="downArrow">
            <a:avLst/>
          </a:prstGeom>
          <a:solidFill>
            <a:srgbClr val="2F6BFF"/>
          </a:solidFill>
          <a:ln w="12700">
            <a:solidFill>
              <a:srgbClr val="2F6BFF"/>
            </a:solidFill>
            <a:prstDash val="solid"/>
          </a:ln>
        </p:spPr>
      </p:sp>
      <p:sp>
        <p:nvSpPr>
          <p:cNvPr id="11" name="Text 9"/>
          <p:cNvSpPr/>
          <p:nvPr/>
        </p:nvSpPr>
        <p:spPr>
          <a:xfrm>
            <a:off x="1325880" y="3767328"/>
            <a:ext cx="3566160" cy="347472"/>
          </a:xfrm>
          <a:prstGeom prst="rect">
            <a:avLst/>
          </a:prstGeom>
          <a:noFill/>
          <a:ln/>
        </p:spPr>
        <p:txBody>
          <a:bodyPr wrap="square" lIns="0" tIns="0" rIns="0" bIns="0" rtlCol="0" anchor="ctr"/>
          <a:lstStyle/>
          <a:p>
            <a:pPr marL="0" indent="0" algn="ctr">
              <a:buNone/>
            </a:pPr>
            <a:r>
              <a:rPr lang="en-US" sz="1700" b="1" dirty="0">
                <a:solidFill>
                  <a:srgbClr val="0B1F33"/>
                </a:solidFill>
              </a:rPr>
              <a:t>Possible data / outcomes</a:t>
            </a:r>
            <a:endParaRPr lang="en-US" sz="1700" dirty="0"/>
          </a:p>
        </p:txBody>
      </p:sp>
      <p:sp>
        <p:nvSpPr>
          <p:cNvPr id="12" name="Shape 10"/>
          <p:cNvSpPr/>
          <p:nvPr/>
        </p:nvSpPr>
        <p:spPr>
          <a:xfrm>
            <a:off x="6565392" y="1508760"/>
            <a:ext cx="4800600" cy="3474720"/>
          </a:xfrm>
          <a:prstGeom prst="roundRect">
            <a:avLst>
              <a:gd name="adj" fmla="val 2105"/>
            </a:avLst>
          </a:prstGeom>
          <a:solidFill>
            <a:srgbClr val="E6F7F5"/>
          </a:solidFill>
          <a:ln w="10160">
            <a:solidFill>
              <a:srgbClr val="E9EEF5"/>
            </a:solidFill>
            <a:prstDash val="solid"/>
          </a:ln>
          <a:effectLst>
            <a:outerShdw blurRad="25400" dist="50800" dir="2700000" algn="bl" rotWithShape="0">
              <a:srgbClr val="B9C4D1">
                <a:alpha val="15000"/>
              </a:srgbClr>
            </a:outerShdw>
          </a:effectLst>
        </p:spPr>
      </p:sp>
      <p:sp>
        <p:nvSpPr>
          <p:cNvPr id="13" name="Text 11"/>
          <p:cNvSpPr/>
          <p:nvPr/>
        </p:nvSpPr>
        <p:spPr>
          <a:xfrm>
            <a:off x="6729984" y="1645920"/>
            <a:ext cx="44714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Statistics</a:t>
            </a:r>
            <a:endParaRPr lang="en-US" sz="1500" dirty="0"/>
          </a:p>
        </p:txBody>
      </p:sp>
      <p:sp>
        <p:nvSpPr>
          <p:cNvPr id="14" name="Text 12"/>
          <p:cNvSpPr/>
          <p:nvPr/>
        </p:nvSpPr>
        <p:spPr>
          <a:xfrm>
            <a:off x="7132320" y="2194560"/>
            <a:ext cx="3566160" cy="347472"/>
          </a:xfrm>
          <a:prstGeom prst="rect">
            <a:avLst/>
          </a:prstGeom>
          <a:noFill/>
          <a:ln/>
        </p:spPr>
        <p:txBody>
          <a:bodyPr wrap="square" lIns="0" tIns="0" rIns="0" bIns="0" rtlCol="0" anchor="ctr"/>
          <a:lstStyle/>
          <a:p>
            <a:pPr marL="0" indent="0" algn="ctr">
              <a:buNone/>
            </a:pPr>
            <a:r>
              <a:rPr lang="en-US" sz="1700" b="1" dirty="0">
                <a:solidFill>
                  <a:srgbClr val="0B1F33"/>
                </a:solidFill>
              </a:rPr>
              <a:t>OBSERVED DATA</a:t>
            </a:r>
            <a:endParaRPr lang="en-US" sz="1700" dirty="0"/>
          </a:p>
        </p:txBody>
      </p:sp>
      <p:sp>
        <p:nvSpPr>
          <p:cNvPr id="15" name="Shape 13"/>
          <p:cNvSpPr/>
          <p:nvPr/>
        </p:nvSpPr>
        <p:spPr>
          <a:xfrm>
            <a:off x="8293608" y="2697480"/>
            <a:ext cx="1143000" cy="841248"/>
          </a:xfrm>
          <a:prstGeom prst="upArrow">
            <a:avLst/>
          </a:prstGeom>
          <a:solidFill>
            <a:srgbClr val="009E9A"/>
          </a:solidFill>
          <a:ln w="12700">
            <a:solidFill>
              <a:srgbClr val="009E9A"/>
            </a:solidFill>
            <a:prstDash val="solid"/>
          </a:ln>
        </p:spPr>
      </p:sp>
      <p:sp>
        <p:nvSpPr>
          <p:cNvPr id="16" name="Text 14"/>
          <p:cNvSpPr/>
          <p:nvPr/>
        </p:nvSpPr>
        <p:spPr>
          <a:xfrm>
            <a:off x="7040880" y="3767328"/>
            <a:ext cx="3749040" cy="347472"/>
          </a:xfrm>
          <a:prstGeom prst="rect">
            <a:avLst/>
          </a:prstGeom>
          <a:noFill/>
          <a:ln/>
        </p:spPr>
        <p:txBody>
          <a:bodyPr wrap="square" lIns="0" tIns="0" rIns="0" bIns="0" rtlCol="0" anchor="ctr"/>
          <a:lstStyle/>
          <a:p>
            <a:pPr marL="0" indent="0" algn="ctr">
              <a:buNone/>
            </a:pPr>
            <a:r>
              <a:rPr lang="en-US" sz="1700" b="1" dirty="0">
                <a:solidFill>
                  <a:srgbClr val="0B1F33"/>
                </a:solidFill>
              </a:rPr>
              <a:t>Model / parameters / inference</a:t>
            </a:r>
            <a:endParaRPr lang="en-US" sz="1700" dirty="0"/>
          </a:p>
        </p:txBody>
      </p:sp>
      <p:sp>
        <p:nvSpPr>
          <p:cNvPr id="17" name="Shape 15"/>
          <p:cNvSpPr/>
          <p:nvPr/>
        </p:nvSpPr>
        <p:spPr>
          <a:xfrm>
            <a:off x="1325880" y="5394960"/>
            <a:ext cx="9555480" cy="566928"/>
          </a:xfrm>
          <a:prstGeom prst="roundRect">
            <a:avLst>
              <a:gd name="adj" fmla="val 8065"/>
            </a:avLst>
          </a:prstGeom>
          <a:solidFill>
            <a:srgbClr val="FFFFFF"/>
          </a:solidFill>
          <a:ln w="15240">
            <a:solidFill>
              <a:srgbClr val="7A5AF8"/>
            </a:solidFill>
            <a:prstDash val="solid"/>
          </a:ln>
        </p:spPr>
      </p:sp>
      <p:sp>
        <p:nvSpPr>
          <p:cNvPr id="18" name="Shape 16"/>
          <p:cNvSpPr/>
          <p:nvPr/>
        </p:nvSpPr>
        <p:spPr>
          <a:xfrm>
            <a:off x="1325880" y="5394960"/>
            <a:ext cx="73152" cy="566928"/>
          </a:xfrm>
          <a:prstGeom prst="rect">
            <a:avLst/>
          </a:prstGeom>
          <a:solidFill>
            <a:srgbClr val="7A5AF8"/>
          </a:solidFill>
          <a:ln w="12700">
            <a:solidFill>
              <a:srgbClr val="7A5AF8"/>
            </a:solidFill>
            <a:prstDash val="solid"/>
          </a:ln>
        </p:spPr>
      </p:sp>
      <p:sp>
        <p:nvSpPr>
          <p:cNvPr id="19" name="Text 17"/>
          <p:cNvSpPr/>
          <p:nvPr/>
        </p:nvSpPr>
        <p:spPr>
          <a:xfrm>
            <a:off x="1490472" y="5504688"/>
            <a:ext cx="9299448" cy="347472"/>
          </a:xfrm>
          <a:prstGeom prst="rect">
            <a:avLst/>
          </a:prstGeom>
          <a:noFill/>
          <a:ln/>
        </p:spPr>
        <p:txBody>
          <a:bodyPr wrap="square" lIns="0" tIns="0" rIns="0" bIns="0" rtlCol="0" anchor="ctr">
            <a:normAutofit/>
          </a:bodyPr>
          <a:lstStyle/>
          <a:p>
            <a:pPr marL="0" indent="0">
              <a:buNone/>
            </a:pPr>
            <a:r>
              <a:rPr lang="en-US" sz="1150" b="1" dirty="0">
                <a:solidFill>
                  <a:srgbClr val="0B1F33"/>
                </a:solidFill>
              </a:rPr>
              <a:t>EDA sits mainly on the statistics side: use observed data to learn what is plausible, typical and suspicious.</a:t>
            </a:r>
            <a:endParaRPr lang="en-US" sz="1150" dirty="0"/>
          </a:p>
        </p:txBody>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04 · PROBABILITY &amp; STATISTICS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Sampling and uncertainty: a sample is not the population</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Any estimate from a sample varies from sample to sample. Statistical thinking quantifies that uncertainty.</a:t>
            </a:r>
            <a:endParaRPr lang="en-US" sz="1300" dirty="0"/>
          </a:p>
        </p:txBody>
      </p:sp>
      <p:sp>
        <p:nvSpPr>
          <p:cNvPr id="7" name="Text 5"/>
          <p:cNvSpPr/>
          <p:nvPr/>
        </p:nvSpPr>
        <p:spPr>
          <a:xfrm>
            <a:off x="822960" y="1554480"/>
            <a:ext cx="2011680" cy="292608"/>
          </a:xfrm>
          <a:prstGeom prst="rect">
            <a:avLst/>
          </a:prstGeom>
          <a:noFill/>
          <a:ln/>
        </p:spPr>
        <p:txBody>
          <a:bodyPr wrap="square" lIns="0" tIns="0" rIns="0" bIns="0" rtlCol="0" anchor="ctr"/>
          <a:lstStyle/>
          <a:p>
            <a:pPr marL="0" indent="0">
              <a:buNone/>
            </a:pPr>
            <a:r>
              <a:rPr lang="en-US" sz="1500" b="1" dirty="0">
                <a:solidFill>
                  <a:srgbClr val="0B1F33"/>
                </a:solidFill>
              </a:rPr>
              <a:t>Population</a:t>
            </a:r>
            <a:endParaRPr lang="en-US" sz="1500" dirty="0"/>
          </a:p>
        </p:txBody>
      </p:sp>
      <p:sp>
        <p:nvSpPr>
          <p:cNvPr id="8" name="Shape 6"/>
          <p:cNvSpPr/>
          <p:nvPr/>
        </p:nvSpPr>
        <p:spPr>
          <a:xfrm>
            <a:off x="868680" y="2011680"/>
            <a:ext cx="91440" cy="91440"/>
          </a:xfrm>
          <a:prstGeom prst="ellipse">
            <a:avLst/>
          </a:prstGeom>
          <a:solidFill>
            <a:srgbClr val="F59E0B">
              <a:alpha val="85000"/>
            </a:srgbClr>
          </a:solidFill>
          <a:ln w="12700">
            <a:solidFill>
              <a:srgbClr val="FFFFFF"/>
            </a:solidFill>
            <a:prstDash val="solid"/>
          </a:ln>
        </p:spPr>
      </p:sp>
      <p:sp>
        <p:nvSpPr>
          <p:cNvPr id="9" name="Shape 7"/>
          <p:cNvSpPr/>
          <p:nvPr/>
        </p:nvSpPr>
        <p:spPr>
          <a:xfrm>
            <a:off x="1088136" y="2011680"/>
            <a:ext cx="91440" cy="91440"/>
          </a:xfrm>
          <a:prstGeom prst="ellipse">
            <a:avLst/>
          </a:prstGeom>
          <a:solidFill>
            <a:srgbClr val="2F6BFF">
              <a:alpha val="85000"/>
            </a:srgbClr>
          </a:solidFill>
          <a:ln w="12700">
            <a:solidFill>
              <a:srgbClr val="FFFFFF"/>
            </a:solidFill>
            <a:prstDash val="solid"/>
          </a:ln>
        </p:spPr>
      </p:sp>
      <p:sp>
        <p:nvSpPr>
          <p:cNvPr id="10" name="Shape 8"/>
          <p:cNvSpPr/>
          <p:nvPr/>
        </p:nvSpPr>
        <p:spPr>
          <a:xfrm>
            <a:off x="1307592" y="2011680"/>
            <a:ext cx="91440" cy="91440"/>
          </a:xfrm>
          <a:prstGeom prst="ellipse">
            <a:avLst/>
          </a:prstGeom>
          <a:solidFill>
            <a:srgbClr val="2F6BFF">
              <a:alpha val="85000"/>
            </a:srgbClr>
          </a:solidFill>
          <a:ln w="12700">
            <a:solidFill>
              <a:srgbClr val="FFFFFF"/>
            </a:solidFill>
            <a:prstDash val="solid"/>
          </a:ln>
        </p:spPr>
      </p:sp>
      <p:sp>
        <p:nvSpPr>
          <p:cNvPr id="11" name="Shape 9"/>
          <p:cNvSpPr/>
          <p:nvPr/>
        </p:nvSpPr>
        <p:spPr>
          <a:xfrm>
            <a:off x="1527048" y="2011680"/>
            <a:ext cx="91440" cy="91440"/>
          </a:xfrm>
          <a:prstGeom prst="ellipse">
            <a:avLst/>
          </a:prstGeom>
          <a:solidFill>
            <a:srgbClr val="2F6BFF">
              <a:alpha val="85000"/>
            </a:srgbClr>
          </a:solidFill>
          <a:ln w="12700">
            <a:solidFill>
              <a:srgbClr val="FFFFFF"/>
            </a:solidFill>
            <a:prstDash val="solid"/>
          </a:ln>
        </p:spPr>
      </p:sp>
      <p:sp>
        <p:nvSpPr>
          <p:cNvPr id="12" name="Shape 10"/>
          <p:cNvSpPr/>
          <p:nvPr/>
        </p:nvSpPr>
        <p:spPr>
          <a:xfrm>
            <a:off x="1746504" y="2011680"/>
            <a:ext cx="91440" cy="91440"/>
          </a:xfrm>
          <a:prstGeom prst="ellipse">
            <a:avLst/>
          </a:prstGeom>
          <a:solidFill>
            <a:srgbClr val="2F6BFF">
              <a:alpha val="85000"/>
            </a:srgbClr>
          </a:solidFill>
          <a:ln w="12700">
            <a:solidFill>
              <a:srgbClr val="FFFFFF"/>
            </a:solidFill>
            <a:prstDash val="solid"/>
          </a:ln>
        </p:spPr>
      </p:sp>
      <p:sp>
        <p:nvSpPr>
          <p:cNvPr id="13" name="Shape 11"/>
          <p:cNvSpPr/>
          <p:nvPr/>
        </p:nvSpPr>
        <p:spPr>
          <a:xfrm>
            <a:off x="1965960" y="2011680"/>
            <a:ext cx="91440" cy="91440"/>
          </a:xfrm>
          <a:prstGeom prst="ellipse">
            <a:avLst/>
          </a:prstGeom>
          <a:solidFill>
            <a:srgbClr val="2F6BFF">
              <a:alpha val="85000"/>
            </a:srgbClr>
          </a:solidFill>
          <a:ln w="12700">
            <a:solidFill>
              <a:srgbClr val="FFFFFF"/>
            </a:solidFill>
            <a:prstDash val="solid"/>
          </a:ln>
        </p:spPr>
      </p:sp>
      <p:sp>
        <p:nvSpPr>
          <p:cNvPr id="14" name="Shape 12"/>
          <p:cNvSpPr/>
          <p:nvPr/>
        </p:nvSpPr>
        <p:spPr>
          <a:xfrm>
            <a:off x="2185416" y="2011680"/>
            <a:ext cx="91440" cy="91440"/>
          </a:xfrm>
          <a:prstGeom prst="ellipse">
            <a:avLst/>
          </a:prstGeom>
          <a:solidFill>
            <a:srgbClr val="2F6BFF">
              <a:alpha val="85000"/>
            </a:srgbClr>
          </a:solidFill>
          <a:ln w="12700">
            <a:solidFill>
              <a:srgbClr val="FFFFFF"/>
            </a:solidFill>
            <a:prstDash val="solid"/>
          </a:ln>
        </p:spPr>
      </p:sp>
      <p:sp>
        <p:nvSpPr>
          <p:cNvPr id="15" name="Shape 13"/>
          <p:cNvSpPr/>
          <p:nvPr/>
        </p:nvSpPr>
        <p:spPr>
          <a:xfrm>
            <a:off x="2404872" y="2011680"/>
            <a:ext cx="91440" cy="91440"/>
          </a:xfrm>
          <a:prstGeom prst="ellipse">
            <a:avLst/>
          </a:prstGeom>
          <a:solidFill>
            <a:srgbClr val="F59E0B">
              <a:alpha val="85000"/>
            </a:srgbClr>
          </a:solidFill>
          <a:ln w="12700">
            <a:solidFill>
              <a:srgbClr val="FFFFFF"/>
            </a:solidFill>
            <a:prstDash val="solid"/>
          </a:ln>
        </p:spPr>
      </p:sp>
      <p:sp>
        <p:nvSpPr>
          <p:cNvPr id="16" name="Shape 14"/>
          <p:cNvSpPr/>
          <p:nvPr/>
        </p:nvSpPr>
        <p:spPr>
          <a:xfrm>
            <a:off x="2624328" y="2011680"/>
            <a:ext cx="91440" cy="91440"/>
          </a:xfrm>
          <a:prstGeom prst="ellipse">
            <a:avLst/>
          </a:prstGeom>
          <a:solidFill>
            <a:srgbClr val="2F6BFF">
              <a:alpha val="85000"/>
            </a:srgbClr>
          </a:solidFill>
          <a:ln w="12700">
            <a:solidFill>
              <a:srgbClr val="FFFFFF"/>
            </a:solidFill>
            <a:prstDash val="solid"/>
          </a:ln>
        </p:spPr>
      </p:sp>
      <p:sp>
        <p:nvSpPr>
          <p:cNvPr id="17" name="Shape 15"/>
          <p:cNvSpPr/>
          <p:nvPr/>
        </p:nvSpPr>
        <p:spPr>
          <a:xfrm>
            <a:off x="2843784" y="2011680"/>
            <a:ext cx="91440" cy="91440"/>
          </a:xfrm>
          <a:prstGeom prst="ellipse">
            <a:avLst/>
          </a:prstGeom>
          <a:solidFill>
            <a:srgbClr val="2F6BFF">
              <a:alpha val="85000"/>
            </a:srgbClr>
          </a:solidFill>
          <a:ln w="12700">
            <a:solidFill>
              <a:srgbClr val="FFFFFF"/>
            </a:solidFill>
            <a:prstDash val="solid"/>
          </a:ln>
        </p:spPr>
      </p:sp>
      <p:sp>
        <p:nvSpPr>
          <p:cNvPr id="18" name="Shape 16"/>
          <p:cNvSpPr/>
          <p:nvPr/>
        </p:nvSpPr>
        <p:spPr>
          <a:xfrm>
            <a:off x="3063240" y="2011680"/>
            <a:ext cx="91440" cy="91440"/>
          </a:xfrm>
          <a:prstGeom prst="ellipse">
            <a:avLst/>
          </a:prstGeom>
          <a:solidFill>
            <a:srgbClr val="2F6BFF">
              <a:alpha val="85000"/>
            </a:srgbClr>
          </a:solidFill>
          <a:ln w="12700">
            <a:solidFill>
              <a:srgbClr val="FFFFFF"/>
            </a:solidFill>
            <a:prstDash val="solid"/>
          </a:ln>
        </p:spPr>
      </p:sp>
      <p:sp>
        <p:nvSpPr>
          <p:cNvPr id="19" name="Shape 17"/>
          <p:cNvSpPr/>
          <p:nvPr/>
        </p:nvSpPr>
        <p:spPr>
          <a:xfrm>
            <a:off x="3282696" y="2011680"/>
            <a:ext cx="91440" cy="91440"/>
          </a:xfrm>
          <a:prstGeom prst="ellipse">
            <a:avLst/>
          </a:prstGeom>
          <a:solidFill>
            <a:srgbClr val="2F6BFF">
              <a:alpha val="85000"/>
            </a:srgbClr>
          </a:solidFill>
          <a:ln w="12700">
            <a:solidFill>
              <a:srgbClr val="FFFFFF"/>
            </a:solidFill>
            <a:prstDash val="solid"/>
          </a:ln>
        </p:spPr>
      </p:sp>
      <p:sp>
        <p:nvSpPr>
          <p:cNvPr id="20" name="Shape 18"/>
          <p:cNvSpPr/>
          <p:nvPr/>
        </p:nvSpPr>
        <p:spPr>
          <a:xfrm>
            <a:off x="3502152" y="2011680"/>
            <a:ext cx="91440" cy="91440"/>
          </a:xfrm>
          <a:prstGeom prst="ellipse">
            <a:avLst/>
          </a:prstGeom>
          <a:solidFill>
            <a:srgbClr val="2F6BFF">
              <a:alpha val="85000"/>
            </a:srgbClr>
          </a:solidFill>
          <a:ln w="12700">
            <a:solidFill>
              <a:srgbClr val="FFFFFF"/>
            </a:solidFill>
            <a:prstDash val="solid"/>
          </a:ln>
        </p:spPr>
      </p:sp>
      <p:sp>
        <p:nvSpPr>
          <p:cNvPr id="21" name="Shape 19"/>
          <p:cNvSpPr/>
          <p:nvPr/>
        </p:nvSpPr>
        <p:spPr>
          <a:xfrm>
            <a:off x="3721608" y="2011680"/>
            <a:ext cx="91440" cy="91440"/>
          </a:xfrm>
          <a:prstGeom prst="ellipse">
            <a:avLst/>
          </a:prstGeom>
          <a:solidFill>
            <a:srgbClr val="2F6BFF">
              <a:alpha val="85000"/>
            </a:srgbClr>
          </a:solidFill>
          <a:ln w="12700">
            <a:solidFill>
              <a:srgbClr val="FFFFFF"/>
            </a:solidFill>
            <a:prstDash val="solid"/>
          </a:ln>
        </p:spPr>
      </p:sp>
      <p:sp>
        <p:nvSpPr>
          <p:cNvPr id="22" name="Shape 20"/>
          <p:cNvSpPr/>
          <p:nvPr/>
        </p:nvSpPr>
        <p:spPr>
          <a:xfrm>
            <a:off x="868680" y="2313432"/>
            <a:ext cx="91440" cy="91440"/>
          </a:xfrm>
          <a:prstGeom prst="ellipse">
            <a:avLst/>
          </a:prstGeom>
          <a:solidFill>
            <a:srgbClr val="F59E0B">
              <a:alpha val="85000"/>
            </a:srgbClr>
          </a:solidFill>
          <a:ln w="12700">
            <a:solidFill>
              <a:srgbClr val="FFFFFF"/>
            </a:solidFill>
            <a:prstDash val="solid"/>
          </a:ln>
        </p:spPr>
      </p:sp>
      <p:sp>
        <p:nvSpPr>
          <p:cNvPr id="23" name="Shape 21"/>
          <p:cNvSpPr/>
          <p:nvPr/>
        </p:nvSpPr>
        <p:spPr>
          <a:xfrm>
            <a:off x="1088136" y="2313432"/>
            <a:ext cx="91440" cy="91440"/>
          </a:xfrm>
          <a:prstGeom prst="ellipse">
            <a:avLst/>
          </a:prstGeom>
          <a:solidFill>
            <a:srgbClr val="2F6BFF">
              <a:alpha val="85000"/>
            </a:srgbClr>
          </a:solidFill>
          <a:ln w="12700">
            <a:solidFill>
              <a:srgbClr val="FFFFFF"/>
            </a:solidFill>
            <a:prstDash val="solid"/>
          </a:ln>
        </p:spPr>
      </p:sp>
      <p:sp>
        <p:nvSpPr>
          <p:cNvPr id="24" name="Shape 22"/>
          <p:cNvSpPr/>
          <p:nvPr/>
        </p:nvSpPr>
        <p:spPr>
          <a:xfrm>
            <a:off x="1307592" y="2313432"/>
            <a:ext cx="91440" cy="91440"/>
          </a:xfrm>
          <a:prstGeom prst="ellipse">
            <a:avLst/>
          </a:prstGeom>
          <a:solidFill>
            <a:srgbClr val="2F6BFF">
              <a:alpha val="85000"/>
            </a:srgbClr>
          </a:solidFill>
          <a:ln w="12700">
            <a:solidFill>
              <a:srgbClr val="FFFFFF"/>
            </a:solidFill>
            <a:prstDash val="solid"/>
          </a:ln>
        </p:spPr>
      </p:sp>
      <p:sp>
        <p:nvSpPr>
          <p:cNvPr id="25" name="Shape 23"/>
          <p:cNvSpPr/>
          <p:nvPr/>
        </p:nvSpPr>
        <p:spPr>
          <a:xfrm>
            <a:off x="1527048" y="2313432"/>
            <a:ext cx="91440" cy="91440"/>
          </a:xfrm>
          <a:prstGeom prst="ellipse">
            <a:avLst/>
          </a:prstGeom>
          <a:solidFill>
            <a:srgbClr val="2F6BFF">
              <a:alpha val="85000"/>
            </a:srgbClr>
          </a:solidFill>
          <a:ln w="12700">
            <a:solidFill>
              <a:srgbClr val="FFFFFF"/>
            </a:solidFill>
            <a:prstDash val="solid"/>
          </a:ln>
        </p:spPr>
      </p:sp>
      <p:sp>
        <p:nvSpPr>
          <p:cNvPr id="26" name="Shape 24"/>
          <p:cNvSpPr/>
          <p:nvPr/>
        </p:nvSpPr>
        <p:spPr>
          <a:xfrm>
            <a:off x="1746504" y="2313432"/>
            <a:ext cx="91440" cy="91440"/>
          </a:xfrm>
          <a:prstGeom prst="ellipse">
            <a:avLst/>
          </a:prstGeom>
          <a:solidFill>
            <a:srgbClr val="2F6BFF">
              <a:alpha val="85000"/>
            </a:srgbClr>
          </a:solidFill>
          <a:ln w="12700">
            <a:solidFill>
              <a:srgbClr val="FFFFFF"/>
            </a:solidFill>
            <a:prstDash val="solid"/>
          </a:ln>
        </p:spPr>
      </p:sp>
      <p:sp>
        <p:nvSpPr>
          <p:cNvPr id="27" name="Shape 25"/>
          <p:cNvSpPr/>
          <p:nvPr/>
        </p:nvSpPr>
        <p:spPr>
          <a:xfrm>
            <a:off x="1965960" y="2313432"/>
            <a:ext cx="91440" cy="91440"/>
          </a:xfrm>
          <a:prstGeom prst="ellipse">
            <a:avLst/>
          </a:prstGeom>
          <a:solidFill>
            <a:srgbClr val="2F6BFF">
              <a:alpha val="85000"/>
            </a:srgbClr>
          </a:solidFill>
          <a:ln w="12700">
            <a:solidFill>
              <a:srgbClr val="FFFFFF"/>
            </a:solidFill>
            <a:prstDash val="solid"/>
          </a:ln>
        </p:spPr>
      </p:sp>
      <p:sp>
        <p:nvSpPr>
          <p:cNvPr id="28" name="Shape 26"/>
          <p:cNvSpPr/>
          <p:nvPr/>
        </p:nvSpPr>
        <p:spPr>
          <a:xfrm>
            <a:off x="2185416" y="2313432"/>
            <a:ext cx="91440" cy="91440"/>
          </a:xfrm>
          <a:prstGeom prst="ellipse">
            <a:avLst/>
          </a:prstGeom>
          <a:solidFill>
            <a:srgbClr val="2F6BFF">
              <a:alpha val="85000"/>
            </a:srgbClr>
          </a:solidFill>
          <a:ln w="12700">
            <a:solidFill>
              <a:srgbClr val="FFFFFF"/>
            </a:solidFill>
            <a:prstDash val="solid"/>
          </a:ln>
        </p:spPr>
      </p:sp>
      <p:sp>
        <p:nvSpPr>
          <p:cNvPr id="29" name="Shape 27"/>
          <p:cNvSpPr/>
          <p:nvPr/>
        </p:nvSpPr>
        <p:spPr>
          <a:xfrm>
            <a:off x="2404872" y="2313432"/>
            <a:ext cx="91440" cy="91440"/>
          </a:xfrm>
          <a:prstGeom prst="ellipse">
            <a:avLst/>
          </a:prstGeom>
          <a:solidFill>
            <a:srgbClr val="F59E0B">
              <a:alpha val="85000"/>
            </a:srgbClr>
          </a:solidFill>
          <a:ln w="12700">
            <a:solidFill>
              <a:srgbClr val="FFFFFF"/>
            </a:solidFill>
            <a:prstDash val="solid"/>
          </a:ln>
        </p:spPr>
      </p:sp>
      <p:sp>
        <p:nvSpPr>
          <p:cNvPr id="30" name="Shape 28"/>
          <p:cNvSpPr/>
          <p:nvPr/>
        </p:nvSpPr>
        <p:spPr>
          <a:xfrm>
            <a:off x="2624328" y="2313432"/>
            <a:ext cx="91440" cy="91440"/>
          </a:xfrm>
          <a:prstGeom prst="ellipse">
            <a:avLst/>
          </a:prstGeom>
          <a:solidFill>
            <a:srgbClr val="2F6BFF">
              <a:alpha val="85000"/>
            </a:srgbClr>
          </a:solidFill>
          <a:ln w="12700">
            <a:solidFill>
              <a:srgbClr val="FFFFFF"/>
            </a:solidFill>
            <a:prstDash val="solid"/>
          </a:ln>
        </p:spPr>
      </p:sp>
      <p:sp>
        <p:nvSpPr>
          <p:cNvPr id="31" name="Shape 29"/>
          <p:cNvSpPr/>
          <p:nvPr/>
        </p:nvSpPr>
        <p:spPr>
          <a:xfrm>
            <a:off x="2843784" y="2313432"/>
            <a:ext cx="91440" cy="91440"/>
          </a:xfrm>
          <a:prstGeom prst="ellipse">
            <a:avLst/>
          </a:prstGeom>
          <a:solidFill>
            <a:srgbClr val="2F6BFF">
              <a:alpha val="85000"/>
            </a:srgbClr>
          </a:solidFill>
          <a:ln w="12700">
            <a:solidFill>
              <a:srgbClr val="FFFFFF"/>
            </a:solidFill>
            <a:prstDash val="solid"/>
          </a:ln>
        </p:spPr>
      </p:sp>
      <p:sp>
        <p:nvSpPr>
          <p:cNvPr id="32" name="Shape 30"/>
          <p:cNvSpPr/>
          <p:nvPr/>
        </p:nvSpPr>
        <p:spPr>
          <a:xfrm>
            <a:off x="3063240" y="2313432"/>
            <a:ext cx="91440" cy="91440"/>
          </a:xfrm>
          <a:prstGeom prst="ellipse">
            <a:avLst/>
          </a:prstGeom>
          <a:solidFill>
            <a:srgbClr val="2F6BFF">
              <a:alpha val="85000"/>
            </a:srgbClr>
          </a:solidFill>
          <a:ln w="12700">
            <a:solidFill>
              <a:srgbClr val="FFFFFF"/>
            </a:solidFill>
            <a:prstDash val="solid"/>
          </a:ln>
        </p:spPr>
      </p:sp>
      <p:sp>
        <p:nvSpPr>
          <p:cNvPr id="33" name="Shape 31"/>
          <p:cNvSpPr/>
          <p:nvPr/>
        </p:nvSpPr>
        <p:spPr>
          <a:xfrm>
            <a:off x="3282696" y="2313432"/>
            <a:ext cx="91440" cy="91440"/>
          </a:xfrm>
          <a:prstGeom prst="ellipse">
            <a:avLst/>
          </a:prstGeom>
          <a:solidFill>
            <a:srgbClr val="2F6BFF">
              <a:alpha val="85000"/>
            </a:srgbClr>
          </a:solidFill>
          <a:ln w="12700">
            <a:solidFill>
              <a:srgbClr val="FFFFFF"/>
            </a:solidFill>
            <a:prstDash val="solid"/>
          </a:ln>
        </p:spPr>
      </p:sp>
      <p:sp>
        <p:nvSpPr>
          <p:cNvPr id="34" name="Shape 32"/>
          <p:cNvSpPr/>
          <p:nvPr/>
        </p:nvSpPr>
        <p:spPr>
          <a:xfrm>
            <a:off x="3502152" y="2313432"/>
            <a:ext cx="91440" cy="91440"/>
          </a:xfrm>
          <a:prstGeom prst="ellipse">
            <a:avLst/>
          </a:prstGeom>
          <a:solidFill>
            <a:srgbClr val="2F6BFF">
              <a:alpha val="85000"/>
            </a:srgbClr>
          </a:solidFill>
          <a:ln w="12700">
            <a:solidFill>
              <a:srgbClr val="FFFFFF"/>
            </a:solidFill>
            <a:prstDash val="solid"/>
          </a:ln>
        </p:spPr>
      </p:sp>
      <p:sp>
        <p:nvSpPr>
          <p:cNvPr id="35" name="Shape 33"/>
          <p:cNvSpPr/>
          <p:nvPr/>
        </p:nvSpPr>
        <p:spPr>
          <a:xfrm>
            <a:off x="3721608" y="2313432"/>
            <a:ext cx="91440" cy="91440"/>
          </a:xfrm>
          <a:prstGeom prst="ellipse">
            <a:avLst/>
          </a:prstGeom>
          <a:solidFill>
            <a:srgbClr val="2F6BFF">
              <a:alpha val="85000"/>
            </a:srgbClr>
          </a:solidFill>
          <a:ln w="12700">
            <a:solidFill>
              <a:srgbClr val="FFFFFF"/>
            </a:solidFill>
            <a:prstDash val="solid"/>
          </a:ln>
        </p:spPr>
      </p:sp>
      <p:sp>
        <p:nvSpPr>
          <p:cNvPr id="36" name="Shape 34"/>
          <p:cNvSpPr/>
          <p:nvPr/>
        </p:nvSpPr>
        <p:spPr>
          <a:xfrm>
            <a:off x="868680" y="2615184"/>
            <a:ext cx="91440" cy="91440"/>
          </a:xfrm>
          <a:prstGeom prst="ellipse">
            <a:avLst/>
          </a:prstGeom>
          <a:solidFill>
            <a:srgbClr val="F59E0B">
              <a:alpha val="85000"/>
            </a:srgbClr>
          </a:solidFill>
          <a:ln w="12700">
            <a:solidFill>
              <a:srgbClr val="FFFFFF"/>
            </a:solidFill>
            <a:prstDash val="solid"/>
          </a:ln>
        </p:spPr>
      </p:sp>
      <p:sp>
        <p:nvSpPr>
          <p:cNvPr id="37" name="Shape 35"/>
          <p:cNvSpPr/>
          <p:nvPr/>
        </p:nvSpPr>
        <p:spPr>
          <a:xfrm>
            <a:off x="1088136" y="2615184"/>
            <a:ext cx="91440" cy="91440"/>
          </a:xfrm>
          <a:prstGeom prst="ellipse">
            <a:avLst/>
          </a:prstGeom>
          <a:solidFill>
            <a:srgbClr val="2F6BFF">
              <a:alpha val="85000"/>
            </a:srgbClr>
          </a:solidFill>
          <a:ln w="12700">
            <a:solidFill>
              <a:srgbClr val="FFFFFF"/>
            </a:solidFill>
            <a:prstDash val="solid"/>
          </a:ln>
        </p:spPr>
      </p:sp>
      <p:sp>
        <p:nvSpPr>
          <p:cNvPr id="38" name="Shape 36"/>
          <p:cNvSpPr/>
          <p:nvPr/>
        </p:nvSpPr>
        <p:spPr>
          <a:xfrm>
            <a:off x="1307592" y="2615184"/>
            <a:ext cx="91440" cy="91440"/>
          </a:xfrm>
          <a:prstGeom prst="ellipse">
            <a:avLst/>
          </a:prstGeom>
          <a:solidFill>
            <a:srgbClr val="2F6BFF">
              <a:alpha val="85000"/>
            </a:srgbClr>
          </a:solidFill>
          <a:ln w="12700">
            <a:solidFill>
              <a:srgbClr val="FFFFFF"/>
            </a:solidFill>
            <a:prstDash val="solid"/>
          </a:ln>
        </p:spPr>
      </p:sp>
      <p:sp>
        <p:nvSpPr>
          <p:cNvPr id="39" name="Shape 37"/>
          <p:cNvSpPr/>
          <p:nvPr/>
        </p:nvSpPr>
        <p:spPr>
          <a:xfrm>
            <a:off x="1527048" y="2615184"/>
            <a:ext cx="91440" cy="91440"/>
          </a:xfrm>
          <a:prstGeom prst="ellipse">
            <a:avLst/>
          </a:prstGeom>
          <a:solidFill>
            <a:srgbClr val="2F6BFF">
              <a:alpha val="85000"/>
            </a:srgbClr>
          </a:solidFill>
          <a:ln w="12700">
            <a:solidFill>
              <a:srgbClr val="FFFFFF"/>
            </a:solidFill>
            <a:prstDash val="solid"/>
          </a:ln>
        </p:spPr>
      </p:sp>
      <p:sp>
        <p:nvSpPr>
          <p:cNvPr id="40" name="Shape 38"/>
          <p:cNvSpPr/>
          <p:nvPr/>
        </p:nvSpPr>
        <p:spPr>
          <a:xfrm>
            <a:off x="1746504" y="2615184"/>
            <a:ext cx="91440" cy="91440"/>
          </a:xfrm>
          <a:prstGeom prst="ellipse">
            <a:avLst/>
          </a:prstGeom>
          <a:solidFill>
            <a:srgbClr val="2F6BFF">
              <a:alpha val="85000"/>
            </a:srgbClr>
          </a:solidFill>
          <a:ln w="12700">
            <a:solidFill>
              <a:srgbClr val="FFFFFF"/>
            </a:solidFill>
            <a:prstDash val="solid"/>
          </a:ln>
        </p:spPr>
      </p:sp>
      <p:sp>
        <p:nvSpPr>
          <p:cNvPr id="41" name="Shape 39"/>
          <p:cNvSpPr/>
          <p:nvPr/>
        </p:nvSpPr>
        <p:spPr>
          <a:xfrm>
            <a:off x="1965960" y="2615184"/>
            <a:ext cx="91440" cy="91440"/>
          </a:xfrm>
          <a:prstGeom prst="ellipse">
            <a:avLst/>
          </a:prstGeom>
          <a:solidFill>
            <a:srgbClr val="2F6BFF">
              <a:alpha val="85000"/>
            </a:srgbClr>
          </a:solidFill>
          <a:ln w="12700">
            <a:solidFill>
              <a:srgbClr val="FFFFFF"/>
            </a:solidFill>
            <a:prstDash val="solid"/>
          </a:ln>
        </p:spPr>
      </p:sp>
      <p:sp>
        <p:nvSpPr>
          <p:cNvPr id="42" name="Shape 40"/>
          <p:cNvSpPr/>
          <p:nvPr/>
        </p:nvSpPr>
        <p:spPr>
          <a:xfrm>
            <a:off x="2185416" y="2615184"/>
            <a:ext cx="91440" cy="91440"/>
          </a:xfrm>
          <a:prstGeom prst="ellipse">
            <a:avLst/>
          </a:prstGeom>
          <a:solidFill>
            <a:srgbClr val="2F6BFF">
              <a:alpha val="85000"/>
            </a:srgbClr>
          </a:solidFill>
          <a:ln w="12700">
            <a:solidFill>
              <a:srgbClr val="FFFFFF"/>
            </a:solidFill>
            <a:prstDash val="solid"/>
          </a:ln>
        </p:spPr>
      </p:sp>
      <p:sp>
        <p:nvSpPr>
          <p:cNvPr id="43" name="Shape 41"/>
          <p:cNvSpPr/>
          <p:nvPr/>
        </p:nvSpPr>
        <p:spPr>
          <a:xfrm>
            <a:off x="2404872" y="2615184"/>
            <a:ext cx="91440" cy="91440"/>
          </a:xfrm>
          <a:prstGeom prst="ellipse">
            <a:avLst/>
          </a:prstGeom>
          <a:solidFill>
            <a:srgbClr val="F59E0B">
              <a:alpha val="85000"/>
            </a:srgbClr>
          </a:solidFill>
          <a:ln w="12700">
            <a:solidFill>
              <a:srgbClr val="FFFFFF"/>
            </a:solidFill>
            <a:prstDash val="solid"/>
          </a:ln>
        </p:spPr>
      </p:sp>
      <p:sp>
        <p:nvSpPr>
          <p:cNvPr id="44" name="Shape 42"/>
          <p:cNvSpPr/>
          <p:nvPr/>
        </p:nvSpPr>
        <p:spPr>
          <a:xfrm>
            <a:off x="2624328" y="2615184"/>
            <a:ext cx="91440" cy="91440"/>
          </a:xfrm>
          <a:prstGeom prst="ellipse">
            <a:avLst/>
          </a:prstGeom>
          <a:solidFill>
            <a:srgbClr val="2F6BFF">
              <a:alpha val="85000"/>
            </a:srgbClr>
          </a:solidFill>
          <a:ln w="12700">
            <a:solidFill>
              <a:srgbClr val="FFFFFF"/>
            </a:solidFill>
            <a:prstDash val="solid"/>
          </a:ln>
        </p:spPr>
      </p:sp>
      <p:sp>
        <p:nvSpPr>
          <p:cNvPr id="45" name="Shape 43"/>
          <p:cNvSpPr/>
          <p:nvPr/>
        </p:nvSpPr>
        <p:spPr>
          <a:xfrm>
            <a:off x="2843784" y="2615184"/>
            <a:ext cx="91440" cy="91440"/>
          </a:xfrm>
          <a:prstGeom prst="ellipse">
            <a:avLst/>
          </a:prstGeom>
          <a:solidFill>
            <a:srgbClr val="2F6BFF">
              <a:alpha val="85000"/>
            </a:srgbClr>
          </a:solidFill>
          <a:ln w="12700">
            <a:solidFill>
              <a:srgbClr val="FFFFFF"/>
            </a:solidFill>
            <a:prstDash val="solid"/>
          </a:ln>
        </p:spPr>
      </p:sp>
      <p:sp>
        <p:nvSpPr>
          <p:cNvPr id="46" name="Shape 44"/>
          <p:cNvSpPr/>
          <p:nvPr/>
        </p:nvSpPr>
        <p:spPr>
          <a:xfrm>
            <a:off x="3063240" y="2615184"/>
            <a:ext cx="91440" cy="91440"/>
          </a:xfrm>
          <a:prstGeom prst="ellipse">
            <a:avLst/>
          </a:prstGeom>
          <a:solidFill>
            <a:srgbClr val="2F6BFF">
              <a:alpha val="85000"/>
            </a:srgbClr>
          </a:solidFill>
          <a:ln w="12700">
            <a:solidFill>
              <a:srgbClr val="FFFFFF"/>
            </a:solidFill>
            <a:prstDash val="solid"/>
          </a:ln>
        </p:spPr>
      </p:sp>
      <p:sp>
        <p:nvSpPr>
          <p:cNvPr id="47" name="Shape 45"/>
          <p:cNvSpPr/>
          <p:nvPr/>
        </p:nvSpPr>
        <p:spPr>
          <a:xfrm>
            <a:off x="3282696" y="2615184"/>
            <a:ext cx="91440" cy="91440"/>
          </a:xfrm>
          <a:prstGeom prst="ellipse">
            <a:avLst/>
          </a:prstGeom>
          <a:solidFill>
            <a:srgbClr val="2F6BFF">
              <a:alpha val="85000"/>
            </a:srgbClr>
          </a:solidFill>
          <a:ln w="12700">
            <a:solidFill>
              <a:srgbClr val="FFFFFF"/>
            </a:solidFill>
            <a:prstDash val="solid"/>
          </a:ln>
        </p:spPr>
      </p:sp>
      <p:sp>
        <p:nvSpPr>
          <p:cNvPr id="48" name="Shape 46"/>
          <p:cNvSpPr/>
          <p:nvPr/>
        </p:nvSpPr>
        <p:spPr>
          <a:xfrm>
            <a:off x="3502152" y="2615184"/>
            <a:ext cx="91440" cy="91440"/>
          </a:xfrm>
          <a:prstGeom prst="ellipse">
            <a:avLst/>
          </a:prstGeom>
          <a:solidFill>
            <a:srgbClr val="2F6BFF">
              <a:alpha val="85000"/>
            </a:srgbClr>
          </a:solidFill>
          <a:ln w="12700">
            <a:solidFill>
              <a:srgbClr val="FFFFFF"/>
            </a:solidFill>
            <a:prstDash val="solid"/>
          </a:ln>
        </p:spPr>
      </p:sp>
      <p:sp>
        <p:nvSpPr>
          <p:cNvPr id="49" name="Shape 47"/>
          <p:cNvSpPr/>
          <p:nvPr/>
        </p:nvSpPr>
        <p:spPr>
          <a:xfrm>
            <a:off x="3721608" y="2615184"/>
            <a:ext cx="91440" cy="91440"/>
          </a:xfrm>
          <a:prstGeom prst="ellipse">
            <a:avLst/>
          </a:prstGeom>
          <a:solidFill>
            <a:srgbClr val="2F6BFF">
              <a:alpha val="85000"/>
            </a:srgbClr>
          </a:solidFill>
          <a:ln w="12700">
            <a:solidFill>
              <a:srgbClr val="FFFFFF"/>
            </a:solidFill>
            <a:prstDash val="solid"/>
          </a:ln>
        </p:spPr>
      </p:sp>
      <p:sp>
        <p:nvSpPr>
          <p:cNvPr id="50" name="Shape 48"/>
          <p:cNvSpPr/>
          <p:nvPr/>
        </p:nvSpPr>
        <p:spPr>
          <a:xfrm>
            <a:off x="868680" y="2916936"/>
            <a:ext cx="91440" cy="91440"/>
          </a:xfrm>
          <a:prstGeom prst="ellipse">
            <a:avLst/>
          </a:prstGeom>
          <a:solidFill>
            <a:srgbClr val="F59E0B">
              <a:alpha val="85000"/>
            </a:srgbClr>
          </a:solidFill>
          <a:ln w="12700">
            <a:solidFill>
              <a:srgbClr val="FFFFFF"/>
            </a:solidFill>
            <a:prstDash val="solid"/>
          </a:ln>
        </p:spPr>
      </p:sp>
      <p:sp>
        <p:nvSpPr>
          <p:cNvPr id="51" name="Shape 49"/>
          <p:cNvSpPr/>
          <p:nvPr/>
        </p:nvSpPr>
        <p:spPr>
          <a:xfrm>
            <a:off x="1088136" y="2916936"/>
            <a:ext cx="91440" cy="91440"/>
          </a:xfrm>
          <a:prstGeom prst="ellipse">
            <a:avLst/>
          </a:prstGeom>
          <a:solidFill>
            <a:srgbClr val="2F6BFF">
              <a:alpha val="85000"/>
            </a:srgbClr>
          </a:solidFill>
          <a:ln w="12700">
            <a:solidFill>
              <a:srgbClr val="FFFFFF"/>
            </a:solidFill>
            <a:prstDash val="solid"/>
          </a:ln>
        </p:spPr>
      </p:sp>
      <p:sp>
        <p:nvSpPr>
          <p:cNvPr id="52" name="Shape 50"/>
          <p:cNvSpPr/>
          <p:nvPr/>
        </p:nvSpPr>
        <p:spPr>
          <a:xfrm>
            <a:off x="1307592" y="2916936"/>
            <a:ext cx="91440" cy="91440"/>
          </a:xfrm>
          <a:prstGeom prst="ellipse">
            <a:avLst/>
          </a:prstGeom>
          <a:solidFill>
            <a:srgbClr val="2F6BFF">
              <a:alpha val="85000"/>
            </a:srgbClr>
          </a:solidFill>
          <a:ln w="12700">
            <a:solidFill>
              <a:srgbClr val="FFFFFF"/>
            </a:solidFill>
            <a:prstDash val="solid"/>
          </a:ln>
        </p:spPr>
      </p:sp>
      <p:sp>
        <p:nvSpPr>
          <p:cNvPr id="53" name="Shape 51"/>
          <p:cNvSpPr/>
          <p:nvPr/>
        </p:nvSpPr>
        <p:spPr>
          <a:xfrm>
            <a:off x="1527048" y="2916936"/>
            <a:ext cx="91440" cy="91440"/>
          </a:xfrm>
          <a:prstGeom prst="ellipse">
            <a:avLst/>
          </a:prstGeom>
          <a:solidFill>
            <a:srgbClr val="2F6BFF">
              <a:alpha val="85000"/>
            </a:srgbClr>
          </a:solidFill>
          <a:ln w="12700">
            <a:solidFill>
              <a:srgbClr val="FFFFFF"/>
            </a:solidFill>
            <a:prstDash val="solid"/>
          </a:ln>
        </p:spPr>
      </p:sp>
      <p:sp>
        <p:nvSpPr>
          <p:cNvPr id="54" name="Shape 52"/>
          <p:cNvSpPr/>
          <p:nvPr/>
        </p:nvSpPr>
        <p:spPr>
          <a:xfrm>
            <a:off x="1746504" y="2916936"/>
            <a:ext cx="91440" cy="91440"/>
          </a:xfrm>
          <a:prstGeom prst="ellipse">
            <a:avLst/>
          </a:prstGeom>
          <a:solidFill>
            <a:srgbClr val="2F6BFF">
              <a:alpha val="85000"/>
            </a:srgbClr>
          </a:solidFill>
          <a:ln w="12700">
            <a:solidFill>
              <a:srgbClr val="FFFFFF"/>
            </a:solidFill>
            <a:prstDash val="solid"/>
          </a:ln>
        </p:spPr>
      </p:sp>
      <p:sp>
        <p:nvSpPr>
          <p:cNvPr id="55" name="Shape 53"/>
          <p:cNvSpPr/>
          <p:nvPr/>
        </p:nvSpPr>
        <p:spPr>
          <a:xfrm>
            <a:off x="1965960" y="2916936"/>
            <a:ext cx="91440" cy="91440"/>
          </a:xfrm>
          <a:prstGeom prst="ellipse">
            <a:avLst/>
          </a:prstGeom>
          <a:solidFill>
            <a:srgbClr val="2F6BFF">
              <a:alpha val="85000"/>
            </a:srgbClr>
          </a:solidFill>
          <a:ln w="12700">
            <a:solidFill>
              <a:srgbClr val="FFFFFF"/>
            </a:solidFill>
            <a:prstDash val="solid"/>
          </a:ln>
        </p:spPr>
      </p:sp>
      <p:sp>
        <p:nvSpPr>
          <p:cNvPr id="56" name="Shape 54"/>
          <p:cNvSpPr/>
          <p:nvPr/>
        </p:nvSpPr>
        <p:spPr>
          <a:xfrm>
            <a:off x="2185416" y="2916936"/>
            <a:ext cx="91440" cy="91440"/>
          </a:xfrm>
          <a:prstGeom prst="ellipse">
            <a:avLst/>
          </a:prstGeom>
          <a:solidFill>
            <a:srgbClr val="2F6BFF">
              <a:alpha val="85000"/>
            </a:srgbClr>
          </a:solidFill>
          <a:ln w="12700">
            <a:solidFill>
              <a:srgbClr val="FFFFFF"/>
            </a:solidFill>
            <a:prstDash val="solid"/>
          </a:ln>
        </p:spPr>
      </p:sp>
      <p:sp>
        <p:nvSpPr>
          <p:cNvPr id="57" name="Shape 55"/>
          <p:cNvSpPr/>
          <p:nvPr/>
        </p:nvSpPr>
        <p:spPr>
          <a:xfrm>
            <a:off x="2404872" y="2916936"/>
            <a:ext cx="91440" cy="91440"/>
          </a:xfrm>
          <a:prstGeom prst="ellipse">
            <a:avLst/>
          </a:prstGeom>
          <a:solidFill>
            <a:srgbClr val="F59E0B">
              <a:alpha val="85000"/>
            </a:srgbClr>
          </a:solidFill>
          <a:ln w="12700">
            <a:solidFill>
              <a:srgbClr val="FFFFFF"/>
            </a:solidFill>
            <a:prstDash val="solid"/>
          </a:ln>
        </p:spPr>
      </p:sp>
      <p:sp>
        <p:nvSpPr>
          <p:cNvPr id="58" name="Shape 56"/>
          <p:cNvSpPr/>
          <p:nvPr/>
        </p:nvSpPr>
        <p:spPr>
          <a:xfrm>
            <a:off x="2624328" y="2916936"/>
            <a:ext cx="91440" cy="91440"/>
          </a:xfrm>
          <a:prstGeom prst="ellipse">
            <a:avLst/>
          </a:prstGeom>
          <a:solidFill>
            <a:srgbClr val="2F6BFF">
              <a:alpha val="85000"/>
            </a:srgbClr>
          </a:solidFill>
          <a:ln w="12700">
            <a:solidFill>
              <a:srgbClr val="FFFFFF"/>
            </a:solidFill>
            <a:prstDash val="solid"/>
          </a:ln>
        </p:spPr>
      </p:sp>
      <p:sp>
        <p:nvSpPr>
          <p:cNvPr id="59" name="Shape 57"/>
          <p:cNvSpPr/>
          <p:nvPr/>
        </p:nvSpPr>
        <p:spPr>
          <a:xfrm>
            <a:off x="2843784" y="2916936"/>
            <a:ext cx="91440" cy="91440"/>
          </a:xfrm>
          <a:prstGeom prst="ellipse">
            <a:avLst/>
          </a:prstGeom>
          <a:solidFill>
            <a:srgbClr val="2F6BFF">
              <a:alpha val="85000"/>
            </a:srgbClr>
          </a:solidFill>
          <a:ln w="12700">
            <a:solidFill>
              <a:srgbClr val="FFFFFF"/>
            </a:solidFill>
            <a:prstDash val="solid"/>
          </a:ln>
        </p:spPr>
      </p:sp>
      <p:sp>
        <p:nvSpPr>
          <p:cNvPr id="60" name="Shape 58"/>
          <p:cNvSpPr/>
          <p:nvPr/>
        </p:nvSpPr>
        <p:spPr>
          <a:xfrm>
            <a:off x="3063240" y="2916936"/>
            <a:ext cx="91440" cy="91440"/>
          </a:xfrm>
          <a:prstGeom prst="ellipse">
            <a:avLst/>
          </a:prstGeom>
          <a:solidFill>
            <a:srgbClr val="2F6BFF">
              <a:alpha val="85000"/>
            </a:srgbClr>
          </a:solidFill>
          <a:ln w="12700">
            <a:solidFill>
              <a:srgbClr val="FFFFFF"/>
            </a:solidFill>
            <a:prstDash val="solid"/>
          </a:ln>
        </p:spPr>
      </p:sp>
      <p:sp>
        <p:nvSpPr>
          <p:cNvPr id="61" name="Shape 59"/>
          <p:cNvSpPr/>
          <p:nvPr/>
        </p:nvSpPr>
        <p:spPr>
          <a:xfrm>
            <a:off x="3282696" y="2916936"/>
            <a:ext cx="91440" cy="91440"/>
          </a:xfrm>
          <a:prstGeom prst="ellipse">
            <a:avLst/>
          </a:prstGeom>
          <a:solidFill>
            <a:srgbClr val="2F6BFF">
              <a:alpha val="85000"/>
            </a:srgbClr>
          </a:solidFill>
          <a:ln w="12700">
            <a:solidFill>
              <a:srgbClr val="FFFFFF"/>
            </a:solidFill>
            <a:prstDash val="solid"/>
          </a:ln>
        </p:spPr>
      </p:sp>
      <p:sp>
        <p:nvSpPr>
          <p:cNvPr id="62" name="Shape 60"/>
          <p:cNvSpPr/>
          <p:nvPr/>
        </p:nvSpPr>
        <p:spPr>
          <a:xfrm>
            <a:off x="3502152" y="2916936"/>
            <a:ext cx="91440" cy="91440"/>
          </a:xfrm>
          <a:prstGeom prst="ellipse">
            <a:avLst/>
          </a:prstGeom>
          <a:solidFill>
            <a:srgbClr val="2F6BFF">
              <a:alpha val="85000"/>
            </a:srgbClr>
          </a:solidFill>
          <a:ln w="12700">
            <a:solidFill>
              <a:srgbClr val="FFFFFF"/>
            </a:solidFill>
            <a:prstDash val="solid"/>
          </a:ln>
        </p:spPr>
      </p:sp>
      <p:sp>
        <p:nvSpPr>
          <p:cNvPr id="63" name="Shape 61"/>
          <p:cNvSpPr/>
          <p:nvPr/>
        </p:nvSpPr>
        <p:spPr>
          <a:xfrm>
            <a:off x="3721608" y="2916936"/>
            <a:ext cx="91440" cy="91440"/>
          </a:xfrm>
          <a:prstGeom prst="ellipse">
            <a:avLst/>
          </a:prstGeom>
          <a:solidFill>
            <a:srgbClr val="2F6BFF">
              <a:alpha val="85000"/>
            </a:srgbClr>
          </a:solidFill>
          <a:ln w="12700">
            <a:solidFill>
              <a:srgbClr val="FFFFFF"/>
            </a:solidFill>
            <a:prstDash val="solid"/>
          </a:ln>
        </p:spPr>
      </p:sp>
      <p:sp>
        <p:nvSpPr>
          <p:cNvPr id="64" name="Shape 62"/>
          <p:cNvSpPr/>
          <p:nvPr/>
        </p:nvSpPr>
        <p:spPr>
          <a:xfrm>
            <a:off x="868680" y="3218688"/>
            <a:ext cx="91440" cy="91440"/>
          </a:xfrm>
          <a:prstGeom prst="ellipse">
            <a:avLst/>
          </a:prstGeom>
          <a:solidFill>
            <a:srgbClr val="F59E0B">
              <a:alpha val="85000"/>
            </a:srgbClr>
          </a:solidFill>
          <a:ln w="12700">
            <a:solidFill>
              <a:srgbClr val="FFFFFF"/>
            </a:solidFill>
            <a:prstDash val="solid"/>
          </a:ln>
        </p:spPr>
      </p:sp>
      <p:sp>
        <p:nvSpPr>
          <p:cNvPr id="65" name="Shape 63"/>
          <p:cNvSpPr/>
          <p:nvPr/>
        </p:nvSpPr>
        <p:spPr>
          <a:xfrm>
            <a:off x="1088136" y="3218688"/>
            <a:ext cx="91440" cy="91440"/>
          </a:xfrm>
          <a:prstGeom prst="ellipse">
            <a:avLst/>
          </a:prstGeom>
          <a:solidFill>
            <a:srgbClr val="2F6BFF">
              <a:alpha val="85000"/>
            </a:srgbClr>
          </a:solidFill>
          <a:ln w="12700">
            <a:solidFill>
              <a:srgbClr val="FFFFFF"/>
            </a:solidFill>
            <a:prstDash val="solid"/>
          </a:ln>
        </p:spPr>
      </p:sp>
      <p:sp>
        <p:nvSpPr>
          <p:cNvPr id="66" name="Shape 64"/>
          <p:cNvSpPr/>
          <p:nvPr/>
        </p:nvSpPr>
        <p:spPr>
          <a:xfrm>
            <a:off x="1307592" y="3218688"/>
            <a:ext cx="91440" cy="91440"/>
          </a:xfrm>
          <a:prstGeom prst="ellipse">
            <a:avLst/>
          </a:prstGeom>
          <a:solidFill>
            <a:srgbClr val="2F6BFF">
              <a:alpha val="85000"/>
            </a:srgbClr>
          </a:solidFill>
          <a:ln w="12700">
            <a:solidFill>
              <a:srgbClr val="FFFFFF"/>
            </a:solidFill>
            <a:prstDash val="solid"/>
          </a:ln>
        </p:spPr>
      </p:sp>
      <p:sp>
        <p:nvSpPr>
          <p:cNvPr id="67" name="Shape 65"/>
          <p:cNvSpPr/>
          <p:nvPr/>
        </p:nvSpPr>
        <p:spPr>
          <a:xfrm>
            <a:off x="1527048" y="3218688"/>
            <a:ext cx="91440" cy="91440"/>
          </a:xfrm>
          <a:prstGeom prst="ellipse">
            <a:avLst/>
          </a:prstGeom>
          <a:solidFill>
            <a:srgbClr val="2F6BFF">
              <a:alpha val="85000"/>
            </a:srgbClr>
          </a:solidFill>
          <a:ln w="12700">
            <a:solidFill>
              <a:srgbClr val="FFFFFF"/>
            </a:solidFill>
            <a:prstDash val="solid"/>
          </a:ln>
        </p:spPr>
      </p:sp>
      <p:sp>
        <p:nvSpPr>
          <p:cNvPr id="68" name="Shape 66"/>
          <p:cNvSpPr/>
          <p:nvPr/>
        </p:nvSpPr>
        <p:spPr>
          <a:xfrm>
            <a:off x="1746504" y="3218688"/>
            <a:ext cx="91440" cy="91440"/>
          </a:xfrm>
          <a:prstGeom prst="ellipse">
            <a:avLst/>
          </a:prstGeom>
          <a:solidFill>
            <a:srgbClr val="2F6BFF">
              <a:alpha val="85000"/>
            </a:srgbClr>
          </a:solidFill>
          <a:ln w="12700">
            <a:solidFill>
              <a:srgbClr val="FFFFFF"/>
            </a:solidFill>
            <a:prstDash val="solid"/>
          </a:ln>
        </p:spPr>
      </p:sp>
      <p:sp>
        <p:nvSpPr>
          <p:cNvPr id="69" name="Shape 67"/>
          <p:cNvSpPr/>
          <p:nvPr/>
        </p:nvSpPr>
        <p:spPr>
          <a:xfrm>
            <a:off x="1965960" y="3218688"/>
            <a:ext cx="91440" cy="91440"/>
          </a:xfrm>
          <a:prstGeom prst="ellipse">
            <a:avLst/>
          </a:prstGeom>
          <a:solidFill>
            <a:srgbClr val="2F6BFF">
              <a:alpha val="85000"/>
            </a:srgbClr>
          </a:solidFill>
          <a:ln w="12700">
            <a:solidFill>
              <a:srgbClr val="FFFFFF"/>
            </a:solidFill>
            <a:prstDash val="solid"/>
          </a:ln>
        </p:spPr>
      </p:sp>
      <p:sp>
        <p:nvSpPr>
          <p:cNvPr id="70" name="Shape 68"/>
          <p:cNvSpPr/>
          <p:nvPr/>
        </p:nvSpPr>
        <p:spPr>
          <a:xfrm>
            <a:off x="2185416" y="3218688"/>
            <a:ext cx="91440" cy="91440"/>
          </a:xfrm>
          <a:prstGeom prst="ellipse">
            <a:avLst/>
          </a:prstGeom>
          <a:solidFill>
            <a:srgbClr val="2F6BFF">
              <a:alpha val="85000"/>
            </a:srgbClr>
          </a:solidFill>
          <a:ln w="12700">
            <a:solidFill>
              <a:srgbClr val="FFFFFF"/>
            </a:solidFill>
            <a:prstDash val="solid"/>
          </a:ln>
        </p:spPr>
      </p:sp>
      <p:sp>
        <p:nvSpPr>
          <p:cNvPr id="71" name="Shape 69"/>
          <p:cNvSpPr/>
          <p:nvPr/>
        </p:nvSpPr>
        <p:spPr>
          <a:xfrm>
            <a:off x="2404872" y="3218688"/>
            <a:ext cx="91440" cy="91440"/>
          </a:xfrm>
          <a:prstGeom prst="ellipse">
            <a:avLst/>
          </a:prstGeom>
          <a:solidFill>
            <a:srgbClr val="F59E0B">
              <a:alpha val="85000"/>
            </a:srgbClr>
          </a:solidFill>
          <a:ln w="12700">
            <a:solidFill>
              <a:srgbClr val="FFFFFF"/>
            </a:solidFill>
            <a:prstDash val="solid"/>
          </a:ln>
        </p:spPr>
      </p:sp>
      <p:sp>
        <p:nvSpPr>
          <p:cNvPr id="72" name="Shape 70"/>
          <p:cNvSpPr/>
          <p:nvPr/>
        </p:nvSpPr>
        <p:spPr>
          <a:xfrm>
            <a:off x="2624328" y="3218688"/>
            <a:ext cx="91440" cy="91440"/>
          </a:xfrm>
          <a:prstGeom prst="ellipse">
            <a:avLst/>
          </a:prstGeom>
          <a:solidFill>
            <a:srgbClr val="2F6BFF">
              <a:alpha val="85000"/>
            </a:srgbClr>
          </a:solidFill>
          <a:ln w="12700">
            <a:solidFill>
              <a:srgbClr val="FFFFFF"/>
            </a:solidFill>
            <a:prstDash val="solid"/>
          </a:ln>
        </p:spPr>
      </p:sp>
      <p:sp>
        <p:nvSpPr>
          <p:cNvPr id="73" name="Shape 71"/>
          <p:cNvSpPr/>
          <p:nvPr/>
        </p:nvSpPr>
        <p:spPr>
          <a:xfrm>
            <a:off x="2843784" y="3218688"/>
            <a:ext cx="91440" cy="91440"/>
          </a:xfrm>
          <a:prstGeom prst="ellipse">
            <a:avLst/>
          </a:prstGeom>
          <a:solidFill>
            <a:srgbClr val="2F6BFF">
              <a:alpha val="85000"/>
            </a:srgbClr>
          </a:solidFill>
          <a:ln w="12700">
            <a:solidFill>
              <a:srgbClr val="FFFFFF"/>
            </a:solidFill>
            <a:prstDash val="solid"/>
          </a:ln>
        </p:spPr>
      </p:sp>
      <p:sp>
        <p:nvSpPr>
          <p:cNvPr id="74" name="Shape 72"/>
          <p:cNvSpPr/>
          <p:nvPr/>
        </p:nvSpPr>
        <p:spPr>
          <a:xfrm>
            <a:off x="3063240" y="3218688"/>
            <a:ext cx="91440" cy="91440"/>
          </a:xfrm>
          <a:prstGeom prst="ellipse">
            <a:avLst/>
          </a:prstGeom>
          <a:solidFill>
            <a:srgbClr val="2F6BFF">
              <a:alpha val="85000"/>
            </a:srgbClr>
          </a:solidFill>
          <a:ln w="12700">
            <a:solidFill>
              <a:srgbClr val="FFFFFF"/>
            </a:solidFill>
            <a:prstDash val="solid"/>
          </a:ln>
        </p:spPr>
      </p:sp>
      <p:sp>
        <p:nvSpPr>
          <p:cNvPr id="75" name="Shape 73"/>
          <p:cNvSpPr/>
          <p:nvPr/>
        </p:nvSpPr>
        <p:spPr>
          <a:xfrm>
            <a:off x="3282696" y="3218688"/>
            <a:ext cx="91440" cy="91440"/>
          </a:xfrm>
          <a:prstGeom prst="ellipse">
            <a:avLst/>
          </a:prstGeom>
          <a:solidFill>
            <a:srgbClr val="2F6BFF">
              <a:alpha val="85000"/>
            </a:srgbClr>
          </a:solidFill>
          <a:ln w="12700">
            <a:solidFill>
              <a:srgbClr val="FFFFFF"/>
            </a:solidFill>
            <a:prstDash val="solid"/>
          </a:ln>
        </p:spPr>
      </p:sp>
      <p:sp>
        <p:nvSpPr>
          <p:cNvPr id="76" name="Shape 74"/>
          <p:cNvSpPr/>
          <p:nvPr/>
        </p:nvSpPr>
        <p:spPr>
          <a:xfrm>
            <a:off x="3502152" y="3218688"/>
            <a:ext cx="91440" cy="91440"/>
          </a:xfrm>
          <a:prstGeom prst="ellipse">
            <a:avLst/>
          </a:prstGeom>
          <a:solidFill>
            <a:srgbClr val="2F6BFF">
              <a:alpha val="85000"/>
            </a:srgbClr>
          </a:solidFill>
          <a:ln w="12700">
            <a:solidFill>
              <a:srgbClr val="FFFFFF"/>
            </a:solidFill>
            <a:prstDash val="solid"/>
          </a:ln>
        </p:spPr>
      </p:sp>
      <p:sp>
        <p:nvSpPr>
          <p:cNvPr id="77" name="Shape 75"/>
          <p:cNvSpPr/>
          <p:nvPr/>
        </p:nvSpPr>
        <p:spPr>
          <a:xfrm>
            <a:off x="3721608" y="3218688"/>
            <a:ext cx="91440" cy="91440"/>
          </a:xfrm>
          <a:prstGeom prst="ellipse">
            <a:avLst/>
          </a:prstGeom>
          <a:solidFill>
            <a:srgbClr val="2F6BFF">
              <a:alpha val="85000"/>
            </a:srgbClr>
          </a:solidFill>
          <a:ln w="12700">
            <a:solidFill>
              <a:srgbClr val="FFFFFF"/>
            </a:solidFill>
            <a:prstDash val="solid"/>
          </a:ln>
        </p:spPr>
      </p:sp>
      <p:sp>
        <p:nvSpPr>
          <p:cNvPr id="78" name="Shape 76"/>
          <p:cNvSpPr/>
          <p:nvPr/>
        </p:nvSpPr>
        <p:spPr>
          <a:xfrm>
            <a:off x="3886200" y="2359152"/>
            <a:ext cx="594360" cy="914400"/>
          </a:xfrm>
          <a:prstGeom prst="chevron">
            <a:avLst/>
          </a:prstGeom>
          <a:solidFill>
            <a:srgbClr val="AEB8C5"/>
          </a:solidFill>
          <a:ln w="12700">
            <a:solidFill>
              <a:srgbClr val="AEB8C5"/>
            </a:solidFill>
            <a:prstDash val="solid"/>
          </a:ln>
        </p:spPr>
      </p:sp>
      <p:sp>
        <p:nvSpPr>
          <p:cNvPr id="79" name="Text 77"/>
          <p:cNvSpPr/>
          <p:nvPr/>
        </p:nvSpPr>
        <p:spPr>
          <a:xfrm>
            <a:off x="4754880" y="1554480"/>
            <a:ext cx="2011680" cy="292608"/>
          </a:xfrm>
          <a:prstGeom prst="rect">
            <a:avLst/>
          </a:prstGeom>
          <a:noFill/>
          <a:ln/>
        </p:spPr>
        <p:txBody>
          <a:bodyPr wrap="square" lIns="0" tIns="0" rIns="0" bIns="0" rtlCol="0" anchor="ctr"/>
          <a:lstStyle/>
          <a:p>
            <a:pPr marL="0" indent="0">
              <a:buNone/>
            </a:pPr>
            <a:r>
              <a:rPr lang="en-US" sz="1500" b="1" dirty="0">
                <a:solidFill>
                  <a:srgbClr val="0B1F33"/>
                </a:solidFill>
              </a:rPr>
              <a:t>Sample</a:t>
            </a:r>
            <a:endParaRPr lang="en-US" sz="1500" dirty="0"/>
          </a:p>
        </p:txBody>
      </p:sp>
      <p:sp>
        <p:nvSpPr>
          <p:cNvPr id="80" name="Shape 78"/>
          <p:cNvSpPr/>
          <p:nvPr/>
        </p:nvSpPr>
        <p:spPr>
          <a:xfrm>
            <a:off x="4892040" y="2057400"/>
            <a:ext cx="128016" cy="128016"/>
          </a:xfrm>
          <a:prstGeom prst="ellipse">
            <a:avLst/>
          </a:prstGeom>
          <a:solidFill>
            <a:srgbClr val="F59E0B"/>
          </a:solidFill>
          <a:ln w="12700">
            <a:solidFill>
              <a:srgbClr val="FFFFFF"/>
            </a:solidFill>
            <a:prstDash val="solid"/>
          </a:ln>
        </p:spPr>
      </p:sp>
      <p:sp>
        <p:nvSpPr>
          <p:cNvPr id="81" name="Shape 79"/>
          <p:cNvSpPr/>
          <p:nvPr/>
        </p:nvSpPr>
        <p:spPr>
          <a:xfrm>
            <a:off x="5175504" y="2057400"/>
            <a:ext cx="128016" cy="128016"/>
          </a:xfrm>
          <a:prstGeom prst="ellipse">
            <a:avLst/>
          </a:prstGeom>
          <a:solidFill>
            <a:srgbClr val="009E9A"/>
          </a:solidFill>
          <a:ln w="12700">
            <a:solidFill>
              <a:srgbClr val="FFFFFF"/>
            </a:solidFill>
            <a:prstDash val="solid"/>
          </a:ln>
        </p:spPr>
      </p:sp>
      <p:sp>
        <p:nvSpPr>
          <p:cNvPr id="82" name="Shape 80"/>
          <p:cNvSpPr/>
          <p:nvPr/>
        </p:nvSpPr>
        <p:spPr>
          <a:xfrm>
            <a:off x="5458968" y="2057400"/>
            <a:ext cx="128016" cy="128016"/>
          </a:xfrm>
          <a:prstGeom prst="ellipse">
            <a:avLst/>
          </a:prstGeom>
          <a:solidFill>
            <a:srgbClr val="009E9A"/>
          </a:solidFill>
          <a:ln w="12700">
            <a:solidFill>
              <a:srgbClr val="FFFFFF"/>
            </a:solidFill>
            <a:prstDash val="solid"/>
          </a:ln>
        </p:spPr>
      </p:sp>
      <p:sp>
        <p:nvSpPr>
          <p:cNvPr id="83" name="Shape 81"/>
          <p:cNvSpPr/>
          <p:nvPr/>
        </p:nvSpPr>
        <p:spPr>
          <a:xfrm>
            <a:off x="5742432" y="2057400"/>
            <a:ext cx="128016" cy="128016"/>
          </a:xfrm>
          <a:prstGeom prst="ellipse">
            <a:avLst/>
          </a:prstGeom>
          <a:solidFill>
            <a:srgbClr val="009E9A"/>
          </a:solidFill>
          <a:ln w="12700">
            <a:solidFill>
              <a:srgbClr val="FFFFFF"/>
            </a:solidFill>
            <a:prstDash val="solid"/>
          </a:ln>
        </p:spPr>
      </p:sp>
      <p:sp>
        <p:nvSpPr>
          <p:cNvPr id="84" name="Shape 82"/>
          <p:cNvSpPr/>
          <p:nvPr/>
        </p:nvSpPr>
        <p:spPr>
          <a:xfrm>
            <a:off x="6025896" y="2057400"/>
            <a:ext cx="128016" cy="128016"/>
          </a:xfrm>
          <a:prstGeom prst="ellipse">
            <a:avLst/>
          </a:prstGeom>
          <a:solidFill>
            <a:srgbClr val="009E9A"/>
          </a:solidFill>
          <a:ln w="12700">
            <a:solidFill>
              <a:srgbClr val="FFFFFF"/>
            </a:solidFill>
            <a:prstDash val="solid"/>
          </a:ln>
        </p:spPr>
      </p:sp>
      <p:sp>
        <p:nvSpPr>
          <p:cNvPr id="85" name="Shape 83"/>
          <p:cNvSpPr/>
          <p:nvPr/>
        </p:nvSpPr>
        <p:spPr>
          <a:xfrm>
            <a:off x="6309360" y="2057400"/>
            <a:ext cx="128016" cy="128016"/>
          </a:xfrm>
          <a:prstGeom prst="ellipse">
            <a:avLst/>
          </a:prstGeom>
          <a:solidFill>
            <a:srgbClr val="F59E0B"/>
          </a:solidFill>
          <a:ln w="12700">
            <a:solidFill>
              <a:srgbClr val="FFFFFF"/>
            </a:solidFill>
            <a:prstDash val="solid"/>
          </a:ln>
        </p:spPr>
      </p:sp>
      <p:sp>
        <p:nvSpPr>
          <p:cNvPr id="86" name="Shape 84"/>
          <p:cNvSpPr/>
          <p:nvPr/>
        </p:nvSpPr>
        <p:spPr>
          <a:xfrm>
            <a:off x="4892040" y="2468880"/>
            <a:ext cx="128016" cy="128016"/>
          </a:xfrm>
          <a:prstGeom prst="ellipse">
            <a:avLst/>
          </a:prstGeom>
          <a:solidFill>
            <a:srgbClr val="009E9A"/>
          </a:solidFill>
          <a:ln w="12700">
            <a:solidFill>
              <a:srgbClr val="FFFFFF"/>
            </a:solidFill>
            <a:prstDash val="solid"/>
          </a:ln>
        </p:spPr>
      </p:sp>
      <p:sp>
        <p:nvSpPr>
          <p:cNvPr id="87" name="Shape 85"/>
          <p:cNvSpPr/>
          <p:nvPr/>
        </p:nvSpPr>
        <p:spPr>
          <a:xfrm>
            <a:off x="5175504" y="2468880"/>
            <a:ext cx="128016" cy="128016"/>
          </a:xfrm>
          <a:prstGeom prst="ellipse">
            <a:avLst/>
          </a:prstGeom>
          <a:solidFill>
            <a:srgbClr val="009E9A"/>
          </a:solidFill>
          <a:ln w="12700">
            <a:solidFill>
              <a:srgbClr val="FFFFFF"/>
            </a:solidFill>
            <a:prstDash val="solid"/>
          </a:ln>
        </p:spPr>
      </p:sp>
      <p:sp>
        <p:nvSpPr>
          <p:cNvPr id="88" name="Shape 86"/>
          <p:cNvSpPr/>
          <p:nvPr/>
        </p:nvSpPr>
        <p:spPr>
          <a:xfrm>
            <a:off x="5458968" y="2468880"/>
            <a:ext cx="128016" cy="128016"/>
          </a:xfrm>
          <a:prstGeom prst="ellipse">
            <a:avLst/>
          </a:prstGeom>
          <a:solidFill>
            <a:srgbClr val="009E9A"/>
          </a:solidFill>
          <a:ln w="12700">
            <a:solidFill>
              <a:srgbClr val="FFFFFF"/>
            </a:solidFill>
            <a:prstDash val="solid"/>
          </a:ln>
        </p:spPr>
      </p:sp>
      <p:sp>
        <p:nvSpPr>
          <p:cNvPr id="89" name="Shape 87"/>
          <p:cNvSpPr/>
          <p:nvPr/>
        </p:nvSpPr>
        <p:spPr>
          <a:xfrm>
            <a:off x="5742432" y="2468880"/>
            <a:ext cx="128016" cy="128016"/>
          </a:xfrm>
          <a:prstGeom prst="ellipse">
            <a:avLst/>
          </a:prstGeom>
          <a:solidFill>
            <a:srgbClr val="009E9A"/>
          </a:solidFill>
          <a:ln w="12700">
            <a:solidFill>
              <a:srgbClr val="FFFFFF"/>
            </a:solidFill>
            <a:prstDash val="solid"/>
          </a:ln>
        </p:spPr>
      </p:sp>
      <p:sp>
        <p:nvSpPr>
          <p:cNvPr id="90" name="Shape 88"/>
          <p:cNvSpPr/>
          <p:nvPr/>
        </p:nvSpPr>
        <p:spPr>
          <a:xfrm>
            <a:off x="6025896" y="2468880"/>
            <a:ext cx="128016" cy="128016"/>
          </a:xfrm>
          <a:prstGeom prst="ellipse">
            <a:avLst/>
          </a:prstGeom>
          <a:solidFill>
            <a:srgbClr val="F59E0B"/>
          </a:solidFill>
          <a:ln w="12700">
            <a:solidFill>
              <a:srgbClr val="FFFFFF"/>
            </a:solidFill>
            <a:prstDash val="solid"/>
          </a:ln>
        </p:spPr>
      </p:sp>
      <p:sp>
        <p:nvSpPr>
          <p:cNvPr id="91" name="Shape 89"/>
          <p:cNvSpPr/>
          <p:nvPr/>
        </p:nvSpPr>
        <p:spPr>
          <a:xfrm>
            <a:off x="6309360" y="2468880"/>
            <a:ext cx="128016" cy="128016"/>
          </a:xfrm>
          <a:prstGeom prst="ellipse">
            <a:avLst/>
          </a:prstGeom>
          <a:solidFill>
            <a:srgbClr val="009E9A"/>
          </a:solidFill>
          <a:ln w="12700">
            <a:solidFill>
              <a:srgbClr val="FFFFFF"/>
            </a:solidFill>
            <a:prstDash val="solid"/>
          </a:ln>
        </p:spPr>
      </p:sp>
      <p:sp>
        <p:nvSpPr>
          <p:cNvPr id="92" name="Shape 90"/>
          <p:cNvSpPr/>
          <p:nvPr/>
        </p:nvSpPr>
        <p:spPr>
          <a:xfrm>
            <a:off x="4892040" y="2880360"/>
            <a:ext cx="128016" cy="128016"/>
          </a:xfrm>
          <a:prstGeom prst="ellipse">
            <a:avLst/>
          </a:prstGeom>
          <a:solidFill>
            <a:srgbClr val="009E9A"/>
          </a:solidFill>
          <a:ln w="12700">
            <a:solidFill>
              <a:srgbClr val="FFFFFF"/>
            </a:solidFill>
            <a:prstDash val="solid"/>
          </a:ln>
        </p:spPr>
      </p:sp>
      <p:sp>
        <p:nvSpPr>
          <p:cNvPr id="93" name="Shape 91"/>
          <p:cNvSpPr/>
          <p:nvPr/>
        </p:nvSpPr>
        <p:spPr>
          <a:xfrm>
            <a:off x="5175504" y="2880360"/>
            <a:ext cx="128016" cy="128016"/>
          </a:xfrm>
          <a:prstGeom prst="ellipse">
            <a:avLst/>
          </a:prstGeom>
          <a:solidFill>
            <a:srgbClr val="009E9A"/>
          </a:solidFill>
          <a:ln w="12700">
            <a:solidFill>
              <a:srgbClr val="FFFFFF"/>
            </a:solidFill>
            <a:prstDash val="solid"/>
          </a:ln>
        </p:spPr>
      </p:sp>
      <p:sp>
        <p:nvSpPr>
          <p:cNvPr id="94" name="Shape 92"/>
          <p:cNvSpPr/>
          <p:nvPr/>
        </p:nvSpPr>
        <p:spPr>
          <a:xfrm>
            <a:off x="5458968" y="2880360"/>
            <a:ext cx="128016" cy="128016"/>
          </a:xfrm>
          <a:prstGeom prst="ellipse">
            <a:avLst/>
          </a:prstGeom>
          <a:solidFill>
            <a:srgbClr val="009E9A"/>
          </a:solidFill>
          <a:ln w="12700">
            <a:solidFill>
              <a:srgbClr val="FFFFFF"/>
            </a:solidFill>
            <a:prstDash val="solid"/>
          </a:ln>
        </p:spPr>
      </p:sp>
      <p:sp>
        <p:nvSpPr>
          <p:cNvPr id="95" name="Shape 93"/>
          <p:cNvSpPr/>
          <p:nvPr/>
        </p:nvSpPr>
        <p:spPr>
          <a:xfrm>
            <a:off x="5742432" y="2880360"/>
            <a:ext cx="128016" cy="128016"/>
          </a:xfrm>
          <a:prstGeom prst="ellipse">
            <a:avLst/>
          </a:prstGeom>
          <a:solidFill>
            <a:srgbClr val="F59E0B"/>
          </a:solidFill>
          <a:ln w="12700">
            <a:solidFill>
              <a:srgbClr val="FFFFFF"/>
            </a:solidFill>
            <a:prstDash val="solid"/>
          </a:ln>
        </p:spPr>
      </p:sp>
      <p:sp>
        <p:nvSpPr>
          <p:cNvPr id="96" name="Shape 94"/>
          <p:cNvSpPr/>
          <p:nvPr/>
        </p:nvSpPr>
        <p:spPr>
          <a:xfrm>
            <a:off x="6025896" y="2880360"/>
            <a:ext cx="128016" cy="128016"/>
          </a:xfrm>
          <a:prstGeom prst="ellipse">
            <a:avLst/>
          </a:prstGeom>
          <a:solidFill>
            <a:srgbClr val="009E9A"/>
          </a:solidFill>
          <a:ln w="12700">
            <a:solidFill>
              <a:srgbClr val="FFFFFF"/>
            </a:solidFill>
            <a:prstDash val="solid"/>
          </a:ln>
        </p:spPr>
      </p:sp>
      <p:sp>
        <p:nvSpPr>
          <p:cNvPr id="97" name="Shape 95"/>
          <p:cNvSpPr/>
          <p:nvPr/>
        </p:nvSpPr>
        <p:spPr>
          <a:xfrm>
            <a:off x="6309360" y="2880360"/>
            <a:ext cx="128016" cy="128016"/>
          </a:xfrm>
          <a:prstGeom prst="ellipse">
            <a:avLst/>
          </a:prstGeom>
          <a:solidFill>
            <a:srgbClr val="009E9A"/>
          </a:solidFill>
          <a:ln w="12700">
            <a:solidFill>
              <a:srgbClr val="FFFFFF"/>
            </a:solidFill>
            <a:prstDash val="solid"/>
          </a:ln>
        </p:spPr>
      </p:sp>
      <p:sp>
        <p:nvSpPr>
          <p:cNvPr id="98" name="Shape 96"/>
          <p:cNvSpPr/>
          <p:nvPr/>
        </p:nvSpPr>
        <p:spPr>
          <a:xfrm>
            <a:off x="6903720" y="2359152"/>
            <a:ext cx="594360" cy="914400"/>
          </a:xfrm>
          <a:prstGeom prst="chevron">
            <a:avLst/>
          </a:prstGeom>
          <a:solidFill>
            <a:srgbClr val="AEB8C5"/>
          </a:solidFill>
          <a:ln w="12700">
            <a:solidFill>
              <a:srgbClr val="AEB8C5"/>
            </a:solidFill>
            <a:prstDash val="solid"/>
          </a:ln>
        </p:spPr>
      </p:sp>
      <p:sp>
        <p:nvSpPr>
          <p:cNvPr id="99" name="Shape 97"/>
          <p:cNvSpPr/>
          <p:nvPr/>
        </p:nvSpPr>
        <p:spPr>
          <a:xfrm>
            <a:off x="7845552" y="1719072"/>
            <a:ext cx="3401568" cy="2029968"/>
          </a:xfrm>
          <a:prstGeom prst="roundRect">
            <a:avLst>
              <a:gd name="adj" fmla="val 3604"/>
            </a:avLst>
          </a:prstGeom>
          <a:solidFill>
            <a:srgbClr val="EAF7EF"/>
          </a:solidFill>
          <a:ln w="10160">
            <a:solidFill>
              <a:srgbClr val="E9EEF5"/>
            </a:solidFill>
            <a:prstDash val="solid"/>
          </a:ln>
        </p:spPr>
      </p:sp>
      <p:sp>
        <p:nvSpPr>
          <p:cNvPr id="100" name="Text 98"/>
          <p:cNvSpPr/>
          <p:nvPr/>
        </p:nvSpPr>
        <p:spPr>
          <a:xfrm>
            <a:off x="8010144" y="1856232"/>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Estimate</a:t>
            </a:r>
            <a:endParaRPr lang="en-US" sz="1500" dirty="0"/>
          </a:p>
        </p:txBody>
      </p:sp>
      <p:sp>
        <p:nvSpPr>
          <p:cNvPr id="101" name="Text 99"/>
          <p:cNvSpPr/>
          <p:nvPr/>
        </p:nvSpPr>
        <p:spPr>
          <a:xfrm>
            <a:off x="8010144" y="2194560"/>
            <a:ext cx="3072384" cy="142646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Sample mean</a:t>
            </a:r>
            <a:endParaRPr lang="en-US" sz="1150" dirty="0"/>
          </a:p>
          <a:p>
            <a:pPr marL="0" indent="0">
              <a:buNone/>
            </a:pPr>
            <a:r>
              <a:rPr lang="en-US" sz="1150" dirty="0">
                <a:solidFill>
                  <a:srgbClr val="26364A"/>
                </a:solidFill>
              </a:rPr>
              <a:t>Sample default rate</a:t>
            </a:r>
            <a:endParaRPr lang="en-US" sz="1150" dirty="0"/>
          </a:p>
          <a:p>
            <a:pPr marL="0" indent="0">
              <a:buNone/>
            </a:pPr>
            <a:r>
              <a:rPr lang="en-US" sz="1150" dirty="0">
                <a:solidFill>
                  <a:srgbClr val="26364A"/>
                </a:solidFill>
              </a:rPr>
              <a:t>Sample correlation</a:t>
            </a:r>
            <a:endParaRPr lang="en-US" sz="1150" dirty="0"/>
          </a:p>
          <a:p>
            <a:pPr marL="0" indent="0">
              <a:buNone/>
            </a:pPr>
            <a:r>
              <a:rPr lang="en-US" sz="1150" dirty="0">
                <a:solidFill>
                  <a:srgbClr val="26364A"/>
                </a:solidFill>
              </a:rPr>
              <a:t>… each has uncertainty.</a:t>
            </a:r>
            <a:endParaRPr lang="en-US" sz="1150" dirty="0"/>
          </a:p>
        </p:txBody>
      </p:sp>
      <p:sp>
        <p:nvSpPr>
          <p:cNvPr id="102" name="Shape 100"/>
          <p:cNvSpPr/>
          <p:nvPr/>
        </p:nvSpPr>
        <p:spPr>
          <a:xfrm>
            <a:off x="1005840" y="4370832"/>
            <a:ext cx="100584" cy="100584"/>
          </a:xfrm>
          <a:prstGeom prst="ellipse">
            <a:avLst/>
          </a:prstGeom>
          <a:solidFill>
            <a:srgbClr val="009E9A"/>
          </a:solidFill>
          <a:ln w="12700">
            <a:solidFill>
              <a:srgbClr val="009E9A"/>
            </a:solidFill>
            <a:prstDash val="solid"/>
          </a:ln>
        </p:spPr>
      </p:sp>
      <p:sp>
        <p:nvSpPr>
          <p:cNvPr id="103" name="Text 101"/>
          <p:cNvSpPr/>
          <p:nvPr/>
        </p:nvSpPr>
        <p:spPr>
          <a:xfrm>
            <a:off x="1207008" y="4279392"/>
            <a:ext cx="9720072" cy="390144"/>
          </a:xfrm>
          <a:prstGeom prst="rect">
            <a:avLst/>
          </a:prstGeom>
          <a:noFill/>
          <a:ln/>
        </p:spPr>
        <p:txBody>
          <a:bodyPr wrap="square" lIns="0" tIns="0" rIns="0" bIns="0" rtlCol="0" anchor="ctr">
            <a:normAutofit/>
          </a:bodyPr>
          <a:lstStyle/>
          <a:p>
            <a:pPr marL="0" indent="0">
              <a:buNone/>
            </a:pPr>
            <a:r>
              <a:rPr lang="en-US" sz="1300" dirty="0">
                <a:solidFill>
                  <a:srgbClr val="26364A"/>
                </a:solidFill>
              </a:rPr>
              <a:t>Larger, representative samples usually reduce uncertainty.</a:t>
            </a:r>
            <a:endParaRPr lang="en-US" sz="1300" dirty="0"/>
          </a:p>
        </p:txBody>
      </p:sp>
      <p:sp>
        <p:nvSpPr>
          <p:cNvPr id="104" name="Shape 102"/>
          <p:cNvSpPr/>
          <p:nvPr/>
        </p:nvSpPr>
        <p:spPr>
          <a:xfrm>
            <a:off x="1005840" y="4760976"/>
            <a:ext cx="100584" cy="100584"/>
          </a:xfrm>
          <a:prstGeom prst="ellipse">
            <a:avLst/>
          </a:prstGeom>
          <a:solidFill>
            <a:srgbClr val="009E9A"/>
          </a:solidFill>
          <a:ln w="12700">
            <a:solidFill>
              <a:srgbClr val="009E9A"/>
            </a:solidFill>
            <a:prstDash val="solid"/>
          </a:ln>
        </p:spPr>
      </p:sp>
      <p:sp>
        <p:nvSpPr>
          <p:cNvPr id="105" name="Text 103"/>
          <p:cNvSpPr/>
          <p:nvPr/>
        </p:nvSpPr>
        <p:spPr>
          <a:xfrm>
            <a:off x="1207008" y="4669536"/>
            <a:ext cx="9720072" cy="390144"/>
          </a:xfrm>
          <a:prstGeom prst="rect">
            <a:avLst/>
          </a:prstGeom>
          <a:noFill/>
          <a:ln/>
        </p:spPr>
        <p:txBody>
          <a:bodyPr wrap="square" lIns="0" tIns="0" rIns="0" bIns="0" rtlCol="0" anchor="ctr">
            <a:normAutofit/>
          </a:bodyPr>
          <a:lstStyle/>
          <a:p>
            <a:pPr marL="0" indent="0">
              <a:buNone/>
            </a:pPr>
            <a:r>
              <a:rPr lang="en-US" sz="1300" dirty="0">
                <a:solidFill>
                  <a:srgbClr val="26364A"/>
                </a:solidFill>
              </a:rPr>
              <a:t>Biased samples can be precise but wrong.</a:t>
            </a:r>
            <a:endParaRPr lang="en-US" sz="1300" dirty="0"/>
          </a:p>
        </p:txBody>
      </p:sp>
      <p:sp>
        <p:nvSpPr>
          <p:cNvPr id="106" name="Shape 104"/>
          <p:cNvSpPr/>
          <p:nvPr/>
        </p:nvSpPr>
        <p:spPr>
          <a:xfrm>
            <a:off x="1005840" y="5151120"/>
            <a:ext cx="100584" cy="100584"/>
          </a:xfrm>
          <a:prstGeom prst="ellipse">
            <a:avLst/>
          </a:prstGeom>
          <a:solidFill>
            <a:srgbClr val="009E9A"/>
          </a:solidFill>
          <a:ln w="12700">
            <a:solidFill>
              <a:srgbClr val="009E9A"/>
            </a:solidFill>
            <a:prstDash val="solid"/>
          </a:ln>
        </p:spPr>
      </p:sp>
      <p:sp>
        <p:nvSpPr>
          <p:cNvPr id="107" name="Text 105"/>
          <p:cNvSpPr/>
          <p:nvPr/>
        </p:nvSpPr>
        <p:spPr>
          <a:xfrm>
            <a:off x="1207008" y="5059680"/>
            <a:ext cx="9720072" cy="390144"/>
          </a:xfrm>
          <a:prstGeom prst="rect">
            <a:avLst/>
          </a:prstGeom>
          <a:noFill/>
          <a:ln/>
        </p:spPr>
        <p:txBody>
          <a:bodyPr wrap="square" lIns="0" tIns="0" rIns="0" bIns="0" rtlCol="0" anchor="ctr">
            <a:normAutofit/>
          </a:bodyPr>
          <a:lstStyle/>
          <a:p>
            <a:pPr marL="0" indent="0">
              <a:buNone/>
            </a:pPr>
            <a:r>
              <a:rPr lang="en-US" sz="1300" dirty="0">
                <a:solidFill>
                  <a:srgbClr val="26364A"/>
                </a:solidFill>
              </a:rPr>
              <a:t>Always ask: “how was this data selected?”</a:t>
            </a:r>
            <a:endParaRPr lang="en-US" sz="1300" dirty="0"/>
          </a:p>
        </p:txBody>
      </p:sp>
      <p:sp>
        <p:nvSpPr>
          <p:cNvPr id="10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05 · CORRELATION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Correlation: how two numeric variables move together</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Correlation quantifies the strength and direction of a linear relationship.</a:t>
            </a:r>
            <a:endParaRPr lang="en-US" sz="1300" dirty="0"/>
          </a:p>
        </p:txBody>
      </p:sp>
      <p:sp>
        <p:nvSpPr>
          <p:cNvPr id="7" name="Shape 5"/>
          <p:cNvSpPr/>
          <p:nvPr/>
        </p:nvSpPr>
        <p:spPr>
          <a:xfrm>
            <a:off x="868680" y="3749040"/>
            <a:ext cx="2926080" cy="0"/>
          </a:xfrm>
          <a:prstGeom prst="line">
            <a:avLst/>
          </a:prstGeom>
          <a:noFill/>
          <a:ln w="12700">
            <a:solidFill>
              <a:srgbClr val="AEB8C5"/>
            </a:solidFill>
            <a:prstDash val="solid"/>
          </a:ln>
        </p:spPr>
      </p:sp>
      <p:sp>
        <p:nvSpPr>
          <p:cNvPr id="8" name="Shape 6"/>
          <p:cNvSpPr/>
          <p:nvPr/>
        </p:nvSpPr>
        <p:spPr>
          <a:xfrm>
            <a:off x="868680" y="1828800"/>
            <a:ext cx="0" cy="1920240"/>
          </a:xfrm>
          <a:prstGeom prst="line">
            <a:avLst/>
          </a:prstGeom>
          <a:noFill/>
          <a:ln w="12700">
            <a:solidFill>
              <a:srgbClr val="AEB8C5"/>
            </a:solidFill>
            <a:prstDash val="solid"/>
          </a:ln>
        </p:spPr>
      </p:sp>
      <p:sp>
        <p:nvSpPr>
          <p:cNvPr id="9" name="Text 7"/>
          <p:cNvSpPr/>
          <p:nvPr/>
        </p:nvSpPr>
        <p:spPr>
          <a:xfrm>
            <a:off x="868680" y="1554480"/>
            <a:ext cx="2926080" cy="201168"/>
          </a:xfrm>
          <a:prstGeom prst="rect">
            <a:avLst/>
          </a:prstGeom>
          <a:noFill/>
          <a:ln/>
        </p:spPr>
        <p:txBody>
          <a:bodyPr wrap="square" lIns="0" tIns="0" rIns="0" bIns="0" rtlCol="0" anchor="ctr"/>
          <a:lstStyle/>
          <a:p>
            <a:pPr marL="0" indent="0" algn="ctr">
              <a:buNone/>
            </a:pPr>
            <a:r>
              <a:rPr lang="en-US" sz="1000" b="1" dirty="0">
                <a:solidFill>
                  <a:srgbClr val="0B1F33"/>
                </a:solidFill>
              </a:rPr>
              <a:t>Positive correlation</a:t>
            </a:r>
            <a:endParaRPr lang="en-US" sz="1000" dirty="0"/>
          </a:p>
        </p:txBody>
      </p:sp>
      <p:sp>
        <p:nvSpPr>
          <p:cNvPr id="10" name="Shape 8"/>
          <p:cNvSpPr/>
          <p:nvPr/>
        </p:nvSpPr>
        <p:spPr>
          <a:xfrm>
            <a:off x="1129284" y="3429000"/>
            <a:ext cx="64008" cy="64008"/>
          </a:xfrm>
          <a:prstGeom prst="ellipse">
            <a:avLst/>
          </a:prstGeom>
          <a:solidFill>
            <a:srgbClr val="2F6BFF"/>
          </a:solidFill>
          <a:ln w="12700">
            <a:solidFill>
              <a:srgbClr val="2F6BFF"/>
            </a:solidFill>
            <a:prstDash val="solid"/>
          </a:ln>
        </p:spPr>
      </p:sp>
      <p:sp>
        <p:nvSpPr>
          <p:cNvPr id="11" name="Shape 9"/>
          <p:cNvSpPr/>
          <p:nvPr/>
        </p:nvSpPr>
        <p:spPr>
          <a:xfrm>
            <a:off x="1421892" y="3236976"/>
            <a:ext cx="64008" cy="64008"/>
          </a:xfrm>
          <a:prstGeom prst="ellipse">
            <a:avLst/>
          </a:prstGeom>
          <a:solidFill>
            <a:srgbClr val="2F6BFF"/>
          </a:solidFill>
          <a:ln w="12700">
            <a:solidFill>
              <a:srgbClr val="2F6BFF"/>
            </a:solidFill>
            <a:prstDash val="solid"/>
          </a:ln>
        </p:spPr>
      </p:sp>
      <p:sp>
        <p:nvSpPr>
          <p:cNvPr id="12" name="Shape 10"/>
          <p:cNvSpPr/>
          <p:nvPr/>
        </p:nvSpPr>
        <p:spPr>
          <a:xfrm>
            <a:off x="1773022" y="3140964"/>
            <a:ext cx="64008" cy="64008"/>
          </a:xfrm>
          <a:prstGeom prst="ellipse">
            <a:avLst/>
          </a:prstGeom>
          <a:solidFill>
            <a:srgbClr val="2F6BFF"/>
          </a:solidFill>
          <a:ln w="12700">
            <a:solidFill>
              <a:srgbClr val="2F6BFF"/>
            </a:solidFill>
            <a:prstDash val="solid"/>
          </a:ln>
        </p:spPr>
      </p:sp>
      <p:sp>
        <p:nvSpPr>
          <p:cNvPr id="13" name="Shape 11"/>
          <p:cNvSpPr/>
          <p:nvPr/>
        </p:nvSpPr>
        <p:spPr>
          <a:xfrm>
            <a:off x="2153412" y="2756916"/>
            <a:ext cx="64008" cy="64008"/>
          </a:xfrm>
          <a:prstGeom prst="ellipse">
            <a:avLst/>
          </a:prstGeom>
          <a:solidFill>
            <a:srgbClr val="2F6BFF"/>
          </a:solidFill>
          <a:ln w="12700">
            <a:solidFill>
              <a:srgbClr val="2F6BFF"/>
            </a:solidFill>
            <a:prstDash val="solid"/>
          </a:ln>
        </p:spPr>
      </p:sp>
      <p:sp>
        <p:nvSpPr>
          <p:cNvPr id="14" name="Shape 12"/>
          <p:cNvSpPr/>
          <p:nvPr/>
        </p:nvSpPr>
        <p:spPr>
          <a:xfrm>
            <a:off x="2533802" y="2622499"/>
            <a:ext cx="64008" cy="64008"/>
          </a:xfrm>
          <a:prstGeom prst="ellipse">
            <a:avLst/>
          </a:prstGeom>
          <a:solidFill>
            <a:srgbClr val="2F6BFF"/>
          </a:solidFill>
          <a:ln w="12700">
            <a:solidFill>
              <a:srgbClr val="2F6BFF"/>
            </a:solidFill>
            <a:prstDash val="solid"/>
          </a:ln>
        </p:spPr>
      </p:sp>
      <p:sp>
        <p:nvSpPr>
          <p:cNvPr id="15" name="Shape 13"/>
          <p:cNvSpPr/>
          <p:nvPr/>
        </p:nvSpPr>
        <p:spPr>
          <a:xfrm>
            <a:off x="2884932" y="2257654"/>
            <a:ext cx="64008" cy="64008"/>
          </a:xfrm>
          <a:prstGeom prst="ellipse">
            <a:avLst/>
          </a:prstGeom>
          <a:solidFill>
            <a:srgbClr val="2F6BFF"/>
          </a:solidFill>
          <a:ln w="12700">
            <a:solidFill>
              <a:srgbClr val="2F6BFF"/>
            </a:solidFill>
            <a:prstDash val="solid"/>
          </a:ln>
        </p:spPr>
      </p:sp>
      <p:sp>
        <p:nvSpPr>
          <p:cNvPr id="16" name="Shape 14"/>
          <p:cNvSpPr/>
          <p:nvPr/>
        </p:nvSpPr>
        <p:spPr>
          <a:xfrm>
            <a:off x="3323844" y="2027225"/>
            <a:ext cx="64008" cy="64008"/>
          </a:xfrm>
          <a:prstGeom prst="ellipse">
            <a:avLst/>
          </a:prstGeom>
          <a:solidFill>
            <a:srgbClr val="2F6BFF"/>
          </a:solidFill>
          <a:ln w="12700">
            <a:solidFill>
              <a:srgbClr val="2F6BFF"/>
            </a:solidFill>
            <a:prstDash val="solid"/>
          </a:ln>
        </p:spPr>
      </p:sp>
      <p:sp>
        <p:nvSpPr>
          <p:cNvPr id="17" name="Shape 15"/>
          <p:cNvSpPr/>
          <p:nvPr/>
        </p:nvSpPr>
        <p:spPr>
          <a:xfrm>
            <a:off x="4617720" y="3749040"/>
            <a:ext cx="2926080" cy="0"/>
          </a:xfrm>
          <a:prstGeom prst="line">
            <a:avLst/>
          </a:prstGeom>
          <a:noFill/>
          <a:ln w="12700">
            <a:solidFill>
              <a:srgbClr val="AEB8C5"/>
            </a:solidFill>
            <a:prstDash val="solid"/>
          </a:ln>
        </p:spPr>
      </p:sp>
      <p:sp>
        <p:nvSpPr>
          <p:cNvPr id="18" name="Shape 16"/>
          <p:cNvSpPr/>
          <p:nvPr/>
        </p:nvSpPr>
        <p:spPr>
          <a:xfrm>
            <a:off x="4617720" y="1828800"/>
            <a:ext cx="0" cy="1920240"/>
          </a:xfrm>
          <a:prstGeom prst="line">
            <a:avLst/>
          </a:prstGeom>
          <a:noFill/>
          <a:ln w="12700">
            <a:solidFill>
              <a:srgbClr val="AEB8C5"/>
            </a:solidFill>
            <a:prstDash val="solid"/>
          </a:ln>
        </p:spPr>
      </p:sp>
      <p:sp>
        <p:nvSpPr>
          <p:cNvPr id="19" name="Text 17"/>
          <p:cNvSpPr/>
          <p:nvPr/>
        </p:nvSpPr>
        <p:spPr>
          <a:xfrm>
            <a:off x="4617720" y="1554480"/>
            <a:ext cx="2926080" cy="201168"/>
          </a:xfrm>
          <a:prstGeom prst="rect">
            <a:avLst/>
          </a:prstGeom>
          <a:noFill/>
          <a:ln/>
        </p:spPr>
        <p:txBody>
          <a:bodyPr wrap="square" lIns="0" tIns="0" rIns="0" bIns="0" rtlCol="0" anchor="ctr"/>
          <a:lstStyle/>
          <a:p>
            <a:pPr marL="0" indent="0" algn="ctr">
              <a:buNone/>
            </a:pPr>
            <a:r>
              <a:rPr lang="en-US" sz="1000" b="1" dirty="0">
                <a:solidFill>
                  <a:srgbClr val="0B1F33"/>
                </a:solidFill>
              </a:rPr>
              <a:t>Negative correlation</a:t>
            </a:r>
            <a:endParaRPr lang="en-US" sz="1000" dirty="0"/>
          </a:p>
        </p:txBody>
      </p:sp>
      <p:sp>
        <p:nvSpPr>
          <p:cNvPr id="20" name="Shape 18"/>
          <p:cNvSpPr/>
          <p:nvPr/>
        </p:nvSpPr>
        <p:spPr>
          <a:xfrm>
            <a:off x="4878324" y="2065630"/>
            <a:ext cx="64008" cy="64008"/>
          </a:xfrm>
          <a:prstGeom prst="ellipse">
            <a:avLst/>
          </a:prstGeom>
          <a:solidFill>
            <a:srgbClr val="D94F4F"/>
          </a:solidFill>
          <a:ln w="12700">
            <a:solidFill>
              <a:srgbClr val="D94F4F"/>
            </a:solidFill>
            <a:prstDash val="solid"/>
          </a:ln>
        </p:spPr>
      </p:sp>
      <p:sp>
        <p:nvSpPr>
          <p:cNvPr id="21" name="Shape 19"/>
          <p:cNvSpPr/>
          <p:nvPr/>
        </p:nvSpPr>
        <p:spPr>
          <a:xfrm>
            <a:off x="5170932" y="2219249"/>
            <a:ext cx="64008" cy="64008"/>
          </a:xfrm>
          <a:prstGeom prst="ellipse">
            <a:avLst/>
          </a:prstGeom>
          <a:solidFill>
            <a:srgbClr val="D94F4F"/>
          </a:solidFill>
          <a:ln w="12700">
            <a:solidFill>
              <a:srgbClr val="D94F4F"/>
            </a:solidFill>
            <a:prstDash val="solid"/>
          </a:ln>
        </p:spPr>
      </p:sp>
      <p:sp>
        <p:nvSpPr>
          <p:cNvPr id="22" name="Shape 20"/>
          <p:cNvSpPr/>
          <p:nvPr/>
        </p:nvSpPr>
        <p:spPr>
          <a:xfrm>
            <a:off x="5522062" y="2430475"/>
            <a:ext cx="64008" cy="64008"/>
          </a:xfrm>
          <a:prstGeom prst="ellipse">
            <a:avLst/>
          </a:prstGeom>
          <a:solidFill>
            <a:srgbClr val="D94F4F"/>
          </a:solidFill>
          <a:ln w="12700">
            <a:solidFill>
              <a:srgbClr val="D94F4F"/>
            </a:solidFill>
            <a:prstDash val="solid"/>
          </a:ln>
        </p:spPr>
      </p:sp>
      <p:sp>
        <p:nvSpPr>
          <p:cNvPr id="23" name="Shape 21"/>
          <p:cNvSpPr/>
          <p:nvPr/>
        </p:nvSpPr>
        <p:spPr>
          <a:xfrm>
            <a:off x="5902452" y="2603297"/>
            <a:ext cx="64008" cy="64008"/>
          </a:xfrm>
          <a:prstGeom prst="ellipse">
            <a:avLst/>
          </a:prstGeom>
          <a:solidFill>
            <a:srgbClr val="D94F4F"/>
          </a:solidFill>
          <a:ln w="12700">
            <a:solidFill>
              <a:srgbClr val="D94F4F"/>
            </a:solidFill>
            <a:prstDash val="solid"/>
          </a:ln>
        </p:spPr>
      </p:sp>
      <p:sp>
        <p:nvSpPr>
          <p:cNvPr id="24" name="Shape 22"/>
          <p:cNvSpPr/>
          <p:nvPr/>
        </p:nvSpPr>
        <p:spPr>
          <a:xfrm>
            <a:off x="6282842" y="2852928"/>
            <a:ext cx="64008" cy="64008"/>
          </a:xfrm>
          <a:prstGeom prst="ellipse">
            <a:avLst/>
          </a:prstGeom>
          <a:solidFill>
            <a:srgbClr val="D94F4F"/>
          </a:solidFill>
          <a:ln w="12700">
            <a:solidFill>
              <a:srgbClr val="D94F4F"/>
            </a:solidFill>
            <a:prstDash val="solid"/>
          </a:ln>
        </p:spPr>
      </p:sp>
      <p:sp>
        <p:nvSpPr>
          <p:cNvPr id="25" name="Shape 23"/>
          <p:cNvSpPr/>
          <p:nvPr/>
        </p:nvSpPr>
        <p:spPr>
          <a:xfrm>
            <a:off x="6633972" y="3121762"/>
            <a:ext cx="64008" cy="64008"/>
          </a:xfrm>
          <a:prstGeom prst="ellipse">
            <a:avLst/>
          </a:prstGeom>
          <a:solidFill>
            <a:srgbClr val="D94F4F"/>
          </a:solidFill>
          <a:ln w="12700">
            <a:solidFill>
              <a:srgbClr val="D94F4F"/>
            </a:solidFill>
            <a:prstDash val="solid"/>
          </a:ln>
        </p:spPr>
      </p:sp>
      <p:sp>
        <p:nvSpPr>
          <p:cNvPr id="26" name="Shape 24"/>
          <p:cNvSpPr/>
          <p:nvPr/>
        </p:nvSpPr>
        <p:spPr>
          <a:xfrm>
            <a:off x="7072884" y="3371393"/>
            <a:ext cx="64008" cy="64008"/>
          </a:xfrm>
          <a:prstGeom prst="ellipse">
            <a:avLst/>
          </a:prstGeom>
          <a:solidFill>
            <a:srgbClr val="D94F4F"/>
          </a:solidFill>
          <a:ln w="12700">
            <a:solidFill>
              <a:srgbClr val="D94F4F"/>
            </a:solidFill>
            <a:prstDash val="solid"/>
          </a:ln>
        </p:spPr>
      </p:sp>
      <p:sp>
        <p:nvSpPr>
          <p:cNvPr id="27" name="Shape 25"/>
          <p:cNvSpPr/>
          <p:nvPr/>
        </p:nvSpPr>
        <p:spPr>
          <a:xfrm>
            <a:off x="8366760" y="3749040"/>
            <a:ext cx="2926080" cy="0"/>
          </a:xfrm>
          <a:prstGeom prst="line">
            <a:avLst/>
          </a:prstGeom>
          <a:noFill/>
          <a:ln w="12700">
            <a:solidFill>
              <a:srgbClr val="AEB8C5"/>
            </a:solidFill>
            <a:prstDash val="solid"/>
          </a:ln>
        </p:spPr>
      </p:sp>
      <p:sp>
        <p:nvSpPr>
          <p:cNvPr id="28" name="Shape 26"/>
          <p:cNvSpPr/>
          <p:nvPr/>
        </p:nvSpPr>
        <p:spPr>
          <a:xfrm>
            <a:off x="8366760" y="1828800"/>
            <a:ext cx="0" cy="1920240"/>
          </a:xfrm>
          <a:prstGeom prst="line">
            <a:avLst/>
          </a:prstGeom>
          <a:noFill/>
          <a:ln w="12700">
            <a:solidFill>
              <a:srgbClr val="AEB8C5"/>
            </a:solidFill>
            <a:prstDash val="solid"/>
          </a:ln>
        </p:spPr>
      </p:sp>
      <p:sp>
        <p:nvSpPr>
          <p:cNvPr id="29" name="Text 27"/>
          <p:cNvSpPr/>
          <p:nvPr/>
        </p:nvSpPr>
        <p:spPr>
          <a:xfrm>
            <a:off x="8366760" y="1554480"/>
            <a:ext cx="2926080" cy="201168"/>
          </a:xfrm>
          <a:prstGeom prst="rect">
            <a:avLst/>
          </a:prstGeom>
          <a:noFill/>
          <a:ln/>
        </p:spPr>
        <p:txBody>
          <a:bodyPr wrap="square" lIns="0" tIns="0" rIns="0" bIns="0" rtlCol="0" anchor="ctr"/>
          <a:lstStyle/>
          <a:p>
            <a:pPr marL="0" indent="0" algn="ctr">
              <a:buNone/>
            </a:pPr>
            <a:r>
              <a:rPr lang="en-US" sz="1000" b="1" dirty="0">
                <a:solidFill>
                  <a:srgbClr val="0B1F33"/>
                </a:solidFill>
              </a:rPr>
              <a:t>Little linear correlation</a:t>
            </a:r>
            <a:endParaRPr lang="en-US" sz="1000" dirty="0"/>
          </a:p>
        </p:txBody>
      </p:sp>
      <p:sp>
        <p:nvSpPr>
          <p:cNvPr id="30" name="Shape 28"/>
          <p:cNvSpPr/>
          <p:nvPr/>
        </p:nvSpPr>
        <p:spPr>
          <a:xfrm>
            <a:off x="8627364" y="3044952"/>
            <a:ext cx="64008" cy="64008"/>
          </a:xfrm>
          <a:prstGeom prst="ellipse">
            <a:avLst/>
          </a:prstGeom>
          <a:solidFill>
            <a:srgbClr val="009E9A"/>
          </a:solidFill>
          <a:ln w="12700">
            <a:solidFill>
              <a:srgbClr val="009E9A"/>
            </a:solidFill>
            <a:prstDash val="solid"/>
          </a:ln>
        </p:spPr>
      </p:sp>
      <p:sp>
        <p:nvSpPr>
          <p:cNvPr id="31" name="Shape 29"/>
          <p:cNvSpPr/>
          <p:nvPr/>
        </p:nvSpPr>
        <p:spPr>
          <a:xfrm>
            <a:off x="8919972" y="2219249"/>
            <a:ext cx="64008" cy="64008"/>
          </a:xfrm>
          <a:prstGeom prst="ellipse">
            <a:avLst/>
          </a:prstGeom>
          <a:solidFill>
            <a:srgbClr val="009E9A"/>
          </a:solidFill>
          <a:ln w="12700">
            <a:solidFill>
              <a:srgbClr val="009E9A"/>
            </a:solidFill>
            <a:prstDash val="solid"/>
          </a:ln>
        </p:spPr>
      </p:sp>
      <p:sp>
        <p:nvSpPr>
          <p:cNvPr id="32" name="Shape 30"/>
          <p:cNvSpPr/>
          <p:nvPr/>
        </p:nvSpPr>
        <p:spPr>
          <a:xfrm>
            <a:off x="9212580" y="3294583"/>
            <a:ext cx="64008" cy="64008"/>
          </a:xfrm>
          <a:prstGeom prst="ellipse">
            <a:avLst/>
          </a:prstGeom>
          <a:solidFill>
            <a:srgbClr val="009E9A"/>
          </a:solidFill>
          <a:ln w="12700">
            <a:solidFill>
              <a:srgbClr val="009E9A"/>
            </a:solidFill>
            <a:prstDash val="solid"/>
          </a:ln>
        </p:spPr>
      </p:sp>
      <p:sp>
        <p:nvSpPr>
          <p:cNvPr id="33" name="Shape 31"/>
          <p:cNvSpPr/>
          <p:nvPr/>
        </p:nvSpPr>
        <p:spPr>
          <a:xfrm>
            <a:off x="9563710" y="2545690"/>
            <a:ext cx="64008" cy="64008"/>
          </a:xfrm>
          <a:prstGeom prst="ellipse">
            <a:avLst/>
          </a:prstGeom>
          <a:solidFill>
            <a:srgbClr val="009E9A"/>
          </a:solidFill>
          <a:ln w="12700">
            <a:solidFill>
              <a:srgbClr val="009E9A"/>
            </a:solidFill>
            <a:prstDash val="solid"/>
          </a:ln>
        </p:spPr>
      </p:sp>
      <p:sp>
        <p:nvSpPr>
          <p:cNvPr id="34" name="Shape 32"/>
          <p:cNvSpPr/>
          <p:nvPr/>
        </p:nvSpPr>
        <p:spPr>
          <a:xfrm>
            <a:off x="10002622" y="2910535"/>
            <a:ext cx="64008" cy="64008"/>
          </a:xfrm>
          <a:prstGeom prst="ellipse">
            <a:avLst/>
          </a:prstGeom>
          <a:solidFill>
            <a:srgbClr val="009E9A"/>
          </a:solidFill>
          <a:ln w="12700">
            <a:solidFill>
              <a:srgbClr val="009E9A"/>
            </a:solidFill>
            <a:prstDash val="solid"/>
          </a:ln>
        </p:spPr>
      </p:sp>
      <p:sp>
        <p:nvSpPr>
          <p:cNvPr id="35" name="Shape 33"/>
          <p:cNvSpPr/>
          <p:nvPr/>
        </p:nvSpPr>
        <p:spPr>
          <a:xfrm>
            <a:off x="10441534" y="2372868"/>
            <a:ext cx="64008" cy="64008"/>
          </a:xfrm>
          <a:prstGeom prst="ellipse">
            <a:avLst/>
          </a:prstGeom>
          <a:solidFill>
            <a:srgbClr val="009E9A"/>
          </a:solidFill>
          <a:ln w="12700">
            <a:solidFill>
              <a:srgbClr val="009E9A"/>
            </a:solidFill>
            <a:prstDash val="solid"/>
          </a:ln>
        </p:spPr>
      </p:sp>
      <p:sp>
        <p:nvSpPr>
          <p:cNvPr id="36" name="Shape 34"/>
          <p:cNvSpPr/>
          <p:nvPr/>
        </p:nvSpPr>
        <p:spPr>
          <a:xfrm>
            <a:off x="10851185" y="3179369"/>
            <a:ext cx="64008" cy="64008"/>
          </a:xfrm>
          <a:prstGeom prst="ellipse">
            <a:avLst/>
          </a:prstGeom>
          <a:solidFill>
            <a:srgbClr val="009E9A"/>
          </a:solidFill>
          <a:ln w="12700">
            <a:solidFill>
              <a:srgbClr val="009E9A"/>
            </a:solidFill>
            <a:prstDash val="solid"/>
          </a:ln>
        </p:spPr>
      </p:sp>
      <p:sp>
        <p:nvSpPr>
          <p:cNvPr id="37" name="Shape 35"/>
          <p:cNvSpPr/>
          <p:nvPr/>
        </p:nvSpPr>
        <p:spPr>
          <a:xfrm>
            <a:off x="950976" y="4315968"/>
            <a:ext cx="2770632" cy="960120"/>
          </a:xfrm>
          <a:prstGeom prst="roundRect">
            <a:avLst>
              <a:gd name="adj" fmla="val 7619"/>
            </a:avLst>
          </a:prstGeom>
          <a:solidFill>
            <a:srgbClr val="EAF1FF"/>
          </a:solidFill>
          <a:ln w="10160">
            <a:solidFill>
              <a:srgbClr val="E9EEF5"/>
            </a:solidFill>
            <a:prstDash val="solid"/>
          </a:ln>
        </p:spPr>
      </p:sp>
      <p:sp>
        <p:nvSpPr>
          <p:cNvPr id="38" name="Text 36"/>
          <p:cNvSpPr/>
          <p:nvPr/>
        </p:nvSpPr>
        <p:spPr>
          <a:xfrm>
            <a:off x="1115568" y="4453128"/>
            <a:ext cx="24414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 &gt; 0</a:t>
            </a:r>
            <a:endParaRPr lang="en-US" sz="1500" dirty="0"/>
          </a:p>
        </p:txBody>
      </p:sp>
      <p:sp>
        <p:nvSpPr>
          <p:cNvPr id="39" name="Text 37"/>
          <p:cNvSpPr/>
          <p:nvPr/>
        </p:nvSpPr>
        <p:spPr>
          <a:xfrm>
            <a:off x="1115568" y="4791456"/>
            <a:ext cx="2441448"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High values of X tend to occur with high values of Y.</a:t>
            </a:r>
            <a:endParaRPr lang="en-US" sz="1150" dirty="0"/>
          </a:p>
        </p:txBody>
      </p:sp>
      <p:sp>
        <p:nvSpPr>
          <p:cNvPr id="40" name="Shape 38"/>
          <p:cNvSpPr/>
          <p:nvPr/>
        </p:nvSpPr>
        <p:spPr>
          <a:xfrm>
            <a:off x="4690872" y="4315968"/>
            <a:ext cx="2770632" cy="960120"/>
          </a:xfrm>
          <a:prstGeom prst="roundRect">
            <a:avLst>
              <a:gd name="adj" fmla="val 7619"/>
            </a:avLst>
          </a:prstGeom>
          <a:solidFill>
            <a:srgbClr val="FDECEC"/>
          </a:solidFill>
          <a:ln w="10160">
            <a:solidFill>
              <a:srgbClr val="E9EEF5"/>
            </a:solidFill>
            <a:prstDash val="solid"/>
          </a:ln>
        </p:spPr>
      </p:sp>
      <p:sp>
        <p:nvSpPr>
          <p:cNvPr id="41" name="Text 39"/>
          <p:cNvSpPr/>
          <p:nvPr/>
        </p:nvSpPr>
        <p:spPr>
          <a:xfrm>
            <a:off x="4855464" y="4453128"/>
            <a:ext cx="24414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 &lt; 0</a:t>
            </a:r>
            <a:endParaRPr lang="en-US" sz="1500" dirty="0"/>
          </a:p>
        </p:txBody>
      </p:sp>
      <p:sp>
        <p:nvSpPr>
          <p:cNvPr id="42" name="Text 40"/>
          <p:cNvSpPr/>
          <p:nvPr/>
        </p:nvSpPr>
        <p:spPr>
          <a:xfrm>
            <a:off x="4855464" y="4791456"/>
            <a:ext cx="2441448"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High values of X tend to occur with low values of Y.</a:t>
            </a:r>
            <a:endParaRPr lang="en-US" sz="1150" dirty="0"/>
          </a:p>
        </p:txBody>
      </p:sp>
      <p:sp>
        <p:nvSpPr>
          <p:cNvPr id="43" name="Shape 41"/>
          <p:cNvSpPr/>
          <p:nvPr/>
        </p:nvSpPr>
        <p:spPr>
          <a:xfrm>
            <a:off x="8430768" y="4315968"/>
            <a:ext cx="2770632" cy="960120"/>
          </a:xfrm>
          <a:prstGeom prst="roundRect">
            <a:avLst>
              <a:gd name="adj" fmla="val 7619"/>
            </a:avLst>
          </a:prstGeom>
          <a:solidFill>
            <a:srgbClr val="E6F7F5"/>
          </a:solidFill>
          <a:ln w="10160">
            <a:solidFill>
              <a:srgbClr val="E9EEF5"/>
            </a:solidFill>
            <a:prstDash val="solid"/>
          </a:ln>
        </p:spPr>
      </p:sp>
      <p:sp>
        <p:nvSpPr>
          <p:cNvPr id="44" name="Text 42"/>
          <p:cNvSpPr/>
          <p:nvPr/>
        </p:nvSpPr>
        <p:spPr>
          <a:xfrm>
            <a:off x="8595360" y="4453128"/>
            <a:ext cx="24414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 ≈ 0</a:t>
            </a:r>
            <a:endParaRPr lang="en-US" sz="1500" dirty="0"/>
          </a:p>
        </p:txBody>
      </p:sp>
      <p:sp>
        <p:nvSpPr>
          <p:cNvPr id="45" name="Text 43"/>
          <p:cNvSpPr/>
          <p:nvPr/>
        </p:nvSpPr>
        <p:spPr>
          <a:xfrm>
            <a:off x="8595360" y="4791456"/>
            <a:ext cx="2441448"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No strong linear relationship — but nonlinear structure may still exist.</a:t>
            </a:r>
            <a:endParaRPr lang="en-US" sz="1150" dirty="0"/>
          </a:p>
        </p:txBody>
      </p:sp>
      <p:sp>
        <p:nvSpPr>
          <p:cNvPr id="46"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05 · CORRELATION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The Pearson correlation coefficient</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Pearson r is bounded between −1 and +1 and measures linear association.</a:t>
            </a:r>
            <a:endParaRPr lang="en-US" sz="1300" dirty="0"/>
          </a:p>
        </p:txBody>
      </p:sp>
      <p:sp>
        <p:nvSpPr>
          <p:cNvPr id="7" name="Shape 5"/>
          <p:cNvSpPr/>
          <p:nvPr/>
        </p:nvSpPr>
        <p:spPr>
          <a:xfrm>
            <a:off x="822960" y="1691640"/>
            <a:ext cx="1097280" cy="1097280"/>
          </a:xfrm>
          <a:prstGeom prst="ellipse">
            <a:avLst/>
          </a:prstGeom>
          <a:solidFill>
            <a:srgbClr val="D94F4F"/>
          </a:solidFill>
          <a:ln w="12700">
            <a:solidFill>
              <a:srgbClr val="D94F4F"/>
            </a:solidFill>
            <a:prstDash val="solid"/>
          </a:ln>
        </p:spPr>
      </p:sp>
      <p:sp>
        <p:nvSpPr>
          <p:cNvPr id="8" name="Text 6"/>
          <p:cNvSpPr/>
          <p:nvPr/>
        </p:nvSpPr>
        <p:spPr>
          <a:xfrm>
            <a:off x="822960" y="1993392"/>
            <a:ext cx="1097280" cy="2743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502920" y="2971800"/>
            <a:ext cx="1737360" cy="502920"/>
          </a:xfrm>
          <a:prstGeom prst="rect">
            <a:avLst/>
          </a:prstGeom>
          <a:noFill/>
          <a:ln/>
        </p:spPr>
        <p:txBody>
          <a:bodyPr wrap="square" lIns="0" tIns="0" rIns="0" bIns="0" rtlCol="0" anchor="ctr">
            <a:normAutofit/>
          </a:bodyPr>
          <a:lstStyle/>
          <a:p>
            <a:pPr marL="0" indent="0" algn="ctr">
              <a:buNone/>
            </a:pPr>
            <a:r>
              <a:rPr lang="en-US" sz="1050" dirty="0">
                <a:solidFill>
                  <a:srgbClr val="26364A"/>
                </a:solidFill>
              </a:rPr>
              <a:t>Perfect negative</a:t>
            </a:r>
            <a:endParaRPr lang="en-US" sz="1050" dirty="0"/>
          </a:p>
        </p:txBody>
      </p:sp>
      <p:sp>
        <p:nvSpPr>
          <p:cNvPr id="10" name="Shape 8"/>
          <p:cNvSpPr/>
          <p:nvPr/>
        </p:nvSpPr>
        <p:spPr>
          <a:xfrm>
            <a:off x="3063240" y="1691640"/>
            <a:ext cx="1097280" cy="1097280"/>
          </a:xfrm>
          <a:prstGeom prst="ellipse">
            <a:avLst/>
          </a:prstGeom>
          <a:solidFill>
            <a:srgbClr val="EA8D8D"/>
          </a:solidFill>
          <a:ln w="12700">
            <a:solidFill>
              <a:srgbClr val="EA8D8D"/>
            </a:solidFill>
            <a:prstDash val="solid"/>
          </a:ln>
        </p:spPr>
      </p:sp>
      <p:sp>
        <p:nvSpPr>
          <p:cNvPr id="11" name="Text 9"/>
          <p:cNvSpPr/>
          <p:nvPr/>
        </p:nvSpPr>
        <p:spPr>
          <a:xfrm>
            <a:off x="3063240" y="1993392"/>
            <a:ext cx="1097280" cy="27432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12" name="Text 10"/>
          <p:cNvSpPr/>
          <p:nvPr/>
        </p:nvSpPr>
        <p:spPr>
          <a:xfrm>
            <a:off x="2743200" y="2971800"/>
            <a:ext cx="1737360" cy="502920"/>
          </a:xfrm>
          <a:prstGeom prst="rect">
            <a:avLst/>
          </a:prstGeom>
          <a:noFill/>
          <a:ln/>
        </p:spPr>
        <p:txBody>
          <a:bodyPr wrap="square" lIns="0" tIns="0" rIns="0" bIns="0" rtlCol="0" anchor="ctr">
            <a:normAutofit/>
          </a:bodyPr>
          <a:lstStyle/>
          <a:p>
            <a:pPr marL="0" indent="0" algn="ctr">
              <a:buNone/>
            </a:pPr>
            <a:r>
              <a:rPr lang="en-US" sz="1050" dirty="0">
                <a:solidFill>
                  <a:srgbClr val="26364A"/>
                </a:solidFill>
              </a:rPr>
              <a:t>Moderate negative</a:t>
            </a:r>
            <a:endParaRPr lang="en-US" sz="1050" dirty="0"/>
          </a:p>
        </p:txBody>
      </p:sp>
      <p:sp>
        <p:nvSpPr>
          <p:cNvPr id="13" name="Shape 11"/>
          <p:cNvSpPr/>
          <p:nvPr/>
        </p:nvSpPr>
        <p:spPr>
          <a:xfrm>
            <a:off x="5303520" y="1691640"/>
            <a:ext cx="1097280" cy="1097280"/>
          </a:xfrm>
          <a:prstGeom prst="ellipse">
            <a:avLst/>
          </a:prstGeom>
          <a:solidFill>
            <a:srgbClr val="B8C2CC"/>
          </a:solidFill>
          <a:ln w="12700">
            <a:solidFill>
              <a:srgbClr val="B8C2CC"/>
            </a:solidFill>
            <a:prstDash val="solid"/>
          </a:ln>
        </p:spPr>
      </p:sp>
      <p:sp>
        <p:nvSpPr>
          <p:cNvPr id="14" name="Text 12"/>
          <p:cNvSpPr/>
          <p:nvPr/>
        </p:nvSpPr>
        <p:spPr>
          <a:xfrm>
            <a:off x="5303520" y="1993392"/>
            <a:ext cx="1097280" cy="274320"/>
          </a:xfrm>
          <a:prstGeom prst="rect">
            <a:avLst/>
          </a:prstGeom>
          <a:noFill/>
          <a:ln/>
        </p:spPr>
        <p:txBody>
          <a:bodyPr wrap="square" lIns="0" tIns="0" rIns="0" bIns="0" rtlCol="0" anchor="ctr"/>
          <a:lstStyle/>
          <a:p>
            <a:pPr marL="0" indent="0" algn="ctr">
              <a:buNone/>
            </a:pPr>
            <a:r>
              <a:rPr lang="en-US" sz="1800" b="1" dirty="0">
                <a:solidFill>
                  <a:srgbClr val="FFFFFF"/>
                </a:solidFill>
              </a:rPr>
              <a:t>0</a:t>
            </a:r>
            <a:endParaRPr lang="en-US" sz="1800" dirty="0"/>
          </a:p>
        </p:txBody>
      </p:sp>
      <p:sp>
        <p:nvSpPr>
          <p:cNvPr id="15" name="Text 13"/>
          <p:cNvSpPr/>
          <p:nvPr/>
        </p:nvSpPr>
        <p:spPr>
          <a:xfrm>
            <a:off x="4983480" y="2971800"/>
            <a:ext cx="1737360" cy="502920"/>
          </a:xfrm>
          <a:prstGeom prst="rect">
            <a:avLst/>
          </a:prstGeom>
          <a:noFill/>
          <a:ln/>
        </p:spPr>
        <p:txBody>
          <a:bodyPr wrap="square" lIns="0" tIns="0" rIns="0" bIns="0" rtlCol="0" anchor="ctr">
            <a:normAutofit/>
          </a:bodyPr>
          <a:lstStyle/>
          <a:p>
            <a:pPr marL="0" indent="0" algn="ctr">
              <a:buNone/>
            </a:pPr>
            <a:r>
              <a:rPr lang="en-US" sz="1050" dirty="0">
                <a:solidFill>
                  <a:srgbClr val="26364A"/>
                </a:solidFill>
              </a:rPr>
              <a:t>No linear relationship</a:t>
            </a:r>
            <a:endParaRPr lang="en-US" sz="1050" dirty="0"/>
          </a:p>
        </p:txBody>
      </p:sp>
      <p:sp>
        <p:nvSpPr>
          <p:cNvPr id="16" name="Shape 14"/>
          <p:cNvSpPr/>
          <p:nvPr/>
        </p:nvSpPr>
        <p:spPr>
          <a:xfrm>
            <a:off x="7543800" y="1691640"/>
            <a:ext cx="1097280" cy="1097280"/>
          </a:xfrm>
          <a:prstGeom prst="ellipse">
            <a:avLst/>
          </a:prstGeom>
          <a:solidFill>
            <a:srgbClr val="7EA5FF"/>
          </a:solidFill>
          <a:ln w="12700">
            <a:solidFill>
              <a:srgbClr val="7EA5FF"/>
            </a:solidFill>
            <a:prstDash val="solid"/>
          </a:ln>
        </p:spPr>
      </p:sp>
      <p:sp>
        <p:nvSpPr>
          <p:cNvPr id="17" name="Text 15"/>
          <p:cNvSpPr/>
          <p:nvPr/>
        </p:nvSpPr>
        <p:spPr>
          <a:xfrm>
            <a:off x="7543800" y="1993392"/>
            <a:ext cx="1097280" cy="27432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18" name="Text 16"/>
          <p:cNvSpPr/>
          <p:nvPr/>
        </p:nvSpPr>
        <p:spPr>
          <a:xfrm>
            <a:off x="7223760" y="2971800"/>
            <a:ext cx="1737360" cy="502920"/>
          </a:xfrm>
          <a:prstGeom prst="rect">
            <a:avLst/>
          </a:prstGeom>
          <a:noFill/>
          <a:ln/>
        </p:spPr>
        <p:txBody>
          <a:bodyPr wrap="square" lIns="0" tIns="0" rIns="0" bIns="0" rtlCol="0" anchor="ctr">
            <a:normAutofit/>
          </a:bodyPr>
          <a:lstStyle/>
          <a:p>
            <a:pPr marL="0" indent="0" algn="ctr">
              <a:buNone/>
            </a:pPr>
            <a:r>
              <a:rPr lang="en-US" sz="1050" dirty="0">
                <a:solidFill>
                  <a:srgbClr val="26364A"/>
                </a:solidFill>
              </a:rPr>
              <a:t>Moderate positive</a:t>
            </a:r>
            <a:endParaRPr lang="en-US" sz="1050" dirty="0"/>
          </a:p>
        </p:txBody>
      </p:sp>
      <p:sp>
        <p:nvSpPr>
          <p:cNvPr id="19" name="Shape 17"/>
          <p:cNvSpPr/>
          <p:nvPr/>
        </p:nvSpPr>
        <p:spPr>
          <a:xfrm>
            <a:off x="9784080" y="1691640"/>
            <a:ext cx="1097280" cy="1097280"/>
          </a:xfrm>
          <a:prstGeom prst="ellipse">
            <a:avLst/>
          </a:prstGeom>
          <a:solidFill>
            <a:srgbClr val="2F6BFF"/>
          </a:solidFill>
          <a:ln w="12700">
            <a:solidFill>
              <a:srgbClr val="2F6BFF"/>
            </a:solidFill>
            <a:prstDash val="solid"/>
          </a:ln>
        </p:spPr>
      </p:sp>
      <p:sp>
        <p:nvSpPr>
          <p:cNvPr id="20" name="Text 18"/>
          <p:cNvSpPr/>
          <p:nvPr/>
        </p:nvSpPr>
        <p:spPr>
          <a:xfrm>
            <a:off x="9784080" y="1993392"/>
            <a:ext cx="1097280" cy="2743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21" name="Text 19"/>
          <p:cNvSpPr/>
          <p:nvPr/>
        </p:nvSpPr>
        <p:spPr>
          <a:xfrm>
            <a:off x="9464040" y="2971800"/>
            <a:ext cx="1737360" cy="502920"/>
          </a:xfrm>
          <a:prstGeom prst="rect">
            <a:avLst/>
          </a:prstGeom>
          <a:noFill/>
          <a:ln/>
        </p:spPr>
        <p:txBody>
          <a:bodyPr wrap="square" lIns="0" tIns="0" rIns="0" bIns="0" rtlCol="0" anchor="ctr">
            <a:normAutofit/>
          </a:bodyPr>
          <a:lstStyle/>
          <a:p>
            <a:pPr marL="0" indent="0" algn="ctr">
              <a:buNone/>
            </a:pPr>
            <a:r>
              <a:rPr lang="en-US" sz="1050" dirty="0">
                <a:solidFill>
                  <a:srgbClr val="26364A"/>
                </a:solidFill>
              </a:rPr>
              <a:t>Perfect positive</a:t>
            </a:r>
            <a:endParaRPr lang="en-US" sz="1050" dirty="0"/>
          </a:p>
        </p:txBody>
      </p:sp>
      <p:sp>
        <p:nvSpPr>
          <p:cNvPr id="22" name="Shape 20"/>
          <p:cNvSpPr/>
          <p:nvPr/>
        </p:nvSpPr>
        <p:spPr>
          <a:xfrm>
            <a:off x="841248" y="4023360"/>
            <a:ext cx="3246120" cy="1234440"/>
          </a:xfrm>
          <a:prstGeom prst="roundRect">
            <a:avLst>
              <a:gd name="adj" fmla="val 5926"/>
            </a:avLst>
          </a:prstGeom>
          <a:solidFill>
            <a:srgbClr val="EAF1FF"/>
          </a:solidFill>
          <a:ln w="10160">
            <a:solidFill>
              <a:srgbClr val="E9EEF5"/>
            </a:solidFill>
            <a:prstDash val="solid"/>
          </a:ln>
        </p:spPr>
      </p:sp>
      <p:sp>
        <p:nvSpPr>
          <p:cNvPr id="23" name="Text 21"/>
          <p:cNvSpPr/>
          <p:nvPr/>
        </p:nvSpPr>
        <p:spPr>
          <a:xfrm>
            <a:off x="1005840" y="41605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Scale-free</a:t>
            </a:r>
            <a:endParaRPr lang="en-US" sz="1500" dirty="0"/>
          </a:p>
        </p:txBody>
      </p:sp>
      <p:sp>
        <p:nvSpPr>
          <p:cNvPr id="24" name="Text 22"/>
          <p:cNvSpPr/>
          <p:nvPr/>
        </p:nvSpPr>
        <p:spPr>
          <a:xfrm>
            <a:off x="1005840" y="4498848"/>
            <a:ext cx="2916936" cy="63093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Changing EUR to thousands of EUR does not change r.</a:t>
            </a:r>
            <a:endParaRPr lang="en-US" sz="1150" dirty="0"/>
          </a:p>
        </p:txBody>
      </p:sp>
      <p:sp>
        <p:nvSpPr>
          <p:cNvPr id="25" name="Shape 23"/>
          <p:cNvSpPr/>
          <p:nvPr/>
        </p:nvSpPr>
        <p:spPr>
          <a:xfrm>
            <a:off x="4462272" y="4023360"/>
            <a:ext cx="3246120" cy="1234440"/>
          </a:xfrm>
          <a:prstGeom prst="roundRect">
            <a:avLst>
              <a:gd name="adj" fmla="val 5926"/>
            </a:avLst>
          </a:prstGeom>
          <a:solidFill>
            <a:srgbClr val="F1EDFF"/>
          </a:solidFill>
          <a:ln w="10160">
            <a:solidFill>
              <a:srgbClr val="E9EEF5"/>
            </a:solidFill>
            <a:prstDash val="solid"/>
          </a:ln>
        </p:spPr>
      </p:sp>
      <p:sp>
        <p:nvSpPr>
          <p:cNvPr id="26" name="Text 24"/>
          <p:cNvSpPr/>
          <p:nvPr/>
        </p:nvSpPr>
        <p:spPr>
          <a:xfrm>
            <a:off x="4626864" y="41605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Linear</a:t>
            </a:r>
            <a:endParaRPr lang="en-US" sz="1500" dirty="0"/>
          </a:p>
        </p:txBody>
      </p:sp>
      <p:sp>
        <p:nvSpPr>
          <p:cNvPr id="27" name="Text 25"/>
          <p:cNvSpPr/>
          <p:nvPr/>
        </p:nvSpPr>
        <p:spPr>
          <a:xfrm>
            <a:off x="4626864" y="4498848"/>
            <a:ext cx="2916936" cy="63093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r can miss curves, thresholds and other nonlinear patterns.</a:t>
            </a:r>
            <a:endParaRPr lang="en-US" sz="1150" dirty="0"/>
          </a:p>
        </p:txBody>
      </p:sp>
      <p:sp>
        <p:nvSpPr>
          <p:cNvPr id="28" name="Shape 26"/>
          <p:cNvSpPr/>
          <p:nvPr/>
        </p:nvSpPr>
        <p:spPr>
          <a:xfrm>
            <a:off x="8083296" y="4023360"/>
            <a:ext cx="3246120" cy="1234440"/>
          </a:xfrm>
          <a:prstGeom prst="roundRect">
            <a:avLst>
              <a:gd name="adj" fmla="val 5926"/>
            </a:avLst>
          </a:prstGeom>
          <a:solidFill>
            <a:srgbClr val="FDECEC"/>
          </a:solidFill>
          <a:ln w="10160">
            <a:solidFill>
              <a:srgbClr val="E9EEF5"/>
            </a:solidFill>
            <a:prstDash val="solid"/>
          </a:ln>
        </p:spPr>
      </p:sp>
      <p:sp>
        <p:nvSpPr>
          <p:cNvPr id="29" name="Text 27"/>
          <p:cNvSpPr/>
          <p:nvPr/>
        </p:nvSpPr>
        <p:spPr>
          <a:xfrm>
            <a:off x="8247888" y="41605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Sensitive to outliers</a:t>
            </a:r>
            <a:endParaRPr lang="en-US" sz="1500" dirty="0"/>
          </a:p>
        </p:txBody>
      </p:sp>
      <p:sp>
        <p:nvSpPr>
          <p:cNvPr id="30" name="Text 28"/>
          <p:cNvSpPr/>
          <p:nvPr/>
        </p:nvSpPr>
        <p:spPr>
          <a:xfrm>
            <a:off x="8247888" y="4498848"/>
            <a:ext cx="2916936" cy="63093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One extreme point can dramatically change the result.</a:t>
            </a:r>
            <a:endParaRPr lang="en-US" sz="1150" dirty="0"/>
          </a:p>
        </p:txBody>
      </p:sp>
      <p:sp>
        <p:nvSpPr>
          <p:cNvPr id="31" name="Shape 29"/>
          <p:cNvSpPr/>
          <p:nvPr/>
        </p:nvSpPr>
        <p:spPr>
          <a:xfrm>
            <a:off x="3273552" y="5596128"/>
            <a:ext cx="5715000" cy="502920"/>
          </a:xfrm>
          <a:prstGeom prst="roundRect">
            <a:avLst>
              <a:gd name="adj" fmla="val 9091"/>
            </a:avLst>
          </a:prstGeom>
          <a:solidFill>
            <a:srgbClr val="FFFFFF"/>
          </a:solidFill>
          <a:ln w="15240">
            <a:solidFill>
              <a:srgbClr val="009E9A"/>
            </a:solidFill>
            <a:prstDash val="solid"/>
          </a:ln>
        </p:spPr>
      </p:sp>
      <p:sp>
        <p:nvSpPr>
          <p:cNvPr id="32" name="Shape 30"/>
          <p:cNvSpPr/>
          <p:nvPr/>
        </p:nvSpPr>
        <p:spPr>
          <a:xfrm>
            <a:off x="3273552" y="5596128"/>
            <a:ext cx="73152" cy="502920"/>
          </a:xfrm>
          <a:prstGeom prst="rect">
            <a:avLst/>
          </a:prstGeom>
          <a:solidFill>
            <a:srgbClr val="009E9A"/>
          </a:solidFill>
          <a:ln w="12700">
            <a:solidFill>
              <a:srgbClr val="009E9A"/>
            </a:solidFill>
            <a:prstDash val="solid"/>
          </a:ln>
        </p:spPr>
      </p:sp>
      <p:sp>
        <p:nvSpPr>
          <p:cNvPr id="33" name="Text 31"/>
          <p:cNvSpPr/>
          <p:nvPr/>
        </p:nvSpPr>
        <p:spPr>
          <a:xfrm>
            <a:off x="3438144" y="5705856"/>
            <a:ext cx="5458968" cy="283464"/>
          </a:xfrm>
          <a:prstGeom prst="rect">
            <a:avLst/>
          </a:prstGeom>
          <a:noFill/>
          <a:ln/>
        </p:spPr>
        <p:txBody>
          <a:bodyPr wrap="square" lIns="0" tIns="0" rIns="0" bIns="0" rtlCol="0" anchor="ctr">
            <a:normAutofit/>
          </a:bodyPr>
          <a:lstStyle/>
          <a:p>
            <a:pPr marL="0" indent="0">
              <a:buNone/>
            </a:pPr>
            <a:r>
              <a:rPr lang="en-US" sz="1150" b="1" dirty="0">
                <a:solidFill>
                  <a:srgbClr val="0B1F33"/>
                </a:solidFill>
              </a:rPr>
              <a:t>Interpret the coefficient together with a scatter plot.</a:t>
            </a:r>
            <a:endParaRPr lang="en-US" sz="1150" dirty="0"/>
          </a:p>
        </p:txBody>
      </p:sp>
      <p:sp>
        <p:nvSpPr>
          <p:cNvPr id="3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05 · CORRELATION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Correlation in Excel: CORREL + scatter plot</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number is useful; a number plus a plot is much safer.</a:t>
            </a:r>
            <a:endParaRPr lang="en-US" sz="1300" dirty="0"/>
          </a:p>
        </p:txBody>
      </p:sp>
      <p:sp>
        <p:nvSpPr>
          <p:cNvPr id="7" name="Shape 5"/>
          <p:cNvSpPr/>
          <p:nvPr/>
        </p:nvSpPr>
        <p:spPr>
          <a:xfrm>
            <a:off x="658368" y="1417320"/>
            <a:ext cx="5742432" cy="4526280"/>
          </a:xfrm>
          <a:prstGeom prst="roundRect">
            <a:avLst>
              <a:gd name="adj" fmla="val 1010"/>
            </a:avLst>
          </a:prstGeom>
          <a:solidFill>
            <a:srgbClr val="FFFFFF"/>
          </a:solidFill>
          <a:ln w="10160">
            <a:solidFill>
              <a:srgbClr val="AEB8C5"/>
            </a:solidFill>
            <a:prstDash val="solid"/>
          </a:ln>
        </p:spPr>
      </p:sp>
      <p:sp>
        <p:nvSpPr>
          <p:cNvPr id="8" name="Shape 6"/>
          <p:cNvSpPr/>
          <p:nvPr/>
        </p:nvSpPr>
        <p:spPr>
          <a:xfrm>
            <a:off x="658368" y="1417320"/>
            <a:ext cx="5742432" cy="329184"/>
          </a:xfrm>
          <a:prstGeom prst="rect">
            <a:avLst/>
          </a:prstGeom>
          <a:solidFill>
            <a:srgbClr val="217346"/>
          </a:solidFill>
          <a:ln w="12700">
            <a:solidFill>
              <a:srgbClr val="217346"/>
            </a:solidFill>
            <a:prstDash val="solid"/>
          </a:ln>
        </p:spPr>
      </p:sp>
      <p:sp>
        <p:nvSpPr>
          <p:cNvPr id="9" name="Shape 7"/>
          <p:cNvSpPr/>
          <p:nvPr/>
        </p:nvSpPr>
        <p:spPr>
          <a:xfrm>
            <a:off x="768096" y="1463040"/>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68096" y="1472184"/>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78992" y="1490472"/>
            <a:ext cx="5212080" cy="182880"/>
          </a:xfrm>
          <a:prstGeom prst="rect">
            <a:avLst/>
          </a:prstGeom>
          <a:noFill/>
          <a:ln/>
        </p:spPr>
        <p:txBody>
          <a:bodyPr wrap="square" lIns="0" tIns="0" rIns="0" bIns="0" rtlCol="0" anchor="ctr"/>
          <a:lstStyle/>
          <a:p>
            <a:pPr marL="0" indent="0">
              <a:buNone/>
            </a:pPr>
            <a:r>
              <a:rPr lang="en-US" sz="950" b="1" dirty="0">
                <a:solidFill>
                  <a:srgbClr val="FFFFFF"/>
                </a:solidFill>
              </a:rPr>
              <a:t>Income vs Balance</a:t>
            </a:r>
            <a:endParaRPr lang="en-US" sz="950" dirty="0"/>
          </a:p>
        </p:txBody>
      </p:sp>
      <p:sp>
        <p:nvSpPr>
          <p:cNvPr id="12" name="Shape 10"/>
          <p:cNvSpPr/>
          <p:nvPr/>
        </p:nvSpPr>
        <p:spPr>
          <a:xfrm>
            <a:off x="713232" y="1801368"/>
            <a:ext cx="5632704" cy="292608"/>
          </a:xfrm>
          <a:prstGeom prst="rect">
            <a:avLst/>
          </a:prstGeom>
          <a:solidFill>
            <a:srgbClr val="FAFCFD"/>
          </a:solidFill>
          <a:ln w="6350">
            <a:solidFill>
              <a:srgbClr val="D8E0EA"/>
            </a:solidFill>
            <a:prstDash val="solid"/>
          </a:ln>
        </p:spPr>
      </p:sp>
      <p:sp>
        <p:nvSpPr>
          <p:cNvPr id="13" name="Text 11"/>
          <p:cNvSpPr/>
          <p:nvPr/>
        </p:nvSpPr>
        <p:spPr>
          <a:xfrm>
            <a:off x="768096" y="1865376"/>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24128" y="1856232"/>
            <a:ext cx="5266944"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=CORREL(Table1[Income],Table1[Balance])</a:t>
            </a:r>
            <a:endParaRPr lang="en-US" sz="880" dirty="0"/>
          </a:p>
        </p:txBody>
      </p:sp>
      <p:sp>
        <p:nvSpPr>
          <p:cNvPr id="15" name="Shape 13"/>
          <p:cNvSpPr/>
          <p:nvPr/>
        </p:nvSpPr>
        <p:spPr>
          <a:xfrm>
            <a:off x="722376" y="2167128"/>
            <a:ext cx="1871472" cy="529046"/>
          </a:xfrm>
          <a:prstGeom prst="rect">
            <a:avLst/>
          </a:prstGeom>
          <a:solidFill>
            <a:srgbClr val="E8F3EC"/>
          </a:solidFill>
          <a:ln w="5715">
            <a:solidFill>
              <a:srgbClr val="D8E0EA"/>
            </a:solidFill>
            <a:prstDash val="solid"/>
          </a:ln>
        </p:spPr>
      </p:sp>
      <p:sp>
        <p:nvSpPr>
          <p:cNvPr id="16" name="Text 14"/>
          <p:cNvSpPr/>
          <p:nvPr/>
        </p:nvSpPr>
        <p:spPr>
          <a:xfrm>
            <a:off x="740664" y="2194560"/>
            <a:ext cx="1834896" cy="492470"/>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a:t>
            </a:r>
            <a:endParaRPr lang="en-US" sz="810" dirty="0"/>
          </a:p>
        </p:txBody>
      </p:sp>
      <p:sp>
        <p:nvSpPr>
          <p:cNvPr id="17" name="Shape 15"/>
          <p:cNvSpPr/>
          <p:nvPr/>
        </p:nvSpPr>
        <p:spPr>
          <a:xfrm>
            <a:off x="2593848" y="2167128"/>
            <a:ext cx="1871472" cy="529046"/>
          </a:xfrm>
          <a:prstGeom prst="rect">
            <a:avLst/>
          </a:prstGeom>
          <a:solidFill>
            <a:srgbClr val="E8F3EC"/>
          </a:solidFill>
          <a:ln w="5715">
            <a:solidFill>
              <a:srgbClr val="D8E0EA"/>
            </a:solidFill>
            <a:prstDash val="solid"/>
          </a:ln>
        </p:spPr>
      </p:sp>
      <p:sp>
        <p:nvSpPr>
          <p:cNvPr id="18" name="Text 16"/>
          <p:cNvSpPr/>
          <p:nvPr/>
        </p:nvSpPr>
        <p:spPr>
          <a:xfrm>
            <a:off x="2612136" y="2194560"/>
            <a:ext cx="1834896" cy="492470"/>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19" name="Shape 17"/>
          <p:cNvSpPr/>
          <p:nvPr/>
        </p:nvSpPr>
        <p:spPr>
          <a:xfrm>
            <a:off x="4465320" y="2167128"/>
            <a:ext cx="1871472" cy="529046"/>
          </a:xfrm>
          <a:prstGeom prst="rect">
            <a:avLst/>
          </a:prstGeom>
          <a:solidFill>
            <a:srgbClr val="E8F3EC"/>
          </a:solidFill>
          <a:ln w="5715">
            <a:solidFill>
              <a:srgbClr val="D8E0EA"/>
            </a:solidFill>
            <a:prstDash val="solid"/>
          </a:ln>
        </p:spPr>
      </p:sp>
      <p:sp>
        <p:nvSpPr>
          <p:cNvPr id="20" name="Text 18"/>
          <p:cNvSpPr/>
          <p:nvPr/>
        </p:nvSpPr>
        <p:spPr>
          <a:xfrm>
            <a:off x="4483608" y="2194560"/>
            <a:ext cx="1834896" cy="492470"/>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1" name="Shape 19"/>
          <p:cNvSpPr/>
          <p:nvPr/>
        </p:nvSpPr>
        <p:spPr>
          <a:xfrm>
            <a:off x="722376" y="2696174"/>
            <a:ext cx="1871472" cy="529046"/>
          </a:xfrm>
          <a:prstGeom prst="rect">
            <a:avLst/>
          </a:prstGeom>
          <a:solidFill>
            <a:srgbClr val="FFFFFF"/>
          </a:solidFill>
          <a:ln w="5715">
            <a:solidFill>
              <a:srgbClr val="D8E0EA"/>
            </a:solidFill>
            <a:prstDash val="solid"/>
          </a:ln>
        </p:spPr>
      </p:sp>
      <p:sp>
        <p:nvSpPr>
          <p:cNvPr id="22" name="Text 20"/>
          <p:cNvSpPr/>
          <p:nvPr/>
        </p:nvSpPr>
        <p:spPr>
          <a:xfrm>
            <a:off x="740664" y="2723606"/>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3" name="Shape 21"/>
          <p:cNvSpPr/>
          <p:nvPr/>
        </p:nvSpPr>
        <p:spPr>
          <a:xfrm>
            <a:off x="2593848" y="2696174"/>
            <a:ext cx="1871472" cy="529046"/>
          </a:xfrm>
          <a:prstGeom prst="rect">
            <a:avLst/>
          </a:prstGeom>
          <a:solidFill>
            <a:srgbClr val="FFFFFF"/>
          </a:solidFill>
          <a:ln w="5715">
            <a:solidFill>
              <a:srgbClr val="D8E0EA"/>
            </a:solidFill>
            <a:prstDash val="solid"/>
          </a:ln>
        </p:spPr>
      </p:sp>
      <p:sp>
        <p:nvSpPr>
          <p:cNvPr id="24" name="Text 22"/>
          <p:cNvSpPr/>
          <p:nvPr/>
        </p:nvSpPr>
        <p:spPr>
          <a:xfrm>
            <a:off x="2612136" y="2723606"/>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25" name="Shape 23"/>
          <p:cNvSpPr/>
          <p:nvPr/>
        </p:nvSpPr>
        <p:spPr>
          <a:xfrm>
            <a:off x="4465320" y="2696174"/>
            <a:ext cx="1871472" cy="529046"/>
          </a:xfrm>
          <a:prstGeom prst="rect">
            <a:avLst/>
          </a:prstGeom>
          <a:solidFill>
            <a:srgbClr val="FFFFFF"/>
          </a:solidFill>
          <a:ln w="5715">
            <a:solidFill>
              <a:srgbClr val="D8E0EA"/>
            </a:solidFill>
            <a:prstDash val="solid"/>
          </a:ln>
        </p:spPr>
      </p:sp>
      <p:sp>
        <p:nvSpPr>
          <p:cNvPr id="26" name="Text 24"/>
          <p:cNvSpPr/>
          <p:nvPr/>
        </p:nvSpPr>
        <p:spPr>
          <a:xfrm>
            <a:off x="4483608" y="2723606"/>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27" name="Shape 25"/>
          <p:cNvSpPr/>
          <p:nvPr/>
        </p:nvSpPr>
        <p:spPr>
          <a:xfrm>
            <a:off x="722376" y="3225219"/>
            <a:ext cx="1871472" cy="529046"/>
          </a:xfrm>
          <a:prstGeom prst="rect">
            <a:avLst/>
          </a:prstGeom>
          <a:solidFill>
            <a:srgbClr val="FFFFFF"/>
          </a:solidFill>
          <a:ln w="5715">
            <a:solidFill>
              <a:srgbClr val="D8E0EA"/>
            </a:solidFill>
            <a:prstDash val="solid"/>
          </a:ln>
        </p:spPr>
      </p:sp>
      <p:sp>
        <p:nvSpPr>
          <p:cNvPr id="28" name="Text 26"/>
          <p:cNvSpPr/>
          <p:nvPr/>
        </p:nvSpPr>
        <p:spPr>
          <a:xfrm>
            <a:off x="740664" y="3252651"/>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29" name="Shape 27"/>
          <p:cNvSpPr/>
          <p:nvPr/>
        </p:nvSpPr>
        <p:spPr>
          <a:xfrm>
            <a:off x="2593848" y="3225219"/>
            <a:ext cx="1871472" cy="529046"/>
          </a:xfrm>
          <a:prstGeom prst="rect">
            <a:avLst/>
          </a:prstGeom>
          <a:solidFill>
            <a:srgbClr val="FFFFFF"/>
          </a:solidFill>
          <a:ln w="5715">
            <a:solidFill>
              <a:srgbClr val="D8E0EA"/>
            </a:solidFill>
            <a:prstDash val="solid"/>
          </a:ln>
        </p:spPr>
      </p:sp>
      <p:sp>
        <p:nvSpPr>
          <p:cNvPr id="30" name="Text 28"/>
          <p:cNvSpPr/>
          <p:nvPr/>
        </p:nvSpPr>
        <p:spPr>
          <a:xfrm>
            <a:off x="2612136" y="3252651"/>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31" name="Shape 29"/>
          <p:cNvSpPr/>
          <p:nvPr/>
        </p:nvSpPr>
        <p:spPr>
          <a:xfrm>
            <a:off x="4465320" y="3225219"/>
            <a:ext cx="1871472" cy="529046"/>
          </a:xfrm>
          <a:prstGeom prst="rect">
            <a:avLst/>
          </a:prstGeom>
          <a:solidFill>
            <a:srgbClr val="FFFFFF"/>
          </a:solidFill>
          <a:ln w="5715">
            <a:solidFill>
              <a:srgbClr val="D8E0EA"/>
            </a:solidFill>
            <a:prstDash val="solid"/>
          </a:ln>
        </p:spPr>
      </p:sp>
      <p:sp>
        <p:nvSpPr>
          <p:cNvPr id="32" name="Text 30"/>
          <p:cNvSpPr/>
          <p:nvPr/>
        </p:nvSpPr>
        <p:spPr>
          <a:xfrm>
            <a:off x="4483608" y="3252651"/>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33" name="Shape 31"/>
          <p:cNvSpPr/>
          <p:nvPr/>
        </p:nvSpPr>
        <p:spPr>
          <a:xfrm>
            <a:off x="722376" y="3754265"/>
            <a:ext cx="1871472" cy="529046"/>
          </a:xfrm>
          <a:prstGeom prst="rect">
            <a:avLst/>
          </a:prstGeom>
          <a:solidFill>
            <a:srgbClr val="FFFFFF"/>
          </a:solidFill>
          <a:ln w="5715">
            <a:solidFill>
              <a:srgbClr val="D8E0EA"/>
            </a:solidFill>
            <a:prstDash val="solid"/>
          </a:ln>
        </p:spPr>
      </p:sp>
      <p:sp>
        <p:nvSpPr>
          <p:cNvPr id="34" name="Text 32"/>
          <p:cNvSpPr/>
          <p:nvPr/>
        </p:nvSpPr>
        <p:spPr>
          <a:xfrm>
            <a:off x="740664" y="3781697"/>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35" name="Shape 33"/>
          <p:cNvSpPr/>
          <p:nvPr/>
        </p:nvSpPr>
        <p:spPr>
          <a:xfrm>
            <a:off x="2593848" y="3754265"/>
            <a:ext cx="1871472" cy="529046"/>
          </a:xfrm>
          <a:prstGeom prst="rect">
            <a:avLst/>
          </a:prstGeom>
          <a:solidFill>
            <a:srgbClr val="FFFFFF"/>
          </a:solidFill>
          <a:ln w="5715">
            <a:solidFill>
              <a:srgbClr val="D8E0EA"/>
            </a:solidFill>
            <a:prstDash val="solid"/>
          </a:ln>
        </p:spPr>
      </p:sp>
      <p:sp>
        <p:nvSpPr>
          <p:cNvPr id="36" name="Text 34"/>
          <p:cNvSpPr/>
          <p:nvPr/>
        </p:nvSpPr>
        <p:spPr>
          <a:xfrm>
            <a:off x="2612136" y="3781697"/>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92,000</a:t>
            </a:r>
            <a:endParaRPr lang="en-US" sz="780" dirty="0"/>
          </a:p>
        </p:txBody>
      </p:sp>
      <p:sp>
        <p:nvSpPr>
          <p:cNvPr id="37" name="Shape 35"/>
          <p:cNvSpPr/>
          <p:nvPr/>
        </p:nvSpPr>
        <p:spPr>
          <a:xfrm>
            <a:off x="4465320" y="3754265"/>
            <a:ext cx="1871472" cy="529046"/>
          </a:xfrm>
          <a:prstGeom prst="rect">
            <a:avLst/>
          </a:prstGeom>
          <a:solidFill>
            <a:srgbClr val="FFFFFF"/>
          </a:solidFill>
          <a:ln w="5715">
            <a:solidFill>
              <a:srgbClr val="D8E0EA"/>
            </a:solidFill>
            <a:prstDash val="solid"/>
          </a:ln>
        </p:spPr>
      </p:sp>
      <p:sp>
        <p:nvSpPr>
          <p:cNvPr id="38" name="Text 36"/>
          <p:cNvSpPr/>
          <p:nvPr/>
        </p:nvSpPr>
        <p:spPr>
          <a:xfrm>
            <a:off x="4483608" y="3781697"/>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39" name="Shape 37"/>
          <p:cNvSpPr/>
          <p:nvPr/>
        </p:nvSpPr>
        <p:spPr>
          <a:xfrm>
            <a:off x="722376" y="4283311"/>
            <a:ext cx="1871472" cy="529046"/>
          </a:xfrm>
          <a:prstGeom prst="rect">
            <a:avLst/>
          </a:prstGeom>
          <a:solidFill>
            <a:srgbClr val="FFFFFF"/>
          </a:solidFill>
          <a:ln w="5715">
            <a:solidFill>
              <a:srgbClr val="D8E0EA"/>
            </a:solidFill>
            <a:prstDash val="solid"/>
          </a:ln>
        </p:spPr>
      </p:sp>
      <p:sp>
        <p:nvSpPr>
          <p:cNvPr id="40" name="Text 38"/>
          <p:cNvSpPr/>
          <p:nvPr/>
        </p:nvSpPr>
        <p:spPr>
          <a:xfrm>
            <a:off x="740664" y="4310743"/>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41" name="Shape 39"/>
          <p:cNvSpPr/>
          <p:nvPr/>
        </p:nvSpPr>
        <p:spPr>
          <a:xfrm>
            <a:off x="2593848" y="4283311"/>
            <a:ext cx="1871472" cy="529046"/>
          </a:xfrm>
          <a:prstGeom prst="rect">
            <a:avLst/>
          </a:prstGeom>
          <a:solidFill>
            <a:srgbClr val="FFFFFF"/>
          </a:solidFill>
          <a:ln w="5715">
            <a:solidFill>
              <a:srgbClr val="D8E0EA"/>
            </a:solidFill>
            <a:prstDash val="solid"/>
          </a:ln>
        </p:spPr>
      </p:sp>
      <p:sp>
        <p:nvSpPr>
          <p:cNvPr id="42" name="Text 40"/>
          <p:cNvSpPr/>
          <p:nvPr/>
        </p:nvSpPr>
        <p:spPr>
          <a:xfrm>
            <a:off x="2612136" y="4310743"/>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45,000</a:t>
            </a:r>
            <a:endParaRPr lang="en-US" sz="780" dirty="0"/>
          </a:p>
        </p:txBody>
      </p:sp>
      <p:sp>
        <p:nvSpPr>
          <p:cNvPr id="43" name="Shape 41"/>
          <p:cNvSpPr/>
          <p:nvPr/>
        </p:nvSpPr>
        <p:spPr>
          <a:xfrm>
            <a:off x="4465320" y="4283311"/>
            <a:ext cx="1871472" cy="529046"/>
          </a:xfrm>
          <a:prstGeom prst="rect">
            <a:avLst/>
          </a:prstGeom>
          <a:solidFill>
            <a:srgbClr val="FFFFFF"/>
          </a:solidFill>
          <a:ln w="5715">
            <a:solidFill>
              <a:srgbClr val="D8E0EA"/>
            </a:solidFill>
            <a:prstDash val="solid"/>
          </a:ln>
        </p:spPr>
      </p:sp>
      <p:sp>
        <p:nvSpPr>
          <p:cNvPr id="44" name="Text 42"/>
          <p:cNvSpPr/>
          <p:nvPr/>
        </p:nvSpPr>
        <p:spPr>
          <a:xfrm>
            <a:off x="4483608" y="4310743"/>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3,200</a:t>
            </a:r>
            <a:endParaRPr lang="en-US" sz="780" dirty="0"/>
          </a:p>
        </p:txBody>
      </p:sp>
      <p:sp>
        <p:nvSpPr>
          <p:cNvPr id="45" name="Shape 43"/>
          <p:cNvSpPr/>
          <p:nvPr/>
        </p:nvSpPr>
        <p:spPr>
          <a:xfrm>
            <a:off x="722376" y="4812357"/>
            <a:ext cx="1871472" cy="529046"/>
          </a:xfrm>
          <a:prstGeom prst="rect">
            <a:avLst/>
          </a:prstGeom>
          <a:solidFill>
            <a:srgbClr val="FFFFFF"/>
          </a:solidFill>
          <a:ln w="5715">
            <a:solidFill>
              <a:srgbClr val="D8E0EA"/>
            </a:solidFill>
            <a:prstDash val="solid"/>
          </a:ln>
        </p:spPr>
      </p:sp>
      <p:sp>
        <p:nvSpPr>
          <p:cNvPr id="46" name="Text 44"/>
          <p:cNvSpPr/>
          <p:nvPr/>
        </p:nvSpPr>
        <p:spPr>
          <a:xfrm>
            <a:off x="740664" y="4839789"/>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47" name="Shape 45"/>
          <p:cNvSpPr/>
          <p:nvPr/>
        </p:nvSpPr>
        <p:spPr>
          <a:xfrm>
            <a:off x="2593848" y="4812357"/>
            <a:ext cx="1871472" cy="529046"/>
          </a:xfrm>
          <a:prstGeom prst="rect">
            <a:avLst/>
          </a:prstGeom>
          <a:solidFill>
            <a:srgbClr val="FFFFFF"/>
          </a:solidFill>
          <a:ln w="5715">
            <a:solidFill>
              <a:srgbClr val="D8E0EA"/>
            </a:solidFill>
            <a:prstDash val="solid"/>
          </a:ln>
        </p:spPr>
      </p:sp>
      <p:sp>
        <p:nvSpPr>
          <p:cNvPr id="48" name="Text 46"/>
          <p:cNvSpPr/>
          <p:nvPr/>
        </p:nvSpPr>
        <p:spPr>
          <a:xfrm>
            <a:off x="2612136" y="4839789"/>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71,000</a:t>
            </a:r>
            <a:endParaRPr lang="en-US" sz="780" dirty="0"/>
          </a:p>
        </p:txBody>
      </p:sp>
      <p:sp>
        <p:nvSpPr>
          <p:cNvPr id="49" name="Shape 47"/>
          <p:cNvSpPr/>
          <p:nvPr/>
        </p:nvSpPr>
        <p:spPr>
          <a:xfrm>
            <a:off x="4465320" y="4812357"/>
            <a:ext cx="1871472" cy="529046"/>
          </a:xfrm>
          <a:prstGeom prst="rect">
            <a:avLst/>
          </a:prstGeom>
          <a:solidFill>
            <a:srgbClr val="FFFFFF"/>
          </a:solidFill>
          <a:ln w="5715">
            <a:solidFill>
              <a:srgbClr val="D8E0EA"/>
            </a:solidFill>
            <a:prstDash val="solid"/>
          </a:ln>
        </p:spPr>
      </p:sp>
      <p:sp>
        <p:nvSpPr>
          <p:cNvPr id="50" name="Text 48"/>
          <p:cNvSpPr/>
          <p:nvPr/>
        </p:nvSpPr>
        <p:spPr>
          <a:xfrm>
            <a:off x="4483608" y="4839789"/>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40,000</a:t>
            </a:r>
            <a:endParaRPr lang="en-US" sz="780" dirty="0"/>
          </a:p>
        </p:txBody>
      </p:sp>
      <p:sp>
        <p:nvSpPr>
          <p:cNvPr id="51" name="Shape 49"/>
          <p:cNvSpPr/>
          <p:nvPr/>
        </p:nvSpPr>
        <p:spPr>
          <a:xfrm>
            <a:off x="722376" y="5341402"/>
            <a:ext cx="1871472" cy="529046"/>
          </a:xfrm>
          <a:prstGeom prst="rect">
            <a:avLst/>
          </a:prstGeom>
          <a:solidFill>
            <a:srgbClr val="FFFFFF"/>
          </a:solidFill>
          <a:ln w="5715">
            <a:solidFill>
              <a:srgbClr val="D8E0EA"/>
            </a:solidFill>
            <a:prstDash val="solid"/>
          </a:ln>
        </p:spPr>
      </p:sp>
      <p:sp>
        <p:nvSpPr>
          <p:cNvPr id="52" name="Text 50"/>
          <p:cNvSpPr/>
          <p:nvPr/>
        </p:nvSpPr>
        <p:spPr>
          <a:xfrm>
            <a:off x="740664" y="5368834"/>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C1006</a:t>
            </a:r>
            <a:endParaRPr lang="en-US" sz="780" dirty="0"/>
          </a:p>
        </p:txBody>
      </p:sp>
      <p:sp>
        <p:nvSpPr>
          <p:cNvPr id="53" name="Shape 51"/>
          <p:cNvSpPr/>
          <p:nvPr/>
        </p:nvSpPr>
        <p:spPr>
          <a:xfrm>
            <a:off x="2593848" y="5341402"/>
            <a:ext cx="1871472" cy="529046"/>
          </a:xfrm>
          <a:prstGeom prst="rect">
            <a:avLst/>
          </a:prstGeom>
          <a:solidFill>
            <a:srgbClr val="FFFFFF"/>
          </a:solidFill>
          <a:ln w="5715">
            <a:solidFill>
              <a:srgbClr val="D8E0EA"/>
            </a:solidFill>
            <a:prstDash val="solid"/>
          </a:ln>
        </p:spPr>
      </p:sp>
      <p:sp>
        <p:nvSpPr>
          <p:cNvPr id="54" name="Text 52"/>
          <p:cNvSpPr/>
          <p:nvPr/>
        </p:nvSpPr>
        <p:spPr>
          <a:xfrm>
            <a:off x="2612136" y="5368834"/>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58,000</a:t>
            </a:r>
            <a:endParaRPr lang="en-US" sz="780" dirty="0"/>
          </a:p>
        </p:txBody>
      </p:sp>
      <p:sp>
        <p:nvSpPr>
          <p:cNvPr id="55" name="Shape 53"/>
          <p:cNvSpPr/>
          <p:nvPr/>
        </p:nvSpPr>
        <p:spPr>
          <a:xfrm>
            <a:off x="4465320" y="5341402"/>
            <a:ext cx="1871472" cy="529046"/>
          </a:xfrm>
          <a:prstGeom prst="rect">
            <a:avLst/>
          </a:prstGeom>
          <a:solidFill>
            <a:srgbClr val="FFFFFF"/>
          </a:solidFill>
          <a:ln w="5715">
            <a:solidFill>
              <a:srgbClr val="D8E0EA"/>
            </a:solidFill>
            <a:prstDash val="solid"/>
          </a:ln>
        </p:spPr>
      </p:sp>
      <p:sp>
        <p:nvSpPr>
          <p:cNvPr id="56" name="Text 54"/>
          <p:cNvSpPr/>
          <p:nvPr/>
        </p:nvSpPr>
        <p:spPr>
          <a:xfrm>
            <a:off x="4483608" y="5368834"/>
            <a:ext cx="1834896" cy="492470"/>
          </a:xfrm>
          <a:prstGeom prst="rect">
            <a:avLst/>
          </a:prstGeom>
          <a:noFill/>
          <a:ln/>
        </p:spPr>
        <p:txBody>
          <a:bodyPr wrap="square" lIns="0" tIns="0" rIns="0" bIns="0" rtlCol="0" anchor="ctr">
            <a:normAutofit/>
          </a:bodyPr>
          <a:lstStyle/>
          <a:p>
            <a:pPr marL="0" indent="0">
              <a:buNone/>
            </a:pPr>
            <a:r>
              <a:rPr lang="en-US" sz="780" dirty="0">
                <a:solidFill>
                  <a:srgbClr val="26364A"/>
                </a:solidFill>
              </a:rPr>
              <a:t>9,700</a:t>
            </a:r>
            <a:endParaRPr lang="en-US" sz="780" dirty="0"/>
          </a:p>
        </p:txBody>
      </p:sp>
      <p:sp>
        <p:nvSpPr>
          <p:cNvPr id="57" name="Shape 55"/>
          <p:cNvSpPr/>
          <p:nvPr/>
        </p:nvSpPr>
        <p:spPr>
          <a:xfrm>
            <a:off x="7059168" y="4261104"/>
            <a:ext cx="3611880" cy="0"/>
          </a:xfrm>
          <a:prstGeom prst="line">
            <a:avLst/>
          </a:prstGeom>
          <a:noFill/>
          <a:ln w="12700">
            <a:solidFill>
              <a:srgbClr val="AEB8C5"/>
            </a:solidFill>
            <a:prstDash val="solid"/>
          </a:ln>
        </p:spPr>
      </p:sp>
      <p:sp>
        <p:nvSpPr>
          <p:cNvPr id="58" name="Shape 56"/>
          <p:cNvSpPr/>
          <p:nvPr/>
        </p:nvSpPr>
        <p:spPr>
          <a:xfrm>
            <a:off x="7059168" y="1828800"/>
            <a:ext cx="0" cy="2432304"/>
          </a:xfrm>
          <a:prstGeom prst="line">
            <a:avLst/>
          </a:prstGeom>
          <a:noFill/>
          <a:ln w="12700">
            <a:solidFill>
              <a:srgbClr val="AEB8C5"/>
            </a:solidFill>
            <a:prstDash val="solid"/>
          </a:ln>
        </p:spPr>
      </p:sp>
      <p:sp>
        <p:nvSpPr>
          <p:cNvPr id="59" name="Text 57"/>
          <p:cNvSpPr/>
          <p:nvPr/>
        </p:nvSpPr>
        <p:spPr>
          <a:xfrm>
            <a:off x="7059168" y="1554480"/>
            <a:ext cx="3611880" cy="201168"/>
          </a:xfrm>
          <a:prstGeom prst="rect">
            <a:avLst/>
          </a:prstGeom>
          <a:noFill/>
          <a:ln/>
        </p:spPr>
        <p:txBody>
          <a:bodyPr wrap="square" lIns="0" tIns="0" rIns="0" bIns="0" rtlCol="0" anchor="ctr"/>
          <a:lstStyle/>
          <a:p>
            <a:pPr marL="0" indent="0" algn="ctr">
              <a:buNone/>
            </a:pPr>
            <a:r>
              <a:rPr lang="en-US" sz="1000" b="1" dirty="0">
                <a:solidFill>
                  <a:srgbClr val="0B1F33"/>
                </a:solidFill>
              </a:rPr>
              <a:t>Income vs Balance</a:t>
            </a:r>
            <a:endParaRPr lang="en-US" sz="1000" dirty="0"/>
          </a:p>
        </p:txBody>
      </p:sp>
      <p:sp>
        <p:nvSpPr>
          <p:cNvPr id="60" name="Shape 58"/>
          <p:cNvSpPr/>
          <p:nvPr/>
        </p:nvSpPr>
        <p:spPr>
          <a:xfrm>
            <a:off x="7460590" y="3937224"/>
            <a:ext cx="64008" cy="64008"/>
          </a:xfrm>
          <a:prstGeom prst="ellipse">
            <a:avLst/>
          </a:prstGeom>
          <a:solidFill>
            <a:srgbClr val="2F6BFF"/>
          </a:solidFill>
          <a:ln w="12700">
            <a:solidFill>
              <a:srgbClr val="2F6BFF"/>
            </a:solidFill>
            <a:prstDash val="solid"/>
          </a:ln>
        </p:spPr>
      </p:sp>
      <p:sp>
        <p:nvSpPr>
          <p:cNvPr id="61" name="Shape 59"/>
          <p:cNvSpPr/>
          <p:nvPr/>
        </p:nvSpPr>
        <p:spPr>
          <a:xfrm>
            <a:off x="8038490" y="3815608"/>
            <a:ext cx="64008" cy="64008"/>
          </a:xfrm>
          <a:prstGeom prst="ellipse">
            <a:avLst/>
          </a:prstGeom>
          <a:solidFill>
            <a:srgbClr val="2F6BFF"/>
          </a:solidFill>
          <a:ln w="12700">
            <a:solidFill>
              <a:srgbClr val="2F6BFF"/>
            </a:solidFill>
            <a:prstDash val="solid"/>
          </a:ln>
        </p:spPr>
      </p:sp>
      <p:sp>
        <p:nvSpPr>
          <p:cNvPr id="62" name="Shape 60"/>
          <p:cNvSpPr/>
          <p:nvPr/>
        </p:nvSpPr>
        <p:spPr>
          <a:xfrm>
            <a:off x="8399678" y="3669670"/>
            <a:ext cx="64008" cy="64008"/>
          </a:xfrm>
          <a:prstGeom prst="ellipse">
            <a:avLst/>
          </a:prstGeom>
          <a:solidFill>
            <a:srgbClr val="2F6BFF"/>
          </a:solidFill>
          <a:ln w="12700">
            <a:solidFill>
              <a:srgbClr val="2F6BFF"/>
            </a:solidFill>
            <a:prstDash val="solid"/>
          </a:ln>
        </p:spPr>
      </p:sp>
      <p:sp>
        <p:nvSpPr>
          <p:cNvPr id="63" name="Shape 61"/>
          <p:cNvSpPr/>
          <p:nvPr/>
        </p:nvSpPr>
        <p:spPr>
          <a:xfrm>
            <a:off x="8833104" y="3183209"/>
            <a:ext cx="64008" cy="64008"/>
          </a:xfrm>
          <a:prstGeom prst="ellipse">
            <a:avLst/>
          </a:prstGeom>
          <a:solidFill>
            <a:srgbClr val="2F6BFF"/>
          </a:solidFill>
          <a:ln w="12700">
            <a:solidFill>
              <a:srgbClr val="2F6BFF"/>
            </a:solidFill>
            <a:prstDash val="solid"/>
          </a:ln>
        </p:spPr>
      </p:sp>
      <p:sp>
        <p:nvSpPr>
          <p:cNvPr id="64" name="Shape 62"/>
          <p:cNvSpPr/>
          <p:nvPr/>
        </p:nvSpPr>
        <p:spPr>
          <a:xfrm>
            <a:off x="9374886" y="2696748"/>
            <a:ext cx="64008" cy="64008"/>
          </a:xfrm>
          <a:prstGeom prst="ellipse">
            <a:avLst/>
          </a:prstGeom>
          <a:solidFill>
            <a:srgbClr val="2F6BFF"/>
          </a:solidFill>
          <a:ln w="12700">
            <a:solidFill>
              <a:srgbClr val="2F6BFF"/>
            </a:solidFill>
            <a:prstDash val="solid"/>
          </a:ln>
        </p:spPr>
      </p:sp>
      <p:sp>
        <p:nvSpPr>
          <p:cNvPr id="65" name="Shape 63"/>
          <p:cNvSpPr/>
          <p:nvPr/>
        </p:nvSpPr>
        <p:spPr>
          <a:xfrm>
            <a:off x="10133381" y="2040026"/>
            <a:ext cx="64008" cy="64008"/>
          </a:xfrm>
          <a:prstGeom prst="ellipse">
            <a:avLst/>
          </a:prstGeom>
          <a:solidFill>
            <a:srgbClr val="2F6BFF"/>
          </a:solidFill>
          <a:ln w="12700">
            <a:solidFill>
              <a:srgbClr val="2F6BFF"/>
            </a:solidFill>
            <a:prstDash val="solid"/>
          </a:ln>
        </p:spPr>
      </p:sp>
      <p:sp>
        <p:nvSpPr>
          <p:cNvPr id="66" name="Shape 64"/>
          <p:cNvSpPr/>
          <p:nvPr/>
        </p:nvSpPr>
        <p:spPr>
          <a:xfrm>
            <a:off x="6995160" y="4636008"/>
            <a:ext cx="3730752" cy="420624"/>
          </a:xfrm>
          <a:prstGeom prst="roundRect">
            <a:avLst>
              <a:gd name="adj" fmla="val 10870"/>
            </a:avLst>
          </a:prstGeom>
          <a:solidFill>
            <a:srgbClr val="F8FBF9"/>
          </a:solidFill>
          <a:ln w="12700">
            <a:solidFill>
              <a:srgbClr val="217346"/>
            </a:solidFill>
            <a:prstDash val="solid"/>
          </a:ln>
        </p:spPr>
      </p:sp>
      <p:sp>
        <p:nvSpPr>
          <p:cNvPr id="67" name="Text 65"/>
          <p:cNvSpPr/>
          <p:nvPr/>
        </p:nvSpPr>
        <p:spPr>
          <a:xfrm>
            <a:off x="7104888" y="4718304"/>
            <a:ext cx="351129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=CORREL(Table1[Income], Table1[Balance])</a:t>
            </a:r>
            <a:endParaRPr lang="en-US" sz="1050" dirty="0"/>
          </a:p>
        </p:txBody>
      </p:sp>
      <p:sp>
        <p:nvSpPr>
          <p:cNvPr id="68" name="Shape 66"/>
          <p:cNvSpPr/>
          <p:nvPr/>
        </p:nvSpPr>
        <p:spPr>
          <a:xfrm>
            <a:off x="7022592" y="5248656"/>
            <a:ext cx="3749040" cy="594360"/>
          </a:xfrm>
          <a:prstGeom prst="roundRect">
            <a:avLst>
              <a:gd name="adj" fmla="val 7692"/>
            </a:avLst>
          </a:prstGeom>
          <a:solidFill>
            <a:srgbClr val="FFFFFF"/>
          </a:solidFill>
          <a:ln w="15240">
            <a:solidFill>
              <a:srgbClr val="F59E0B"/>
            </a:solidFill>
            <a:prstDash val="solid"/>
          </a:ln>
        </p:spPr>
      </p:sp>
      <p:sp>
        <p:nvSpPr>
          <p:cNvPr id="69" name="Shape 67"/>
          <p:cNvSpPr/>
          <p:nvPr/>
        </p:nvSpPr>
        <p:spPr>
          <a:xfrm>
            <a:off x="7022592" y="5248656"/>
            <a:ext cx="73152" cy="594360"/>
          </a:xfrm>
          <a:prstGeom prst="rect">
            <a:avLst/>
          </a:prstGeom>
          <a:solidFill>
            <a:srgbClr val="F59E0B"/>
          </a:solidFill>
          <a:ln w="12700">
            <a:solidFill>
              <a:srgbClr val="F59E0B"/>
            </a:solidFill>
            <a:prstDash val="solid"/>
          </a:ln>
        </p:spPr>
      </p:sp>
      <p:sp>
        <p:nvSpPr>
          <p:cNvPr id="70" name="Text 68"/>
          <p:cNvSpPr/>
          <p:nvPr/>
        </p:nvSpPr>
        <p:spPr>
          <a:xfrm>
            <a:off x="7187184" y="5358384"/>
            <a:ext cx="3493008" cy="374904"/>
          </a:xfrm>
          <a:prstGeom prst="rect">
            <a:avLst/>
          </a:prstGeom>
          <a:noFill/>
          <a:ln/>
        </p:spPr>
        <p:txBody>
          <a:bodyPr wrap="square" lIns="0" tIns="0" rIns="0" bIns="0" rtlCol="0" anchor="ctr">
            <a:normAutofit/>
          </a:bodyPr>
          <a:lstStyle/>
          <a:p>
            <a:pPr marL="0" indent="0">
              <a:buNone/>
            </a:pPr>
            <a:r>
              <a:rPr lang="en-US" sz="1150" b="1" dirty="0">
                <a:solidFill>
                  <a:srgbClr val="0B1F33"/>
                </a:solidFill>
              </a:rPr>
              <a:t>Always check units, missing rows and outliers before interpreting r.</a:t>
            </a:r>
            <a:endParaRPr lang="en-US" sz="1150" dirty="0"/>
          </a:p>
        </p:txBody>
      </p:sp>
      <p:sp>
        <p:nvSpPr>
          <p:cNvPr id="71"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05 · CORRELATION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Correlation matrix: many pairwise relationships at once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correlation matrix is a compact map of linear associations among numeric variables.</a:t>
            </a:r>
            <a:endParaRPr lang="en-US" sz="1300" dirty="0"/>
          </a:p>
        </p:txBody>
      </p:sp>
      <p:sp>
        <p:nvSpPr>
          <p:cNvPr id="7" name="Text 5"/>
          <p:cNvSpPr/>
          <p:nvPr/>
        </p:nvSpPr>
        <p:spPr>
          <a:xfrm>
            <a:off x="704088" y="1944746"/>
            <a:ext cx="731520" cy="230429"/>
          </a:xfrm>
          <a:prstGeom prst="rect">
            <a:avLst/>
          </a:prstGeom>
          <a:noFill/>
          <a:ln/>
        </p:spPr>
        <p:txBody>
          <a:bodyPr wrap="square" lIns="0" tIns="0" rIns="0" bIns="0" rtlCol="0" anchor="ctr">
            <a:normAutofit/>
          </a:bodyPr>
          <a:lstStyle/>
          <a:p>
            <a:pPr marL="0" indent="0" algn="r">
              <a:buNone/>
            </a:pPr>
            <a:r>
              <a:rPr lang="en-US" sz="820" dirty="0">
                <a:solidFill>
                  <a:srgbClr val="26364A"/>
                </a:solidFill>
              </a:rPr>
              <a:t>Age</a:t>
            </a:r>
            <a:endParaRPr lang="en-US" sz="820" dirty="0"/>
          </a:p>
        </p:txBody>
      </p:sp>
      <p:sp>
        <p:nvSpPr>
          <p:cNvPr id="8" name="Text 6"/>
          <p:cNvSpPr/>
          <p:nvPr/>
        </p:nvSpPr>
        <p:spPr>
          <a:xfrm rot="18900000">
            <a:off x="1508760" y="1408176"/>
            <a:ext cx="768096" cy="256032"/>
          </a:xfrm>
          <a:prstGeom prst="rect">
            <a:avLst/>
          </a:prstGeom>
          <a:noFill/>
          <a:ln/>
        </p:spPr>
        <p:txBody>
          <a:bodyPr wrap="square" lIns="0" tIns="0" rIns="0" bIns="0" rtlCol="0" anchor="ctr">
            <a:normAutofit/>
          </a:bodyPr>
          <a:lstStyle/>
          <a:p>
            <a:pPr marL="0" indent="0" algn="ctr">
              <a:buNone/>
            </a:pPr>
            <a:r>
              <a:rPr lang="en-US" sz="820" dirty="0">
                <a:solidFill>
                  <a:srgbClr val="26364A"/>
                </a:solidFill>
              </a:rPr>
              <a:t>Age</a:t>
            </a:r>
            <a:endParaRPr lang="en-US" sz="820" dirty="0"/>
          </a:p>
        </p:txBody>
      </p:sp>
      <p:sp>
        <p:nvSpPr>
          <p:cNvPr id="9" name="Text 7"/>
          <p:cNvSpPr/>
          <p:nvPr/>
        </p:nvSpPr>
        <p:spPr>
          <a:xfrm>
            <a:off x="704088" y="2712842"/>
            <a:ext cx="731520" cy="230429"/>
          </a:xfrm>
          <a:prstGeom prst="rect">
            <a:avLst/>
          </a:prstGeom>
          <a:noFill/>
          <a:ln/>
        </p:spPr>
        <p:txBody>
          <a:bodyPr wrap="square" lIns="0" tIns="0" rIns="0" bIns="0" rtlCol="0" anchor="ctr">
            <a:normAutofit/>
          </a:bodyPr>
          <a:lstStyle/>
          <a:p>
            <a:pPr marL="0" indent="0" algn="r">
              <a:buNone/>
            </a:pPr>
            <a:r>
              <a:rPr lang="en-US" sz="820" dirty="0">
                <a:solidFill>
                  <a:srgbClr val="26364A"/>
                </a:solidFill>
              </a:rPr>
              <a:t>Income</a:t>
            </a:r>
            <a:endParaRPr lang="en-US" sz="820" dirty="0"/>
          </a:p>
        </p:txBody>
      </p:sp>
      <p:sp>
        <p:nvSpPr>
          <p:cNvPr id="10" name="Text 8"/>
          <p:cNvSpPr/>
          <p:nvPr/>
        </p:nvSpPr>
        <p:spPr>
          <a:xfrm rot="18900000">
            <a:off x="2276856" y="1408176"/>
            <a:ext cx="768096" cy="256032"/>
          </a:xfrm>
          <a:prstGeom prst="rect">
            <a:avLst/>
          </a:prstGeom>
          <a:noFill/>
          <a:ln/>
        </p:spPr>
        <p:txBody>
          <a:bodyPr wrap="square" lIns="0" tIns="0" rIns="0" bIns="0" rtlCol="0" anchor="ctr">
            <a:normAutofit/>
          </a:bodyPr>
          <a:lstStyle/>
          <a:p>
            <a:pPr marL="0" indent="0" algn="ctr">
              <a:buNone/>
            </a:pPr>
            <a:r>
              <a:rPr lang="en-US" sz="820" dirty="0">
                <a:solidFill>
                  <a:srgbClr val="26364A"/>
                </a:solidFill>
              </a:rPr>
              <a:t>Income</a:t>
            </a:r>
            <a:endParaRPr lang="en-US" sz="820" dirty="0"/>
          </a:p>
        </p:txBody>
      </p:sp>
      <p:sp>
        <p:nvSpPr>
          <p:cNvPr id="11" name="Text 9"/>
          <p:cNvSpPr/>
          <p:nvPr/>
        </p:nvSpPr>
        <p:spPr>
          <a:xfrm>
            <a:off x="704088" y="3480938"/>
            <a:ext cx="731520" cy="230429"/>
          </a:xfrm>
          <a:prstGeom prst="rect">
            <a:avLst/>
          </a:prstGeom>
          <a:noFill/>
          <a:ln/>
        </p:spPr>
        <p:txBody>
          <a:bodyPr wrap="square" lIns="0" tIns="0" rIns="0" bIns="0" rtlCol="0" anchor="ctr">
            <a:normAutofit/>
          </a:bodyPr>
          <a:lstStyle/>
          <a:p>
            <a:pPr marL="0" indent="0" algn="r">
              <a:buNone/>
            </a:pPr>
            <a:r>
              <a:rPr lang="en-US" sz="820" dirty="0">
                <a:solidFill>
                  <a:srgbClr val="26364A"/>
                </a:solidFill>
              </a:rPr>
              <a:t>Balance</a:t>
            </a:r>
            <a:endParaRPr lang="en-US" sz="820" dirty="0"/>
          </a:p>
        </p:txBody>
      </p:sp>
      <p:sp>
        <p:nvSpPr>
          <p:cNvPr id="12" name="Text 10"/>
          <p:cNvSpPr/>
          <p:nvPr/>
        </p:nvSpPr>
        <p:spPr>
          <a:xfrm rot="18900000">
            <a:off x="3044952" y="1408176"/>
            <a:ext cx="768096" cy="256032"/>
          </a:xfrm>
          <a:prstGeom prst="rect">
            <a:avLst/>
          </a:prstGeom>
          <a:noFill/>
          <a:ln/>
        </p:spPr>
        <p:txBody>
          <a:bodyPr wrap="square" lIns="0" tIns="0" rIns="0" bIns="0" rtlCol="0" anchor="ctr">
            <a:normAutofit/>
          </a:bodyPr>
          <a:lstStyle/>
          <a:p>
            <a:pPr marL="0" indent="0" algn="ctr">
              <a:buNone/>
            </a:pPr>
            <a:r>
              <a:rPr lang="en-US" sz="820" dirty="0">
                <a:solidFill>
                  <a:srgbClr val="26364A"/>
                </a:solidFill>
              </a:rPr>
              <a:t>Balance</a:t>
            </a:r>
            <a:endParaRPr lang="en-US" sz="820" dirty="0"/>
          </a:p>
        </p:txBody>
      </p:sp>
      <p:sp>
        <p:nvSpPr>
          <p:cNvPr id="13" name="Text 11"/>
          <p:cNvSpPr/>
          <p:nvPr/>
        </p:nvSpPr>
        <p:spPr>
          <a:xfrm>
            <a:off x="704088" y="4249034"/>
            <a:ext cx="731520" cy="230429"/>
          </a:xfrm>
          <a:prstGeom prst="rect">
            <a:avLst/>
          </a:prstGeom>
          <a:noFill/>
          <a:ln/>
        </p:spPr>
        <p:txBody>
          <a:bodyPr wrap="square" lIns="0" tIns="0" rIns="0" bIns="0" rtlCol="0" anchor="ctr">
            <a:normAutofit/>
          </a:bodyPr>
          <a:lstStyle/>
          <a:p>
            <a:pPr marL="0" indent="0" algn="r">
              <a:buNone/>
            </a:pPr>
            <a:r>
              <a:rPr lang="en-US" sz="820" dirty="0">
                <a:solidFill>
                  <a:srgbClr val="26364A"/>
                </a:solidFill>
              </a:rPr>
              <a:t>Products</a:t>
            </a:r>
            <a:endParaRPr lang="en-US" sz="820" dirty="0"/>
          </a:p>
        </p:txBody>
      </p:sp>
      <p:sp>
        <p:nvSpPr>
          <p:cNvPr id="14" name="Text 12"/>
          <p:cNvSpPr/>
          <p:nvPr/>
        </p:nvSpPr>
        <p:spPr>
          <a:xfrm rot="18900000">
            <a:off x="3813048" y="1408176"/>
            <a:ext cx="768096" cy="256032"/>
          </a:xfrm>
          <a:prstGeom prst="rect">
            <a:avLst/>
          </a:prstGeom>
          <a:noFill/>
          <a:ln/>
        </p:spPr>
        <p:txBody>
          <a:bodyPr wrap="square" lIns="0" tIns="0" rIns="0" bIns="0" rtlCol="0" anchor="ctr">
            <a:normAutofit/>
          </a:bodyPr>
          <a:lstStyle/>
          <a:p>
            <a:pPr marL="0" indent="0" algn="ctr">
              <a:buNone/>
            </a:pPr>
            <a:r>
              <a:rPr lang="en-US" sz="820" dirty="0">
                <a:solidFill>
                  <a:srgbClr val="26364A"/>
                </a:solidFill>
              </a:rPr>
              <a:t>Products</a:t>
            </a:r>
            <a:endParaRPr lang="en-US" sz="820" dirty="0"/>
          </a:p>
        </p:txBody>
      </p:sp>
      <p:sp>
        <p:nvSpPr>
          <p:cNvPr id="15" name="Text 13"/>
          <p:cNvSpPr/>
          <p:nvPr/>
        </p:nvSpPr>
        <p:spPr>
          <a:xfrm>
            <a:off x="704088" y="5017130"/>
            <a:ext cx="731520" cy="230429"/>
          </a:xfrm>
          <a:prstGeom prst="rect">
            <a:avLst/>
          </a:prstGeom>
          <a:noFill/>
          <a:ln/>
        </p:spPr>
        <p:txBody>
          <a:bodyPr wrap="square" lIns="0" tIns="0" rIns="0" bIns="0" rtlCol="0" anchor="ctr">
            <a:normAutofit/>
          </a:bodyPr>
          <a:lstStyle/>
          <a:p>
            <a:pPr marL="0" indent="0" algn="r">
              <a:buNone/>
            </a:pPr>
            <a:r>
              <a:rPr lang="en-US" sz="820" dirty="0">
                <a:solidFill>
                  <a:srgbClr val="26364A"/>
                </a:solidFill>
              </a:rPr>
              <a:t>Arrears</a:t>
            </a:r>
            <a:endParaRPr lang="en-US" sz="820" dirty="0"/>
          </a:p>
        </p:txBody>
      </p:sp>
      <p:sp>
        <p:nvSpPr>
          <p:cNvPr id="16" name="Text 14"/>
          <p:cNvSpPr/>
          <p:nvPr/>
        </p:nvSpPr>
        <p:spPr>
          <a:xfrm rot="18900000">
            <a:off x="4581144" y="1408176"/>
            <a:ext cx="768096" cy="256032"/>
          </a:xfrm>
          <a:prstGeom prst="rect">
            <a:avLst/>
          </a:prstGeom>
          <a:noFill/>
          <a:ln/>
        </p:spPr>
        <p:txBody>
          <a:bodyPr wrap="square" lIns="0" tIns="0" rIns="0" bIns="0" rtlCol="0" anchor="ctr">
            <a:normAutofit/>
          </a:bodyPr>
          <a:lstStyle/>
          <a:p>
            <a:pPr marL="0" indent="0" algn="ctr">
              <a:buNone/>
            </a:pPr>
            <a:r>
              <a:rPr lang="en-US" sz="820" dirty="0">
                <a:solidFill>
                  <a:srgbClr val="26364A"/>
                </a:solidFill>
              </a:rPr>
              <a:t>Arrears</a:t>
            </a:r>
            <a:endParaRPr lang="en-US" sz="820" dirty="0"/>
          </a:p>
        </p:txBody>
      </p:sp>
      <p:sp>
        <p:nvSpPr>
          <p:cNvPr id="17" name="Shape 15"/>
          <p:cNvSpPr/>
          <p:nvPr/>
        </p:nvSpPr>
        <p:spPr>
          <a:xfrm>
            <a:off x="1508760" y="1737360"/>
            <a:ext cx="768096" cy="768096"/>
          </a:xfrm>
          <a:prstGeom prst="rect">
            <a:avLst/>
          </a:prstGeom>
          <a:solidFill>
            <a:srgbClr val="2F6BFF"/>
          </a:solidFill>
          <a:ln w="8890">
            <a:solidFill>
              <a:srgbClr val="FFFFFF"/>
            </a:solidFill>
            <a:prstDash val="solid"/>
          </a:ln>
        </p:spPr>
      </p:sp>
      <p:sp>
        <p:nvSpPr>
          <p:cNvPr id="18" name="Text 16"/>
          <p:cNvSpPr/>
          <p:nvPr/>
        </p:nvSpPr>
        <p:spPr>
          <a:xfrm>
            <a:off x="1508760" y="1960108"/>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1.00</a:t>
            </a:r>
            <a:endParaRPr lang="en-US" sz="750" dirty="0"/>
          </a:p>
        </p:txBody>
      </p:sp>
      <p:sp>
        <p:nvSpPr>
          <p:cNvPr id="19" name="Shape 17"/>
          <p:cNvSpPr/>
          <p:nvPr/>
        </p:nvSpPr>
        <p:spPr>
          <a:xfrm>
            <a:off x="2276856" y="1737360"/>
            <a:ext cx="768096" cy="768096"/>
          </a:xfrm>
          <a:prstGeom prst="rect">
            <a:avLst/>
          </a:prstGeom>
          <a:solidFill>
            <a:srgbClr val="D4E1FF"/>
          </a:solidFill>
          <a:ln w="8890">
            <a:solidFill>
              <a:srgbClr val="FFFFFF"/>
            </a:solidFill>
            <a:prstDash val="solid"/>
          </a:ln>
        </p:spPr>
      </p:sp>
      <p:sp>
        <p:nvSpPr>
          <p:cNvPr id="20" name="Text 18"/>
          <p:cNvSpPr/>
          <p:nvPr/>
        </p:nvSpPr>
        <p:spPr>
          <a:xfrm>
            <a:off x="2276856" y="1960108"/>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0.28</a:t>
            </a:r>
            <a:endParaRPr lang="en-US" sz="750" dirty="0"/>
          </a:p>
        </p:txBody>
      </p:sp>
      <p:sp>
        <p:nvSpPr>
          <p:cNvPr id="21" name="Shape 19"/>
          <p:cNvSpPr/>
          <p:nvPr/>
        </p:nvSpPr>
        <p:spPr>
          <a:xfrm>
            <a:off x="3044952" y="1737360"/>
            <a:ext cx="768096" cy="768096"/>
          </a:xfrm>
          <a:prstGeom prst="rect">
            <a:avLst/>
          </a:prstGeom>
          <a:solidFill>
            <a:srgbClr val="D4E1FF"/>
          </a:solidFill>
          <a:ln w="8890">
            <a:solidFill>
              <a:srgbClr val="FFFFFF"/>
            </a:solidFill>
            <a:prstDash val="solid"/>
          </a:ln>
        </p:spPr>
      </p:sp>
      <p:sp>
        <p:nvSpPr>
          <p:cNvPr id="22" name="Text 20"/>
          <p:cNvSpPr/>
          <p:nvPr/>
        </p:nvSpPr>
        <p:spPr>
          <a:xfrm>
            <a:off x="3044952" y="1960108"/>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0.21</a:t>
            </a:r>
            <a:endParaRPr lang="en-US" sz="750" dirty="0"/>
          </a:p>
        </p:txBody>
      </p:sp>
      <p:sp>
        <p:nvSpPr>
          <p:cNvPr id="23" name="Shape 21"/>
          <p:cNvSpPr/>
          <p:nvPr/>
        </p:nvSpPr>
        <p:spPr>
          <a:xfrm>
            <a:off x="3813048" y="1737360"/>
            <a:ext cx="768096" cy="768096"/>
          </a:xfrm>
          <a:prstGeom prst="rect">
            <a:avLst/>
          </a:prstGeom>
          <a:solidFill>
            <a:srgbClr val="D4E1FF"/>
          </a:solidFill>
          <a:ln w="8890">
            <a:solidFill>
              <a:srgbClr val="FFFFFF"/>
            </a:solidFill>
            <a:prstDash val="solid"/>
          </a:ln>
        </p:spPr>
      </p:sp>
      <p:sp>
        <p:nvSpPr>
          <p:cNvPr id="24" name="Text 22"/>
          <p:cNvSpPr/>
          <p:nvPr/>
        </p:nvSpPr>
        <p:spPr>
          <a:xfrm>
            <a:off x="3813048" y="1960108"/>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0.15</a:t>
            </a:r>
            <a:endParaRPr lang="en-US" sz="750" dirty="0"/>
          </a:p>
        </p:txBody>
      </p:sp>
      <p:sp>
        <p:nvSpPr>
          <p:cNvPr id="25" name="Shape 23"/>
          <p:cNvSpPr/>
          <p:nvPr/>
        </p:nvSpPr>
        <p:spPr>
          <a:xfrm>
            <a:off x="4581144" y="1737360"/>
            <a:ext cx="768096" cy="768096"/>
          </a:xfrm>
          <a:prstGeom prst="rect">
            <a:avLst/>
          </a:prstGeom>
          <a:solidFill>
            <a:srgbClr val="F3F5F8"/>
          </a:solidFill>
          <a:ln w="8890">
            <a:solidFill>
              <a:srgbClr val="FFFFFF"/>
            </a:solidFill>
            <a:prstDash val="solid"/>
          </a:ln>
        </p:spPr>
      </p:sp>
      <p:sp>
        <p:nvSpPr>
          <p:cNvPr id="26" name="Text 24"/>
          <p:cNvSpPr/>
          <p:nvPr/>
        </p:nvSpPr>
        <p:spPr>
          <a:xfrm>
            <a:off x="4581144" y="1960108"/>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0.05</a:t>
            </a:r>
            <a:endParaRPr lang="en-US" sz="750" dirty="0"/>
          </a:p>
        </p:txBody>
      </p:sp>
      <p:sp>
        <p:nvSpPr>
          <p:cNvPr id="27" name="Shape 25"/>
          <p:cNvSpPr/>
          <p:nvPr/>
        </p:nvSpPr>
        <p:spPr>
          <a:xfrm>
            <a:off x="1508760" y="2505456"/>
            <a:ext cx="768096" cy="768096"/>
          </a:xfrm>
          <a:prstGeom prst="rect">
            <a:avLst/>
          </a:prstGeom>
          <a:solidFill>
            <a:srgbClr val="D4E1FF"/>
          </a:solidFill>
          <a:ln w="8890">
            <a:solidFill>
              <a:srgbClr val="FFFFFF"/>
            </a:solidFill>
            <a:prstDash val="solid"/>
          </a:ln>
        </p:spPr>
      </p:sp>
      <p:sp>
        <p:nvSpPr>
          <p:cNvPr id="28" name="Text 26"/>
          <p:cNvSpPr/>
          <p:nvPr/>
        </p:nvSpPr>
        <p:spPr>
          <a:xfrm>
            <a:off x="1508760" y="2728204"/>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0.28</a:t>
            </a:r>
            <a:endParaRPr lang="en-US" sz="750" dirty="0"/>
          </a:p>
        </p:txBody>
      </p:sp>
      <p:sp>
        <p:nvSpPr>
          <p:cNvPr id="29" name="Shape 27"/>
          <p:cNvSpPr/>
          <p:nvPr/>
        </p:nvSpPr>
        <p:spPr>
          <a:xfrm>
            <a:off x="2276856" y="2505456"/>
            <a:ext cx="768096" cy="768096"/>
          </a:xfrm>
          <a:prstGeom prst="rect">
            <a:avLst/>
          </a:prstGeom>
          <a:solidFill>
            <a:srgbClr val="2F6BFF"/>
          </a:solidFill>
          <a:ln w="8890">
            <a:solidFill>
              <a:srgbClr val="FFFFFF"/>
            </a:solidFill>
            <a:prstDash val="solid"/>
          </a:ln>
        </p:spPr>
      </p:sp>
      <p:sp>
        <p:nvSpPr>
          <p:cNvPr id="30" name="Text 28"/>
          <p:cNvSpPr/>
          <p:nvPr/>
        </p:nvSpPr>
        <p:spPr>
          <a:xfrm>
            <a:off x="2276856" y="2728204"/>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1.00</a:t>
            </a:r>
            <a:endParaRPr lang="en-US" sz="750" dirty="0"/>
          </a:p>
        </p:txBody>
      </p:sp>
      <p:sp>
        <p:nvSpPr>
          <p:cNvPr id="31" name="Shape 29"/>
          <p:cNvSpPr/>
          <p:nvPr/>
        </p:nvSpPr>
        <p:spPr>
          <a:xfrm>
            <a:off x="3044952" y="2505456"/>
            <a:ext cx="768096" cy="768096"/>
          </a:xfrm>
          <a:prstGeom prst="rect">
            <a:avLst/>
          </a:prstGeom>
          <a:solidFill>
            <a:srgbClr val="7EA5FF"/>
          </a:solidFill>
          <a:ln w="8890">
            <a:solidFill>
              <a:srgbClr val="FFFFFF"/>
            </a:solidFill>
            <a:prstDash val="solid"/>
          </a:ln>
        </p:spPr>
      </p:sp>
      <p:sp>
        <p:nvSpPr>
          <p:cNvPr id="32" name="Text 30"/>
          <p:cNvSpPr/>
          <p:nvPr/>
        </p:nvSpPr>
        <p:spPr>
          <a:xfrm>
            <a:off x="3044952" y="2728204"/>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0.63</a:t>
            </a:r>
            <a:endParaRPr lang="en-US" sz="750" dirty="0"/>
          </a:p>
        </p:txBody>
      </p:sp>
      <p:sp>
        <p:nvSpPr>
          <p:cNvPr id="33" name="Shape 31"/>
          <p:cNvSpPr/>
          <p:nvPr/>
        </p:nvSpPr>
        <p:spPr>
          <a:xfrm>
            <a:off x="3813048" y="2505456"/>
            <a:ext cx="768096" cy="768096"/>
          </a:xfrm>
          <a:prstGeom prst="rect">
            <a:avLst/>
          </a:prstGeom>
          <a:solidFill>
            <a:srgbClr val="D4E1FF"/>
          </a:solidFill>
          <a:ln w="8890">
            <a:solidFill>
              <a:srgbClr val="FFFFFF"/>
            </a:solidFill>
            <a:prstDash val="solid"/>
          </a:ln>
        </p:spPr>
      </p:sp>
      <p:sp>
        <p:nvSpPr>
          <p:cNvPr id="34" name="Text 32"/>
          <p:cNvSpPr/>
          <p:nvPr/>
        </p:nvSpPr>
        <p:spPr>
          <a:xfrm>
            <a:off x="3813048" y="2728204"/>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0.36</a:t>
            </a:r>
            <a:endParaRPr lang="en-US" sz="750" dirty="0"/>
          </a:p>
        </p:txBody>
      </p:sp>
      <p:sp>
        <p:nvSpPr>
          <p:cNvPr id="35" name="Shape 33"/>
          <p:cNvSpPr/>
          <p:nvPr/>
        </p:nvSpPr>
        <p:spPr>
          <a:xfrm>
            <a:off x="4581144" y="2505456"/>
            <a:ext cx="768096" cy="768096"/>
          </a:xfrm>
          <a:prstGeom prst="rect">
            <a:avLst/>
          </a:prstGeom>
          <a:solidFill>
            <a:srgbClr val="F8D4D4"/>
          </a:solidFill>
          <a:ln w="8890">
            <a:solidFill>
              <a:srgbClr val="FFFFFF"/>
            </a:solidFill>
            <a:prstDash val="solid"/>
          </a:ln>
        </p:spPr>
      </p:sp>
      <p:sp>
        <p:nvSpPr>
          <p:cNvPr id="36" name="Text 34"/>
          <p:cNvSpPr/>
          <p:nvPr/>
        </p:nvSpPr>
        <p:spPr>
          <a:xfrm>
            <a:off x="4581144" y="2728204"/>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-0.18</a:t>
            </a:r>
            <a:endParaRPr lang="en-US" sz="750" dirty="0"/>
          </a:p>
        </p:txBody>
      </p:sp>
      <p:sp>
        <p:nvSpPr>
          <p:cNvPr id="37" name="Shape 35"/>
          <p:cNvSpPr/>
          <p:nvPr/>
        </p:nvSpPr>
        <p:spPr>
          <a:xfrm>
            <a:off x="1508760" y="3273552"/>
            <a:ext cx="768096" cy="768096"/>
          </a:xfrm>
          <a:prstGeom prst="rect">
            <a:avLst/>
          </a:prstGeom>
          <a:solidFill>
            <a:srgbClr val="D4E1FF"/>
          </a:solidFill>
          <a:ln w="8890">
            <a:solidFill>
              <a:srgbClr val="FFFFFF"/>
            </a:solidFill>
            <a:prstDash val="solid"/>
          </a:ln>
        </p:spPr>
      </p:sp>
      <p:sp>
        <p:nvSpPr>
          <p:cNvPr id="38" name="Text 36"/>
          <p:cNvSpPr/>
          <p:nvPr/>
        </p:nvSpPr>
        <p:spPr>
          <a:xfrm>
            <a:off x="1508760" y="3496300"/>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0.21</a:t>
            </a:r>
            <a:endParaRPr lang="en-US" sz="750" dirty="0"/>
          </a:p>
        </p:txBody>
      </p:sp>
      <p:sp>
        <p:nvSpPr>
          <p:cNvPr id="39" name="Shape 37"/>
          <p:cNvSpPr/>
          <p:nvPr/>
        </p:nvSpPr>
        <p:spPr>
          <a:xfrm>
            <a:off x="2276856" y="3273552"/>
            <a:ext cx="768096" cy="768096"/>
          </a:xfrm>
          <a:prstGeom prst="rect">
            <a:avLst/>
          </a:prstGeom>
          <a:solidFill>
            <a:srgbClr val="7EA5FF"/>
          </a:solidFill>
          <a:ln w="8890">
            <a:solidFill>
              <a:srgbClr val="FFFFFF"/>
            </a:solidFill>
            <a:prstDash val="solid"/>
          </a:ln>
        </p:spPr>
      </p:sp>
      <p:sp>
        <p:nvSpPr>
          <p:cNvPr id="40" name="Text 38"/>
          <p:cNvSpPr/>
          <p:nvPr/>
        </p:nvSpPr>
        <p:spPr>
          <a:xfrm>
            <a:off x="2276856" y="3496300"/>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0.63</a:t>
            </a:r>
            <a:endParaRPr lang="en-US" sz="750" dirty="0"/>
          </a:p>
        </p:txBody>
      </p:sp>
      <p:sp>
        <p:nvSpPr>
          <p:cNvPr id="41" name="Shape 39"/>
          <p:cNvSpPr/>
          <p:nvPr/>
        </p:nvSpPr>
        <p:spPr>
          <a:xfrm>
            <a:off x="3044952" y="3273552"/>
            <a:ext cx="768096" cy="768096"/>
          </a:xfrm>
          <a:prstGeom prst="rect">
            <a:avLst/>
          </a:prstGeom>
          <a:solidFill>
            <a:srgbClr val="2F6BFF"/>
          </a:solidFill>
          <a:ln w="8890">
            <a:solidFill>
              <a:srgbClr val="FFFFFF"/>
            </a:solidFill>
            <a:prstDash val="solid"/>
          </a:ln>
        </p:spPr>
      </p:sp>
      <p:sp>
        <p:nvSpPr>
          <p:cNvPr id="42" name="Text 40"/>
          <p:cNvSpPr/>
          <p:nvPr/>
        </p:nvSpPr>
        <p:spPr>
          <a:xfrm>
            <a:off x="3044952" y="3496300"/>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1.00</a:t>
            </a:r>
            <a:endParaRPr lang="en-US" sz="750" dirty="0"/>
          </a:p>
        </p:txBody>
      </p:sp>
      <p:sp>
        <p:nvSpPr>
          <p:cNvPr id="43" name="Shape 41"/>
          <p:cNvSpPr/>
          <p:nvPr/>
        </p:nvSpPr>
        <p:spPr>
          <a:xfrm>
            <a:off x="3813048" y="3273552"/>
            <a:ext cx="768096" cy="768096"/>
          </a:xfrm>
          <a:prstGeom prst="rect">
            <a:avLst/>
          </a:prstGeom>
          <a:solidFill>
            <a:srgbClr val="7EA5FF"/>
          </a:solidFill>
          <a:ln w="8890">
            <a:solidFill>
              <a:srgbClr val="FFFFFF"/>
            </a:solidFill>
            <a:prstDash val="solid"/>
          </a:ln>
        </p:spPr>
      </p:sp>
      <p:sp>
        <p:nvSpPr>
          <p:cNvPr id="44" name="Text 42"/>
          <p:cNvSpPr/>
          <p:nvPr/>
        </p:nvSpPr>
        <p:spPr>
          <a:xfrm>
            <a:off x="3813048" y="3496300"/>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0.42</a:t>
            </a:r>
            <a:endParaRPr lang="en-US" sz="750" dirty="0"/>
          </a:p>
        </p:txBody>
      </p:sp>
      <p:sp>
        <p:nvSpPr>
          <p:cNvPr id="45" name="Shape 43"/>
          <p:cNvSpPr/>
          <p:nvPr/>
        </p:nvSpPr>
        <p:spPr>
          <a:xfrm>
            <a:off x="4581144" y="3273552"/>
            <a:ext cx="768096" cy="768096"/>
          </a:xfrm>
          <a:prstGeom prst="rect">
            <a:avLst/>
          </a:prstGeom>
          <a:solidFill>
            <a:srgbClr val="F8D4D4"/>
          </a:solidFill>
          <a:ln w="8890">
            <a:solidFill>
              <a:srgbClr val="FFFFFF"/>
            </a:solidFill>
            <a:prstDash val="solid"/>
          </a:ln>
        </p:spPr>
      </p:sp>
      <p:sp>
        <p:nvSpPr>
          <p:cNvPr id="46" name="Text 44"/>
          <p:cNvSpPr/>
          <p:nvPr/>
        </p:nvSpPr>
        <p:spPr>
          <a:xfrm>
            <a:off x="4581144" y="3496300"/>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-0.31</a:t>
            </a:r>
            <a:endParaRPr lang="en-US" sz="750" dirty="0"/>
          </a:p>
        </p:txBody>
      </p:sp>
      <p:sp>
        <p:nvSpPr>
          <p:cNvPr id="47" name="Shape 45"/>
          <p:cNvSpPr/>
          <p:nvPr/>
        </p:nvSpPr>
        <p:spPr>
          <a:xfrm>
            <a:off x="1508760" y="4041648"/>
            <a:ext cx="768096" cy="768096"/>
          </a:xfrm>
          <a:prstGeom prst="rect">
            <a:avLst/>
          </a:prstGeom>
          <a:solidFill>
            <a:srgbClr val="D4E1FF"/>
          </a:solidFill>
          <a:ln w="8890">
            <a:solidFill>
              <a:srgbClr val="FFFFFF"/>
            </a:solidFill>
            <a:prstDash val="solid"/>
          </a:ln>
        </p:spPr>
      </p:sp>
      <p:sp>
        <p:nvSpPr>
          <p:cNvPr id="48" name="Text 46"/>
          <p:cNvSpPr/>
          <p:nvPr/>
        </p:nvSpPr>
        <p:spPr>
          <a:xfrm>
            <a:off x="1508760" y="4264396"/>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0.15</a:t>
            </a:r>
            <a:endParaRPr lang="en-US" sz="750" dirty="0"/>
          </a:p>
        </p:txBody>
      </p:sp>
      <p:sp>
        <p:nvSpPr>
          <p:cNvPr id="49" name="Shape 47"/>
          <p:cNvSpPr/>
          <p:nvPr/>
        </p:nvSpPr>
        <p:spPr>
          <a:xfrm>
            <a:off x="2276856" y="4041648"/>
            <a:ext cx="768096" cy="768096"/>
          </a:xfrm>
          <a:prstGeom prst="rect">
            <a:avLst/>
          </a:prstGeom>
          <a:solidFill>
            <a:srgbClr val="D4E1FF"/>
          </a:solidFill>
          <a:ln w="8890">
            <a:solidFill>
              <a:srgbClr val="FFFFFF"/>
            </a:solidFill>
            <a:prstDash val="solid"/>
          </a:ln>
        </p:spPr>
      </p:sp>
      <p:sp>
        <p:nvSpPr>
          <p:cNvPr id="50" name="Text 48"/>
          <p:cNvSpPr/>
          <p:nvPr/>
        </p:nvSpPr>
        <p:spPr>
          <a:xfrm>
            <a:off x="2276856" y="4264396"/>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0.36</a:t>
            </a:r>
            <a:endParaRPr lang="en-US" sz="750" dirty="0"/>
          </a:p>
        </p:txBody>
      </p:sp>
      <p:sp>
        <p:nvSpPr>
          <p:cNvPr id="51" name="Shape 49"/>
          <p:cNvSpPr/>
          <p:nvPr/>
        </p:nvSpPr>
        <p:spPr>
          <a:xfrm>
            <a:off x="3044952" y="4041648"/>
            <a:ext cx="768096" cy="768096"/>
          </a:xfrm>
          <a:prstGeom prst="rect">
            <a:avLst/>
          </a:prstGeom>
          <a:solidFill>
            <a:srgbClr val="7EA5FF"/>
          </a:solidFill>
          <a:ln w="8890">
            <a:solidFill>
              <a:srgbClr val="FFFFFF"/>
            </a:solidFill>
            <a:prstDash val="solid"/>
          </a:ln>
        </p:spPr>
      </p:sp>
      <p:sp>
        <p:nvSpPr>
          <p:cNvPr id="52" name="Text 50"/>
          <p:cNvSpPr/>
          <p:nvPr/>
        </p:nvSpPr>
        <p:spPr>
          <a:xfrm>
            <a:off x="3044952" y="4264396"/>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0.42</a:t>
            </a:r>
            <a:endParaRPr lang="en-US" sz="750" dirty="0"/>
          </a:p>
        </p:txBody>
      </p:sp>
      <p:sp>
        <p:nvSpPr>
          <p:cNvPr id="53" name="Shape 51"/>
          <p:cNvSpPr/>
          <p:nvPr/>
        </p:nvSpPr>
        <p:spPr>
          <a:xfrm>
            <a:off x="3813048" y="4041648"/>
            <a:ext cx="768096" cy="768096"/>
          </a:xfrm>
          <a:prstGeom prst="rect">
            <a:avLst/>
          </a:prstGeom>
          <a:solidFill>
            <a:srgbClr val="2F6BFF"/>
          </a:solidFill>
          <a:ln w="8890">
            <a:solidFill>
              <a:srgbClr val="FFFFFF"/>
            </a:solidFill>
            <a:prstDash val="solid"/>
          </a:ln>
        </p:spPr>
      </p:sp>
      <p:sp>
        <p:nvSpPr>
          <p:cNvPr id="54" name="Text 52"/>
          <p:cNvSpPr/>
          <p:nvPr/>
        </p:nvSpPr>
        <p:spPr>
          <a:xfrm>
            <a:off x="3813048" y="4264396"/>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1.00</a:t>
            </a:r>
            <a:endParaRPr lang="en-US" sz="750" dirty="0"/>
          </a:p>
        </p:txBody>
      </p:sp>
      <p:sp>
        <p:nvSpPr>
          <p:cNvPr id="55" name="Shape 53"/>
          <p:cNvSpPr/>
          <p:nvPr/>
        </p:nvSpPr>
        <p:spPr>
          <a:xfrm>
            <a:off x="4581144" y="4041648"/>
            <a:ext cx="768096" cy="768096"/>
          </a:xfrm>
          <a:prstGeom prst="rect">
            <a:avLst/>
          </a:prstGeom>
          <a:solidFill>
            <a:srgbClr val="F8D4D4"/>
          </a:solidFill>
          <a:ln w="8890">
            <a:solidFill>
              <a:srgbClr val="FFFFFF"/>
            </a:solidFill>
            <a:prstDash val="solid"/>
          </a:ln>
        </p:spPr>
      </p:sp>
      <p:sp>
        <p:nvSpPr>
          <p:cNvPr id="56" name="Text 54"/>
          <p:cNvSpPr/>
          <p:nvPr/>
        </p:nvSpPr>
        <p:spPr>
          <a:xfrm>
            <a:off x="4581144" y="4264396"/>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-0.12</a:t>
            </a:r>
            <a:endParaRPr lang="en-US" sz="750" dirty="0"/>
          </a:p>
        </p:txBody>
      </p:sp>
      <p:sp>
        <p:nvSpPr>
          <p:cNvPr id="57" name="Shape 55"/>
          <p:cNvSpPr/>
          <p:nvPr/>
        </p:nvSpPr>
        <p:spPr>
          <a:xfrm>
            <a:off x="1508760" y="4809744"/>
            <a:ext cx="768096" cy="768096"/>
          </a:xfrm>
          <a:prstGeom prst="rect">
            <a:avLst/>
          </a:prstGeom>
          <a:solidFill>
            <a:srgbClr val="F3F5F8"/>
          </a:solidFill>
          <a:ln w="8890">
            <a:solidFill>
              <a:srgbClr val="FFFFFF"/>
            </a:solidFill>
            <a:prstDash val="solid"/>
          </a:ln>
        </p:spPr>
      </p:sp>
      <p:sp>
        <p:nvSpPr>
          <p:cNvPr id="58" name="Text 56"/>
          <p:cNvSpPr/>
          <p:nvPr/>
        </p:nvSpPr>
        <p:spPr>
          <a:xfrm>
            <a:off x="1508760" y="5032492"/>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0.05</a:t>
            </a:r>
            <a:endParaRPr lang="en-US" sz="750" dirty="0"/>
          </a:p>
        </p:txBody>
      </p:sp>
      <p:sp>
        <p:nvSpPr>
          <p:cNvPr id="59" name="Shape 57"/>
          <p:cNvSpPr/>
          <p:nvPr/>
        </p:nvSpPr>
        <p:spPr>
          <a:xfrm>
            <a:off x="2276856" y="4809744"/>
            <a:ext cx="768096" cy="768096"/>
          </a:xfrm>
          <a:prstGeom prst="rect">
            <a:avLst/>
          </a:prstGeom>
          <a:solidFill>
            <a:srgbClr val="F8D4D4"/>
          </a:solidFill>
          <a:ln w="8890">
            <a:solidFill>
              <a:srgbClr val="FFFFFF"/>
            </a:solidFill>
            <a:prstDash val="solid"/>
          </a:ln>
        </p:spPr>
      </p:sp>
      <p:sp>
        <p:nvSpPr>
          <p:cNvPr id="60" name="Text 58"/>
          <p:cNvSpPr/>
          <p:nvPr/>
        </p:nvSpPr>
        <p:spPr>
          <a:xfrm>
            <a:off x="2276856" y="5032492"/>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-0.18</a:t>
            </a:r>
            <a:endParaRPr lang="en-US" sz="750" dirty="0"/>
          </a:p>
        </p:txBody>
      </p:sp>
      <p:sp>
        <p:nvSpPr>
          <p:cNvPr id="61" name="Shape 59"/>
          <p:cNvSpPr/>
          <p:nvPr/>
        </p:nvSpPr>
        <p:spPr>
          <a:xfrm>
            <a:off x="3044952" y="4809744"/>
            <a:ext cx="768096" cy="768096"/>
          </a:xfrm>
          <a:prstGeom prst="rect">
            <a:avLst/>
          </a:prstGeom>
          <a:solidFill>
            <a:srgbClr val="F8D4D4"/>
          </a:solidFill>
          <a:ln w="8890">
            <a:solidFill>
              <a:srgbClr val="FFFFFF"/>
            </a:solidFill>
            <a:prstDash val="solid"/>
          </a:ln>
        </p:spPr>
      </p:sp>
      <p:sp>
        <p:nvSpPr>
          <p:cNvPr id="62" name="Text 60"/>
          <p:cNvSpPr/>
          <p:nvPr/>
        </p:nvSpPr>
        <p:spPr>
          <a:xfrm>
            <a:off x="3044952" y="5032492"/>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-0.31</a:t>
            </a:r>
            <a:endParaRPr lang="en-US" sz="750" dirty="0"/>
          </a:p>
        </p:txBody>
      </p:sp>
      <p:sp>
        <p:nvSpPr>
          <p:cNvPr id="63" name="Shape 61"/>
          <p:cNvSpPr/>
          <p:nvPr/>
        </p:nvSpPr>
        <p:spPr>
          <a:xfrm>
            <a:off x="3813048" y="4809744"/>
            <a:ext cx="768096" cy="768096"/>
          </a:xfrm>
          <a:prstGeom prst="rect">
            <a:avLst/>
          </a:prstGeom>
          <a:solidFill>
            <a:srgbClr val="F8D4D4"/>
          </a:solidFill>
          <a:ln w="8890">
            <a:solidFill>
              <a:srgbClr val="FFFFFF"/>
            </a:solidFill>
            <a:prstDash val="solid"/>
          </a:ln>
        </p:spPr>
      </p:sp>
      <p:sp>
        <p:nvSpPr>
          <p:cNvPr id="64" name="Text 62"/>
          <p:cNvSpPr/>
          <p:nvPr/>
        </p:nvSpPr>
        <p:spPr>
          <a:xfrm>
            <a:off x="3813048" y="5032492"/>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132238"/>
                </a:solidFill>
              </a:rPr>
              <a:t>-0.12</a:t>
            </a:r>
            <a:endParaRPr lang="en-US" sz="750" dirty="0"/>
          </a:p>
        </p:txBody>
      </p:sp>
      <p:sp>
        <p:nvSpPr>
          <p:cNvPr id="65" name="Shape 63"/>
          <p:cNvSpPr/>
          <p:nvPr/>
        </p:nvSpPr>
        <p:spPr>
          <a:xfrm>
            <a:off x="4581144" y="4809744"/>
            <a:ext cx="768096" cy="768096"/>
          </a:xfrm>
          <a:prstGeom prst="rect">
            <a:avLst/>
          </a:prstGeom>
          <a:solidFill>
            <a:srgbClr val="2F6BFF"/>
          </a:solidFill>
          <a:ln w="8890">
            <a:solidFill>
              <a:srgbClr val="FFFFFF"/>
            </a:solidFill>
            <a:prstDash val="solid"/>
          </a:ln>
        </p:spPr>
      </p:sp>
      <p:sp>
        <p:nvSpPr>
          <p:cNvPr id="66" name="Text 64"/>
          <p:cNvSpPr/>
          <p:nvPr/>
        </p:nvSpPr>
        <p:spPr>
          <a:xfrm>
            <a:off x="4581144" y="5032492"/>
            <a:ext cx="768096" cy="215067"/>
          </a:xfrm>
          <a:prstGeom prst="rect">
            <a:avLst/>
          </a:prstGeom>
          <a:noFill/>
          <a:ln/>
        </p:spPr>
        <p:txBody>
          <a:bodyPr wrap="square" lIns="0" tIns="0" rIns="0" bIns="0" rtlCol="0" anchor="ctr">
            <a:normAutofit/>
          </a:bodyPr>
          <a:lstStyle/>
          <a:p>
            <a:pPr marL="0" indent="0" algn="ctr">
              <a:buNone/>
            </a:pPr>
            <a:r>
              <a:rPr lang="en-US" sz="750" dirty="0">
                <a:solidFill>
                  <a:srgbClr val="FFFFFF"/>
                </a:solidFill>
              </a:rPr>
              <a:t>1.00</a:t>
            </a:r>
            <a:endParaRPr lang="en-US" sz="750" dirty="0"/>
          </a:p>
        </p:txBody>
      </p:sp>
      <p:sp>
        <p:nvSpPr>
          <p:cNvPr id="67" name="Shape 65"/>
          <p:cNvSpPr/>
          <p:nvPr/>
        </p:nvSpPr>
        <p:spPr>
          <a:xfrm>
            <a:off x="6492240" y="1682496"/>
            <a:ext cx="4572000" cy="1133856"/>
          </a:xfrm>
          <a:prstGeom prst="roundRect">
            <a:avLst>
              <a:gd name="adj" fmla="val 6452"/>
            </a:avLst>
          </a:prstGeom>
          <a:solidFill>
            <a:srgbClr val="EAF1FF"/>
          </a:solidFill>
          <a:ln w="10160">
            <a:solidFill>
              <a:srgbClr val="E9EEF5"/>
            </a:solidFill>
            <a:prstDash val="solid"/>
          </a:ln>
        </p:spPr>
      </p:sp>
      <p:sp>
        <p:nvSpPr>
          <p:cNvPr id="68" name="Text 66"/>
          <p:cNvSpPr/>
          <p:nvPr/>
        </p:nvSpPr>
        <p:spPr>
          <a:xfrm>
            <a:off x="6656832" y="1819656"/>
            <a:ext cx="42428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What to look for</a:t>
            </a:r>
            <a:endParaRPr lang="en-US" sz="1500" dirty="0"/>
          </a:p>
        </p:txBody>
      </p:sp>
      <p:sp>
        <p:nvSpPr>
          <p:cNvPr id="69" name="Text 67"/>
          <p:cNvSpPr/>
          <p:nvPr/>
        </p:nvSpPr>
        <p:spPr>
          <a:xfrm>
            <a:off x="6656832" y="2157984"/>
            <a:ext cx="4242816"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Large absolute values |r| reveal strong linear association.</a:t>
            </a:r>
            <a:endParaRPr lang="en-US" sz="1150" dirty="0"/>
          </a:p>
        </p:txBody>
      </p:sp>
      <p:sp>
        <p:nvSpPr>
          <p:cNvPr id="70" name="Shape 68"/>
          <p:cNvSpPr/>
          <p:nvPr/>
        </p:nvSpPr>
        <p:spPr>
          <a:xfrm>
            <a:off x="6492240" y="2999232"/>
            <a:ext cx="4572000" cy="1133856"/>
          </a:xfrm>
          <a:prstGeom prst="roundRect">
            <a:avLst>
              <a:gd name="adj" fmla="val 6452"/>
            </a:avLst>
          </a:prstGeom>
          <a:solidFill>
            <a:srgbClr val="E6F7F5"/>
          </a:solidFill>
          <a:ln w="10160">
            <a:solidFill>
              <a:srgbClr val="E9EEF5"/>
            </a:solidFill>
            <a:prstDash val="solid"/>
          </a:ln>
        </p:spPr>
      </p:sp>
      <p:sp>
        <p:nvSpPr>
          <p:cNvPr id="71" name="Text 69"/>
          <p:cNvSpPr/>
          <p:nvPr/>
        </p:nvSpPr>
        <p:spPr>
          <a:xfrm>
            <a:off x="6656832" y="3136392"/>
            <a:ext cx="42428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Diagonal</a:t>
            </a:r>
            <a:endParaRPr lang="en-US" sz="1500" dirty="0"/>
          </a:p>
        </p:txBody>
      </p:sp>
      <p:sp>
        <p:nvSpPr>
          <p:cNvPr id="72" name="Text 70"/>
          <p:cNvSpPr/>
          <p:nvPr/>
        </p:nvSpPr>
        <p:spPr>
          <a:xfrm>
            <a:off x="6656832" y="3474720"/>
            <a:ext cx="4242816"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variable is perfectly correlated with itself: r = 1.</a:t>
            </a:r>
            <a:endParaRPr lang="en-US" sz="1150" dirty="0"/>
          </a:p>
        </p:txBody>
      </p:sp>
      <p:sp>
        <p:nvSpPr>
          <p:cNvPr id="73" name="Shape 71"/>
          <p:cNvSpPr/>
          <p:nvPr/>
        </p:nvSpPr>
        <p:spPr>
          <a:xfrm>
            <a:off x="6492240" y="4315968"/>
            <a:ext cx="4572000" cy="1133856"/>
          </a:xfrm>
          <a:prstGeom prst="roundRect">
            <a:avLst>
              <a:gd name="adj" fmla="val 6452"/>
            </a:avLst>
          </a:prstGeom>
          <a:solidFill>
            <a:srgbClr val="F1EDFF"/>
          </a:solidFill>
          <a:ln w="10160">
            <a:solidFill>
              <a:srgbClr val="E9EEF5"/>
            </a:solidFill>
            <a:prstDash val="solid"/>
          </a:ln>
        </p:spPr>
      </p:sp>
      <p:sp>
        <p:nvSpPr>
          <p:cNvPr id="74" name="Text 72"/>
          <p:cNvSpPr/>
          <p:nvPr/>
        </p:nvSpPr>
        <p:spPr>
          <a:xfrm>
            <a:off x="6656832" y="4453128"/>
            <a:ext cx="42428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Symmetry</a:t>
            </a:r>
            <a:endParaRPr lang="en-US" sz="1500" dirty="0"/>
          </a:p>
        </p:txBody>
      </p:sp>
      <p:sp>
        <p:nvSpPr>
          <p:cNvPr id="75" name="Text 73"/>
          <p:cNvSpPr/>
          <p:nvPr/>
        </p:nvSpPr>
        <p:spPr>
          <a:xfrm>
            <a:off x="6656832" y="4791456"/>
            <a:ext cx="4242816" cy="530352"/>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corr(X,Y) = corr(Y,X), so the matrix mirrors across the diagonal.</a:t>
            </a:r>
            <a:endParaRPr lang="en-US" sz="1150" dirty="0"/>
          </a:p>
        </p:txBody>
      </p:sp>
      <p:sp>
        <p:nvSpPr>
          <p:cNvPr id="76" name="Shape 74"/>
          <p:cNvSpPr/>
          <p:nvPr/>
        </p:nvSpPr>
        <p:spPr>
          <a:xfrm>
            <a:off x="6355080" y="5724144"/>
            <a:ext cx="4800600" cy="420624"/>
          </a:xfrm>
          <a:prstGeom prst="roundRect">
            <a:avLst>
              <a:gd name="adj" fmla="val 10870"/>
            </a:avLst>
          </a:prstGeom>
          <a:solidFill>
            <a:srgbClr val="F8FBF9"/>
          </a:solidFill>
          <a:ln w="12700">
            <a:solidFill>
              <a:srgbClr val="217346"/>
            </a:solidFill>
            <a:prstDash val="solid"/>
          </a:ln>
        </p:spPr>
      </p:sp>
      <p:sp>
        <p:nvSpPr>
          <p:cNvPr id="77" name="Text 75"/>
          <p:cNvSpPr/>
          <p:nvPr/>
        </p:nvSpPr>
        <p:spPr>
          <a:xfrm>
            <a:off x="6464808" y="5806440"/>
            <a:ext cx="4581144" cy="219456"/>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132238"/>
                </a:solidFill>
                <a:latin typeface="Aptos Mono" pitchFamily="34" charset="0"/>
                <a:ea typeface="Aptos Mono" pitchFamily="34" charset="-122"/>
                <a:cs typeface="Aptos Mono" pitchFamily="34" charset="-120"/>
              </a:rPr>
              <a:t>Excel: Data Analysis → Correlation   or   multiple =CORREL(...) formulas</a:t>
            </a:r>
            <a:endParaRPr lang="en-US" sz="1050" dirty="0"/>
          </a:p>
        </p:txBody>
      </p:sp>
      <p:sp>
        <p:nvSpPr>
          <p:cNvPr id="78"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05 · CORRELATION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Correlation is not causation</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strong relationship can be real and useful without proving that X causes Y.</a:t>
            </a:r>
            <a:endParaRPr lang="en-US" sz="1300" dirty="0"/>
          </a:p>
        </p:txBody>
      </p:sp>
      <p:sp>
        <p:nvSpPr>
          <p:cNvPr id="7" name="Shape 5"/>
          <p:cNvSpPr/>
          <p:nvPr/>
        </p:nvSpPr>
        <p:spPr>
          <a:xfrm>
            <a:off x="749808" y="1508760"/>
            <a:ext cx="3246120" cy="1938528"/>
          </a:xfrm>
          <a:prstGeom prst="roundRect">
            <a:avLst>
              <a:gd name="adj" fmla="val 3774"/>
            </a:avLst>
          </a:prstGeom>
          <a:solidFill>
            <a:srgbClr val="EAF1FF"/>
          </a:solidFill>
          <a:ln w="10160">
            <a:solidFill>
              <a:srgbClr val="E9EEF5"/>
            </a:solidFill>
            <a:prstDash val="solid"/>
          </a:ln>
        </p:spPr>
      </p:sp>
      <p:sp>
        <p:nvSpPr>
          <p:cNvPr id="8" name="Text 6"/>
          <p:cNvSpPr/>
          <p:nvPr/>
        </p:nvSpPr>
        <p:spPr>
          <a:xfrm>
            <a:off x="914400" y="16459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Common cause</a:t>
            </a:r>
            <a:endParaRPr lang="en-US" sz="1500" dirty="0"/>
          </a:p>
        </p:txBody>
      </p:sp>
      <p:sp>
        <p:nvSpPr>
          <p:cNvPr id="9" name="Text 7"/>
          <p:cNvSpPr/>
          <p:nvPr/>
        </p:nvSpPr>
        <p:spPr>
          <a:xfrm>
            <a:off x="914400" y="1984248"/>
            <a:ext cx="2916936" cy="133502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A third variable drives both X and Y.</a:t>
            </a:r>
            <a:endParaRPr lang="en-US" sz="1150" dirty="0"/>
          </a:p>
          <a:p>
            <a:pPr marL="0" indent="0">
              <a:buNone/>
            </a:pPr>
            <a:endParaRPr lang="en-US" sz="1150" dirty="0"/>
          </a:p>
          <a:p>
            <a:pPr marL="0" indent="0">
              <a:buNone/>
            </a:pPr>
            <a:r>
              <a:rPr lang="en-US" sz="1150" dirty="0">
                <a:solidFill>
                  <a:srgbClr val="26364A"/>
                </a:solidFill>
              </a:rPr>
              <a:t>Example: season affects both heating usage and energy bills.</a:t>
            </a:r>
            <a:endParaRPr lang="en-US" sz="1150" dirty="0"/>
          </a:p>
        </p:txBody>
      </p:sp>
      <p:sp>
        <p:nvSpPr>
          <p:cNvPr id="10" name="Shape 8"/>
          <p:cNvSpPr/>
          <p:nvPr/>
        </p:nvSpPr>
        <p:spPr>
          <a:xfrm>
            <a:off x="4480560" y="1508760"/>
            <a:ext cx="3246120" cy="1938528"/>
          </a:xfrm>
          <a:prstGeom prst="roundRect">
            <a:avLst>
              <a:gd name="adj" fmla="val 3774"/>
            </a:avLst>
          </a:prstGeom>
          <a:solidFill>
            <a:srgbClr val="F1EDFF"/>
          </a:solidFill>
          <a:ln w="10160">
            <a:solidFill>
              <a:srgbClr val="E9EEF5"/>
            </a:solidFill>
            <a:prstDash val="solid"/>
          </a:ln>
        </p:spPr>
      </p:sp>
      <p:sp>
        <p:nvSpPr>
          <p:cNvPr id="11" name="Text 9"/>
          <p:cNvSpPr/>
          <p:nvPr/>
        </p:nvSpPr>
        <p:spPr>
          <a:xfrm>
            <a:off x="4645152" y="16459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Reverse direction</a:t>
            </a:r>
            <a:endParaRPr lang="en-US" sz="1500" dirty="0"/>
          </a:p>
        </p:txBody>
      </p:sp>
      <p:sp>
        <p:nvSpPr>
          <p:cNvPr id="12" name="Text 10"/>
          <p:cNvSpPr/>
          <p:nvPr/>
        </p:nvSpPr>
        <p:spPr>
          <a:xfrm>
            <a:off x="4645152" y="1984248"/>
            <a:ext cx="2916936" cy="133502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Y may influence X rather than X influencing Y.</a:t>
            </a:r>
            <a:endParaRPr lang="en-US" sz="1150" dirty="0"/>
          </a:p>
          <a:p>
            <a:pPr marL="0" indent="0">
              <a:buNone/>
            </a:pPr>
            <a:endParaRPr lang="en-US" sz="1150" dirty="0"/>
          </a:p>
          <a:p>
            <a:pPr marL="0" indent="0">
              <a:buNone/>
            </a:pPr>
            <a:r>
              <a:rPr lang="en-US" sz="1150" dirty="0">
                <a:solidFill>
                  <a:srgbClr val="26364A"/>
                </a:solidFill>
              </a:rPr>
              <a:t>Correlation alone cannot determine direction.</a:t>
            </a:r>
            <a:endParaRPr lang="en-US" sz="1150" dirty="0"/>
          </a:p>
        </p:txBody>
      </p:sp>
      <p:sp>
        <p:nvSpPr>
          <p:cNvPr id="13" name="Shape 11"/>
          <p:cNvSpPr/>
          <p:nvPr/>
        </p:nvSpPr>
        <p:spPr>
          <a:xfrm>
            <a:off x="8211312" y="1508760"/>
            <a:ext cx="3246120" cy="1938528"/>
          </a:xfrm>
          <a:prstGeom prst="roundRect">
            <a:avLst>
              <a:gd name="adj" fmla="val 3774"/>
            </a:avLst>
          </a:prstGeom>
          <a:solidFill>
            <a:srgbClr val="FFF4E2"/>
          </a:solidFill>
          <a:ln w="10160">
            <a:solidFill>
              <a:srgbClr val="E9EEF5"/>
            </a:solidFill>
            <a:prstDash val="solid"/>
          </a:ln>
        </p:spPr>
      </p:sp>
      <p:sp>
        <p:nvSpPr>
          <p:cNvPr id="14" name="Text 12"/>
          <p:cNvSpPr/>
          <p:nvPr/>
        </p:nvSpPr>
        <p:spPr>
          <a:xfrm>
            <a:off x="8375904" y="164592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Spurious relationship</a:t>
            </a:r>
            <a:endParaRPr lang="en-US" sz="1500" dirty="0"/>
          </a:p>
        </p:txBody>
      </p:sp>
      <p:sp>
        <p:nvSpPr>
          <p:cNvPr id="15" name="Text 13"/>
          <p:cNvSpPr/>
          <p:nvPr/>
        </p:nvSpPr>
        <p:spPr>
          <a:xfrm>
            <a:off x="8375904" y="1984248"/>
            <a:ext cx="2916936" cy="1335024"/>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With many variables, some correlations appear by chance.</a:t>
            </a:r>
            <a:endParaRPr lang="en-US" sz="1150" dirty="0"/>
          </a:p>
        </p:txBody>
      </p:sp>
      <p:sp>
        <p:nvSpPr>
          <p:cNvPr id="16" name="Shape 14"/>
          <p:cNvSpPr/>
          <p:nvPr/>
        </p:nvSpPr>
        <p:spPr>
          <a:xfrm>
            <a:off x="1143000" y="5367528"/>
            <a:ext cx="2423160" cy="0"/>
          </a:xfrm>
          <a:prstGeom prst="line">
            <a:avLst/>
          </a:prstGeom>
          <a:noFill/>
          <a:ln w="12700">
            <a:solidFill>
              <a:srgbClr val="AEB8C5"/>
            </a:solidFill>
            <a:prstDash val="solid"/>
          </a:ln>
        </p:spPr>
      </p:sp>
      <p:sp>
        <p:nvSpPr>
          <p:cNvPr id="17" name="Shape 15"/>
          <p:cNvSpPr/>
          <p:nvPr/>
        </p:nvSpPr>
        <p:spPr>
          <a:xfrm>
            <a:off x="1143000" y="4160520"/>
            <a:ext cx="0" cy="1207008"/>
          </a:xfrm>
          <a:prstGeom prst="line">
            <a:avLst/>
          </a:prstGeom>
          <a:noFill/>
          <a:ln w="12700">
            <a:solidFill>
              <a:srgbClr val="AEB8C5"/>
            </a:solidFill>
            <a:prstDash val="solid"/>
          </a:ln>
        </p:spPr>
      </p:sp>
      <p:sp>
        <p:nvSpPr>
          <p:cNvPr id="18" name="Text 16"/>
          <p:cNvSpPr/>
          <p:nvPr/>
        </p:nvSpPr>
        <p:spPr>
          <a:xfrm>
            <a:off x="1143000" y="3886200"/>
            <a:ext cx="2423160" cy="201168"/>
          </a:xfrm>
          <a:prstGeom prst="rect">
            <a:avLst/>
          </a:prstGeom>
          <a:noFill/>
          <a:ln/>
        </p:spPr>
        <p:txBody>
          <a:bodyPr wrap="square" lIns="0" tIns="0" rIns="0" bIns="0" rtlCol="0" anchor="ctr"/>
          <a:lstStyle/>
          <a:p>
            <a:pPr marL="0" indent="0" algn="ctr">
              <a:buNone/>
            </a:pPr>
            <a:r>
              <a:rPr lang="en-US" sz="1000" b="1" dirty="0">
                <a:solidFill>
                  <a:srgbClr val="0B1F33"/>
                </a:solidFill>
              </a:rPr>
              <a:t>Strong r</a:t>
            </a:r>
            <a:endParaRPr lang="en-US" sz="1000" dirty="0"/>
          </a:p>
        </p:txBody>
      </p:sp>
      <p:sp>
        <p:nvSpPr>
          <p:cNvPr id="19" name="Shape 17"/>
          <p:cNvSpPr/>
          <p:nvPr/>
        </p:nvSpPr>
        <p:spPr>
          <a:xfrm>
            <a:off x="1353312" y="5154473"/>
            <a:ext cx="64008" cy="64008"/>
          </a:xfrm>
          <a:prstGeom prst="ellipse">
            <a:avLst/>
          </a:prstGeom>
          <a:solidFill>
            <a:srgbClr val="2F6BFF"/>
          </a:solidFill>
          <a:ln w="12700">
            <a:solidFill>
              <a:srgbClr val="2F6BFF"/>
            </a:solidFill>
            <a:prstDash val="solid"/>
          </a:ln>
        </p:spPr>
      </p:sp>
      <p:sp>
        <p:nvSpPr>
          <p:cNvPr id="20" name="Shape 18"/>
          <p:cNvSpPr/>
          <p:nvPr/>
        </p:nvSpPr>
        <p:spPr>
          <a:xfrm>
            <a:off x="1644091" y="5057912"/>
            <a:ext cx="64008" cy="64008"/>
          </a:xfrm>
          <a:prstGeom prst="ellipse">
            <a:avLst/>
          </a:prstGeom>
          <a:solidFill>
            <a:srgbClr val="2F6BFF"/>
          </a:solidFill>
          <a:ln w="12700">
            <a:solidFill>
              <a:srgbClr val="2F6BFF"/>
            </a:solidFill>
            <a:prstDash val="solid"/>
          </a:ln>
        </p:spPr>
      </p:sp>
      <p:sp>
        <p:nvSpPr>
          <p:cNvPr id="21" name="Shape 19"/>
          <p:cNvSpPr/>
          <p:nvPr/>
        </p:nvSpPr>
        <p:spPr>
          <a:xfrm>
            <a:off x="1983334" y="4864791"/>
            <a:ext cx="64008" cy="64008"/>
          </a:xfrm>
          <a:prstGeom prst="ellipse">
            <a:avLst/>
          </a:prstGeom>
          <a:solidFill>
            <a:srgbClr val="2F6BFF"/>
          </a:solidFill>
          <a:ln w="12700">
            <a:solidFill>
              <a:srgbClr val="2F6BFF"/>
            </a:solidFill>
            <a:prstDash val="solid"/>
          </a:ln>
        </p:spPr>
      </p:sp>
      <p:sp>
        <p:nvSpPr>
          <p:cNvPr id="22" name="Shape 20"/>
          <p:cNvSpPr/>
          <p:nvPr/>
        </p:nvSpPr>
        <p:spPr>
          <a:xfrm>
            <a:off x="2298344" y="4695810"/>
            <a:ext cx="64008" cy="64008"/>
          </a:xfrm>
          <a:prstGeom prst="ellipse">
            <a:avLst/>
          </a:prstGeom>
          <a:solidFill>
            <a:srgbClr val="2F6BFF"/>
          </a:solidFill>
          <a:ln w="12700">
            <a:solidFill>
              <a:srgbClr val="2F6BFF"/>
            </a:solidFill>
            <a:prstDash val="solid"/>
          </a:ln>
        </p:spPr>
      </p:sp>
      <p:sp>
        <p:nvSpPr>
          <p:cNvPr id="23" name="Shape 21"/>
          <p:cNvSpPr/>
          <p:nvPr/>
        </p:nvSpPr>
        <p:spPr>
          <a:xfrm>
            <a:off x="2613355" y="4599249"/>
            <a:ext cx="64008" cy="64008"/>
          </a:xfrm>
          <a:prstGeom prst="ellipse">
            <a:avLst/>
          </a:prstGeom>
          <a:solidFill>
            <a:srgbClr val="2F6BFF"/>
          </a:solidFill>
          <a:ln w="12700">
            <a:solidFill>
              <a:srgbClr val="2F6BFF"/>
            </a:solidFill>
            <a:prstDash val="solid"/>
          </a:ln>
        </p:spPr>
      </p:sp>
      <p:sp>
        <p:nvSpPr>
          <p:cNvPr id="24" name="Shape 22"/>
          <p:cNvSpPr/>
          <p:nvPr/>
        </p:nvSpPr>
        <p:spPr>
          <a:xfrm>
            <a:off x="2928366" y="4394058"/>
            <a:ext cx="64008" cy="64008"/>
          </a:xfrm>
          <a:prstGeom prst="ellipse">
            <a:avLst/>
          </a:prstGeom>
          <a:solidFill>
            <a:srgbClr val="2F6BFF"/>
          </a:solidFill>
          <a:ln w="12700">
            <a:solidFill>
              <a:srgbClr val="2F6BFF"/>
            </a:solidFill>
            <a:prstDash val="solid"/>
          </a:ln>
        </p:spPr>
      </p:sp>
      <p:sp>
        <p:nvSpPr>
          <p:cNvPr id="25" name="Shape 23"/>
          <p:cNvSpPr/>
          <p:nvPr/>
        </p:nvSpPr>
        <p:spPr>
          <a:xfrm>
            <a:off x="3243377" y="4297497"/>
            <a:ext cx="64008" cy="64008"/>
          </a:xfrm>
          <a:prstGeom prst="ellipse">
            <a:avLst/>
          </a:prstGeom>
          <a:solidFill>
            <a:srgbClr val="2F6BFF"/>
          </a:solidFill>
          <a:ln w="12700">
            <a:solidFill>
              <a:srgbClr val="2F6BFF"/>
            </a:solidFill>
            <a:prstDash val="solid"/>
          </a:ln>
        </p:spPr>
      </p:sp>
      <p:sp>
        <p:nvSpPr>
          <p:cNvPr id="26" name="Shape 24"/>
          <p:cNvSpPr/>
          <p:nvPr/>
        </p:nvSpPr>
        <p:spPr>
          <a:xfrm>
            <a:off x="3886200" y="4325112"/>
            <a:ext cx="594360" cy="685800"/>
          </a:xfrm>
          <a:prstGeom prst="chevron">
            <a:avLst/>
          </a:prstGeom>
          <a:solidFill>
            <a:srgbClr val="AEB8C5"/>
          </a:solidFill>
          <a:ln w="12700">
            <a:solidFill>
              <a:srgbClr val="AEB8C5"/>
            </a:solidFill>
            <a:prstDash val="solid"/>
          </a:ln>
        </p:spPr>
      </p:sp>
      <p:sp>
        <p:nvSpPr>
          <p:cNvPr id="27" name="Text 25"/>
          <p:cNvSpPr/>
          <p:nvPr/>
        </p:nvSpPr>
        <p:spPr>
          <a:xfrm>
            <a:off x="4663440" y="4297680"/>
            <a:ext cx="2194560" cy="292608"/>
          </a:xfrm>
          <a:prstGeom prst="rect">
            <a:avLst/>
          </a:prstGeom>
          <a:noFill/>
          <a:ln/>
        </p:spPr>
        <p:txBody>
          <a:bodyPr wrap="square" lIns="0" tIns="0" rIns="0" bIns="0" rtlCol="0" anchor="ctr"/>
          <a:lstStyle/>
          <a:p>
            <a:pPr marL="0" indent="0" algn="ctr">
              <a:buNone/>
            </a:pPr>
            <a:r>
              <a:rPr lang="en-US" sz="1700" b="1" dirty="0">
                <a:solidFill>
                  <a:srgbClr val="0B1F33"/>
                </a:solidFill>
              </a:rPr>
              <a:t>Does X cause Y?</a:t>
            </a:r>
            <a:endParaRPr lang="en-US" sz="1700" dirty="0"/>
          </a:p>
        </p:txBody>
      </p:sp>
      <p:sp>
        <p:nvSpPr>
          <p:cNvPr id="28" name="Text 26"/>
          <p:cNvSpPr/>
          <p:nvPr/>
        </p:nvSpPr>
        <p:spPr>
          <a:xfrm>
            <a:off x="4434840" y="4773168"/>
            <a:ext cx="2651760" cy="256032"/>
          </a:xfrm>
          <a:prstGeom prst="rect">
            <a:avLst/>
          </a:prstGeom>
          <a:noFill/>
          <a:ln/>
        </p:spPr>
        <p:txBody>
          <a:bodyPr wrap="square" lIns="0" tIns="0" rIns="0" bIns="0" rtlCol="0" anchor="ctr"/>
          <a:lstStyle/>
          <a:p>
            <a:pPr marL="0" indent="0" algn="ctr">
              <a:buNone/>
            </a:pPr>
            <a:r>
              <a:rPr lang="en-US" sz="1100" dirty="0">
                <a:solidFill>
                  <a:srgbClr val="D94F4F"/>
                </a:solidFill>
              </a:rPr>
              <a:t>Not answered by correlation alone</a:t>
            </a:r>
            <a:endParaRPr lang="en-US" sz="1100" dirty="0"/>
          </a:p>
        </p:txBody>
      </p:sp>
      <p:sp>
        <p:nvSpPr>
          <p:cNvPr id="29" name="Shape 27"/>
          <p:cNvSpPr/>
          <p:nvPr/>
        </p:nvSpPr>
        <p:spPr>
          <a:xfrm>
            <a:off x="7132320" y="4325112"/>
            <a:ext cx="594360" cy="685800"/>
          </a:xfrm>
          <a:prstGeom prst="chevron">
            <a:avLst/>
          </a:prstGeom>
          <a:solidFill>
            <a:srgbClr val="AEB8C5"/>
          </a:solidFill>
          <a:ln w="12700">
            <a:solidFill>
              <a:srgbClr val="AEB8C5"/>
            </a:solidFill>
            <a:prstDash val="solid"/>
          </a:ln>
        </p:spPr>
      </p:sp>
      <p:sp>
        <p:nvSpPr>
          <p:cNvPr id="30" name="Shape 28"/>
          <p:cNvSpPr/>
          <p:nvPr/>
        </p:nvSpPr>
        <p:spPr>
          <a:xfrm>
            <a:off x="7955280" y="3977640"/>
            <a:ext cx="3218688" cy="1517904"/>
          </a:xfrm>
          <a:prstGeom prst="roundRect">
            <a:avLst>
              <a:gd name="adj" fmla="val 4819"/>
            </a:avLst>
          </a:prstGeom>
          <a:solidFill>
            <a:srgbClr val="EAF7EF"/>
          </a:solidFill>
          <a:ln w="10160">
            <a:solidFill>
              <a:srgbClr val="E9EEF5"/>
            </a:solidFill>
            <a:prstDash val="solid"/>
          </a:ln>
        </p:spPr>
      </p:sp>
      <p:sp>
        <p:nvSpPr>
          <p:cNvPr id="31" name="Text 29"/>
          <p:cNvSpPr/>
          <p:nvPr/>
        </p:nvSpPr>
        <p:spPr>
          <a:xfrm>
            <a:off x="8119872" y="4114800"/>
            <a:ext cx="288950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Need additional evidence</a:t>
            </a:r>
            <a:endParaRPr lang="en-US" sz="1500" dirty="0"/>
          </a:p>
        </p:txBody>
      </p:sp>
      <p:sp>
        <p:nvSpPr>
          <p:cNvPr id="32" name="Text 30"/>
          <p:cNvSpPr/>
          <p:nvPr/>
        </p:nvSpPr>
        <p:spPr>
          <a:xfrm>
            <a:off x="8119872" y="4453128"/>
            <a:ext cx="2889504" cy="914400"/>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Domain knowledge · time ordering · experiments · causal designs.</a:t>
            </a:r>
            <a:endParaRPr lang="en-US" sz="1150" dirty="0"/>
          </a:p>
        </p:txBody>
      </p:sp>
      <p:sp>
        <p:nvSpPr>
          <p:cNvPr id="33"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Choose the plot that matches the question</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Visualisation is part of reasoning, not decoration.</a:t>
            </a:r>
            <a:endParaRPr lang="en-US" sz="1300" dirty="0"/>
          </a:p>
        </p:txBody>
      </p:sp>
      <p:sp>
        <p:nvSpPr>
          <p:cNvPr id="7" name="Shape 5"/>
          <p:cNvSpPr/>
          <p:nvPr/>
        </p:nvSpPr>
        <p:spPr>
          <a:xfrm>
            <a:off x="841248" y="1481328"/>
            <a:ext cx="4663440" cy="603504"/>
          </a:xfrm>
          <a:prstGeom prst="roundRect">
            <a:avLst>
              <a:gd name="adj" fmla="val 6061"/>
            </a:avLst>
          </a:prstGeom>
          <a:solidFill>
            <a:srgbClr val="FFFFFF"/>
          </a:solidFill>
          <a:ln w="12700">
            <a:solidFill>
              <a:srgbClr val="E9EEF5"/>
            </a:solidFill>
            <a:prstDash val="solid"/>
          </a:ln>
        </p:spPr>
      </p:sp>
      <p:sp>
        <p:nvSpPr>
          <p:cNvPr id="8" name="Text 6"/>
          <p:cNvSpPr/>
          <p:nvPr/>
        </p:nvSpPr>
        <p:spPr>
          <a:xfrm>
            <a:off x="1051560" y="1655064"/>
            <a:ext cx="4160520" cy="228600"/>
          </a:xfrm>
          <a:prstGeom prst="rect">
            <a:avLst/>
          </a:prstGeom>
          <a:noFill/>
          <a:ln/>
        </p:spPr>
        <p:txBody>
          <a:bodyPr wrap="square" lIns="0" tIns="0" rIns="0" bIns="0" rtlCol="0" anchor="ctr">
            <a:normAutofit/>
          </a:bodyPr>
          <a:lstStyle/>
          <a:p>
            <a:pPr marL="0" indent="0">
              <a:buNone/>
            </a:pPr>
            <a:r>
              <a:rPr lang="en-US" sz="1220" dirty="0">
                <a:solidFill>
                  <a:srgbClr val="26364A"/>
                </a:solidFill>
              </a:rPr>
              <a:t>Distribution of one numeric variable</a:t>
            </a:r>
            <a:endParaRPr lang="en-US" sz="1220" dirty="0"/>
          </a:p>
        </p:txBody>
      </p:sp>
      <p:sp>
        <p:nvSpPr>
          <p:cNvPr id="9" name="Shape 7"/>
          <p:cNvSpPr/>
          <p:nvPr/>
        </p:nvSpPr>
        <p:spPr>
          <a:xfrm>
            <a:off x="5806440" y="1600200"/>
            <a:ext cx="411480" cy="365760"/>
          </a:xfrm>
          <a:prstGeom prst="chevron">
            <a:avLst/>
          </a:prstGeom>
          <a:solidFill>
            <a:srgbClr val="AEB8C5"/>
          </a:solidFill>
          <a:ln w="12700">
            <a:solidFill>
              <a:srgbClr val="AEB8C5"/>
            </a:solidFill>
            <a:prstDash val="solid"/>
          </a:ln>
        </p:spPr>
      </p:sp>
      <p:sp>
        <p:nvSpPr>
          <p:cNvPr id="10" name="Shape 8"/>
          <p:cNvSpPr/>
          <p:nvPr/>
        </p:nvSpPr>
        <p:spPr>
          <a:xfrm>
            <a:off x="6565392" y="1481328"/>
            <a:ext cx="3886200" cy="603504"/>
          </a:xfrm>
          <a:prstGeom prst="roundRect">
            <a:avLst>
              <a:gd name="adj" fmla="val 6061"/>
            </a:avLst>
          </a:prstGeom>
          <a:solidFill>
            <a:srgbClr val="2F6BFF">
              <a:alpha val="94000"/>
            </a:srgbClr>
          </a:solidFill>
          <a:ln w="12700">
            <a:solidFill>
              <a:srgbClr val="2F6BFF"/>
            </a:solidFill>
            <a:prstDash val="solid"/>
          </a:ln>
        </p:spPr>
      </p:sp>
      <p:sp>
        <p:nvSpPr>
          <p:cNvPr id="11" name="Text 9"/>
          <p:cNvSpPr/>
          <p:nvPr/>
        </p:nvSpPr>
        <p:spPr>
          <a:xfrm>
            <a:off x="6720840" y="1645920"/>
            <a:ext cx="3566160" cy="237744"/>
          </a:xfrm>
          <a:prstGeom prst="rect">
            <a:avLst/>
          </a:prstGeom>
          <a:noFill/>
          <a:ln/>
        </p:spPr>
        <p:txBody>
          <a:bodyPr wrap="square" lIns="0" tIns="0" rIns="0" bIns="0" rtlCol="0" anchor="ctr"/>
          <a:lstStyle/>
          <a:p>
            <a:pPr marL="0" indent="0" algn="ctr">
              <a:buNone/>
            </a:pPr>
            <a:r>
              <a:rPr lang="en-US" sz="1220" b="1" dirty="0">
                <a:solidFill>
                  <a:srgbClr val="FFFFFF"/>
                </a:solidFill>
              </a:rPr>
              <a:t>Histogram / Box plot</a:t>
            </a:r>
            <a:endParaRPr lang="en-US" sz="1220" dirty="0"/>
          </a:p>
        </p:txBody>
      </p:sp>
      <p:sp>
        <p:nvSpPr>
          <p:cNvPr id="12" name="Shape 10"/>
          <p:cNvSpPr/>
          <p:nvPr/>
        </p:nvSpPr>
        <p:spPr>
          <a:xfrm>
            <a:off x="841248" y="2322576"/>
            <a:ext cx="4663440" cy="603504"/>
          </a:xfrm>
          <a:prstGeom prst="roundRect">
            <a:avLst>
              <a:gd name="adj" fmla="val 6061"/>
            </a:avLst>
          </a:prstGeom>
          <a:solidFill>
            <a:srgbClr val="FFFFFF"/>
          </a:solidFill>
          <a:ln w="12700">
            <a:solidFill>
              <a:srgbClr val="E9EEF5"/>
            </a:solidFill>
            <a:prstDash val="solid"/>
          </a:ln>
        </p:spPr>
      </p:sp>
      <p:sp>
        <p:nvSpPr>
          <p:cNvPr id="13" name="Text 11"/>
          <p:cNvSpPr/>
          <p:nvPr/>
        </p:nvSpPr>
        <p:spPr>
          <a:xfrm>
            <a:off x="1051560" y="2496312"/>
            <a:ext cx="4160520" cy="228600"/>
          </a:xfrm>
          <a:prstGeom prst="rect">
            <a:avLst/>
          </a:prstGeom>
          <a:noFill/>
          <a:ln/>
        </p:spPr>
        <p:txBody>
          <a:bodyPr wrap="square" lIns="0" tIns="0" rIns="0" bIns="0" rtlCol="0" anchor="ctr">
            <a:normAutofit/>
          </a:bodyPr>
          <a:lstStyle/>
          <a:p>
            <a:pPr marL="0" indent="0">
              <a:buNone/>
            </a:pPr>
            <a:r>
              <a:rPr lang="en-US" sz="1220" dirty="0">
                <a:solidFill>
                  <a:srgbClr val="26364A"/>
                </a:solidFill>
              </a:rPr>
              <a:t>Relationship between two numeric variables</a:t>
            </a:r>
            <a:endParaRPr lang="en-US" sz="1220" dirty="0"/>
          </a:p>
        </p:txBody>
      </p:sp>
      <p:sp>
        <p:nvSpPr>
          <p:cNvPr id="14" name="Shape 12"/>
          <p:cNvSpPr/>
          <p:nvPr/>
        </p:nvSpPr>
        <p:spPr>
          <a:xfrm>
            <a:off x="5806440" y="2441448"/>
            <a:ext cx="411480" cy="365760"/>
          </a:xfrm>
          <a:prstGeom prst="chevron">
            <a:avLst/>
          </a:prstGeom>
          <a:solidFill>
            <a:srgbClr val="AEB8C5"/>
          </a:solidFill>
          <a:ln w="12700">
            <a:solidFill>
              <a:srgbClr val="AEB8C5"/>
            </a:solidFill>
            <a:prstDash val="solid"/>
          </a:ln>
        </p:spPr>
      </p:sp>
      <p:sp>
        <p:nvSpPr>
          <p:cNvPr id="15" name="Shape 13"/>
          <p:cNvSpPr/>
          <p:nvPr/>
        </p:nvSpPr>
        <p:spPr>
          <a:xfrm>
            <a:off x="6565392" y="2322576"/>
            <a:ext cx="3886200" cy="603504"/>
          </a:xfrm>
          <a:prstGeom prst="roundRect">
            <a:avLst>
              <a:gd name="adj" fmla="val 6061"/>
            </a:avLst>
          </a:prstGeom>
          <a:solidFill>
            <a:srgbClr val="009E9A">
              <a:alpha val="94000"/>
            </a:srgbClr>
          </a:solidFill>
          <a:ln w="12700">
            <a:solidFill>
              <a:srgbClr val="009E9A"/>
            </a:solidFill>
            <a:prstDash val="solid"/>
          </a:ln>
        </p:spPr>
      </p:sp>
      <p:sp>
        <p:nvSpPr>
          <p:cNvPr id="16" name="Text 14"/>
          <p:cNvSpPr/>
          <p:nvPr/>
        </p:nvSpPr>
        <p:spPr>
          <a:xfrm>
            <a:off x="6720840" y="2487168"/>
            <a:ext cx="3566160" cy="237744"/>
          </a:xfrm>
          <a:prstGeom prst="rect">
            <a:avLst/>
          </a:prstGeom>
          <a:noFill/>
          <a:ln/>
        </p:spPr>
        <p:txBody>
          <a:bodyPr wrap="square" lIns="0" tIns="0" rIns="0" bIns="0" rtlCol="0" anchor="ctr"/>
          <a:lstStyle/>
          <a:p>
            <a:pPr marL="0" indent="0" algn="ctr">
              <a:buNone/>
            </a:pPr>
            <a:r>
              <a:rPr lang="en-US" sz="1220" b="1" dirty="0">
                <a:solidFill>
                  <a:srgbClr val="FFFFFF"/>
                </a:solidFill>
              </a:rPr>
              <a:t>Scatter plot</a:t>
            </a:r>
            <a:endParaRPr lang="en-US" sz="1220" dirty="0"/>
          </a:p>
        </p:txBody>
      </p:sp>
      <p:sp>
        <p:nvSpPr>
          <p:cNvPr id="17" name="Shape 15"/>
          <p:cNvSpPr/>
          <p:nvPr/>
        </p:nvSpPr>
        <p:spPr>
          <a:xfrm>
            <a:off x="841248" y="3163824"/>
            <a:ext cx="4663440" cy="603504"/>
          </a:xfrm>
          <a:prstGeom prst="roundRect">
            <a:avLst>
              <a:gd name="adj" fmla="val 6061"/>
            </a:avLst>
          </a:prstGeom>
          <a:solidFill>
            <a:srgbClr val="FFFFFF"/>
          </a:solidFill>
          <a:ln w="12700">
            <a:solidFill>
              <a:srgbClr val="E9EEF5"/>
            </a:solidFill>
            <a:prstDash val="solid"/>
          </a:ln>
        </p:spPr>
      </p:sp>
      <p:sp>
        <p:nvSpPr>
          <p:cNvPr id="18" name="Text 16"/>
          <p:cNvSpPr/>
          <p:nvPr/>
        </p:nvSpPr>
        <p:spPr>
          <a:xfrm>
            <a:off x="1051560" y="3337560"/>
            <a:ext cx="4160520" cy="228600"/>
          </a:xfrm>
          <a:prstGeom prst="rect">
            <a:avLst/>
          </a:prstGeom>
          <a:noFill/>
          <a:ln/>
        </p:spPr>
        <p:txBody>
          <a:bodyPr wrap="square" lIns="0" tIns="0" rIns="0" bIns="0" rtlCol="0" anchor="ctr">
            <a:normAutofit/>
          </a:bodyPr>
          <a:lstStyle/>
          <a:p>
            <a:pPr marL="0" indent="0">
              <a:buNone/>
            </a:pPr>
            <a:r>
              <a:rPr lang="en-US" sz="1220" dirty="0">
                <a:solidFill>
                  <a:srgbClr val="26364A"/>
                </a:solidFill>
              </a:rPr>
              <a:t>Metric over time</a:t>
            </a:r>
            <a:endParaRPr lang="en-US" sz="1220" dirty="0"/>
          </a:p>
        </p:txBody>
      </p:sp>
      <p:sp>
        <p:nvSpPr>
          <p:cNvPr id="19" name="Shape 17"/>
          <p:cNvSpPr/>
          <p:nvPr/>
        </p:nvSpPr>
        <p:spPr>
          <a:xfrm>
            <a:off x="5806440" y="3282696"/>
            <a:ext cx="411480" cy="365760"/>
          </a:xfrm>
          <a:prstGeom prst="chevron">
            <a:avLst/>
          </a:prstGeom>
          <a:solidFill>
            <a:srgbClr val="AEB8C5"/>
          </a:solidFill>
          <a:ln w="12700">
            <a:solidFill>
              <a:srgbClr val="AEB8C5"/>
            </a:solidFill>
            <a:prstDash val="solid"/>
          </a:ln>
        </p:spPr>
      </p:sp>
      <p:sp>
        <p:nvSpPr>
          <p:cNvPr id="20" name="Shape 18"/>
          <p:cNvSpPr/>
          <p:nvPr/>
        </p:nvSpPr>
        <p:spPr>
          <a:xfrm>
            <a:off x="6565392" y="3163824"/>
            <a:ext cx="3886200" cy="603504"/>
          </a:xfrm>
          <a:prstGeom prst="roundRect">
            <a:avLst>
              <a:gd name="adj" fmla="val 6061"/>
            </a:avLst>
          </a:prstGeom>
          <a:solidFill>
            <a:srgbClr val="7A5AF8">
              <a:alpha val="94000"/>
            </a:srgbClr>
          </a:solidFill>
          <a:ln w="12700">
            <a:solidFill>
              <a:srgbClr val="7A5AF8"/>
            </a:solidFill>
            <a:prstDash val="solid"/>
          </a:ln>
        </p:spPr>
      </p:sp>
      <p:sp>
        <p:nvSpPr>
          <p:cNvPr id="21" name="Text 19"/>
          <p:cNvSpPr/>
          <p:nvPr/>
        </p:nvSpPr>
        <p:spPr>
          <a:xfrm>
            <a:off x="6720840" y="3328416"/>
            <a:ext cx="3566160" cy="237744"/>
          </a:xfrm>
          <a:prstGeom prst="rect">
            <a:avLst/>
          </a:prstGeom>
          <a:noFill/>
          <a:ln/>
        </p:spPr>
        <p:txBody>
          <a:bodyPr wrap="square" lIns="0" tIns="0" rIns="0" bIns="0" rtlCol="0" anchor="ctr"/>
          <a:lstStyle/>
          <a:p>
            <a:pPr marL="0" indent="0" algn="ctr">
              <a:buNone/>
            </a:pPr>
            <a:r>
              <a:rPr lang="en-US" sz="1220" b="1" dirty="0">
                <a:solidFill>
                  <a:srgbClr val="FFFFFF"/>
                </a:solidFill>
              </a:rPr>
              <a:t>Line chart</a:t>
            </a:r>
            <a:endParaRPr lang="en-US" sz="1220" dirty="0"/>
          </a:p>
        </p:txBody>
      </p:sp>
      <p:sp>
        <p:nvSpPr>
          <p:cNvPr id="22" name="Shape 20"/>
          <p:cNvSpPr/>
          <p:nvPr/>
        </p:nvSpPr>
        <p:spPr>
          <a:xfrm>
            <a:off x="841248" y="4005072"/>
            <a:ext cx="4663440" cy="603504"/>
          </a:xfrm>
          <a:prstGeom prst="roundRect">
            <a:avLst>
              <a:gd name="adj" fmla="val 6061"/>
            </a:avLst>
          </a:prstGeom>
          <a:solidFill>
            <a:srgbClr val="FFFFFF"/>
          </a:solidFill>
          <a:ln w="12700">
            <a:solidFill>
              <a:srgbClr val="E9EEF5"/>
            </a:solidFill>
            <a:prstDash val="solid"/>
          </a:ln>
        </p:spPr>
      </p:sp>
      <p:sp>
        <p:nvSpPr>
          <p:cNvPr id="23" name="Text 21"/>
          <p:cNvSpPr/>
          <p:nvPr/>
        </p:nvSpPr>
        <p:spPr>
          <a:xfrm>
            <a:off x="1051560" y="4178808"/>
            <a:ext cx="4160520" cy="228600"/>
          </a:xfrm>
          <a:prstGeom prst="rect">
            <a:avLst/>
          </a:prstGeom>
          <a:noFill/>
          <a:ln/>
        </p:spPr>
        <p:txBody>
          <a:bodyPr wrap="square" lIns="0" tIns="0" rIns="0" bIns="0" rtlCol="0" anchor="ctr">
            <a:normAutofit/>
          </a:bodyPr>
          <a:lstStyle/>
          <a:p>
            <a:pPr marL="0" indent="0">
              <a:buNone/>
            </a:pPr>
            <a:r>
              <a:rPr lang="en-US" sz="1220" dirty="0">
                <a:solidFill>
                  <a:srgbClr val="26364A"/>
                </a:solidFill>
              </a:rPr>
              <a:t>Compare categories</a:t>
            </a:r>
            <a:endParaRPr lang="en-US" sz="1220" dirty="0"/>
          </a:p>
        </p:txBody>
      </p:sp>
      <p:sp>
        <p:nvSpPr>
          <p:cNvPr id="24" name="Shape 22"/>
          <p:cNvSpPr/>
          <p:nvPr/>
        </p:nvSpPr>
        <p:spPr>
          <a:xfrm>
            <a:off x="5806440" y="4123944"/>
            <a:ext cx="411480" cy="365760"/>
          </a:xfrm>
          <a:prstGeom prst="chevron">
            <a:avLst/>
          </a:prstGeom>
          <a:solidFill>
            <a:srgbClr val="AEB8C5"/>
          </a:solidFill>
          <a:ln w="12700">
            <a:solidFill>
              <a:srgbClr val="AEB8C5"/>
            </a:solidFill>
            <a:prstDash val="solid"/>
          </a:ln>
        </p:spPr>
      </p:sp>
      <p:sp>
        <p:nvSpPr>
          <p:cNvPr id="25" name="Shape 23"/>
          <p:cNvSpPr/>
          <p:nvPr/>
        </p:nvSpPr>
        <p:spPr>
          <a:xfrm>
            <a:off x="6565392" y="4005072"/>
            <a:ext cx="3886200" cy="603504"/>
          </a:xfrm>
          <a:prstGeom prst="roundRect">
            <a:avLst>
              <a:gd name="adj" fmla="val 6061"/>
            </a:avLst>
          </a:prstGeom>
          <a:solidFill>
            <a:srgbClr val="F59E0B">
              <a:alpha val="94000"/>
            </a:srgbClr>
          </a:solidFill>
          <a:ln w="12700">
            <a:solidFill>
              <a:srgbClr val="F59E0B"/>
            </a:solidFill>
            <a:prstDash val="solid"/>
          </a:ln>
        </p:spPr>
      </p:sp>
      <p:sp>
        <p:nvSpPr>
          <p:cNvPr id="26" name="Text 24"/>
          <p:cNvSpPr/>
          <p:nvPr/>
        </p:nvSpPr>
        <p:spPr>
          <a:xfrm>
            <a:off x="6720840" y="4169664"/>
            <a:ext cx="3566160" cy="237744"/>
          </a:xfrm>
          <a:prstGeom prst="rect">
            <a:avLst/>
          </a:prstGeom>
          <a:noFill/>
          <a:ln/>
        </p:spPr>
        <p:txBody>
          <a:bodyPr wrap="square" lIns="0" tIns="0" rIns="0" bIns="0" rtlCol="0" anchor="ctr"/>
          <a:lstStyle/>
          <a:p>
            <a:pPr marL="0" indent="0" algn="ctr">
              <a:buNone/>
            </a:pPr>
            <a:r>
              <a:rPr lang="en-US" sz="1220" b="1" dirty="0">
                <a:solidFill>
                  <a:srgbClr val="FFFFFF"/>
                </a:solidFill>
              </a:rPr>
              <a:t>Bar / Column chart</a:t>
            </a:r>
            <a:endParaRPr lang="en-US" sz="1220" dirty="0"/>
          </a:p>
        </p:txBody>
      </p:sp>
      <p:sp>
        <p:nvSpPr>
          <p:cNvPr id="27" name="Shape 25"/>
          <p:cNvSpPr/>
          <p:nvPr/>
        </p:nvSpPr>
        <p:spPr>
          <a:xfrm>
            <a:off x="841248" y="4846320"/>
            <a:ext cx="4663440" cy="603504"/>
          </a:xfrm>
          <a:prstGeom prst="roundRect">
            <a:avLst>
              <a:gd name="adj" fmla="val 6061"/>
            </a:avLst>
          </a:prstGeom>
          <a:solidFill>
            <a:srgbClr val="FFFFFF"/>
          </a:solidFill>
          <a:ln w="12700">
            <a:solidFill>
              <a:srgbClr val="E9EEF5"/>
            </a:solidFill>
            <a:prstDash val="solid"/>
          </a:ln>
        </p:spPr>
      </p:sp>
      <p:sp>
        <p:nvSpPr>
          <p:cNvPr id="28" name="Text 26"/>
          <p:cNvSpPr/>
          <p:nvPr/>
        </p:nvSpPr>
        <p:spPr>
          <a:xfrm>
            <a:off x="1051560" y="5020056"/>
            <a:ext cx="4160520" cy="228600"/>
          </a:xfrm>
          <a:prstGeom prst="rect">
            <a:avLst/>
          </a:prstGeom>
          <a:noFill/>
          <a:ln/>
        </p:spPr>
        <p:txBody>
          <a:bodyPr wrap="square" lIns="0" tIns="0" rIns="0" bIns="0" rtlCol="0" anchor="ctr">
            <a:normAutofit/>
          </a:bodyPr>
          <a:lstStyle/>
          <a:p>
            <a:pPr marL="0" indent="0">
              <a:buNone/>
            </a:pPr>
            <a:r>
              <a:rPr lang="en-US" sz="1220" dirty="0">
                <a:solidFill>
                  <a:srgbClr val="26364A"/>
                </a:solidFill>
              </a:rPr>
              <a:t>Missingness / quality exceptions</a:t>
            </a:r>
            <a:endParaRPr lang="en-US" sz="1220" dirty="0"/>
          </a:p>
        </p:txBody>
      </p:sp>
      <p:sp>
        <p:nvSpPr>
          <p:cNvPr id="29" name="Shape 27"/>
          <p:cNvSpPr/>
          <p:nvPr/>
        </p:nvSpPr>
        <p:spPr>
          <a:xfrm>
            <a:off x="5806440" y="4965192"/>
            <a:ext cx="411480" cy="365760"/>
          </a:xfrm>
          <a:prstGeom prst="chevron">
            <a:avLst/>
          </a:prstGeom>
          <a:solidFill>
            <a:srgbClr val="AEB8C5"/>
          </a:solidFill>
          <a:ln w="12700">
            <a:solidFill>
              <a:srgbClr val="AEB8C5"/>
            </a:solidFill>
            <a:prstDash val="solid"/>
          </a:ln>
        </p:spPr>
      </p:sp>
      <p:sp>
        <p:nvSpPr>
          <p:cNvPr id="30" name="Shape 28"/>
          <p:cNvSpPr/>
          <p:nvPr/>
        </p:nvSpPr>
        <p:spPr>
          <a:xfrm>
            <a:off x="6565392" y="4846320"/>
            <a:ext cx="3886200" cy="603504"/>
          </a:xfrm>
          <a:prstGeom prst="roundRect">
            <a:avLst>
              <a:gd name="adj" fmla="val 6061"/>
            </a:avLst>
          </a:prstGeom>
          <a:solidFill>
            <a:srgbClr val="D94F4F">
              <a:alpha val="94000"/>
            </a:srgbClr>
          </a:solidFill>
          <a:ln w="12700">
            <a:solidFill>
              <a:srgbClr val="D94F4F"/>
            </a:solidFill>
            <a:prstDash val="solid"/>
          </a:ln>
        </p:spPr>
      </p:sp>
      <p:sp>
        <p:nvSpPr>
          <p:cNvPr id="31" name="Text 29"/>
          <p:cNvSpPr/>
          <p:nvPr/>
        </p:nvSpPr>
        <p:spPr>
          <a:xfrm>
            <a:off x="6720840" y="5010912"/>
            <a:ext cx="3566160" cy="237744"/>
          </a:xfrm>
          <a:prstGeom prst="rect">
            <a:avLst/>
          </a:prstGeom>
          <a:noFill/>
          <a:ln/>
        </p:spPr>
        <p:txBody>
          <a:bodyPr wrap="square" lIns="0" tIns="0" rIns="0" bIns="0" rtlCol="0" anchor="ctr"/>
          <a:lstStyle/>
          <a:p>
            <a:pPr marL="0" indent="0" algn="ctr">
              <a:buNone/>
            </a:pPr>
            <a:r>
              <a:rPr lang="en-US" sz="1220" b="1" dirty="0">
                <a:solidFill>
                  <a:srgbClr val="FFFFFF"/>
                </a:solidFill>
              </a:rPr>
              <a:t>Conditional formatting / table</a:t>
            </a:r>
            <a:endParaRPr lang="en-US" sz="1220" dirty="0"/>
          </a:p>
        </p:txBody>
      </p:sp>
      <p:sp>
        <p:nvSpPr>
          <p:cNvPr id="32" name="Shape 30"/>
          <p:cNvSpPr/>
          <p:nvPr/>
        </p:nvSpPr>
        <p:spPr>
          <a:xfrm>
            <a:off x="1051560" y="5815584"/>
            <a:ext cx="10104120" cy="530352"/>
          </a:xfrm>
          <a:prstGeom prst="roundRect">
            <a:avLst>
              <a:gd name="adj" fmla="val 8621"/>
            </a:avLst>
          </a:prstGeom>
          <a:solidFill>
            <a:srgbClr val="FFFFFF"/>
          </a:solidFill>
          <a:ln w="15240">
            <a:solidFill>
              <a:srgbClr val="D94F4F"/>
            </a:solidFill>
            <a:prstDash val="solid"/>
          </a:ln>
        </p:spPr>
      </p:sp>
      <p:sp>
        <p:nvSpPr>
          <p:cNvPr id="33" name="Shape 31"/>
          <p:cNvSpPr/>
          <p:nvPr/>
        </p:nvSpPr>
        <p:spPr>
          <a:xfrm>
            <a:off x="1051560" y="5815584"/>
            <a:ext cx="73152" cy="530352"/>
          </a:xfrm>
          <a:prstGeom prst="rect">
            <a:avLst/>
          </a:prstGeom>
          <a:solidFill>
            <a:srgbClr val="D94F4F"/>
          </a:solidFill>
          <a:ln w="12700">
            <a:solidFill>
              <a:srgbClr val="D94F4F"/>
            </a:solidFill>
            <a:prstDash val="solid"/>
          </a:ln>
        </p:spPr>
      </p:sp>
      <p:sp>
        <p:nvSpPr>
          <p:cNvPr id="34" name="Text 32"/>
          <p:cNvSpPr/>
          <p:nvPr/>
        </p:nvSpPr>
        <p:spPr>
          <a:xfrm>
            <a:off x="1216152" y="5925312"/>
            <a:ext cx="9848088" cy="310896"/>
          </a:xfrm>
          <a:prstGeom prst="rect">
            <a:avLst/>
          </a:prstGeom>
          <a:noFill/>
          <a:ln/>
        </p:spPr>
        <p:txBody>
          <a:bodyPr wrap="square" lIns="0" tIns="0" rIns="0" bIns="0" rtlCol="0" anchor="ctr">
            <a:normAutofit/>
          </a:bodyPr>
          <a:lstStyle/>
          <a:p>
            <a:pPr marL="0" indent="0">
              <a:buNone/>
            </a:pPr>
            <a:r>
              <a:rPr lang="en-US" sz="1150" b="1" dirty="0">
                <a:solidFill>
                  <a:srgbClr val="0B1F33"/>
                </a:solidFill>
              </a:rPr>
              <a:t>Avoid charts that hide the data structure. Pie charts, 3D effects and decorative clutter are often poor analytical choices.</a:t>
            </a:r>
            <a:endParaRPr lang="en-US" sz="1150" dirty="0"/>
          </a:p>
        </p:txBody>
      </p:sp>
      <p:sp>
        <p:nvSpPr>
          <p:cNvPr id="3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Histogram: see the distribution, not only the average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histogram groups numeric observations into bins and shows how frequently values occur.</a:t>
            </a:r>
            <a:endParaRPr lang="en-US" sz="1300" dirty="0"/>
          </a:p>
        </p:txBody>
      </p:sp>
      <p:sp>
        <p:nvSpPr>
          <p:cNvPr id="7" name="Shape 5"/>
          <p:cNvSpPr/>
          <p:nvPr/>
        </p:nvSpPr>
        <p:spPr>
          <a:xfrm>
            <a:off x="896112" y="4526280"/>
            <a:ext cx="5715000" cy="0"/>
          </a:xfrm>
          <a:prstGeom prst="line">
            <a:avLst/>
          </a:prstGeom>
          <a:noFill/>
          <a:ln w="12700">
            <a:solidFill>
              <a:srgbClr val="AEB8C5"/>
            </a:solidFill>
            <a:prstDash val="solid"/>
          </a:ln>
        </p:spPr>
      </p:sp>
      <p:sp>
        <p:nvSpPr>
          <p:cNvPr id="8" name="Shape 6"/>
          <p:cNvSpPr/>
          <p:nvPr/>
        </p:nvSpPr>
        <p:spPr>
          <a:xfrm>
            <a:off x="896112" y="1645920"/>
            <a:ext cx="0" cy="2880360"/>
          </a:xfrm>
          <a:prstGeom prst="line">
            <a:avLst/>
          </a:prstGeom>
          <a:noFill/>
          <a:ln w="12700">
            <a:solidFill>
              <a:srgbClr val="AEB8C5"/>
            </a:solidFill>
            <a:prstDash val="solid"/>
          </a:ln>
        </p:spPr>
      </p:sp>
      <p:sp>
        <p:nvSpPr>
          <p:cNvPr id="9" name="Shape 7"/>
          <p:cNvSpPr/>
          <p:nvPr/>
        </p:nvSpPr>
        <p:spPr>
          <a:xfrm>
            <a:off x="914400" y="4334256"/>
            <a:ext cx="439674" cy="192024"/>
          </a:xfrm>
          <a:prstGeom prst="rect">
            <a:avLst/>
          </a:prstGeom>
          <a:solidFill>
            <a:srgbClr val="2F6BFF">
              <a:alpha val="85000"/>
            </a:srgbClr>
          </a:solidFill>
          <a:ln w="6350">
            <a:solidFill>
              <a:srgbClr val="2F6BFF">
                <a:alpha val="85000"/>
              </a:srgbClr>
            </a:solidFill>
            <a:prstDash val="solid"/>
          </a:ln>
        </p:spPr>
      </p:sp>
      <p:sp>
        <p:nvSpPr>
          <p:cNvPr id="10" name="Shape 8"/>
          <p:cNvSpPr/>
          <p:nvPr/>
        </p:nvSpPr>
        <p:spPr>
          <a:xfrm>
            <a:off x="1390650" y="4142232"/>
            <a:ext cx="439674" cy="384048"/>
          </a:xfrm>
          <a:prstGeom prst="rect">
            <a:avLst/>
          </a:prstGeom>
          <a:solidFill>
            <a:srgbClr val="2F6BFF">
              <a:alpha val="85000"/>
            </a:srgbClr>
          </a:solidFill>
          <a:ln w="6350">
            <a:solidFill>
              <a:srgbClr val="2F6BFF">
                <a:alpha val="85000"/>
              </a:srgbClr>
            </a:solidFill>
            <a:prstDash val="solid"/>
          </a:ln>
        </p:spPr>
      </p:sp>
      <p:sp>
        <p:nvSpPr>
          <p:cNvPr id="11" name="Shape 9"/>
          <p:cNvSpPr/>
          <p:nvPr/>
        </p:nvSpPr>
        <p:spPr>
          <a:xfrm>
            <a:off x="1866900" y="3758184"/>
            <a:ext cx="439674" cy="768096"/>
          </a:xfrm>
          <a:prstGeom prst="rect">
            <a:avLst/>
          </a:prstGeom>
          <a:solidFill>
            <a:srgbClr val="2F6BFF">
              <a:alpha val="85000"/>
            </a:srgbClr>
          </a:solidFill>
          <a:ln w="6350">
            <a:solidFill>
              <a:srgbClr val="2F6BFF">
                <a:alpha val="85000"/>
              </a:srgbClr>
            </a:solidFill>
            <a:prstDash val="solid"/>
          </a:ln>
        </p:spPr>
      </p:sp>
      <p:sp>
        <p:nvSpPr>
          <p:cNvPr id="12" name="Shape 10"/>
          <p:cNvSpPr/>
          <p:nvPr/>
        </p:nvSpPr>
        <p:spPr>
          <a:xfrm>
            <a:off x="2343150" y="2990088"/>
            <a:ext cx="439674" cy="1536192"/>
          </a:xfrm>
          <a:prstGeom prst="rect">
            <a:avLst/>
          </a:prstGeom>
          <a:solidFill>
            <a:srgbClr val="2F6BFF">
              <a:alpha val="85000"/>
            </a:srgbClr>
          </a:solidFill>
          <a:ln w="6350">
            <a:solidFill>
              <a:srgbClr val="2F6BFF">
                <a:alpha val="85000"/>
              </a:srgbClr>
            </a:solidFill>
            <a:prstDash val="solid"/>
          </a:ln>
        </p:spPr>
      </p:sp>
      <p:sp>
        <p:nvSpPr>
          <p:cNvPr id="13" name="Shape 11"/>
          <p:cNvSpPr/>
          <p:nvPr/>
        </p:nvSpPr>
        <p:spPr>
          <a:xfrm>
            <a:off x="2819400" y="2221992"/>
            <a:ext cx="439674" cy="2304288"/>
          </a:xfrm>
          <a:prstGeom prst="rect">
            <a:avLst/>
          </a:prstGeom>
          <a:solidFill>
            <a:srgbClr val="2F6BFF">
              <a:alpha val="85000"/>
            </a:srgbClr>
          </a:solidFill>
          <a:ln w="6350">
            <a:solidFill>
              <a:srgbClr val="2F6BFF">
                <a:alpha val="85000"/>
              </a:srgbClr>
            </a:solidFill>
            <a:prstDash val="solid"/>
          </a:ln>
        </p:spPr>
      </p:sp>
      <p:sp>
        <p:nvSpPr>
          <p:cNvPr id="14" name="Shape 12"/>
          <p:cNvSpPr/>
          <p:nvPr/>
        </p:nvSpPr>
        <p:spPr>
          <a:xfrm>
            <a:off x="3295650" y="1645920"/>
            <a:ext cx="439674" cy="2880360"/>
          </a:xfrm>
          <a:prstGeom prst="rect">
            <a:avLst/>
          </a:prstGeom>
          <a:solidFill>
            <a:srgbClr val="2F6BFF">
              <a:alpha val="85000"/>
            </a:srgbClr>
          </a:solidFill>
          <a:ln w="6350">
            <a:solidFill>
              <a:srgbClr val="2F6BFF">
                <a:alpha val="85000"/>
              </a:srgbClr>
            </a:solidFill>
            <a:prstDash val="solid"/>
          </a:ln>
        </p:spPr>
      </p:sp>
      <p:sp>
        <p:nvSpPr>
          <p:cNvPr id="15" name="Shape 13"/>
          <p:cNvSpPr/>
          <p:nvPr/>
        </p:nvSpPr>
        <p:spPr>
          <a:xfrm>
            <a:off x="3771900" y="2029968"/>
            <a:ext cx="439674" cy="2496312"/>
          </a:xfrm>
          <a:prstGeom prst="rect">
            <a:avLst/>
          </a:prstGeom>
          <a:solidFill>
            <a:srgbClr val="2F6BFF">
              <a:alpha val="85000"/>
            </a:srgbClr>
          </a:solidFill>
          <a:ln w="6350">
            <a:solidFill>
              <a:srgbClr val="2F6BFF">
                <a:alpha val="85000"/>
              </a:srgbClr>
            </a:solidFill>
            <a:prstDash val="solid"/>
          </a:ln>
        </p:spPr>
      </p:sp>
      <p:sp>
        <p:nvSpPr>
          <p:cNvPr id="16" name="Shape 14"/>
          <p:cNvSpPr/>
          <p:nvPr/>
        </p:nvSpPr>
        <p:spPr>
          <a:xfrm>
            <a:off x="4248150" y="2798064"/>
            <a:ext cx="439674" cy="1728216"/>
          </a:xfrm>
          <a:prstGeom prst="rect">
            <a:avLst/>
          </a:prstGeom>
          <a:solidFill>
            <a:srgbClr val="2F6BFF">
              <a:alpha val="85000"/>
            </a:srgbClr>
          </a:solidFill>
          <a:ln w="6350">
            <a:solidFill>
              <a:srgbClr val="2F6BFF">
                <a:alpha val="85000"/>
              </a:srgbClr>
            </a:solidFill>
            <a:prstDash val="solid"/>
          </a:ln>
        </p:spPr>
      </p:sp>
      <p:sp>
        <p:nvSpPr>
          <p:cNvPr id="17" name="Shape 15"/>
          <p:cNvSpPr/>
          <p:nvPr/>
        </p:nvSpPr>
        <p:spPr>
          <a:xfrm>
            <a:off x="4724400" y="3566160"/>
            <a:ext cx="439674" cy="960120"/>
          </a:xfrm>
          <a:prstGeom prst="rect">
            <a:avLst/>
          </a:prstGeom>
          <a:solidFill>
            <a:srgbClr val="2F6BFF">
              <a:alpha val="85000"/>
            </a:srgbClr>
          </a:solidFill>
          <a:ln w="6350">
            <a:solidFill>
              <a:srgbClr val="2F6BFF">
                <a:alpha val="85000"/>
              </a:srgbClr>
            </a:solidFill>
            <a:prstDash val="solid"/>
          </a:ln>
        </p:spPr>
      </p:sp>
      <p:sp>
        <p:nvSpPr>
          <p:cNvPr id="18" name="Shape 16"/>
          <p:cNvSpPr/>
          <p:nvPr/>
        </p:nvSpPr>
        <p:spPr>
          <a:xfrm>
            <a:off x="5200650" y="3950208"/>
            <a:ext cx="439674" cy="576072"/>
          </a:xfrm>
          <a:prstGeom prst="rect">
            <a:avLst/>
          </a:prstGeom>
          <a:solidFill>
            <a:srgbClr val="2F6BFF">
              <a:alpha val="85000"/>
            </a:srgbClr>
          </a:solidFill>
          <a:ln w="6350">
            <a:solidFill>
              <a:srgbClr val="2F6BFF">
                <a:alpha val="85000"/>
              </a:srgbClr>
            </a:solidFill>
            <a:prstDash val="solid"/>
          </a:ln>
        </p:spPr>
      </p:sp>
      <p:sp>
        <p:nvSpPr>
          <p:cNvPr id="19" name="Shape 17"/>
          <p:cNvSpPr/>
          <p:nvPr/>
        </p:nvSpPr>
        <p:spPr>
          <a:xfrm>
            <a:off x="5676900" y="4142232"/>
            <a:ext cx="439674" cy="384048"/>
          </a:xfrm>
          <a:prstGeom prst="rect">
            <a:avLst/>
          </a:prstGeom>
          <a:solidFill>
            <a:srgbClr val="2F6BFF">
              <a:alpha val="85000"/>
            </a:srgbClr>
          </a:solidFill>
          <a:ln w="6350">
            <a:solidFill>
              <a:srgbClr val="2F6BFF">
                <a:alpha val="85000"/>
              </a:srgbClr>
            </a:solidFill>
            <a:prstDash val="solid"/>
          </a:ln>
        </p:spPr>
      </p:sp>
      <p:sp>
        <p:nvSpPr>
          <p:cNvPr id="20" name="Shape 18"/>
          <p:cNvSpPr/>
          <p:nvPr/>
        </p:nvSpPr>
        <p:spPr>
          <a:xfrm>
            <a:off x="6153150" y="4334256"/>
            <a:ext cx="439674" cy="192024"/>
          </a:xfrm>
          <a:prstGeom prst="rect">
            <a:avLst/>
          </a:prstGeom>
          <a:solidFill>
            <a:srgbClr val="2F6BFF">
              <a:alpha val="85000"/>
            </a:srgbClr>
          </a:solidFill>
          <a:ln w="6350">
            <a:solidFill>
              <a:srgbClr val="2F6BFF">
                <a:alpha val="85000"/>
              </a:srgbClr>
            </a:solidFill>
            <a:prstDash val="solid"/>
          </a:ln>
        </p:spPr>
      </p:sp>
      <p:sp>
        <p:nvSpPr>
          <p:cNvPr id="21" name="Text 19"/>
          <p:cNvSpPr/>
          <p:nvPr/>
        </p:nvSpPr>
        <p:spPr>
          <a:xfrm>
            <a:off x="4297680" y="4617720"/>
            <a:ext cx="1920240" cy="228600"/>
          </a:xfrm>
          <a:prstGeom prst="rect">
            <a:avLst/>
          </a:prstGeom>
          <a:noFill/>
          <a:ln/>
        </p:spPr>
        <p:txBody>
          <a:bodyPr wrap="square" lIns="0" tIns="0" rIns="0" bIns="0" rtlCol="0" anchor="ctr"/>
          <a:lstStyle/>
          <a:p>
            <a:pPr marL="0" indent="0">
              <a:buNone/>
            </a:pPr>
            <a:r>
              <a:rPr lang="en-US" sz="950" dirty="0">
                <a:solidFill>
                  <a:srgbClr val="667085"/>
                </a:solidFill>
              </a:rPr>
              <a:t>Balance bins →</a:t>
            </a:r>
            <a:endParaRPr lang="en-US" sz="950" dirty="0"/>
          </a:p>
        </p:txBody>
      </p:sp>
      <p:sp>
        <p:nvSpPr>
          <p:cNvPr id="22" name="Text 20"/>
          <p:cNvSpPr/>
          <p:nvPr/>
        </p:nvSpPr>
        <p:spPr>
          <a:xfrm rot="16200000">
            <a:off x="438912" y="2514600"/>
            <a:ext cx="1097280" cy="228600"/>
          </a:xfrm>
          <a:prstGeom prst="rect">
            <a:avLst/>
          </a:prstGeom>
          <a:noFill/>
          <a:ln/>
        </p:spPr>
        <p:txBody>
          <a:bodyPr wrap="square" lIns="0" tIns="0" rIns="0" bIns="0" rtlCol="0" anchor="ctr"/>
          <a:lstStyle/>
          <a:p>
            <a:pPr marL="0" indent="0">
              <a:buNone/>
            </a:pPr>
            <a:r>
              <a:rPr lang="en-US" sz="950" dirty="0">
                <a:solidFill>
                  <a:srgbClr val="667085"/>
                </a:solidFill>
              </a:rPr>
              <a:t>Frequency</a:t>
            </a:r>
            <a:endParaRPr lang="en-US" sz="950" dirty="0"/>
          </a:p>
        </p:txBody>
      </p:sp>
      <p:sp>
        <p:nvSpPr>
          <p:cNvPr id="23" name="Shape 21"/>
          <p:cNvSpPr/>
          <p:nvPr/>
        </p:nvSpPr>
        <p:spPr>
          <a:xfrm>
            <a:off x="7114032" y="1600200"/>
            <a:ext cx="3822192" cy="1097280"/>
          </a:xfrm>
          <a:prstGeom prst="roundRect">
            <a:avLst>
              <a:gd name="adj" fmla="val 6667"/>
            </a:avLst>
          </a:prstGeom>
          <a:solidFill>
            <a:srgbClr val="EAF1FF"/>
          </a:solidFill>
          <a:ln w="10160">
            <a:solidFill>
              <a:srgbClr val="E9EEF5"/>
            </a:solidFill>
            <a:prstDash val="solid"/>
          </a:ln>
        </p:spPr>
      </p:sp>
      <p:sp>
        <p:nvSpPr>
          <p:cNvPr id="24" name="Text 22"/>
          <p:cNvSpPr/>
          <p:nvPr/>
        </p:nvSpPr>
        <p:spPr>
          <a:xfrm>
            <a:off x="7278624" y="1737360"/>
            <a:ext cx="349300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Reveals</a:t>
            </a:r>
            <a:endParaRPr lang="en-US" sz="1500" dirty="0"/>
          </a:p>
        </p:txBody>
      </p:sp>
      <p:sp>
        <p:nvSpPr>
          <p:cNvPr id="25" name="Text 23"/>
          <p:cNvSpPr/>
          <p:nvPr/>
        </p:nvSpPr>
        <p:spPr>
          <a:xfrm>
            <a:off x="7278624" y="2075688"/>
            <a:ext cx="3493008" cy="49377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Skewness · multiple modes · gaps · tails · unusual peaks.</a:t>
            </a:r>
            <a:endParaRPr lang="en-US" sz="1150" dirty="0"/>
          </a:p>
        </p:txBody>
      </p:sp>
      <p:sp>
        <p:nvSpPr>
          <p:cNvPr id="26" name="Shape 24"/>
          <p:cNvSpPr/>
          <p:nvPr/>
        </p:nvSpPr>
        <p:spPr>
          <a:xfrm>
            <a:off x="7114032" y="2871216"/>
            <a:ext cx="3822192" cy="1097280"/>
          </a:xfrm>
          <a:prstGeom prst="roundRect">
            <a:avLst>
              <a:gd name="adj" fmla="val 6667"/>
            </a:avLst>
          </a:prstGeom>
          <a:solidFill>
            <a:srgbClr val="E6F7F5"/>
          </a:solidFill>
          <a:ln w="10160">
            <a:solidFill>
              <a:srgbClr val="E9EEF5"/>
            </a:solidFill>
            <a:prstDash val="solid"/>
          </a:ln>
        </p:spPr>
      </p:sp>
      <p:sp>
        <p:nvSpPr>
          <p:cNvPr id="27" name="Text 25"/>
          <p:cNvSpPr/>
          <p:nvPr/>
        </p:nvSpPr>
        <p:spPr>
          <a:xfrm>
            <a:off x="7278624" y="3008376"/>
            <a:ext cx="349300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Excel</a:t>
            </a:r>
            <a:endParaRPr lang="en-US" sz="1500" dirty="0"/>
          </a:p>
        </p:txBody>
      </p:sp>
      <p:sp>
        <p:nvSpPr>
          <p:cNvPr id="28" name="Text 26"/>
          <p:cNvSpPr/>
          <p:nvPr/>
        </p:nvSpPr>
        <p:spPr>
          <a:xfrm>
            <a:off x="7278624" y="3346704"/>
            <a:ext cx="3493008" cy="49377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Insert → Statistical Chart → Histogram, or Data Analysis → Histogram.</a:t>
            </a:r>
            <a:endParaRPr lang="en-US" sz="1150" dirty="0"/>
          </a:p>
        </p:txBody>
      </p:sp>
      <p:sp>
        <p:nvSpPr>
          <p:cNvPr id="29" name="Shape 27"/>
          <p:cNvSpPr/>
          <p:nvPr/>
        </p:nvSpPr>
        <p:spPr>
          <a:xfrm>
            <a:off x="7114032" y="4142232"/>
            <a:ext cx="3822192" cy="1097280"/>
          </a:xfrm>
          <a:prstGeom prst="roundRect">
            <a:avLst>
              <a:gd name="adj" fmla="val 6667"/>
            </a:avLst>
          </a:prstGeom>
          <a:solidFill>
            <a:srgbClr val="FFF4E2"/>
          </a:solidFill>
          <a:ln w="10160">
            <a:solidFill>
              <a:srgbClr val="E9EEF5"/>
            </a:solidFill>
            <a:prstDash val="solid"/>
          </a:ln>
        </p:spPr>
      </p:sp>
      <p:sp>
        <p:nvSpPr>
          <p:cNvPr id="30" name="Text 28"/>
          <p:cNvSpPr/>
          <p:nvPr/>
        </p:nvSpPr>
        <p:spPr>
          <a:xfrm>
            <a:off x="7278624" y="4279392"/>
            <a:ext cx="349300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Watch the bins</a:t>
            </a:r>
            <a:endParaRPr lang="en-US" sz="1500" dirty="0"/>
          </a:p>
        </p:txBody>
      </p:sp>
      <p:sp>
        <p:nvSpPr>
          <p:cNvPr id="31" name="Text 29"/>
          <p:cNvSpPr/>
          <p:nvPr/>
        </p:nvSpPr>
        <p:spPr>
          <a:xfrm>
            <a:off x="7278624" y="4617720"/>
            <a:ext cx="3493008" cy="49377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Too few bins hide structure; too many bins create noise.</a:t>
            </a:r>
            <a:endParaRPr lang="en-US" sz="1150" dirty="0"/>
          </a:p>
        </p:txBody>
      </p:sp>
      <p:sp>
        <p:nvSpPr>
          <p:cNvPr id="32" name="Shape 30"/>
          <p:cNvSpPr/>
          <p:nvPr/>
        </p:nvSpPr>
        <p:spPr>
          <a:xfrm>
            <a:off x="1865376" y="5724144"/>
            <a:ext cx="7863840" cy="420624"/>
          </a:xfrm>
          <a:prstGeom prst="roundRect">
            <a:avLst>
              <a:gd name="adj" fmla="val 10870"/>
            </a:avLst>
          </a:prstGeom>
          <a:solidFill>
            <a:srgbClr val="F8FBF9"/>
          </a:solidFill>
          <a:ln w="12700">
            <a:solidFill>
              <a:srgbClr val="009E9A"/>
            </a:solidFill>
            <a:prstDash val="solid"/>
          </a:ln>
        </p:spPr>
      </p:sp>
      <p:sp>
        <p:nvSpPr>
          <p:cNvPr id="33" name="Text 31"/>
          <p:cNvSpPr/>
          <p:nvPr/>
        </p:nvSpPr>
        <p:spPr>
          <a:xfrm>
            <a:off x="1975104" y="5806440"/>
            <a:ext cx="764438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Question: “What does the distribution of customer balances look like?”</a:t>
            </a:r>
            <a:endParaRPr lang="en-US" sz="1050" dirty="0"/>
          </a:p>
        </p:txBody>
      </p:sp>
      <p:sp>
        <p:nvSpPr>
          <p:cNvPr id="3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Box plot: compact view of centre, spread and outliers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 box spans Q1 to Q3, the line is the median, whiskers show the non-outlier range, and points may mark outliers.</a:t>
            </a:r>
            <a:endParaRPr lang="en-US" sz="1300" dirty="0"/>
          </a:p>
        </p:txBody>
      </p:sp>
      <p:sp>
        <p:nvSpPr>
          <p:cNvPr id="7" name="Shape 5"/>
          <p:cNvSpPr/>
          <p:nvPr/>
        </p:nvSpPr>
        <p:spPr>
          <a:xfrm>
            <a:off x="1759306" y="2560320"/>
            <a:ext cx="7351776" cy="0"/>
          </a:xfrm>
          <a:prstGeom prst="line">
            <a:avLst/>
          </a:prstGeom>
          <a:noFill/>
          <a:ln w="20320">
            <a:solidFill>
              <a:srgbClr val="173B57"/>
            </a:solidFill>
            <a:prstDash val="solid"/>
          </a:ln>
        </p:spPr>
      </p:sp>
      <p:sp>
        <p:nvSpPr>
          <p:cNvPr id="8" name="Shape 6"/>
          <p:cNvSpPr/>
          <p:nvPr/>
        </p:nvSpPr>
        <p:spPr>
          <a:xfrm>
            <a:off x="1759306" y="2414016"/>
            <a:ext cx="0" cy="292608"/>
          </a:xfrm>
          <a:prstGeom prst="line">
            <a:avLst/>
          </a:prstGeom>
          <a:noFill/>
          <a:ln w="20320">
            <a:solidFill>
              <a:srgbClr val="173B57"/>
            </a:solidFill>
            <a:prstDash val="solid"/>
          </a:ln>
        </p:spPr>
      </p:sp>
      <p:sp>
        <p:nvSpPr>
          <p:cNvPr id="9" name="Shape 7"/>
          <p:cNvSpPr/>
          <p:nvPr/>
        </p:nvSpPr>
        <p:spPr>
          <a:xfrm>
            <a:off x="9111082" y="2414016"/>
            <a:ext cx="0" cy="292608"/>
          </a:xfrm>
          <a:prstGeom prst="line">
            <a:avLst/>
          </a:prstGeom>
          <a:noFill/>
          <a:ln w="20320">
            <a:solidFill>
              <a:srgbClr val="173B57"/>
            </a:solidFill>
            <a:prstDash val="solid"/>
          </a:ln>
        </p:spPr>
      </p:sp>
      <p:sp>
        <p:nvSpPr>
          <p:cNvPr id="10" name="Shape 8"/>
          <p:cNvSpPr/>
          <p:nvPr/>
        </p:nvSpPr>
        <p:spPr>
          <a:xfrm>
            <a:off x="3781044" y="2304288"/>
            <a:ext cx="3492094" cy="512064"/>
          </a:xfrm>
          <a:prstGeom prst="rect">
            <a:avLst/>
          </a:prstGeom>
          <a:solidFill>
            <a:srgbClr val="EAF1FF"/>
          </a:solidFill>
          <a:ln w="16510">
            <a:solidFill>
              <a:srgbClr val="2F6BFF"/>
            </a:solidFill>
            <a:prstDash val="solid"/>
          </a:ln>
        </p:spPr>
      </p:sp>
      <p:sp>
        <p:nvSpPr>
          <p:cNvPr id="11" name="Shape 9"/>
          <p:cNvSpPr/>
          <p:nvPr/>
        </p:nvSpPr>
        <p:spPr>
          <a:xfrm>
            <a:off x="5435194" y="2304288"/>
            <a:ext cx="0" cy="512064"/>
          </a:xfrm>
          <a:prstGeom prst="line">
            <a:avLst/>
          </a:prstGeom>
          <a:noFill/>
          <a:ln w="25400">
            <a:solidFill>
              <a:srgbClr val="F59E0B"/>
            </a:solidFill>
            <a:prstDash val="solid"/>
          </a:ln>
        </p:spPr>
      </p:sp>
      <p:sp>
        <p:nvSpPr>
          <p:cNvPr id="12" name="Shape 10"/>
          <p:cNvSpPr/>
          <p:nvPr/>
        </p:nvSpPr>
        <p:spPr>
          <a:xfrm>
            <a:off x="9809683" y="2523744"/>
            <a:ext cx="73152" cy="73152"/>
          </a:xfrm>
          <a:prstGeom prst="ellipse">
            <a:avLst/>
          </a:prstGeom>
          <a:solidFill>
            <a:srgbClr val="D94F4F"/>
          </a:solidFill>
          <a:ln w="12700">
            <a:solidFill>
              <a:srgbClr val="D94F4F"/>
            </a:solidFill>
            <a:prstDash val="solid"/>
          </a:ln>
        </p:spPr>
      </p:sp>
      <p:sp>
        <p:nvSpPr>
          <p:cNvPr id="13" name="Shape 11"/>
          <p:cNvSpPr/>
          <p:nvPr/>
        </p:nvSpPr>
        <p:spPr>
          <a:xfrm>
            <a:off x="10452964" y="2523744"/>
            <a:ext cx="73152" cy="73152"/>
          </a:xfrm>
          <a:prstGeom prst="ellipse">
            <a:avLst/>
          </a:prstGeom>
          <a:solidFill>
            <a:srgbClr val="D94F4F"/>
          </a:solidFill>
          <a:ln w="12700">
            <a:solidFill>
              <a:srgbClr val="D94F4F"/>
            </a:solidFill>
            <a:prstDash val="solid"/>
          </a:ln>
        </p:spPr>
      </p:sp>
      <p:sp>
        <p:nvSpPr>
          <p:cNvPr id="14" name="Text 12"/>
          <p:cNvSpPr/>
          <p:nvPr/>
        </p:nvSpPr>
        <p:spPr>
          <a:xfrm>
            <a:off x="1280160" y="3383280"/>
            <a:ext cx="640080" cy="256032"/>
          </a:xfrm>
          <a:prstGeom prst="rect">
            <a:avLst/>
          </a:prstGeom>
          <a:noFill/>
          <a:ln/>
        </p:spPr>
        <p:txBody>
          <a:bodyPr wrap="square" lIns="0" tIns="0" rIns="0" bIns="0" rtlCol="0" anchor="ctr"/>
          <a:lstStyle/>
          <a:p>
            <a:pPr marL="0" indent="0" algn="ctr">
              <a:buNone/>
            </a:pPr>
            <a:r>
              <a:rPr lang="en-US" sz="950" dirty="0">
                <a:solidFill>
                  <a:srgbClr val="667085"/>
                </a:solidFill>
              </a:rPr>
              <a:t>Min</a:t>
            </a:r>
            <a:endParaRPr lang="en-US" sz="950" dirty="0"/>
          </a:p>
        </p:txBody>
      </p:sp>
      <p:sp>
        <p:nvSpPr>
          <p:cNvPr id="15" name="Text 13"/>
          <p:cNvSpPr/>
          <p:nvPr/>
        </p:nvSpPr>
        <p:spPr>
          <a:xfrm>
            <a:off x="3017520" y="3383280"/>
            <a:ext cx="640080" cy="256032"/>
          </a:xfrm>
          <a:prstGeom prst="rect">
            <a:avLst/>
          </a:prstGeom>
          <a:noFill/>
          <a:ln/>
        </p:spPr>
        <p:txBody>
          <a:bodyPr wrap="square" lIns="0" tIns="0" rIns="0" bIns="0" rtlCol="0" anchor="ctr"/>
          <a:lstStyle/>
          <a:p>
            <a:pPr marL="0" indent="0" algn="ctr">
              <a:buNone/>
            </a:pPr>
            <a:r>
              <a:rPr lang="en-US" sz="950" dirty="0">
                <a:solidFill>
                  <a:srgbClr val="667085"/>
                </a:solidFill>
              </a:rPr>
              <a:t>Q1</a:t>
            </a:r>
            <a:endParaRPr lang="en-US" sz="950" dirty="0"/>
          </a:p>
        </p:txBody>
      </p:sp>
      <p:sp>
        <p:nvSpPr>
          <p:cNvPr id="16" name="Text 14"/>
          <p:cNvSpPr/>
          <p:nvPr/>
        </p:nvSpPr>
        <p:spPr>
          <a:xfrm>
            <a:off x="4572000" y="3383280"/>
            <a:ext cx="640080" cy="256032"/>
          </a:xfrm>
          <a:prstGeom prst="rect">
            <a:avLst/>
          </a:prstGeom>
          <a:noFill/>
          <a:ln/>
        </p:spPr>
        <p:txBody>
          <a:bodyPr wrap="square" lIns="0" tIns="0" rIns="0" bIns="0" rtlCol="0" anchor="ctr"/>
          <a:lstStyle/>
          <a:p>
            <a:pPr marL="0" indent="0" algn="ctr">
              <a:buNone/>
            </a:pPr>
            <a:r>
              <a:rPr lang="en-US" sz="950" dirty="0">
                <a:solidFill>
                  <a:srgbClr val="667085"/>
                </a:solidFill>
              </a:rPr>
              <a:t>Median</a:t>
            </a:r>
            <a:endParaRPr lang="en-US" sz="950" dirty="0"/>
          </a:p>
        </p:txBody>
      </p:sp>
      <p:sp>
        <p:nvSpPr>
          <p:cNvPr id="17" name="Text 15"/>
          <p:cNvSpPr/>
          <p:nvPr/>
        </p:nvSpPr>
        <p:spPr>
          <a:xfrm>
            <a:off x="6355080" y="3383280"/>
            <a:ext cx="640080" cy="256032"/>
          </a:xfrm>
          <a:prstGeom prst="rect">
            <a:avLst/>
          </a:prstGeom>
          <a:noFill/>
          <a:ln/>
        </p:spPr>
        <p:txBody>
          <a:bodyPr wrap="square" lIns="0" tIns="0" rIns="0" bIns="0" rtlCol="0" anchor="ctr"/>
          <a:lstStyle/>
          <a:p>
            <a:pPr marL="0" indent="0" algn="ctr">
              <a:buNone/>
            </a:pPr>
            <a:r>
              <a:rPr lang="en-US" sz="950" dirty="0">
                <a:solidFill>
                  <a:srgbClr val="667085"/>
                </a:solidFill>
              </a:rPr>
              <a:t>Q3</a:t>
            </a:r>
            <a:endParaRPr lang="en-US" sz="950" dirty="0"/>
          </a:p>
        </p:txBody>
      </p:sp>
      <p:sp>
        <p:nvSpPr>
          <p:cNvPr id="18" name="Text 16"/>
          <p:cNvSpPr/>
          <p:nvPr/>
        </p:nvSpPr>
        <p:spPr>
          <a:xfrm>
            <a:off x="8138160" y="3383280"/>
            <a:ext cx="640080" cy="256032"/>
          </a:xfrm>
          <a:prstGeom prst="rect">
            <a:avLst/>
          </a:prstGeom>
          <a:noFill/>
          <a:ln/>
        </p:spPr>
        <p:txBody>
          <a:bodyPr wrap="square" lIns="0" tIns="0" rIns="0" bIns="0" rtlCol="0" anchor="ctr"/>
          <a:lstStyle/>
          <a:p>
            <a:pPr marL="0" indent="0" algn="ctr">
              <a:buNone/>
            </a:pPr>
            <a:r>
              <a:rPr lang="en-US" sz="950" dirty="0">
                <a:solidFill>
                  <a:srgbClr val="667085"/>
                </a:solidFill>
              </a:rPr>
              <a:t>Max</a:t>
            </a:r>
            <a:endParaRPr lang="en-US" sz="950" dirty="0"/>
          </a:p>
        </p:txBody>
      </p:sp>
      <p:sp>
        <p:nvSpPr>
          <p:cNvPr id="19" name="Text 17"/>
          <p:cNvSpPr/>
          <p:nvPr/>
        </p:nvSpPr>
        <p:spPr>
          <a:xfrm>
            <a:off x="9601200" y="3383280"/>
            <a:ext cx="640080" cy="256032"/>
          </a:xfrm>
          <a:prstGeom prst="rect">
            <a:avLst/>
          </a:prstGeom>
          <a:noFill/>
          <a:ln/>
        </p:spPr>
        <p:txBody>
          <a:bodyPr wrap="square" lIns="0" tIns="0" rIns="0" bIns="0" rtlCol="0" anchor="ctr"/>
          <a:lstStyle/>
          <a:p>
            <a:pPr marL="0" indent="0" algn="ctr">
              <a:buNone/>
            </a:pPr>
            <a:r>
              <a:rPr lang="en-US" sz="950" dirty="0">
                <a:solidFill>
                  <a:srgbClr val="D94F4F"/>
                </a:solidFill>
              </a:rPr>
              <a:t>Outlier</a:t>
            </a:r>
            <a:endParaRPr lang="en-US" sz="950" dirty="0"/>
          </a:p>
        </p:txBody>
      </p:sp>
      <p:sp>
        <p:nvSpPr>
          <p:cNvPr id="20" name="Shape 18"/>
          <p:cNvSpPr/>
          <p:nvPr/>
        </p:nvSpPr>
        <p:spPr>
          <a:xfrm>
            <a:off x="841248" y="4069080"/>
            <a:ext cx="3246120" cy="1170432"/>
          </a:xfrm>
          <a:prstGeom prst="roundRect">
            <a:avLst>
              <a:gd name="adj" fmla="val 6250"/>
            </a:avLst>
          </a:prstGeom>
          <a:solidFill>
            <a:srgbClr val="EAF1FF"/>
          </a:solidFill>
          <a:ln w="10160">
            <a:solidFill>
              <a:srgbClr val="E9EEF5"/>
            </a:solidFill>
            <a:prstDash val="solid"/>
          </a:ln>
        </p:spPr>
      </p:sp>
      <p:sp>
        <p:nvSpPr>
          <p:cNvPr id="21" name="Text 19"/>
          <p:cNvSpPr/>
          <p:nvPr/>
        </p:nvSpPr>
        <p:spPr>
          <a:xfrm>
            <a:off x="1005840" y="420624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Strength</a:t>
            </a:r>
            <a:endParaRPr lang="en-US" sz="1500" dirty="0"/>
          </a:p>
        </p:txBody>
      </p:sp>
      <p:sp>
        <p:nvSpPr>
          <p:cNvPr id="22" name="Text 20"/>
          <p:cNvSpPr/>
          <p:nvPr/>
        </p:nvSpPr>
        <p:spPr>
          <a:xfrm>
            <a:off x="1005840" y="4544568"/>
            <a:ext cx="2916936" cy="56692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Very fast comparison across customer segments, products or branches.</a:t>
            </a:r>
            <a:endParaRPr lang="en-US" sz="1150" dirty="0"/>
          </a:p>
        </p:txBody>
      </p:sp>
      <p:sp>
        <p:nvSpPr>
          <p:cNvPr id="23" name="Shape 21"/>
          <p:cNvSpPr/>
          <p:nvPr/>
        </p:nvSpPr>
        <p:spPr>
          <a:xfrm>
            <a:off x="4462272" y="4069080"/>
            <a:ext cx="3246120" cy="1170432"/>
          </a:xfrm>
          <a:prstGeom prst="roundRect">
            <a:avLst>
              <a:gd name="adj" fmla="val 6250"/>
            </a:avLst>
          </a:prstGeom>
          <a:solidFill>
            <a:srgbClr val="E6F7F5"/>
          </a:solidFill>
          <a:ln w="10160">
            <a:solidFill>
              <a:srgbClr val="E9EEF5"/>
            </a:solidFill>
            <a:prstDash val="solid"/>
          </a:ln>
        </p:spPr>
      </p:sp>
      <p:sp>
        <p:nvSpPr>
          <p:cNvPr id="24" name="Text 22"/>
          <p:cNvSpPr/>
          <p:nvPr/>
        </p:nvSpPr>
        <p:spPr>
          <a:xfrm>
            <a:off x="4626864" y="420624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Robust centre</a:t>
            </a:r>
            <a:endParaRPr lang="en-US" sz="1500" dirty="0"/>
          </a:p>
        </p:txBody>
      </p:sp>
      <p:sp>
        <p:nvSpPr>
          <p:cNvPr id="25" name="Text 23"/>
          <p:cNvSpPr/>
          <p:nvPr/>
        </p:nvSpPr>
        <p:spPr>
          <a:xfrm>
            <a:off x="4626864" y="4544568"/>
            <a:ext cx="2916936" cy="56692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Median and quartiles are less sensitive to extreme values than the mean.</a:t>
            </a:r>
            <a:endParaRPr lang="en-US" sz="1150" dirty="0"/>
          </a:p>
        </p:txBody>
      </p:sp>
      <p:sp>
        <p:nvSpPr>
          <p:cNvPr id="26" name="Shape 24"/>
          <p:cNvSpPr/>
          <p:nvPr/>
        </p:nvSpPr>
        <p:spPr>
          <a:xfrm>
            <a:off x="8083296" y="4069080"/>
            <a:ext cx="3246120" cy="1170432"/>
          </a:xfrm>
          <a:prstGeom prst="roundRect">
            <a:avLst>
              <a:gd name="adj" fmla="val 6250"/>
            </a:avLst>
          </a:prstGeom>
          <a:solidFill>
            <a:srgbClr val="EAF7EF"/>
          </a:solidFill>
          <a:ln w="10160">
            <a:solidFill>
              <a:srgbClr val="E9EEF5"/>
            </a:solidFill>
            <a:prstDash val="solid"/>
          </a:ln>
        </p:spPr>
      </p:sp>
      <p:sp>
        <p:nvSpPr>
          <p:cNvPr id="27" name="Text 25"/>
          <p:cNvSpPr/>
          <p:nvPr/>
        </p:nvSpPr>
        <p:spPr>
          <a:xfrm>
            <a:off x="8247888" y="4206240"/>
            <a:ext cx="2916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Excel</a:t>
            </a:r>
            <a:endParaRPr lang="en-US" sz="1500" dirty="0"/>
          </a:p>
        </p:txBody>
      </p:sp>
      <p:sp>
        <p:nvSpPr>
          <p:cNvPr id="28" name="Text 26"/>
          <p:cNvSpPr/>
          <p:nvPr/>
        </p:nvSpPr>
        <p:spPr>
          <a:xfrm>
            <a:off x="8247888" y="4544568"/>
            <a:ext cx="2916936" cy="56692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Insert → Statistical Chart → Box &amp; Whisker.</a:t>
            </a:r>
            <a:endParaRPr lang="en-US" sz="1150" dirty="0"/>
          </a:p>
        </p:txBody>
      </p:sp>
      <p:sp>
        <p:nvSpPr>
          <p:cNvPr id="29"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y take on: Why do we need to standardize the data? | by Joel Varma Dirisam  | Medium">
            <a:extLst>
              <a:ext uri="{FF2B5EF4-FFF2-40B4-BE49-F238E27FC236}">
                <a16:creationId xmlns:a16="http://schemas.microsoft.com/office/drawing/2014/main" id="{CE3241AE-3080-CAE8-A296-55E8C9FD58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1802" y="3330736"/>
            <a:ext cx="4352485" cy="24482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ormalization Formula | Step By Step Guide with Calculation Examples">
            <a:extLst>
              <a:ext uri="{FF2B5EF4-FFF2-40B4-BE49-F238E27FC236}">
                <a16:creationId xmlns:a16="http://schemas.microsoft.com/office/drawing/2014/main" id="{BEE99BF7-B6AD-06F6-2F65-558C3C951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308" y="3966411"/>
            <a:ext cx="4347070" cy="1957031"/>
          </a:xfrm>
          <a:prstGeom prst="rect">
            <a:avLst/>
          </a:prstGeom>
          <a:noFill/>
          <a:extLst>
            <a:ext uri="{909E8E84-426E-40DD-AFC4-6F175D3DCCD1}">
              <a14:hiddenFill xmlns:a14="http://schemas.microsoft.com/office/drawing/2010/main">
                <a:solidFill>
                  <a:srgbClr val="FFFFFF"/>
                </a:solidFill>
              </a14:hiddenFill>
            </a:ext>
          </a:extLst>
        </p:spPr>
      </p:pic>
      <p:sp>
        <p:nvSpPr>
          <p:cNvPr id="9" name="Text 0">
            <a:extLst>
              <a:ext uri="{FF2B5EF4-FFF2-40B4-BE49-F238E27FC236}">
                <a16:creationId xmlns:a16="http://schemas.microsoft.com/office/drawing/2014/main" id="{11948BC6-E45E-1BB3-CA23-BD3FC49ECF00}"/>
              </a:ext>
            </a:extLst>
          </p:cNvPr>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11" name="Text 1">
            <a:extLst>
              <a:ext uri="{FF2B5EF4-FFF2-40B4-BE49-F238E27FC236}">
                <a16:creationId xmlns:a16="http://schemas.microsoft.com/office/drawing/2014/main" id="{C3C460B8-210E-1D90-1850-A5C978E00D29}"/>
              </a:ext>
            </a:extLst>
          </p:cNvPr>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Box plots: required to compare unevenly distributed data</a:t>
            </a:r>
            <a:endParaRPr lang="en-US" sz="2600" dirty="0"/>
          </a:p>
        </p:txBody>
      </p:sp>
      <p:sp>
        <p:nvSpPr>
          <p:cNvPr id="13" name="Text 4">
            <a:extLst>
              <a:ext uri="{FF2B5EF4-FFF2-40B4-BE49-F238E27FC236}">
                <a16:creationId xmlns:a16="http://schemas.microsoft.com/office/drawing/2014/main" id="{F0FE6151-5C1A-9028-E022-F536286089AC}"/>
              </a:ext>
            </a:extLst>
          </p:cNvPr>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Two typical useful techniques to compare unevenly distributed data by boxplots </a:t>
            </a:r>
            <a:r>
              <a:rPr lang="en-US" sz="1300" dirty="0">
                <a:solidFill>
                  <a:srgbClr val="667085"/>
                </a:solidFill>
                <a:sym typeface="Wingdings" panose="05000000000000000000" pitchFamily="2" charset="2"/>
              </a:rPr>
              <a:t> this way, we can then appreciate differences</a:t>
            </a:r>
            <a:endParaRPr lang="en-US" sz="1300" dirty="0"/>
          </a:p>
        </p:txBody>
      </p:sp>
      <p:sp>
        <p:nvSpPr>
          <p:cNvPr id="14" name="Slide Number Placeholder 0">
            <a:extLst>
              <a:ext uri="{FF2B5EF4-FFF2-40B4-BE49-F238E27FC236}">
                <a16:creationId xmlns:a16="http://schemas.microsoft.com/office/drawing/2014/main" id="{C80761D0-C149-38FC-5055-39ED6695A22F}"/>
              </a:ext>
            </a:extLst>
          </p:cNvPr>
          <p:cNvSpPr txBox="1">
            <a:spLocks/>
          </p:cNvSpPr>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62</a:t>
            </a:fld>
            <a:endParaRPr lang="en-US" dirty="0"/>
          </a:p>
        </p:txBody>
      </p:sp>
    </p:spTree>
    <p:extLst>
      <p:ext uri="{BB962C8B-B14F-4D97-AF65-F5344CB8AC3E}">
        <p14:creationId xmlns:p14="http://schemas.microsoft.com/office/powerpoint/2010/main" val="13445559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457200"/>
            <a:ext cx="10789920" cy="420624"/>
          </a:xfrm>
          <a:prstGeom prst="rect">
            <a:avLst/>
          </a:prstGeom>
          <a:noFill/>
          <a:ln/>
        </p:spPr>
        <p:txBody>
          <a:bodyPr wrap="square" lIns="0" tIns="0" rIns="0" bIns="0" rtlCol="0" anchor="ctr"/>
          <a:lstStyle/>
          <a:p>
            <a:pPr marL="0" indent="0">
              <a:buNone/>
            </a:pPr>
            <a:r>
              <a:rPr lang="en-US" sz="2200" b="1" dirty="0">
                <a:solidFill>
                  <a:srgbClr val="162841"/>
                </a:solidFill>
                <a:latin typeface="Aptos Display" pitchFamily="34" charset="0"/>
                <a:ea typeface="Aptos Display" pitchFamily="34" charset="-122"/>
                <a:cs typeface="Aptos Display" pitchFamily="34" charset="-120"/>
              </a:rPr>
              <a:t>Standardising a numeric column in Excel (Z-score)</a:t>
            </a:r>
            <a:endParaRPr lang="en-US" sz="2200" dirty="0"/>
          </a:p>
        </p:txBody>
      </p:sp>
      <p:sp>
        <p:nvSpPr>
          <p:cNvPr id="3" name="Text 1"/>
          <p:cNvSpPr/>
          <p:nvPr/>
        </p:nvSpPr>
        <p:spPr>
          <a:xfrm>
            <a:off x="329184" y="941832"/>
            <a:ext cx="11064240" cy="329184"/>
          </a:xfrm>
          <a:prstGeom prst="rect">
            <a:avLst/>
          </a:prstGeom>
          <a:noFill/>
          <a:ln/>
        </p:spPr>
        <p:txBody>
          <a:bodyPr wrap="square" lIns="0" tIns="0" rIns="0" bIns="0" rtlCol="0" anchor="ctr"/>
          <a:lstStyle/>
          <a:p>
            <a:pPr marL="0" indent="0">
              <a:buNone/>
            </a:pPr>
            <a:r>
              <a:rPr lang="en-US" sz="1150" dirty="0">
                <a:solidFill>
                  <a:srgbClr val="606C80"/>
                </a:solidFill>
                <a:latin typeface="Aptos" pitchFamily="34" charset="0"/>
                <a:ea typeface="Aptos" pitchFamily="34" charset="-122"/>
                <a:cs typeface="Aptos" pitchFamily="34" charset="-120"/>
              </a:rPr>
              <a:t>Standardisation expresses each value as a number of standard deviations from the mean.</a:t>
            </a:r>
            <a:endParaRPr lang="en-US" sz="1150" dirty="0"/>
          </a:p>
        </p:txBody>
      </p:sp>
      <p:sp>
        <p:nvSpPr>
          <p:cNvPr id="4" name="Shape 2"/>
          <p:cNvSpPr/>
          <p:nvPr/>
        </p:nvSpPr>
        <p:spPr>
          <a:xfrm>
            <a:off x="502920" y="1344168"/>
            <a:ext cx="1051560" cy="256032"/>
          </a:xfrm>
          <a:prstGeom prst="roundRect">
            <a:avLst>
              <a:gd name="adj" fmla="val 21429"/>
            </a:avLst>
          </a:prstGeom>
          <a:solidFill>
            <a:srgbClr val="4270EF"/>
          </a:solidFill>
          <a:ln w="12700">
            <a:solidFill>
              <a:srgbClr val="4270EF"/>
            </a:solidFill>
            <a:prstDash val="solid"/>
          </a:ln>
        </p:spPr>
      </p:sp>
      <p:sp>
        <p:nvSpPr>
          <p:cNvPr id="5" name="Text 3"/>
          <p:cNvSpPr/>
          <p:nvPr/>
        </p:nvSpPr>
        <p:spPr>
          <a:xfrm>
            <a:off x="502920" y="1362456"/>
            <a:ext cx="105156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CONCEPT</a:t>
            </a:r>
            <a:endParaRPr lang="en-US" sz="920" dirty="0"/>
          </a:p>
        </p:txBody>
      </p:sp>
      <p:sp>
        <p:nvSpPr>
          <p:cNvPr id="6" name="Shape 4"/>
          <p:cNvSpPr/>
          <p:nvPr/>
        </p:nvSpPr>
        <p:spPr>
          <a:xfrm>
            <a:off x="502920" y="1682496"/>
            <a:ext cx="3767328" cy="1938528"/>
          </a:xfrm>
          <a:prstGeom prst="roundRect">
            <a:avLst>
              <a:gd name="adj" fmla="val 3774"/>
            </a:avLst>
          </a:prstGeom>
          <a:solidFill>
            <a:srgbClr val="FFFFFF"/>
          </a:solidFill>
          <a:ln w="12700">
            <a:solidFill>
              <a:srgbClr val="DDE2E9"/>
            </a:solidFill>
            <a:prstDash val="solid"/>
          </a:ln>
        </p:spPr>
      </p:sp>
      <p:sp>
        <p:nvSpPr>
          <p:cNvPr id="7" name="Text 5"/>
          <p:cNvSpPr/>
          <p:nvPr/>
        </p:nvSpPr>
        <p:spPr>
          <a:xfrm>
            <a:off x="713232" y="1856232"/>
            <a:ext cx="1554480" cy="256032"/>
          </a:xfrm>
          <a:prstGeom prst="rect">
            <a:avLst/>
          </a:prstGeom>
          <a:noFill/>
          <a:ln/>
        </p:spPr>
        <p:txBody>
          <a:bodyPr wrap="square" lIns="0" tIns="0" rIns="0" bIns="0" rtlCol="0" anchor="t">
            <a:normAutofit/>
          </a:bodyPr>
          <a:lstStyle/>
          <a:p>
            <a:pPr marL="0" indent="0" algn="l">
              <a:buNone/>
            </a:pPr>
            <a:r>
              <a:rPr lang="en-US" sz="1600" b="1" dirty="0">
                <a:solidFill>
                  <a:srgbClr val="162841"/>
                </a:solidFill>
                <a:latin typeface="Aptos" pitchFamily="34" charset="0"/>
                <a:ea typeface="Aptos" pitchFamily="34" charset="-122"/>
                <a:cs typeface="Aptos" pitchFamily="34" charset="-120"/>
              </a:rPr>
              <a:t>Z-score formula</a:t>
            </a:r>
            <a:endParaRPr lang="en-US" sz="1600" dirty="0"/>
          </a:p>
        </p:txBody>
      </p:sp>
      <p:sp>
        <p:nvSpPr>
          <p:cNvPr id="8" name="Text 6"/>
          <p:cNvSpPr/>
          <p:nvPr/>
        </p:nvSpPr>
        <p:spPr>
          <a:xfrm>
            <a:off x="713232" y="2221992"/>
            <a:ext cx="2971800" cy="475488"/>
          </a:xfrm>
          <a:prstGeom prst="rect">
            <a:avLst/>
          </a:prstGeom>
          <a:noFill/>
          <a:ln/>
        </p:spPr>
        <p:txBody>
          <a:bodyPr wrap="square" lIns="0" tIns="0" rIns="0" bIns="0" rtlCol="0" anchor="t">
            <a:normAutofit/>
          </a:bodyPr>
          <a:lstStyle/>
          <a:p>
            <a:pPr marL="0" indent="0" algn="ctr">
              <a:buNone/>
            </a:pPr>
            <a:r>
              <a:rPr lang="en-US" sz="2600" b="1" dirty="0">
                <a:solidFill>
                  <a:srgbClr val="4270EF"/>
                </a:solidFill>
                <a:latin typeface="Aptos" pitchFamily="34" charset="0"/>
                <a:ea typeface="Aptos" pitchFamily="34" charset="-122"/>
                <a:cs typeface="Aptos" pitchFamily="34" charset="-120"/>
              </a:rPr>
              <a:t>z = (x − μ) / σ</a:t>
            </a:r>
            <a:endParaRPr lang="en-US" sz="2600" dirty="0"/>
          </a:p>
        </p:txBody>
      </p:sp>
      <p:sp>
        <p:nvSpPr>
          <p:cNvPr id="9" name="Text 7"/>
          <p:cNvSpPr/>
          <p:nvPr/>
        </p:nvSpPr>
        <p:spPr>
          <a:xfrm>
            <a:off x="713232" y="2816352"/>
            <a:ext cx="1371600" cy="219456"/>
          </a:xfrm>
          <a:prstGeom prst="rect">
            <a:avLst/>
          </a:prstGeom>
          <a:noFill/>
          <a:ln/>
        </p:spPr>
        <p:txBody>
          <a:bodyPr wrap="square" lIns="0" tIns="0" rIns="0" bIns="0" rtlCol="0" anchor="t">
            <a:normAutofit/>
          </a:bodyPr>
          <a:lstStyle/>
          <a:p>
            <a:pPr marL="0" indent="0" algn="l">
              <a:buNone/>
            </a:pPr>
            <a:r>
              <a:rPr lang="en-US" sz="1300" b="1" dirty="0">
                <a:solidFill>
                  <a:srgbClr val="162841"/>
                </a:solidFill>
                <a:latin typeface="Aptos" pitchFamily="34" charset="0"/>
                <a:ea typeface="Aptos" pitchFamily="34" charset="-122"/>
                <a:cs typeface="Aptos" pitchFamily="34" charset="-120"/>
              </a:rPr>
              <a:t>Interpretation</a:t>
            </a:r>
            <a:endParaRPr lang="en-US" sz="1300" dirty="0"/>
          </a:p>
        </p:txBody>
      </p:sp>
      <p:sp>
        <p:nvSpPr>
          <p:cNvPr id="10" name="Text 8"/>
          <p:cNvSpPr/>
          <p:nvPr/>
        </p:nvSpPr>
        <p:spPr>
          <a:xfrm>
            <a:off x="713232" y="3054096"/>
            <a:ext cx="3246120" cy="457200"/>
          </a:xfrm>
          <a:prstGeom prst="rect">
            <a:avLst/>
          </a:prstGeom>
          <a:noFill/>
          <a:ln/>
        </p:spPr>
        <p:txBody>
          <a:bodyPr wrap="square" lIns="0" tIns="0" rIns="0" bIns="0" rtlCol="0" anchor="t">
            <a:normAutofit fontScale="92500" lnSpcReduction="10000"/>
          </a:bodyPr>
          <a:lstStyle/>
          <a:p>
            <a:pPr marL="0" indent="0" algn="l">
              <a:buNone/>
            </a:pPr>
            <a:r>
              <a:rPr lang="en-US" sz="1180" dirty="0">
                <a:solidFill>
                  <a:srgbClr val="606C80"/>
                </a:solidFill>
                <a:latin typeface="Aptos" pitchFamily="34" charset="0"/>
                <a:ea typeface="Aptos" pitchFamily="34" charset="-122"/>
                <a:cs typeface="Aptos" pitchFamily="34" charset="-120"/>
              </a:rPr>
              <a:t>z = 0  → value is at the mean</a:t>
            </a:r>
            <a:endParaRPr lang="en-US" sz="1180" dirty="0"/>
          </a:p>
          <a:p>
            <a:pPr marL="0" indent="0" algn="l">
              <a:buNone/>
            </a:pPr>
            <a:r>
              <a:rPr lang="en-US" sz="1180" dirty="0">
                <a:solidFill>
                  <a:srgbClr val="606C80"/>
                </a:solidFill>
                <a:latin typeface="Aptos" pitchFamily="34" charset="0"/>
                <a:ea typeface="Aptos" pitchFamily="34" charset="-122"/>
                <a:cs typeface="Aptos" pitchFamily="34" charset="-120"/>
              </a:rPr>
              <a:t>z = +1 → one standard deviation above</a:t>
            </a:r>
            <a:endParaRPr lang="en-US" sz="1180" dirty="0"/>
          </a:p>
          <a:p>
            <a:pPr marL="0" indent="0" algn="l">
              <a:buNone/>
            </a:pPr>
            <a:r>
              <a:rPr lang="en-US" sz="1180" dirty="0">
                <a:solidFill>
                  <a:srgbClr val="606C80"/>
                </a:solidFill>
                <a:latin typeface="Aptos" pitchFamily="34" charset="0"/>
                <a:ea typeface="Aptos" pitchFamily="34" charset="-122"/>
                <a:cs typeface="Aptos" pitchFamily="34" charset="-120"/>
              </a:rPr>
              <a:t>z = −1 → one standard deviation below</a:t>
            </a:r>
            <a:endParaRPr lang="en-US" sz="1180" dirty="0"/>
          </a:p>
        </p:txBody>
      </p:sp>
      <p:sp>
        <p:nvSpPr>
          <p:cNvPr id="11" name="Shape 9"/>
          <p:cNvSpPr/>
          <p:nvPr/>
        </p:nvSpPr>
        <p:spPr>
          <a:xfrm>
            <a:off x="4526280" y="1344168"/>
            <a:ext cx="1234440" cy="256032"/>
          </a:xfrm>
          <a:prstGeom prst="roundRect">
            <a:avLst>
              <a:gd name="adj" fmla="val 21429"/>
            </a:avLst>
          </a:prstGeom>
          <a:solidFill>
            <a:srgbClr val="12A09E"/>
          </a:solidFill>
          <a:ln w="12700">
            <a:solidFill>
              <a:srgbClr val="12A09E"/>
            </a:solidFill>
            <a:prstDash val="solid"/>
          </a:ln>
        </p:spPr>
      </p:sp>
      <p:sp>
        <p:nvSpPr>
          <p:cNvPr id="12" name="Text 10"/>
          <p:cNvSpPr/>
          <p:nvPr/>
        </p:nvSpPr>
        <p:spPr>
          <a:xfrm>
            <a:off x="4526280" y="1362456"/>
            <a:ext cx="123444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EXCEL FORMULA</a:t>
            </a:r>
            <a:endParaRPr lang="en-US" sz="920" dirty="0"/>
          </a:p>
        </p:txBody>
      </p:sp>
      <p:sp>
        <p:nvSpPr>
          <p:cNvPr id="13" name="Shape 11"/>
          <p:cNvSpPr/>
          <p:nvPr/>
        </p:nvSpPr>
        <p:spPr>
          <a:xfrm>
            <a:off x="4526280" y="1682496"/>
            <a:ext cx="3310128" cy="1938528"/>
          </a:xfrm>
          <a:prstGeom prst="roundRect">
            <a:avLst>
              <a:gd name="adj" fmla="val 3774"/>
            </a:avLst>
          </a:prstGeom>
          <a:solidFill>
            <a:srgbClr val="E8F7F4"/>
          </a:solidFill>
          <a:ln w="12700">
            <a:solidFill>
              <a:srgbClr val="12A09E"/>
            </a:solidFill>
            <a:prstDash val="solid"/>
          </a:ln>
        </p:spPr>
      </p:sp>
      <p:sp>
        <p:nvSpPr>
          <p:cNvPr id="14" name="Text 12"/>
          <p:cNvSpPr/>
          <p:nvPr/>
        </p:nvSpPr>
        <p:spPr>
          <a:xfrm>
            <a:off x="4736592" y="1865376"/>
            <a:ext cx="1920240" cy="228600"/>
          </a:xfrm>
          <a:prstGeom prst="rect">
            <a:avLst/>
          </a:prstGeom>
          <a:noFill/>
          <a:ln/>
        </p:spPr>
        <p:txBody>
          <a:bodyPr wrap="square" lIns="0" tIns="0" rIns="0" bIns="0" rtlCol="0" anchor="t">
            <a:normAutofit/>
          </a:bodyPr>
          <a:lstStyle/>
          <a:p>
            <a:pPr marL="0" indent="0" algn="l">
              <a:buNone/>
            </a:pPr>
            <a:r>
              <a:rPr lang="en-US" sz="1320" b="1" dirty="0">
                <a:solidFill>
                  <a:srgbClr val="162841"/>
                </a:solidFill>
                <a:latin typeface="Aptos" pitchFamily="34" charset="0"/>
                <a:ea typeface="Aptos" pitchFamily="34" charset="-122"/>
                <a:cs typeface="Aptos" pitchFamily="34" charset="-120"/>
              </a:rPr>
              <a:t>For values in A2:A101</a:t>
            </a:r>
            <a:endParaRPr lang="en-US" sz="1320" dirty="0"/>
          </a:p>
        </p:txBody>
      </p:sp>
      <p:sp>
        <p:nvSpPr>
          <p:cNvPr id="15" name="Text 13"/>
          <p:cNvSpPr/>
          <p:nvPr/>
        </p:nvSpPr>
        <p:spPr>
          <a:xfrm>
            <a:off x="4736592" y="2240280"/>
            <a:ext cx="2834640" cy="585216"/>
          </a:xfrm>
          <a:prstGeom prst="rect">
            <a:avLst/>
          </a:prstGeom>
          <a:noFill/>
          <a:ln/>
        </p:spPr>
        <p:txBody>
          <a:bodyPr wrap="square" lIns="0" tIns="0" rIns="0" bIns="0" rtlCol="0" anchor="t">
            <a:normAutofit fontScale="92500"/>
          </a:bodyPr>
          <a:lstStyle/>
          <a:p>
            <a:pPr marL="0" indent="0" algn="ctr">
              <a:buNone/>
            </a:pPr>
            <a:r>
              <a:rPr lang="en-US" sz="1530" b="1" dirty="0">
                <a:solidFill>
                  <a:srgbClr val="12A09E"/>
                </a:solidFill>
                <a:latin typeface="Courier New" pitchFamily="34" charset="0"/>
                <a:ea typeface="Courier New" pitchFamily="34" charset="-122"/>
                <a:cs typeface="Courier New" pitchFamily="34" charset="-120"/>
              </a:rPr>
              <a:t>=(A2-AVERAGE($A$2:$A$101))</a:t>
            </a:r>
            <a:endParaRPr lang="en-US" sz="1530" dirty="0"/>
          </a:p>
          <a:p>
            <a:pPr marL="0" indent="0" algn="ctr">
              <a:buNone/>
            </a:pPr>
            <a:r>
              <a:rPr lang="en-US" sz="1530" b="1" dirty="0">
                <a:solidFill>
                  <a:srgbClr val="12A09E"/>
                </a:solidFill>
                <a:latin typeface="Courier New" pitchFamily="34" charset="0"/>
                <a:ea typeface="Courier New" pitchFamily="34" charset="-122"/>
                <a:cs typeface="Courier New" pitchFamily="34" charset="-120"/>
              </a:rPr>
              <a:t> /STDEV.S($A$2:$A$101)</a:t>
            </a:r>
            <a:endParaRPr lang="en-US" sz="1530" dirty="0"/>
          </a:p>
        </p:txBody>
      </p:sp>
      <p:sp>
        <p:nvSpPr>
          <p:cNvPr id="16" name="Text 14"/>
          <p:cNvSpPr/>
          <p:nvPr/>
        </p:nvSpPr>
        <p:spPr>
          <a:xfrm>
            <a:off x="4736592" y="3054096"/>
            <a:ext cx="2852928" cy="256032"/>
          </a:xfrm>
          <a:prstGeom prst="rect">
            <a:avLst/>
          </a:prstGeom>
          <a:noFill/>
          <a:ln/>
        </p:spPr>
        <p:txBody>
          <a:bodyPr wrap="square" lIns="0" tIns="0" rIns="0" bIns="0" rtlCol="0" anchor="t">
            <a:normAutofit/>
          </a:bodyPr>
          <a:lstStyle/>
          <a:p>
            <a:pPr marL="0" indent="0" algn="ctr">
              <a:buNone/>
            </a:pPr>
            <a:r>
              <a:rPr lang="en-US" sz="1150" dirty="0">
                <a:solidFill>
                  <a:srgbClr val="606C80"/>
                </a:solidFill>
                <a:latin typeface="Aptos" pitchFamily="34" charset="0"/>
                <a:ea typeface="Aptos" pitchFamily="34" charset="-122"/>
                <a:cs typeface="Aptos" pitchFamily="34" charset="-120"/>
              </a:rPr>
              <a:t>Copy the formula down the column.</a:t>
            </a:r>
            <a:endParaRPr lang="en-US" sz="1150" dirty="0"/>
          </a:p>
        </p:txBody>
      </p:sp>
      <p:sp>
        <p:nvSpPr>
          <p:cNvPr id="17" name="Shape 15"/>
          <p:cNvSpPr/>
          <p:nvPr/>
        </p:nvSpPr>
        <p:spPr>
          <a:xfrm>
            <a:off x="8083296" y="1344168"/>
            <a:ext cx="1188720" cy="256032"/>
          </a:xfrm>
          <a:prstGeom prst="roundRect">
            <a:avLst>
              <a:gd name="adj" fmla="val 21429"/>
            </a:avLst>
          </a:prstGeom>
          <a:solidFill>
            <a:srgbClr val="7E5EEA"/>
          </a:solidFill>
          <a:ln w="12700">
            <a:solidFill>
              <a:srgbClr val="7E5EEA"/>
            </a:solidFill>
            <a:prstDash val="solid"/>
          </a:ln>
        </p:spPr>
      </p:sp>
      <p:sp>
        <p:nvSpPr>
          <p:cNvPr id="18" name="Text 16"/>
          <p:cNvSpPr/>
          <p:nvPr/>
        </p:nvSpPr>
        <p:spPr>
          <a:xfrm>
            <a:off x="8083296" y="1362456"/>
            <a:ext cx="118872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EXAMPLE</a:t>
            </a:r>
            <a:endParaRPr lang="en-US" sz="920" dirty="0"/>
          </a:p>
        </p:txBody>
      </p:sp>
      <p:sp>
        <p:nvSpPr>
          <p:cNvPr id="19" name="Shape 17"/>
          <p:cNvSpPr/>
          <p:nvPr/>
        </p:nvSpPr>
        <p:spPr>
          <a:xfrm>
            <a:off x="8083296" y="1682496"/>
            <a:ext cx="3602736" cy="1938528"/>
          </a:xfrm>
          <a:prstGeom prst="roundRect">
            <a:avLst>
              <a:gd name="adj" fmla="val 3774"/>
            </a:avLst>
          </a:prstGeom>
          <a:solidFill>
            <a:srgbClr val="FFFFFF"/>
          </a:solidFill>
          <a:ln w="12700">
            <a:solidFill>
              <a:srgbClr val="DDE2E9"/>
            </a:solidFill>
            <a:prstDash val="solid"/>
          </a:ln>
        </p:spPr>
      </p:sp>
      <p:sp>
        <p:nvSpPr>
          <p:cNvPr id="20" name="Text 18"/>
          <p:cNvSpPr/>
          <p:nvPr/>
        </p:nvSpPr>
        <p:spPr>
          <a:xfrm>
            <a:off x="8275320" y="1847088"/>
            <a:ext cx="1600200" cy="201168"/>
          </a:xfrm>
          <a:prstGeom prst="rect">
            <a:avLst/>
          </a:prstGeom>
          <a:noFill/>
          <a:ln/>
        </p:spPr>
        <p:txBody>
          <a:bodyPr wrap="square" lIns="0" tIns="0" rIns="0" bIns="0" rtlCol="0" anchor="t">
            <a:normAutofit/>
          </a:bodyPr>
          <a:lstStyle/>
          <a:p>
            <a:pPr marL="0" indent="0" algn="l">
              <a:buNone/>
            </a:pPr>
            <a:r>
              <a:rPr lang="en-US" sz="1280" b="1" dirty="0">
                <a:solidFill>
                  <a:srgbClr val="162841"/>
                </a:solidFill>
                <a:latin typeface="Aptos" pitchFamily="34" charset="0"/>
                <a:ea typeface="Aptos" pitchFamily="34" charset="-122"/>
                <a:cs typeface="Aptos" pitchFamily="34" charset="-120"/>
              </a:rPr>
              <a:t>Annual income (k€)</a:t>
            </a:r>
            <a:endParaRPr lang="en-US" sz="1280" dirty="0"/>
          </a:p>
        </p:txBody>
      </p:sp>
      <p:sp>
        <p:nvSpPr>
          <p:cNvPr id="21" name="Shape 19"/>
          <p:cNvSpPr/>
          <p:nvPr/>
        </p:nvSpPr>
        <p:spPr>
          <a:xfrm>
            <a:off x="8275320" y="2157984"/>
            <a:ext cx="1353312" cy="265176"/>
          </a:xfrm>
          <a:prstGeom prst="rect">
            <a:avLst/>
          </a:prstGeom>
          <a:solidFill>
            <a:srgbClr val="7E5EEA"/>
          </a:solidFill>
          <a:ln w="8890">
            <a:solidFill>
              <a:srgbClr val="DDE2E9"/>
            </a:solidFill>
            <a:prstDash val="solid"/>
          </a:ln>
        </p:spPr>
      </p:sp>
      <p:sp>
        <p:nvSpPr>
          <p:cNvPr id="22" name="Text 20"/>
          <p:cNvSpPr/>
          <p:nvPr/>
        </p:nvSpPr>
        <p:spPr>
          <a:xfrm>
            <a:off x="8293608" y="2185416"/>
            <a:ext cx="1316736" cy="21945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Original</a:t>
            </a:r>
            <a:endParaRPr lang="en-US" sz="1050" dirty="0"/>
          </a:p>
        </p:txBody>
      </p:sp>
      <p:sp>
        <p:nvSpPr>
          <p:cNvPr id="23" name="Shape 21"/>
          <p:cNvSpPr/>
          <p:nvPr/>
        </p:nvSpPr>
        <p:spPr>
          <a:xfrm>
            <a:off x="9628632" y="2157984"/>
            <a:ext cx="1389888" cy="265176"/>
          </a:xfrm>
          <a:prstGeom prst="rect">
            <a:avLst/>
          </a:prstGeom>
          <a:solidFill>
            <a:srgbClr val="4270EF"/>
          </a:solidFill>
          <a:ln w="8890">
            <a:solidFill>
              <a:srgbClr val="DDE2E9"/>
            </a:solidFill>
            <a:prstDash val="solid"/>
          </a:ln>
        </p:spPr>
      </p:sp>
      <p:sp>
        <p:nvSpPr>
          <p:cNvPr id="24" name="Text 22"/>
          <p:cNvSpPr/>
          <p:nvPr/>
        </p:nvSpPr>
        <p:spPr>
          <a:xfrm>
            <a:off x="9646920" y="2185416"/>
            <a:ext cx="1353312" cy="21945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Z-score</a:t>
            </a:r>
            <a:endParaRPr lang="en-US" sz="1050" dirty="0"/>
          </a:p>
        </p:txBody>
      </p:sp>
      <p:sp>
        <p:nvSpPr>
          <p:cNvPr id="25" name="Shape 23"/>
          <p:cNvSpPr/>
          <p:nvPr/>
        </p:nvSpPr>
        <p:spPr>
          <a:xfrm>
            <a:off x="8275320" y="2423160"/>
            <a:ext cx="1353312" cy="265176"/>
          </a:xfrm>
          <a:prstGeom prst="rect">
            <a:avLst/>
          </a:prstGeom>
          <a:solidFill>
            <a:srgbClr val="F8FAFC"/>
          </a:solidFill>
          <a:ln w="8890">
            <a:solidFill>
              <a:srgbClr val="DDE2E9"/>
            </a:solidFill>
            <a:prstDash val="solid"/>
          </a:ln>
        </p:spPr>
      </p:sp>
      <p:sp>
        <p:nvSpPr>
          <p:cNvPr id="26" name="Text 24"/>
          <p:cNvSpPr/>
          <p:nvPr/>
        </p:nvSpPr>
        <p:spPr>
          <a:xfrm>
            <a:off x="8293608" y="2450592"/>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20</a:t>
            </a:r>
            <a:endParaRPr lang="en-US" sz="1050" dirty="0"/>
          </a:p>
        </p:txBody>
      </p:sp>
      <p:sp>
        <p:nvSpPr>
          <p:cNvPr id="27" name="Shape 25"/>
          <p:cNvSpPr/>
          <p:nvPr/>
        </p:nvSpPr>
        <p:spPr>
          <a:xfrm>
            <a:off x="9628632" y="2423160"/>
            <a:ext cx="1389888" cy="265176"/>
          </a:xfrm>
          <a:prstGeom prst="rect">
            <a:avLst/>
          </a:prstGeom>
          <a:solidFill>
            <a:srgbClr val="F8FAFC"/>
          </a:solidFill>
          <a:ln w="8890">
            <a:solidFill>
              <a:srgbClr val="DDE2E9"/>
            </a:solidFill>
            <a:prstDash val="solid"/>
          </a:ln>
        </p:spPr>
      </p:sp>
      <p:sp>
        <p:nvSpPr>
          <p:cNvPr id="28" name="Text 26"/>
          <p:cNvSpPr/>
          <p:nvPr/>
        </p:nvSpPr>
        <p:spPr>
          <a:xfrm>
            <a:off x="9646920" y="2450592"/>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−1.26</a:t>
            </a:r>
            <a:endParaRPr lang="en-US" sz="1050" dirty="0"/>
          </a:p>
        </p:txBody>
      </p:sp>
      <p:sp>
        <p:nvSpPr>
          <p:cNvPr id="29" name="Shape 27"/>
          <p:cNvSpPr/>
          <p:nvPr/>
        </p:nvSpPr>
        <p:spPr>
          <a:xfrm>
            <a:off x="8275320" y="2688336"/>
            <a:ext cx="1353312" cy="265176"/>
          </a:xfrm>
          <a:prstGeom prst="rect">
            <a:avLst/>
          </a:prstGeom>
          <a:solidFill>
            <a:srgbClr val="FFFFFF"/>
          </a:solidFill>
          <a:ln w="8890">
            <a:solidFill>
              <a:srgbClr val="DDE2E9"/>
            </a:solidFill>
            <a:prstDash val="solid"/>
          </a:ln>
        </p:spPr>
      </p:sp>
      <p:sp>
        <p:nvSpPr>
          <p:cNvPr id="30" name="Text 28"/>
          <p:cNvSpPr/>
          <p:nvPr/>
        </p:nvSpPr>
        <p:spPr>
          <a:xfrm>
            <a:off x="8293608" y="2715768"/>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40</a:t>
            </a:r>
            <a:endParaRPr lang="en-US" sz="1050" dirty="0"/>
          </a:p>
        </p:txBody>
      </p:sp>
      <p:sp>
        <p:nvSpPr>
          <p:cNvPr id="31" name="Shape 29"/>
          <p:cNvSpPr/>
          <p:nvPr/>
        </p:nvSpPr>
        <p:spPr>
          <a:xfrm>
            <a:off x="9628632" y="2688336"/>
            <a:ext cx="1389888" cy="265176"/>
          </a:xfrm>
          <a:prstGeom prst="rect">
            <a:avLst/>
          </a:prstGeom>
          <a:solidFill>
            <a:srgbClr val="FFFFFF"/>
          </a:solidFill>
          <a:ln w="8890">
            <a:solidFill>
              <a:srgbClr val="DDE2E9"/>
            </a:solidFill>
            <a:prstDash val="solid"/>
          </a:ln>
        </p:spPr>
      </p:sp>
      <p:sp>
        <p:nvSpPr>
          <p:cNvPr id="32" name="Text 30"/>
          <p:cNvSpPr/>
          <p:nvPr/>
        </p:nvSpPr>
        <p:spPr>
          <a:xfrm>
            <a:off x="9646920" y="2715768"/>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−0.63</a:t>
            </a:r>
            <a:endParaRPr lang="en-US" sz="1050" dirty="0"/>
          </a:p>
        </p:txBody>
      </p:sp>
      <p:sp>
        <p:nvSpPr>
          <p:cNvPr id="33" name="Shape 31"/>
          <p:cNvSpPr/>
          <p:nvPr/>
        </p:nvSpPr>
        <p:spPr>
          <a:xfrm>
            <a:off x="8275320" y="2953512"/>
            <a:ext cx="1353312" cy="265176"/>
          </a:xfrm>
          <a:prstGeom prst="rect">
            <a:avLst/>
          </a:prstGeom>
          <a:solidFill>
            <a:srgbClr val="F8FAFC"/>
          </a:solidFill>
          <a:ln w="8890">
            <a:solidFill>
              <a:srgbClr val="DDE2E9"/>
            </a:solidFill>
            <a:prstDash val="solid"/>
          </a:ln>
        </p:spPr>
      </p:sp>
      <p:sp>
        <p:nvSpPr>
          <p:cNvPr id="34" name="Text 32"/>
          <p:cNvSpPr/>
          <p:nvPr/>
        </p:nvSpPr>
        <p:spPr>
          <a:xfrm>
            <a:off x="8293608" y="2980944"/>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60</a:t>
            </a:r>
            <a:endParaRPr lang="en-US" sz="1050" dirty="0"/>
          </a:p>
        </p:txBody>
      </p:sp>
      <p:sp>
        <p:nvSpPr>
          <p:cNvPr id="35" name="Shape 33"/>
          <p:cNvSpPr/>
          <p:nvPr/>
        </p:nvSpPr>
        <p:spPr>
          <a:xfrm>
            <a:off x="9628632" y="2953512"/>
            <a:ext cx="1389888" cy="265176"/>
          </a:xfrm>
          <a:prstGeom prst="rect">
            <a:avLst/>
          </a:prstGeom>
          <a:solidFill>
            <a:srgbClr val="F8FAFC"/>
          </a:solidFill>
          <a:ln w="8890">
            <a:solidFill>
              <a:srgbClr val="DDE2E9"/>
            </a:solidFill>
            <a:prstDash val="solid"/>
          </a:ln>
        </p:spPr>
      </p:sp>
      <p:sp>
        <p:nvSpPr>
          <p:cNvPr id="36" name="Text 34"/>
          <p:cNvSpPr/>
          <p:nvPr/>
        </p:nvSpPr>
        <p:spPr>
          <a:xfrm>
            <a:off x="9646920" y="2980944"/>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0.00</a:t>
            </a:r>
            <a:endParaRPr lang="en-US" sz="1050" dirty="0"/>
          </a:p>
        </p:txBody>
      </p:sp>
      <p:sp>
        <p:nvSpPr>
          <p:cNvPr id="37" name="Shape 35"/>
          <p:cNvSpPr/>
          <p:nvPr/>
        </p:nvSpPr>
        <p:spPr>
          <a:xfrm>
            <a:off x="8275320" y="3218688"/>
            <a:ext cx="1353312" cy="265176"/>
          </a:xfrm>
          <a:prstGeom prst="rect">
            <a:avLst/>
          </a:prstGeom>
          <a:solidFill>
            <a:srgbClr val="FFFFFF"/>
          </a:solidFill>
          <a:ln w="8890">
            <a:solidFill>
              <a:srgbClr val="DDE2E9"/>
            </a:solidFill>
            <a:prstDash val="solid"/>
          </a:ln>
        </p:spPr>
      </p:sp>
      <p:sp>
        <p:nvSpPr>
          <p:cNvPr id="38" name="Text 36"/>
          <p:cNvSpPr/>
          <p:nvPr/>
        </p:nvSpPr>
        <p:spPr>
          <a:xfrm>
            <a:off x="8293608" y="3246120"/>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80</a:t>
            </a:r>
            <a:endParaRPr lang="en-US" sz="1050" dirty="0"/>
          </a:p>
        </p:txBody>
      </p:sp>
      <p:sp>
        <p:nvSpPr>
          <p:cNvPr id="39" name="Shape 37"/>
          <p:cNvSpPr/>
          <p:nvPr/>
        </p:nvSpPr>
        <p:spPr>
          <a:xfrm>
            <a:off x="9628632" y="3218688"/>
            <a:ext cx="1389888" cy="265176"/>
          </a:xfrm>
          <a:prstGeom prst="rect">
            <a:avLst/>
          </a:prstGeom>
          <a:solidFill>
            <a:srgbClr val="FFFFFF"/>
          </a:solidFill>
          <a:ln w="8890">
            <a:solidFill>
              <a:srgbClr val="DDE2E9"/>
            </a:solidFill>
            <a:prstDash val="solid"/>
          </a:ln>
        </p:spPr>
      </p:sp>
      <p:sp>
        <p:nvSpPr>
          <p:cNvPr id="40" name="Text 38"/>
          <p:cNvSpPr/>
          <p:nvPr/>
        </p:nvSpPr>
        <p:spPr>
          <a:xfrm>
            <a:off x="9646920" y="3246120"/>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+0.63</a:t>
            </a:r>
            <a:endParaRPr lang="en-US" sz="1050" dirty="0"/>
          </a:p>
        </p:txBody>
      </p:sp>
      <p:sp>
        <p:nvSpPr>
          <p:cNvPr id="41" name="Shape 39"/>
          <p:cNvSpPr/>
          <p:nvPr/>
        </p:nvSpPr>
        <p:spPr>
          <a:xfrm>
            <a:off x="8275320" y="3483864"/>
            <a:ext cx="1353312" cy="265176"/>
          </a:xfrm>
          <a:prstGeom prst="rect">
            <a:avLst/>
          </a:prstGeom>
          <a:solidFill>
            <a:srgbClr val="F8FAFC"/>
          </a:solidFill>
          <a:ln w="8890">
            <a:solidFill>
              <a:srgbClr val="DDE2E9"/>
            </a:solidFill>
            <a:prstDash val="solid"/>
          </a:ln>
        </p:spPr>
      </p:sp>
      <p:sp>
        <p:nvSpPr>
          <p:cNvPr id="42" name="Text 40"/>
          <p:cNvSpPr/>
          <p:nvPr/>
        </p:nvSpPr>
        <p:spPr>
          <a:xfrm>
            <a:off x="8293608" y="3511296"/>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100</a:t>
            </a:r>
            <a:endParaRPr lang="en-US" sz="1050" dirty="0"/>
          </a:p>
        </p:txBody>
      </p:sp>
      <p:sp>
        <p:nvSpPr>
          <p:cNvPr id="43" name="Shape 41"/>
          <p:cNvSpPr/>
          <p:nvPr/>
        </p:nvSpPr>
        <p:spPr>
          <a:xfrm>
            <a:off x="9628632" y="3483864"/>
            <a:ext cx="1389888" cy="265176"/>
          </a:xfrm>
          <a:prstGeom prst="rect">
            <a:avLst/>
          </a:prstGeom>
          <a:solidFill>
            <a:srgbClr val="F8FAFC"/>
          </a:solidFill>
          <a:ln w="8890">
            <a:solidFill>
              <a:srgbClr val="DDE2E9"/>
            </a:solidFill>
            <a:prstDash val="solid"/>
          </a:ln>
        </p:spPr>
      </p:sp>
      <p:sp>
        <p:nvSpPr>
          <p:cNvPr id="44" name="Text 42"/>
          <p:cNvSpPr/>
          <p:nvPr/>
        </p:nvSpPr>
        <p:spPr>
          <a:xfrm>
            <a:off x="9646920" y="3511296"/>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+1.26</a:t>
            </a:r>
            <a:endParaRPr lang="en-US" sz="1050" dirty="0"/>
          </a:p>
        </p:txBody>
      </p:sp>
      <p:sp>
        <p:nvSpPr>
          <p:cNvPr id="45" name="Shape 43"/>
          <p:cNvSpPr/>
          <p:nvPr/>
        </p:nvSpPr>
        <p:spPr>
          <a:xfrm>
            <a:off x="502920" y="3913632"/>
            <a:ext cx="5532120" cy="1627632"/>
          </a:xfrm>
          <a:prstGeom prst="roundRect">
            <a:avLst>
              <a:gd name="adj" fmla="val 4494"/>
            </a:avLst>
          </a:prstGeom>
          <a:solidFill>
            <a:srgbClr val="EBF2FC"/>
          </a:solidFill>
          <a:ln w="12700">
            <a:solidFill>
              <a:srgbClr val="4270EF"/>
            </a:solidFill>
            <a:prstDash val="solid"/>
          </a:ln>
        </p:spPr>
      </p:sp>
      <p:sp>
        <p:nvSpPr>
          <p:cNvPr id="46" name="Text 44"/>
          <p:cNvSpPr/>
          <p:nvPr/>
        </p:nvSpPr>
        <p:spPr>
          <a:xfrm>
            <a:off x="731520" y="4114800"/>
            <a:ext cx="2331720" cy="256032"/>
          </a:xfrm>
          <a:prstGeom prst="rect">
            <a:avLst/>
          </a:prstGeom>
          <a:noFill/>
          <a:ln/>
        </p:spPr>
        <p:txBody>
          <a:bodyPr wrap="square" lIns="0" tIns="0" rIns="0" bIns="0" rtlCol="0" anchor="t">
            <a:normAutofit fontScale="85000" lnSpcReduction="10000"/>
          </a:bodyPr>
          <a:lstStyle/>
          <a:p>
            <a:pPr marL="0" indent="0" algn="l">
              <a:buNone/>
            </a:pPr>
            <a:r>
              <a:rPr lang="en-US" sz="1520" b="1" dirty="0">
                <a:solidFill>
                  <a:srgbClr val="162841"/>
                </a:solidFill>
                <a:latin typeface="Aptos" pitchFamily="34" charset="0"/>
                <a:ea typeface="Aptos" pitchFamily="34" charset="-122"/>
                <a:cs typeface="Aptos" pitchFamily="34" charset="-120"/>
              </a:rPr>
              <a:t>When standardisation is useful</a:t>
            </a:r>
            <a:endParaRPr lang="en-US" sz="1520" dirty="0"/>
          </a:p>
        </p:txBody>
      </p:sp>
      <p:sp>
        <p:nvSpPr>
          <p:cNvPr id="47" name="Text 45"/>
          <p:cNvSpPr/>
          <p:nvPr/>
        </p:nvSpPr>
        <p:spPr>
          <a:xfrm>
            <a:off x="731520" y="4443984"/>
            <a:ext cx="4983480" cy="850392"/>
          </a:xfrm>
          <a:prstGeom prst="rect">
            <a:avLst/>
          </a:prstGeom>
          <a:noFill/>
          <a:ln/>
        </p:spPr>
        <p:txBody>
          <a:bodyPr wrap="square" lIns="0" tIns="0" rIns="0" bIns="0" rtlCol="0" anchor="t">
            <a:normAutofit/>
          </a:bodyPr>
          <a:lstStyle/>
          <a:p>
            <a:pPr marL="0" indent="0" algn="l">
              <a:buNone/>
            </a:pPr>
            <a:r>
              <a:rPr lang="en-US" sz="1220" dirty="0">
                <a:solidFill>
                  <a:srgbClr val="606C80"/>
                </a:solidFill>
                <a:latin typeface="Aptos" pitchFamily="34" charset="0"/>
                <a:ea typeface="Aptos" pitchFamily="34" charset="-122"/>
                <a:cs typeface="Aptos" pitchFamily="34" charset="-120"/>
              </a:rPr>
              <a:t>• Variables have very different units or scales</a:t>
            </a:r>
            <a:endParaRPr lang="en-US" sz="1220" dirty="0"/>
          </a:p>
          <a:p>
            <a:pPr marL="0" indent="0" algn="l">
              <a:buNone/>
            </a:pPr>
            <a:r>
              <a:rPr lang="en-US" sz="1220" dirty="0">
                <a:solidFill>
                  <a:srgbClr val="606C80"/>
                </a:solidFill>
                <a:latin typeface="Aptos" pitchFamily="34" charset="0"/>
                <a:ea typeface="Aptos" pitchFamily="34" charset="-122"/>
                <a:cs typeface="Aptos" pitchFamily="34" charset="-120"/>
              </a:rPr>
              <a:t>• Distance-based methods are used (e.g. k-NN, k-means)</a:t>
            </a:r>
            <a:endParaRPr lang="en-US" sz="1220" dirty="0"/>
          </a:p>
          <a:p>
            <a:pPr marL="0" indent="0" algn="l">
              <a:buNone/>
            </a:pPr>
            <a:r>
              <a:rPr lang="en-US" sz="1220" dirty="0">
                <a:solidFill>
                  <a:srgbClr val="606C80"/>
                </a:solidFill>
                <a:latin typeface="Aptos" pitchFamily="34" charset="0"/>
                <a:ea typeface="Aptos" pitchFamily="34" charset="-122"/>
                <a:cs typeface="Aptos" pitchFamily="34" charset="-120"/>
              </a:rPr>
              <a:t>• You want a common scale centred around zero</a:t>
            </a:r>
            <a:endParaRPr lang="en-US" sz="1220" dirty="0"/>
          </a:p>
        </p:txBody>
      </p:sp>
      <p:sp>
        <p:nvSpPr>
          <p:cNvPr id="48" name="Shape 46"/>
          <p:cNvSpPr/>
          <p:nvPr/>
        </p:nvSpPr>
        <p:spPr>
          <a:xfrm>
            <a:off x="6272784" y="3913632"/>
            <a:ext cx="5413248" cy="1627632"/>
          </a:xfrm>
          <a:prstGeom prst="roundRect">
            <a:avLst>
              <a:gd name="adj" fmla="val 4494"/>
            </a:avLst>
          </a:prstGeom>
          <a:solidFill>
            <a:srgbClr val="FDF4E6"/>
          </a:solidFill>
          <a:ln w="12700">
            <a:solidFill>
              <a:srgbClr val="F3A012"/>
            </a:solidFill>
            <a:prstDash val="solid"/>
          </a:ln>
        </p:spPr>
      </p:sp>
      <p:sp>
        <p:nvSpPr>
          <p:cNvPr id="49" name="Text 47"/>
          <p:cNvSpPr/>
          <p:nvPr/>
        </p:nvSpPr>
        <p:spPr>
          <a:xfrm>
            <a:off x="6492240" y="4114800"/>
            <a:ext cx="1417320" cy="256032"/>
          </a:xfrm>
          <a:prstGeom prst="rect">
            <a:avLst/>
          </a:prstGeom>
          <a:noFill/>
          <a:ln/>
        </p:spPr>
        <p:txBody>
          <a:bodyPr wrap="square" lIns="0" tIns="0" rIns="0" bIns="0" rtlCol="0" anchor="t">
            <a:normAutofit/>
          </a:bodyPr>
          <a:lstStyle/>
          <a:p>
            <a:pPr marL="0" indent="0" algn="l">
              <a:buNone/>
            </a:pPr>
            <a:r>
              <a:rPr lang="en-US" sz="1520" b="1" dirty="0">
                <a:solidFill>
                  <a:srgbClr val="162841"/>
                </a:solidFill>
                <a:latin typeface="Aptos" pitchFamily="34" charset="0"/>
                <a:ea typeface="Aptos" pitchFamily="34" charset="-122"/>
                <a:cs typeface="Aptos" pitchFamily="34" charset="-120"/>
              </a:rPr>
              <a:t>Important</a:t>
            </a:r>
            <a:endParaRPr lang="en-US" sz="1520" dirty="0"/>
          </a:p>
        </p:txBody>
      </p:sp>
      <p:sp>
        <p:nvSpPr>
          <p:cNvPr id="50" name="Text 48"/>
          <p:cNvSpPr/>
          <p:nvPr/>
        </p:nvSpPr>
        <p:spPr>
          <a:xfrm>
            <a:off x="6492240" y="4453128"/>
            <a:ext cx="4892040" cy="749808"/>
          </a:xfrm>
          <a:prstGeom prst="rect">
            <a:avLst/>
          </a:prstGeom>
          <a:noFill/>
          <a:ln/>
        </p:spPr>
        <p:txBody>
          <a:bodyPr wrap="square" lIns="0" tIns="0" rIns="0" bIns="0" rtlCol="0" anchor="t">
            <a:normAutofit/>
          </a:bodyPr>
          <a:lstStyle/>
          <a:p>
            <a:pPr marL="0" indent="0" algn="l">
              <a:buNone/>
            </a:pPr>
            <a:r>
              <a:rPr lang="en-US" sz="1220" dirty="0">
                <a:solidFill>
                  <a:srgbClr val="606C80"/>
                </a:solidFill>
                <a:latin typeface="Aptos" pitchFamily="34" charset="0"/>
                <a:ea typeface="Aptos" pitchFamily="34" charset="-122"/>
                <a:cs typeface="Aptos" pitchFamily="34" charset="-120"/>
              </a:rPr>
              <a:t>Standardisation does not force values into a fixed range. Values below −3 or above +3 are possible and may highlight unusual observations.</a:t>
            </a:r>
            <a:endParaRPr lang="en-US" sz="1220" dirty="0"/>
          </a:p>
        </p:txBody>
      </p:sp>
      <p:sp>
        <p:nvSpPr>
          <p:cNvPr id="51" name="Shape 49"/>
          <p:cNvSpPr/>
          <p:nvPr/>
        </p:nvSpPr>
        <p:spPr>
          <a:xfrm>
            <a:off x="2157984" y="5760720"/>
            <a:ext cx="7863840" cy="475488"/>
          </a:xfrm>
          <a:prstGeom prst="roundRect">
            <a:avLst>
              <a:gd name="adj" fmla="val 15385"/>
            </a:avLst>
          </a:prstGeom>
          <a:solidFill>
            <a:srgbClr val="FFFFFF"/>
          </a:solidFill>
          <a:ln w="12700">
            <a:solidFill>
              <a:srgbClr val="80C7E8"/>
            </a:solidFill>
            <a:prstDash val="solid"/>
          </a:ln>
        </p:spPr>
      </p:sp>
      <p:sp>
        <p:nvSpPr>
          <p:cNvPr id="52" name="Text 50"/>
          <p:cNvSpPr/>
          <p:nvPr/>
        </p:nvSpPr>
        <p:spPr>
          <a:xfrm>
            <a:off x="2340864" y="5888736"/>
            <a:ext cx="7498080" cy="201168"/>
          </a:xfrm>
          <a:prstGeom prst="rect">
            <a:avLst/>
          </a:prstGeom>
          <a:noFill/>
          <a:ln/>
        </p:spPr>
        <p:txBody>
          <a:bodyPr wrap="square" lIns="0" tIns="0" rIns="0" bIns="0" rtlCol="0" anchor="t">
            <a:normAutofit/>
          </a:bodyPr>
          <a:lstStyle/>
          <a:p>
            <a:pPr marL="0" indent="0" algn="ctr">
              <a:buNone/>
            </a:pPr>
            <a:r>
              <a:rPr lang="en-US" sz="1280" dirty="0">
                <a:solidFill>
                  <a:srgbClr val="162841"/>
                </a:solidFill>
                <a:latin typeface="Aptos" pitchFamily="34" charset="0"/>
                <a:ea typeface="Aptos" pitchFamily="34" charset="-122"/>
                <a:cs typeface="Aptos" pitchFamily="34" charset="-120"/>
              </a:rPr>
              <a:t>Takeaway: standardisation changes the scale, not the relative ordering of the observations.</a:t>
            </a:r>
            <a:endParaRPr lang="en-US" sz="1280" dirty="0"/>
          </a:p>
        </p:txBody>
      </p:sp>
      <p:sp>
        <p:nvSpPr>
          <p:cNvPr id="55" name="Text 0">
            <a:extLst>
              <a:ext uri="{FF2B5EF4-FFF2-40B4-BE49-F238E27FC236}">
                <a16:creationId xmlns:a16="http://schemas.microsoft.com/office/drawing/2014/main" id="{862912FF-D848-1B74-D79F-A1F359AB866F}"/>
              </a:ext>
            </a:extLst>
          </p:cNvPr>
          <p:cNvSpPr/>
          <p:nvPr/>
        </p:nvSpPr>
        <p:spPr>
          <a:xfrm>
            <a:off x="297988" y="176605"/>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57" name="Slide Number Placeholder 0">
            <a:extLst>
              <a:ext uri="{FF2B5EF4-FFF2-40B4-BE49-F238E27FC236}">
                <a16:creationId xmlns:a16="http://schemas.microsoft.com/office/drawing/2014/main" id="{906D4FA2-389F-EF3D-DDC2-8BC1F5802486}"/>
              </a:ext>
            </a:extLst>
          </p:cNvPr>
          <p:cNvSpPr txBox="1">
            <a:spLocks/>
          </p:cNvSpPr>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457200"/>
            <a:ext cx="10789920" cy="420624"/>
          </a:xfrm>
          <a:prstGeom prst="rect">
            <a:avLst/>
          </a:prstGeom>
          <a:noFill/>
          <a:ln/>
        </p:spPr>
        <p:txBody>
          <a:bodyPr wrap="square" lIns="0" tIns="0" rIns="0" bIns="0" rtlCol="0" anchor="ctr"/>
          <a:lstStyle/>
          <a:p>
            <a:pPr marL="0" indent="0">
              <a:buNone/>
            </a:pPr>
            <a:r>
              <a:rPr lang="en-US" sz="2200" b="1" dirty="0">
                <a:solidFill>
                  <a:srgbClr val="162841"/>
                </a:solidFill>
                <a:latin typeface="Aptos Display" pitchFamily="34" charset="0"/>
                <a:ea typeface="Aptos Display" pitchFamily="34" charset="-122"/>
                <a:cs typeface="Aptos Display" pitchFamily="34" charset="-120"/>
              </a:rPr>
              <a:t>Normalising a numeric column in Excel (Min–Max)</a:t>
            </a:r>
            <a:endParaRPr lang="en-US" sz="2200" dirty="0"/>
          </a:p>
        </p:txBody>
      </p:sp>
      <p:sp>
        <p:nvSpPr>
          <p:cNvPr id="3" name="Text 1"/>
          <p:cNvSpPr/>
          <p:nvPr/>
        </p:nvSpPr>
        <p:spPr>
          <a:xfrm>
            <a:off x="329184" y="941832"/>
            <a:ext cx="11064240" cy="329184"/>
          </a:xfrm>
          <a:prstGeom prst="rect">
            <a:avLst/>
          </a:prstGeom>
          <a:noFill/>
          <a:ln/>
        </p:spPr>
        <p:txBody>
          <a:bodyPr wrap="square" lIns="0" tIns="0" rIns="0" bIns="0" rtlCol="0" anchor="ctr"/>
          <a:lstStyle/>
          <a:p>
            <a:pPr marL="0" indent="0">
              <a:buNone/>
            </a:pPr>
            <a:r>
              <a:rPr lang="en-US" sz="1150" dirty="0">
                <a:solidFill>
                  <a:srgbClr val="606C80"/>
                </a:solidFill>
                <a:latin typeface="Aptos" pitchFamily="34" charset="0"/>
                <a:ea typeface="Aptos" pitchFamily="34" charset="-122"/>
                <a:cs typeface="Aptos" pitchFamily="34" charset="-120"/>
              </a:rPr>
              <a:t>Min–Max normalisation rescales a variable to a fixed interval, most commonly 0 to 1.</a:t>
            </a:r>
            <a:endParaRPr lang="en-US" sz="1150" dirty="0"/>
          </a:p>
        </p:txBody>
      </p:sp>
      <p:sp>
        <p:nvSpPr>
          <p:cNvPr id="4" name="Shape 2"/>
          <p:cNvSpPr/>
          <p:nvPr/>
        </p:nvSpPr>
        <p:spPr>
          <a:xfrm>
            <a:off x="502920" y="1344168"/>
            <a:ext cx="1051560" cy="256032"/>
          </a:xfrm>
          <a:prstGeom prst="roundRect">
            <a:avLst>
              <a:gd name="adj" fmla="val 21429"/>
            </a:avLst>
          </a:prstGeom>
          <a:solidFill>
            <a:srgbClr val="39B272"/>
          </a:solidFill>
          <a:ln w="12700">
            <a:solidFill>
              <a:srgbClr val="39B272"/>
            </a:solidFill>
            <a:prstDash val="solid"/>
          </a:ln>
        </p:spPr>
      </p:sp>
      <p:sp>
        <p:nvSpPr>
          <p:cNvPr id="5" name="Text 3"/>
          <p:cNvSpPr/>
          <p:nvPr/>
        </p:nvSpPr>
        <p:spPr>
          <a:xfrm>
            <a:off x="502920" y="1362456"/>
            <a:ext cx="105156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CONCEPT</a:t>
            </a:r>
            <a:endParaRPr lang="en-US" sz="920" dirty="0"/>
          </a:p>
        </p:txBody>
      </p:sp>
      <p:sp>
        <p:nvSpPr>
          <p:cNvPr id="6" name="Shape 4"/>
          <p:cNvSpPr/>
          <p:nvPr/>
        </p:nvSpPr>
        <p:spPr>
          <a:xfrm>
            <a:off x="502920" y="1682496"/>
            <a:ext cx="3767328" cy="1938528"/>
          </a:xfrm>
          <a:prstGeom prst="roundRect">
            <a:avLst>
              <a:gd name="adj" fmla="val 3774"/>
            </a:avLst>
          </a:prstGeom>
          <a:solidFill>
            <a:srgbClr val="FFFFFF"/>
          </a:solidFill>
          <a:ln w="12700">
            <a:solidFill>
              <a:srgbClr val="DDE2E9"/>
            </a:solidFill>
            <a:prstDash val="solid"/>
          </a:ln>
        </p:spPr>
      </p:sp>
      <p:sp>
        <p:nvSpPr>
          <p:cNvPr id="7" name="Text 5"/>
          <p:cNvSpPr/>
          <p:nvPr/>
        </p:nvSpPr>
        <p:spPr>
          <a:xfrm>
            <a:off x="713232" y="1856232"/>
            <a:ext cx="1645920" cy="256032"/>
          </a:xfrm>
          <a:prstGeom prst="rect">
            <a:avLst/>
          </a:prstGeom>
          <a:noFill/>
          <a:ln/>
        </p:spPr>
        <p:txBody>
          <a:bodyPr wrap="square" lIns="0" tIns="0" rIns="0" bIns="0" rtlCol="0" anchor="t">
            <a:normAutofit/>
          </a:bodyPr>
          <a:lstStyle/>
          <a:p>
            <a:pPr marL="0" indent="0" algn="l">
              <a:buNone/>
            </a:pPr>
            <a:r>
              <a:rPr lang="en-US" sz="1600" b="1" dirty="0">
                <a:solidFill>
                  <a:srgbClr val="162841"/>
                </a:solidFill>
                <a:latin typeface="Aptos" pitchFamily="34" charset="0"/>
                <a:ea typeface="Aptos" pitchFamily="34" charset="-122"/>
                <a:cs typeface="Aptos" pitchFamily="34" charset="-120"/>
              </a:rPr>
              <a:t>Min–Max formula</a:t>
            </a:r>
            <a:endParaRPr lang="en-US" sz="1600" dirty="0"/>
          </a:p>
        </p:txBody>
      </p:sp>
      <p:sp>
        <p:nvSpPr>
          <p:cNvPr id="8" name="Text 6"/>
          <p:cNvSpPr/>
          <p:nvPr/>
        </p:nvSpPr>
        <p:spPr>
          <a:xfrm>
            <a:off x="713232" y="2221992"/>
            <a:ext cx="2971800" cy="475488"/>
          </a:xfrm>
          <a:prstGeom prst="rect">
            <a:avLst/>
          </a:prstGeom>
          <a:noFill/>
          <a:ln/>
        </p:spPr>
        <p:txBody>
          <a:bodyPr wrap="square" lIns="0" tIns="0" rIns="0" bIns="0" rtlCol="0" anchor="t">
            <a:normAutofit/>
          </a:bodyPr>
          <a:lstStyle/>
          <a:p>
            <a:pPr marL="0" indent="0" algn="ctr">
              <a:buNone/>
            </a:pPr>
            <a:r>
              <a:rPr lang="en-US" sz="2300" b="1" dirty="0">
                <a:solidFill>
                  <a:srgbClr val="39B272"/>
                </a:solidFill>
                <a:latin typeface="Aptos" pitchFamily="34" charset="0"/>
                <a:ea typeface="Aptos" pitchFamily="34" charset="-122"/>
                <a:cs typeface="Aptos" pitchFamily="34" charset="-120"/>
              </a:rPr>
              <a:t>(x − min) / (max − min)</a:t>
            </a:r>
            <a:endParaRPr lang="en-US" sz="2300" dirty="0"/>
          </a:p>
        </p:txBody>
      </p:sp>
      <p:sp>
        <p:nvSpPr>
          <p:cNvPr id="9" name="Text 7"/>
          <p:cNvSpPr/>
          <p:nvPr/>
        </p:nvSpPr>
        <p:spPr>
          <a:xfrm>
            <a:off x="713232" y="2816352"/>
            <a:ext cx="1005840" cy="219456"/>
          </a:xfrm>
          <a:prstGeom prst="rect">
            <a:avLst/>
          </a:prstGeom>
          <a:noFill/>
          <a:ln/>
        </p:spPr>
        <p:txBody>
          <a:bodyPr wrap="square" lIns="0" tIns="0" rIns="0" bIns="0" rtlCol="0" anchor="t">
            <a:normAutofit/>
          </a:bodyPr>
          <a:lstStyle/>
          <a:p>
            <a:pPr marL="0" indent="0" algn="l">
              <a:buNone/>
            </a:pPr>
            <a:r>
              <a:rPr lang="en-US" sz="1300" b="1" dirty="0">
                <a:solidFill>
                  <a:srgbClr val="162841"/>
                </a:solidFill>
                <a:latin typeface="Aptos" pitchFamily="34" charset="0"/>
                <a:ea typeface="Aptos" pitchFamily="34" charset="-122"/>
                <a:cs typeface="Aptos" pitchFamily="34" charset="-120"/>
              </a:rPr>
              <a:t>Result</a:t>
            </a:r>
            <a:endParaRPr lang="en-US" sz="1300" dirty="0"/>
          </a:p>
        </p:txBody>
      </p:sp>
      <p:sp>
        <p:nvSpPr>
          <p:cNvPr id="10" name="Text 8"/>
          <p:cNvSpPr/>
          <p:nvPr/>
        </p:nvSpPr>
        <p:spPr>
          <a:xfrm>
            <a:off x="713232" y="3054096"/>
            <a:ext cx="3246120" cy="475488"/>
          </a:xfrm>
          <a:prstGeom prst="rect">
            <a:avLst/>
          </a:prstGeom>
          <a:noFill/>
          <a:ln/>
        </p:spPr>
        <p:txBody>
          <a:bodyPr wrap="square" lIns="0" tIns="0" rIns="0" bIns="0" rtlCol="0" anchor="t">
            <a:normAutofit fontScale="92500" lnSpcReduction="10000"/>
          </a:bodyPr>
          <a:lstStyle/>
          <a:p>
            <a:pPr marL="0" indent="0" algn="l">
              <a:buNone/>
            </a:pPr>
            <a:r>
              <a:rPr lang="en-US" sz="1180" dirty="0">
                <a:solidFill>
                  <a:srgbClr val="606C80"/>
                </a:solidFill>
                <a:latin typeface="Aptos" pitchFamily="34" charset="0"/>
                <a:ea typeface="Aptos" pitchFamily="34" charset="-122"/>
                <a:cs typeface="Aptos" pitchFamily="34" charset="-120"/>
              </a:rPr>
              <a:t>minimum → 0</a:t>
            </a:r>
            <a:endParaRPr lang="en-US" sz="1180" dirty="0"/>
          </a:p>
          <a:p>
            <a:pPr marL="0" indent="0" algn="l">
              <a:buNone/>
            </a:pPr>
            <a:r>
              <a:rPr lang="en-US" sz="1180" dirty="0">
                <a:solidFill>
                  <a:srgbClr val="606C80"/>
                </a:solidFill>
                <a:latin typeface="Aptos" pitchFamily="34" charset="0"/>
                <a:ea typeface="Aptos" pitchFamily="34" charset="-122"/>
                <a:cs typeface="Aptos" pitchFamily="34" charset="-120"/>
              </a:rPr>
              <a:t>maximum → 1</a:t>
            </a:r>
            <a:endParaRPr lang="en-US" sz="1180" dirty="0"/>
          </a:p>
          <a:p>
            <a:pPr marL="0" indent="0" algn="l">
              <a:buNone/>
            </a:pPr>
            <a:r>
              <a:rPr lang="en-US" sz="1180" dirty="0">
                <a:solidFill>
                  <a:srgbClr val="606C80"/>
                </a:solidFill>
                <a:latin typeface="Aptos" pitchFamily="34" charset="0"/>
                <a:ea typeface="Aptos" pitchFamily="34" charset="-122"/>
                <a:cs typeface="Aptos" pitchFamily="34" charset="-120"/>
              </a:rPr>
              <a:t>all other values → proportionally between 0 and 1</a:t>
            </a:r>
            <a:endParaRPr lang="en-US" sz="1180" dirty="0"/>
          </a:p>
        </p:txBody>
      </p:sp>
      <p:sp>
        <p:nvSpPr>
          <p:cNvPr id="11" name="Shape 9"/>
          <p:cNvSpPr/>
          <p:nvPr/>
        </p:nvSpPr>
        <p:spPr>
          <a:xfrm>
            <a:off x="4526280" y="1344168"/>
            <a:ext cx="1234440" cy="256032"/>
          </a:xfrm>
          <a:prstGeom prst="roundRect">
            <a:avLst>
              <a:gd name="adj" fmla="val 21429"/>
            </a:avLst>
          </a:prstGeom>
          <a:solidFill>
            <a:srgbClr val="12A09E"/>
          </a:solidFill>
          <a:ln w="12700">
            <a:solidFill>
              <a:srgbClr val="12A09E"/>
            </a:solidFill>
            <a:prstDash val="solid"/>
          </a:ln>
        </p:spPr>
      </p:sp>
      <p:sp>
        <p:nvSpPr>
          <p:cNvPr id="12" name="Text 10"/>
          <p:cNvSpPr/>
          <p:nvPr/>
        </p:nvSpPr>
        <p:spPr>
          <a:xfrm>
            <a:off x="4526280" y="1362456"/>
            <a:ext cx="123444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EXCEL FORMULA</a:t>
            </a:r>
            <a:endParaRPr lang="en-US" sz="920" dirty="0"/>
          </a:p>
        </p:txBody>
      </p:sp>
      <p:sp>
        <p:nvSpPr>
          <p:cNvPr id="13" name="Shape 11"/>
          <p:cNvSpPr/>
          <p:nvPr/>
        </p:nvSpPr>
        <p:spPr>
          <a:xfrm>
            <a:off x="4526280" y="1682496"/>
            <a:ext cx="3310128" cy="1938528"/>
          </a:xfrm>
          <a:prstGeom prst="roundRect">
            <a:avLst>
              <a:gd name="adj" fmla="val 3774"/>
            </a:avLst>
          </a:prstGeom>
          <a:solidFill>
            <a:srgbClr val="E8F7F4"/>
          </a:solidFill>
          <a:ln w="12700">
            <a:solidFill>
              <a:srgbClr val="12A09E"/>
            </a:solidFill>
            <a:prstDash val="solid"/>
          </a:ln>
        </p:spPr>
      </p:sp>
      <p:sp>
        <p:nvSpPr>
          <p:cNvPr id="14" name="Text 12"/>
          <p:cNvSpPr/>
          <p:nvPr/>
        </p:nvSpPr>
        <p:spPr>
          <a:xfrm>
            <a:off x="4736592" y="1865376"/>
            <a:ext cx="1920240" cy="228600"/>
          </a:xfrm>
          <a:prstGeom prst="rect">
            <a:avLst/>
          </a:prstGeom>
          <a:noFill/>
          <a:ln/>
        </p:spPr>
        <p:txBody>
          <a:bodyPr wrap="square" lIns="0" tIns="0" rIns="0" bIns="0" rtlCol="0" anchor="t">
            <a:normAutofit/>
          </a:bodyPr>
          <a:lstStyle/>
          <a:p>
            <a:pPr marL="0" indent="0" algn="l">
              <a:buNone/>
            </a:pPr>
            <a:r>
              <a:rPr lang="en-US" sz="1320" b="1" dirty="0">
                <a:solidFill>
                  <a:srgbClr val="162841"/>
                </a:solidFill>
                <a:latin typeface="Aptos" pitchFamily="34" charset="0"/>
                <a:ea typeface="Aptos" pitchFamily="34" charset="-122"/>
                <a:cs typeface="Aptos" pitchFamily="34" charset="-120"/>
              </a:rPr>
              <a:t>For values in A2:A101</a:t>
            </a:r>
            <a:endParaRPr lang="en-US" sz="1320" dirty="0"/>
          </a:p>
        </p:txBody>
      </p:sp>
      <p:sp>
        <p:nvSpPr>
          <p:cNvPr id="15" name="Text 13"/>
          <p:cNvSpPr/>
          <p:nvPr/>
        </p:nvSpPr>
        <p:spPr>
          <a:xfrm>
            <a:off x="4654296" y="2167128"/>
            <a:ext cx="3035808" cy="713232"/>
          </a:xfrm>
          <a:prstGeom prst="rect">
            <a:avLst/>
          </a:prstGeom>
          <a:noFill/>
          <a:ln/>
        </p:spPr>
        <p:txBody>
          <a:bodyPr wrap="square" lIns="0" tIns="0" rIns="0" bIns="0" rtlCol="0" anchor="t">
            <a:normAutofit/>
          </a:bodyPr>
          <a:lstStyle/>
          <a:p>
            <a:pPr marL="0" indent="0" algn="ctr">
              <a:buNone/>
            </a:pPr>
            <a:r>
              <a:rPr lang="en-US" sz="1240" b="1" dirty="0">
                <a:solidFill>
                  <a:srgbClr val="12A09E"/>
                </a:solidFill>
                <a:latin typeface="Courier New" pitchFamily="34" charset="0"/>
                <a:ea typeface="Courier New" pitchFamily="34" charset="-122"/>
                <a:cs typeface="Courier New" pitchFamily="34" charset="-120"/>
              </a:rPr>
              <a:t>=(A2-MIN($A$2:$A$101))</a:t>
            </a:r>
            <a:endParaRPr lang="en-US" sz="1240" dirty="0"/>
          </a:p>
          <a:p>
            <a:pPr marL="0" indent="0" algn="ctr">
              <a:buNone/>
            </a:pPr>
            <a:r>
              <a:rPr lang="en-US" sz="1240" b="1" dirty="0">
                <a:solidFill>
                  <a:srgbClr val="12A09E"/>
                </a:solidFill>
                <a:latin typeface="Courier New" pitchFamily="34" charset="0"/>
                <a:ea typeface="Courier New" pitchFamily="34" charset="-122"/>
                <a:cs typeface="Courier New" pitchFamily="34" charset="-120"/>
              </a:rPr>
              <a:t> /(MAX($A$2:$A$101)-MIN($A$2:$A$101))</a:t>
            </a:r>
            <a:endParaRPr lang="en-US" sz="1240" dirty="0"/>
          </a:p>
        </p:txBody>
      </p:sp>
      <p:sp>
        <p:nvSpPr>
          <p:cNvPr id="16" name="Text 14"/>
          <p:cNvSpPr/>
          <p:nvPr/>
        </p:nvSpPr>
        <p:spPr>
          <a:xfrm>
            <a:off x="4736592" y="3063240"/>
            <a:ext cx="2852928" cy="292608"/>
          </a:xfrm>
          <a:prstGeom prst="rect">
            <a:avLst/>
          </a:prstGeom>
          <a:noFill/>
          <a:ln/>
        </p:spPr>
        <p:txBody>
          <a:bodyPr wrap="square" lIns="0" tIns="0" rIns="0" bIns="0" rtlCol="0" anchor="t">
            <a:normAutofit/>
          </a:bodyPr>
          <a:lstStyle/>
          <a:p>
            <a:pPr marL="0" indent="0" algn="ctr">
              <a:buNone/>
            </a:pPr>
            <a:r>
              <a:rPr lang="en-US" sz="1120" dirty="0">
                <a:solidFill>
                  <a:srgbClr val="606C80"/>
                </a:solidFill>
                <a:latin typeface="Aptos" pitchFamily="34" charset="0"/>
                <a:ea typeface="Aptos" pitchFamily="34" charset="-122"/>
                <a:cs typeface="Aptos" pitchFamily="34" charset="-120"/>
              </a:rPr>
              <a:t>For a 0–100 scale, multiply the result by 100.</a:t>
            </a:r>
            <a:endParaRPr lang="en-US" sz="1120" dirty="0"/>
          </a:p>
        </p:txBody>
      </p:sp>
      <p:sp>
        <p:nvSpPr>
          <p:cNvPr id="17" name="Shape 15"/>
          <p:cNvSpPr/>
          <p:nvPr/>
        </p:nvSpPr>
        <p:spPr>
          <a:xfrm>
            <a:off x="8083296" y="1344168"/>
            <a:ext cx="1188720" cy="256032"/>
          </a:xfrm>
          <a:prstGeom prst="roundRect">
            <a:avLst>
              <a:gd name="adj" fmla="val 21429"/>
            </a:avLst>
          </a:prstGeom>
          <a:solidFill>
            <a:srgbClr val="F3A012"/>
          </a:solidFill>
          <a:ln w="12700">
            <a:solidFill>
              <a:srgbClr val="F3A012"/>
            </a:solidFill>
            <a:prstDash val="solid"/>
          </a:ln>
        </p:spPr>
      </p:sp>
      <p:sp>
        <p:nvSpPr>
          <p:cNvPr id="18" name="Text 16"/>
          <p:cNvSpPr/>
          <p:nvPr/>
        </p:nvSpPr>
        <p:spPr>
          <a:xfrm>
            <a:off x="8083296" y="1362456"/>
            <a:ext cx="1188720" cy="18288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EXAMPLE</a:t>
            </a:r>
            <a:endParaRPr lang="en-US" sz="920" dirty="0"/>
          </a:p>
        </p:txBody>
      </p:sp>
      <p:sp>
        <p:nvSpPr>
          <p:cNvPr id="19" name="Shape 17"/>
          <p:cNvSpPr/>
          <p:nvPr/>
        </p:nvSpPr>
        <p:spPr>
          <a:xfrm>
            <a:off x="8083296" y="1682496"/>
            <a:ext cx="3602736" cy="1938528"/>
          </a:xfrm>
          <a:prstGeom prst="roundRect">
            <a:avLst>
              <a:gd name="adj" fmla="val 3774"/>
            </a:avLst>
          </a:prstGeom>
          <a:solidFill>
            <a:srgbClr val="FFFFFF"/>
          </a:solidFill>
          <a:ln w="12700">
            <a:solidFill>
              <a:srgbClr val="DDE2E9"/>
            </a:solidFill>
            <a:prstDash val="solid"/>
          </a:ln>
        </p:spPr>
      </p:sp>
      <p:sp>
        <p:nvSpPr>
          <p:cNvPr id="20" name="Text 18"/>
          <p:cNvSpPr/>
          <p:nvPr/>
        </p:nvSpPr>
        <p:spPr>
          <a:xfrm>
            <a:off x="8275320" y="1739508"/>
            <a:ext cx="1417320" cy="201168"/>
          </a:xfrm>
          <a:prstGeom prst="rect">
            <a:avLst/>
          </a:prstGeom>
          <a:noFill/>
          <a:ln/>
        </p:spPr>
        <p:txBody>
          <a:bodyPr wrap="square" lIns="0" tIns="0" rIns="0" bIns="0" rtlCol="0" anchor="t">
            <a:normAutofit/>
          </a:bodyPr>
          <a:lstStyle/>
          <a:p>
            <a:pPr marL="0" indent="0" algn="l">
              <a:buNone/>
            </a:pPr>
            <a:r>
              <a:rPr lang="en-US" sz="1280" b="1" dirty="0">
                <a:solidFill>
                  <a:srgbClr val="162841"/>
                </a:solidFill>
                <a:latin typeface="Aptos" pitchFamily="34" charset="0"/>
                <a:ea typeface="Aptos" pitchFamily="34" charset="-122"/>
                <a:cs typeface="Aptos" pitchFamily="34" charset="-120"/>
              </a:rPr>
              <a:t>Customer score</a:t>
            </a:r>
            <a:endParaRPr lang="en-US" sz="1280" dirty="0"/>
          </a:p>
        </p:txBody>
      </p:sp>
      <p:sp>
        <p:nvSpPr>
          <p:cNvPr id="21" name="Shape 19"/>
          <p:cNvSpPr/>
          <p:nvPr/>
        </p:nvSpPr>
        <p:spPr>
          <a:xfrm>
            <a:off x="8275320" y="2014547"/>
            <a:ext cx="1353312" cy="265176"/>
          </a:xfrm>
          <a:prstGeom prst="rect">
            <a:avLst/>
          </a:prstGeom>
          <a:solidFill>
            <a:srgbClr val="F3A012"/>
          </a:solidFill>
          <a:ln w="8890">
            <a:solidFill>
              <a:srgbClr val="DDE2E9"/>
            </a:solidFill>
            <a:prstDash val="solid"/>
          </a:ln>
        </p:spPr>
      </p:sp>
      <p:sp>
        <p:nvSpPr>
          <p:cNvPr id="22" name="Text 20"/>
          <p:cNvSpPr/>
          <p:nvPr/>
        </p:nvSpPr>
        <p:spPr>
          <a:xfrm>
            <a:off x="8293608" y="2041979"/>
            <a:ext cx="1316736" cy="21945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Original</a:t>
            </a:r>
            <a:endParaRPr lang="en-US" sz="1050" dirty="0"/>
          </a:p>
        </p:txBody>
      </p:sp>
      <p:sp>
        <p:nvSpPr>
          <p:cNvPr id="23" name="Shape 21"/>
          <p:cNvSpPr/>
          <p:nvPr/>
        </p:nvSpPr>
        <p:spPr>
          <a:xfrm>
            <a:off x="9628632" y="2014547"/>
            <a:ext cx="1389888" cy="265176"/>
          </a:xfrm>
          <a:prstGeom prst="rect">
            <a:avLst/>
          </a:prstGeom>
          <a:solidFill>
            <a:srgbClr val="39B272"/>
          </a:solidFill>
          <a:ln w="8890">
            <a:solidFill>
              <a:srgbClr val="DDE2E9"/>
            </a:solidFill>
            <a:prstDash val="solid"/>
          </a:ln>
        </p:spPr>
      </p:sp>
      <p:sp>
        <p:nvSpPr>
          <p:cNvPr id="24" name="Text 22"/>
          <p:cNvSpPr/>
          <p:nvPr/>
        </p:nvSpPr>
        <p:spPr>
          <a:xfrm>
            <a:off x="9646920" y="2041979"/>
            <a:ext cx="1353312" cy="21945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0–1 scaled</a:t>
            </a:r>
            <a:endParaRPr lang="en-US" sz="1050" dirty="0"/>
          </a:p>
        </p:txBody>
      </p:sp>
      <p:sp>
        <p:nvSpPr>
          <p:cNvPr id="25" name="Shape 23"/>
          <p:cNvSpPr/>
          <p:nvPr/>
        </p:nvSpPr>
        <p:spPr>
          <a:xfrm>
            <a:off x="8275320" y="2279723"/>
            <a:ext cx="1353312" cy="265176"/>
          </a:xfrm>
          <a:prstGeom prst="rect">
            <a:avLst/>
          </a:prstGeom>
          <a:solidFill>
            <a:srgbClr val="F8FAFC"/>
          </a:solidFill>
          <a:ln w="8890">
            <a:solidFill>
              <a:srgbClr val="DDE2E9"/>
            </a:solidFill>
            <a:prstDash val="solid"/>
          </a:ln>
        </p:spPr>
      </p:sp>
      <p:sp>
        <p:nvSpPr>
          <p:cNvPr id="26" name="Text 24"/>
          <p:cNvSpPr/>
          <p:nvPr/>
        </p:nvSpPr>
        <p:spPr>
          <a:xfrm>
            <a:off x="8293608" y="2307155"/>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20</a:t>
            </a:r>
            <a:endParaRPr lang="en-US" sz="1050" dirty="0"/>
          </a:p>
        </p:txBody>
      </p:sp>
      <p:sp>
        <p:nvSpPr>
          <p:cNvPr id="27" name="Shape 25"/>
          <p:cNvSpPr/>
          <p:nvPr/>
        </p:nvSpPr>
        <p:spPr>
          <a:xfrm>
            <a:off x="9628632" y="2279723"/>
            <a:ext cx="1389888" cy="265176"/>
          </a:xfrm>
          <a:prstGeom prst="rect">
            <a:avLst/>
          </a:prstGeom>
          <a:solidFill>
            <a:srgbClr val="F8FAFC"/>
          </a:solidFill>
          <a:ln w="8890">
            <a:solidFill>
              <a:srgbClr val="DDE2E9"/>
            </a:solidFill>
            <a:prstDash val="solid"/>
          </a:ln>
        </p:spPr>
      </p:sp>
      <p:sp>
        <p:nvSpPr>
          <p:cNvPr id="28" name="Text 26"/>
          <p:cNvSpPr/>
          <p:nvPr/>
        </p:nvSpPr>
        <p:spPr>
          <a:xfrm>
            <a:off x="9646920" y="2307155"/>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0.00</a:t>
            </a:r>
            <a:endParaRPr lang="en-US" sz="1050" dirty="0"/>
          </a:p>
        </p:txBody>
      </p:sp>
      <p:sp>
        <p:nvSpPr>
          <p:cNvPr id="29" name="Shape 27"/>
          <p:cNvSpPr/>
          <p:nvPr/>
        </p:nvSpPr>
        <p:spPr>
          <a:xfrm>
            <a:off x="8275320" y="2544899"/>
            <a:ext cx="1353312" cy="265176"/>
          </a:xfrm>
          <a:prstGeom prst="rect">
            <a:avLst/>
          </a:prstGeom>
          <a:solidFill>
            <a:srgbClr val="FFFFFF"/>
          </a:solidFill>
          <a:ln w="8890">
            <a:solidFill>
              <a:srgbClr val="DDE2E9"/>
            </a:solidFill>
            <a:prstDash val="solid"/>
          </a:ln>
        </p:spPr>
      </p:sp>
      <p:sp>
        <p:nvSpPr>
          <p:cNvPr id="30" name="Text 28"/>
          <p:cNvSpPr/>
          <p:nvPr/>
        </p:nvSpPr>
        <p:spPr>
          <a:xfrm>
            <a:off x="8293608" y="2572331"/>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40</a:t>
            </a:r>
            <a:endParaRPr lang="en-US" sz="1050" dirty="0"/>
          </a:p>
        </p:txBody>
      </p:sp>
      <p:sp>
        <p:nvSpPr>
          <p:cNvPr id="31" name="Shape 29"/>
          <p:cNvSpPr/>
          <p:nvPr/>
        </p:nvSpPr>
        <p:spPr>
          <a:xfrm>
            <a:off x="9628632" y="2544899"/>
            <a:ext cx="1389888" cy="265176"/>
          </a:xfrm>
          <a:prstGeom prst="rect">
            <a:avLst/>
          </a:prstGeom>
          <a:solidFill>
            <a:srgbClr val="FFFFFF"/>
          </a:solidFill>
          <a:ln w="8890">
            <a:solidFill>
              <a:srgbClr val="DDE2E9"/>
            </a:solidFill>
            <a:prstDash val="solid"/>
          </a:ln>
        </p:spPr>
      </p:sp>
      <p:sp>
        <p:nvSpPr>
          <p:cNvPr id="32" name="Text 30"/>
          <p:cNvSpPr/>
          <p:nvPr/>
        </p:nvSpPr>
        <p:spPr>
          <a:xfrm>
            <a:off x="9646920" y="2572331"/>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0.25</a:t>
            </a:r>
            <a:endParaRPr lang="en-US" sz="1050" dirty="0"/>
          </a:p>
        </p:txBody>
      </p:sp>
      <p:sp>
        <p:nvSpPr>
          <p:cNvPr id="33" name="Shape 31"/>
          <p:cNvSpPr/>
          <p:nvPr/>
        </p:nvSpPr>
        <p:spPr>
          <a:xfrm>
            <a:off x="8275320" y="2810075"/>
            <a:ext cx="1353312" cy="265176"/>
          </a:xfrm>
          <a:prstGeom prst="rect">
            <a:avLst/>
          </a:prstGeom>
          <a:solidFill>
            <a:srgbClr val="F8FAFC"/>
          </a:solidFill>
          <a:ln w="8890">
            <a:solidFill>
              <a:srgbClr val="DDE2E9"/>
            </a:solidFill>
            <a:prstDash val="solid"/>
          </a:ln>
        </p:spPr>
      </p:sp>
      <p:sp>
        <p:nvSpPr>
          <p:cNvPr id="34" name="Text 32"/>
          <p:cNvSpPr/>
          <p:nvPr/>
        </p:nvSpPr>
        <p:spPr>
          <a:xfrm>
            <a:off x="8293608" y="2837507"/>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60</a:t>
            </a:r>
            <a:endParaRPr lang="en-US" sz="1050" dirty="0"/>
          </a:p>
        </p:txBody>
      </p:sp>
      <p:sp>
        <p:nvSpPr>
          <p:cNvPr id="35" name="Shape 33"/>
          <p:cNvSpPr/>
          <p:nvPr/>
        </p:nvSpPr>
        <p:spPr>
          <a:xfrm>
            <a:off x="9628632" y="2810075"/>
            <a:ext cx="1389888" cy="265176"/>
          </a:xfrm>
          <a:prstGeom prst="rect">
            <a:avLst/>
          </a:prstGeom>
          <a:solidFill>
            <a:srgbClr val="F8FAFC"/>
          </a:solidFill>
          <a:ln w="8890">
            <a:solidFill>
              <a:srgbClr val="DDE2E9"/>
            </a:solidFill>
            <a:prstDash val="solid"/>
          </a:ln>
        </p:spPr>
      </p:sp>
      <p:sp>
        <p:nvSpPr>
          <p:cNvPr id="36" name="Text 34"/>
          <p:cNvSpPr/>
          <p:nvPr/>
        </p:nvSpPr>
        <p:spPr>
          <a:xfrm>
            <a:off x="9646920" y="2837507"/>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0.50</a:t>
            </a:r>
            <a:endParaRPr lang="en-US" sz="1050" dirty="0"/>
          </a:p>
        </p:txBody>
      </p:sp>
      <p:sp>
        <p:nvSpPr>
          <p:cNvPr id="37" name="Shape 35"/>
          <p:cNvSpPr/>
          <p:nvPr/>
        </p:nvSpPr>
        <p:spPr>
          <a:xfrm>
            <a:off x="8275320" y="3075251"/>
            <a:ext cx="1353312" cy="265176"/>
          </a:xfrm>
          <a:prstGeom prst="rect">
            <a:avLst/>
          </a:prstGeom>
          <a:solidFill>
            <a:srgbClr val="FFFFFF"/>
          </a:solidFill>
          <a:ln w="8890">
            <a:solidFill>
              <a:srgbClr val="DDE2E9"/>
            </a:solidFill>
            <a:prstDash val="solid"/>
          </a:ln>
        </p:spPr>
      </p:sp>
      <p:sp>
        <p:nvSpPr>
          <p:cNvPr id="38" name="Text 36"/>
          <p:cNvSpPr/>
          <p:nvPr/>
        </p:nvSpPr>
        <p:spPr>
          <a:xfrm>
            <a:off x="8293608" y="3102683"/>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80</a:t>
            </a:r>
            <a:endParaRPr lang="en-US" sz="1050" dirty="0"/>
          </a:p>
        </p:txBody>
      </p:sp>
      <p:sp>
        <p:nvSpPr>
          <p:cNvPr id="39" name="Shape 37"/>
          <p:cNvSpPr/>
          <p:nvPr/>
        </p:nvSpPr>
        <p:spPr>
          <a:xfrm>
            <a:off x="9628632" y="3075251"/>
            <a:ext cx="1389888" cy="265176"/>
          </a:xfrm>
          <a:prstGeom prst="rect">
            <a:avLst/>
          </a:prstGeom>
          <a:solidFill>
            <a:srgbClr val="FFFFFF"/>
          </a:solidFill>
          <a:ln w="8890">
            <a:solidFill>
              <a:srgbClr val="DDE2E9"/>
            </a:solidFill>
            <a:prstDash val="solid"/>
          </a:ln>
        </p:spPr>
      </p:sp>
      <p:sp>
        <p:nvSpPr>
          <p:cNvPr id="40" name="Text 38"/>
          <p:cNvSpPr/>
          <p:nvPr/>
        </p:nvSpPr>
        <p:spPr>
          <a:xfrm>
            <a:off x="9646920" y="3102683"/>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0.75</a:t>
            </a:r>
            <a:endParaRPr lang="en-US" sz="1050" dirty="0"/>
          </a:p>
        </p:txBody>
      </p:sp>
      <p:sp>
        <p:nvSpPr>
          <p:cNvPr id="41" name="Shape 39"/>
          <p:cNvSpPr/>
          <p:nvPr/>
        </p:nvSpPr>
        <p:spPr>
          <a:xfrm>
            <a:off x="8275320" y="3340427"/>
            <a:ext cx="1353312" cy="265176"/>
          </a:xfrm>
          <a:prstGeom prst="rect">
            <a:avLst/>
          </a:prstGeom>
          <a:solidFill>
            <a:srgbClr val="F8FAFC"/>
          </a:solidFill>
          <a:ln w="8890">
            <a:solidFill>
              <a:srgbClr val="DDE2E9"/>
            </a:solidFill>
            <a:prstDash val="solid"/>
          </a:ln>
        </p:spPr>
      </p:sp>
      <p:sp>
        <p:nvSpPr>
          <p:cNvPr id="42" name="Text 40"/>
          <p:cNvSpPr/>
          <p:nvPr/>
        </p:nvSpPr>
        <p:spPr>
          <a:xfrm>
            <a:off x="8293608" y="3367859"/>
            <a:ext cx="1316736"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100</a:t>
            </a:r>
            <a:endParaRPr lang="en-US" sz="1050" dirty="0"/>
          </a:p>
        </p:txBody>
      </p:sp>
      <p:sp>
        <p:nvSpPr>
          <p:cNvPr id="43" name="Shape 41"/>
          <p:cNvSpPr/>
          <p:nvPr/>
        </p:nvSpPr>
        <p:spPr>
          <a:xfrm>
            <a:off x="9628632" y="3340427"/>
            <a:ext cx="1389888" cy="265176"/>
          </a:xfrm>
          <a:prstGeom prst="rect">
            <a:avLst/>
          </a:prstGeom>
          <a:solidFill>
            <a:srgbClr val="F8FAFC"/>
          </a:solidFill>
          <a:ln w="8890">
            <a:solidFill>
              <a:srgbClr val="DDE2E9"/>
            </a:solidFill>
            <a:prstDash val="solid"/>
          </a:ln>
        </p:spPr>
      </p:sp>
      <p:sp>
        <p:nvSpPr>
          <p:cNvPr id="44" name="Text 42"/>
          <p:cNvSpPr/>
          <p:nvPr/>
        </p:nvSpPr>
        <p:spPr>
          <a:xfrm>
            <a:off x="9646920" y="3367859"/>
            <a:ext cx="1353312" cy="219456"/>
          </a:xfrm>
          <a:prstGeom prst="rect">
            <a:avLst/>
          </a:prstGeom>
          <a:noFill/>
          <a:ln/>
        </p:spPr>
        <p:txBody>
          <a:bodyPr wrap="square" lIns="0" tIns="0" rIns="0" bIns="0" rtlCol="0" anchor="ctr">
            <a:normAutofit/>
          </a:bodyPr>
          <a:lstStyle/>
          <a:p>
            <a:pPr marL="0" indent="0" algn="ctr">
              <a:buNone/>
            </a:pPr>
            <a:r>
              <a:rPr lang="en-US" sz="1050" dirty="0">
                <a:solidFill>
                  <a:srgbClr val="606C80"/>
                </a:solidFill>
                <a:latin typeface="Aptos" pitchFamily="34" charset="0"/>
                <a:ea typeface="Aptos" pitchFamily="34" charset="-122"/>
                <a:cs typeface="Aptos" pitchFamily="34" charset="-120"/>
              </a:rPr>
              <a:t>1.00</a:t>
            </a:r>
            <a:endParaRPr lang="en-US" sz="1050" dirty="0"/>
          </a:p>
        </p:txBody>
      </p:sp>
      <p:sp>
        <p:nvSpPr>
          <p:cNvPr id="45" name="Shape 43"/>
          <p:cNvSpPr/>
          <p:nvPr/>
        </p:nvSpPr>
        <p:spPr>
          <a:xfrm>
            <a:off x="502920" y="3913632"/>
            <a:ext cx="5532120" cy="1627632"/>
          </a:xfrm>
          <a:prstGeom prst="roundRect">
            <a:avLst>
              <a:gd name="adj" fmla="val 4494"/>
            </a:avLst>
          </a:prstGeom>
          <a:solidFill>
            <a:srgbClr val="ECF8EC"/>
          </a:solidFill>
          <a:ln w="12700">
            <a:solidFill>
              <a:srgbClr val="39B272"/>
            </a:solidFill>
            <a:prstDash val="solid"/>
          </a:ln>
        </p:spPr>
      </p:sp>
      <p:sp>
        <p:nvSpPr>
          <p:cNvPr id="46" name="Text 44"/>
          <p:cNvSpPr/>
          <p:nvPr/>
        </p:nvSpPr>
        <p:spPr>
          <a:xfrm>
            <a:off x="731520" y="4114800"/>
            <a:ext cx="2286000" cy="256032"/>
          </a:xfrm>
          <a:prstGeom prst="rect">
            <a:avLst/>
          </a:prstGeom>
          <a:noFill/>
          <a:ln/>
        </p:spPr>
        <p:txBody>
          <a:bodyPr wrap="square" lIns="0" tIns="0" rIns="0" bIns="0" rtlCol="0" anchor="t">
            <a:normAutofit fontScale="92500"/>
          </a:bodyPr>
          <a:lstStyle/>
          <a:p>
            <a:pPr marL="0" indent="0" algn="l">
              <a:buNone/>
            </a:pPr>
            <a:r>
              <a:rPr lang="en-US" sz="1520" b="1" dirty="0">
                <a:solidFill>
                  <a:srgbClr val="162841"/>
                </a:solidFill>
                <a:latin typeface="Aptos" pitchFamily="34" charset="0"/>
                <a:ea typeface="Aptos" pitchFamily="34" charset="-122"/>
                <a:cs typeface="Aptos" pitchFamily="34" charset="-120"/>
              </a:rPr>
              <a:t>How to read the new scale</a:t>
            </a:r>
            <a:endParaRPr lang="en-US" sz="1520" dirty="0"/>
          </a:p>
        </p:txBody>
      </p:sp>
      <p:sp>
        <p:nvSpPr>
          <p:cNvPr id="47" name="Shape 45"/>
          <p:cNvSpPr/>
          <p:nvPr/>
        </p:nvSpPr>
        <p:spPr>
          <a:xfrm>
            <a:off x="914400" y="4818888"/>
            <a:ext cx="4498848" cy="0"/>
          </a:xfrm>
          <a:prstGeom prst="line">
            <a:avLst/>
          </a:prstGeom>
          <a:noFill/>
          <a:ln w="27940">
            <a:solidFill>
              <a:srgbClr val="39B272"/>
            </a:solidFill>
            <a:prstDash val="solid"/>
          </a:ln>
        </p:spPr>
      </p:sp>
      <p:sp>
        <p:nvSpPr>
          <p:cNvPr id="48" name="Shape 46"/>
          <p:cNvSpPr/>
          <p:nvPr/>
        </p:nvSpPr>
        <p:spPr>
          <a:xfrm>
            <a:off x="864108" y="4768596"/>
            <a:ext cx="100584" cy="100584"/>
          </a:xfrm>
          <a:prstGeom prst="ellipse">
            <a:avLst/>
          </a:prstGeom>
          <a:solidFill>
            <a:srgbClr val="39B272"/>
          </a:solidFill>
          <a:ln w="12700">
            <a:solidFill>
              <a:srgbClr val="39B272"/>
            </a:solidFill>
            <a:prstDash val="solid"/>
          </a:ln>
        </p:spPr>
      </p:sp>
      <p:sp>
        <p:nvSpPr>
          <p:cNvPr id="49" name="Text 47"/>
          <p:cNvSpPr/>
          <p:nvPr/>
        </p:nvSpPr>
        <p:spPr>
          <a:xfrm>
            <a:off x="731520" y="4956048"/>
            <a:ext cx="365760" cy="201168"/>
          </a:xfrm>
          <a:prstGeom prst="rect">
            <a:avLst/>
          </a:prstGeom>
          <a:noFill/>
          <a:ln/>
        </p:spPr>
        <p:txBody>
          <a:bodyPr wrap="square" lIns="0" tIns="0" rIns="0" bIns="0" rtlCol="0" anchor="t">
            <a:normAutofit/>
          </a:bodyPr>
          <a:lstStyle/>
          <a:p>
            <a:pPr marL="0" indent="0" algn="ctr">
              <a:buNone/>
            </a:pPr>
            <a:r>
              <a:rPr lang="en-US" sz="1020" dirty="0">
                <a:solidFill>
                  <a:srgbClr val="606C80"/>
                </a:solidFill>
                <a:latin typeface="Aptos" pitchFamily="34" charset="0"/>
                <a:ea typeface="Aptos" pitchFamily="34" charset="-122"/>
                <a:cs typeface="Aptos" pitchFamily="34" charset="-120"/>
              </a:rPr>
              <a:t>0</a:t>
            </a:r>
            <a:endParaRPr lang="en-US" sz="1020" dirty="0"/>
          </a:p>
        </p:txBody>
      </p:sp>
      <p:sp>
        <p:nvSpPr>
          <p:cNvPr id="50" name="Shape 48"/>
          <p:cNvSpPr/>
          <p:nvPr/>
        </p:nvSpPr>
        <p:spPr>
          <a:xfrm>
            <a:off x="1988820" y="4768596"/>
            <a:ext cx="100584" cy="100584"/>
          </a:xfrm>
          <a:prstGeom prst="ellipse">
            <a:avLst/>
          </a:prstGeom>
          <a:solidFill>
            <a:srgbClr val="39B272"/>
          </a:solidFill>
          <a:ln w="12700">
            <a:solidFill>
              <a:srgbClr val="39B272"/>
            </a:solidFill>
            <a:prstDash val="solid"/>
          </a:ln>
        </p:spPr>
      </p:sp>
      <p:sp>
        <p:nvSpPr>
          <p:cNvPr id="51" name="Text 49"/>
          <p:cNvSpPr/>
          <p:nvPr/>
        </p:nvSpPr>
        <p:spPr>
          <a:xfrm>
            <a:off x="1856232" y="4956048"/>
            <a:ext cx="365760" cy="201168"/>
          </a:xfrm>
          <a:prstGeom prst="rect">
            <a:avLst/>
          </a:prstGeom>
          <a:noFill/>
          <a:ln/>
        </p:spPr>
        <p:txBody>
          <a:bodyPr wrap="square" lIns="0" tIns="0" rIns="0" bIns="0" rtlCol="0" anchor="t">
            <a:normAutofit/>
          </a:bodyPr>
          <a:lstStyle/>
          <a:p>
            <a:pPr marL="0" indent="0" algn="ctr">
              <a:buNone/>
            </a:pPr>
            <a:r>
              <a:rPr lang="en-US" sz="1020" dirty="0">
                <a:solidFill>
                  <a:srgbClr val="606C80"/>
                </a:solidFill>
                <a:latin typeface="Aptos" pitchFamily="34" charset="0"/>
                <a:ea typeface="Aptos" pitchFamily="34" charset="-122"/>
                <a:cs typeface="Aptos" pitchFamily="34" charset="-120"/>
              </a:rPr>
              <a:t>0.25</a:t>
            </a:r>
            <a:endParaRPr lang="en-US" sz="1020" dirty="0"/>
          </a:p>
        </p:txBody>
      </p:sp>
      <p:sp>
        <p:nvSpPr>
          <p:cNvPr id="52" name="Shape 50"/>
          <p:cNvSpPr/>
          <p:nvPr/>
        </p:nvSpPr>
        <p:spPr>
          <a:xfrm>
            <a:off x="3113532" y="4768596"/>
            <a:ext cx="100584" cy="100584"/>
          </a:xfrm>
          <a:prstGeom prst="ellipse">
            <a:avLst/>
          </a:prstGeom>
          <a:solidFill>
            <a:srgbClr val="39B272"/>
          </a:solidFill>
          <a:ln w="12700">
            <a:solidFill>
              <a:srgbClr val="39B272"/>
            </a:solidFill>
            <a:prstDash val="solid"/>
          </a:ln>
        </p:spPr>
      </p:sp>
      <p:sp>
        <p:nvSpPr>
          <p:cNvPr id="53" name="Text 51"/>
          <p:cNvSpPr/>
          <p:nvPr/>
        </p:nvSpPr>
        <p:spPr>
          <a:xfrm>
            <a:off x="2980944" y="4956048"/>
            <a:ext cx="365760" cy="201168"/>
          </a:xfrm>
          <a:prstGeom prst="rect">
            <a:avLst/>
          </a:prstGeom>
          <a:noFill/>
          <a:ln/>
        </p:spPr>
        <p:txBody>
          <a:bodyPr wrap="square" lIns="0" tIns="0" rIns="0" bIns="0" rtlCol="0" anchor="t">
            <a:normAutofit/>
          </a:bodyPr>
          <a:lstStyle/>
          <a:p>
            <a:pPr marL="0" indent="0" algn="ctr">
              <a:buNone/>
            </a:pPr>
            <a:r>
              <a:rPr lang="en-US" sz="1020" dirty="0">
                <a:solidFill>
                  <a:srgbClr val="606C80"/>
                </a:solidFill>
                <a:latin typeface="Aptos" pitchFamily="34" charset="0"/>
                <a:ea typeface="Aptos" pitchFamily="34" charset="-122"/>
                <a:cs typeface="Aptos" pitchFamily="34" charset="-120"/>
              </a:rPr>
              <a:t>0.50</a:t>
            </a:r>
            <a:endParaRPr lang="en-US" sz="1020" dirty="0"/>
          </a:p>
        </p:txBody>
      </p:sp>
      <p:sp>
        <p:nvSpPr>
          <p:cNvPr id="54" name="Shape 52"/>
          <p:cNvSpPr/>
          <p:nvPr/>
        </p:nvSpPr>
        <p:spPr>
          <a:xfrm>
            <a:off x="4238244" y="4768596"/>
            <a:ext cx="100584" cy="100584"/>
          </a:xfrm>
          <a:prstGeom prst="ellipse">
            <a:avLst/>
          </a:prstGeom>
          <a:solidFill>
            <a:srgbClr val="39B272"/>
          </a:solidFill>
          <a:ln w="12700">
            <a:solidFill>
              <a:srgbClr val="39B272"/>
            </a:solidFill>
            <a:prstDash val="solid"/>
          </a:ln>
        </p:spPr>
      </p:sp>
      <p:sp>
        <p:nvSpPr>
          <p:cNvPr id="55" name="Text 53"/>
          <p:cNvSpPr/>
          <p:nvPr/>
        </p:nvSpPr>
        <p:spPr>
          <a:xfrm>
            <a:off x="4105656" y="4956048"/>
            <a:ext cx="365760" cy="201168"/>
          </a:xfrm>
          <a:prstGeom prst="rect">
            <a:avLst/>
          </a:prstGeom>
          <a:noFill/>
          <a:ln/>
        </p:spPr>
        <p:txBody>
          <a:bodyPr wrap="square" lIns="0" tIns="0" rIns="0" bIns="0" rtlCol="0" anchor="t">
            <a:normAutofit/>
          </a:bodyPr>
          <a:lstStyle/>
          <a:p>
            <a:pPr marL="0" indent="0" algn="ctr">
              <a:buNone/>
            </a:pPr>
            <a:r>
              <a:rPr lang="en-US" sz="1020" dirty="0">
                <a:solidFill>
                  <a:srgbClr val="606C80"/>
                </a:solidFill>
                <a:latin typeface="Aptos" pitchFamily="34" charset="0"/>
                <a:ea typeface="Aptos" pitchFamily="34" charset="-122"/>
                <a:cs typeface="Aptos" pitchFamily="34" charset="-120"/>
              </a:rPr>
              <a:t>0.75</a:t>
            </a:r>
            <a:endParaRPr lang="en-US" sz="1020" dirty="0"/>
          </a:p>
        </p:txBody>
      </p:sp>
      <p:sp>
        <p:nvSpPr>
          <p:cNvPr id="56" name="Shape 54"/>
          <p:cNvSpPr/>
          <p:nvPr/>
        </p:nvSpPr>
        <p:spPr>
          <a:xfrm>
            <a:off x="5362956" y="4768596"/>
            <a:ext cx="100584" cy="100584"/>
          </a:xfrm>
          <a:prstGeom prst="ellipse">
            <a:avLst/>
          </a:prstGeom>
          <a:solidFill>
            <a:srgbClr val="39B272"/>
          </a:solidFill>
          <a:ln w="12700">
            <a:solidFill>
              <a:srgbClr val="39B272"/>
            </a:solidFill>
            <a:prstDash val="solid"/>
          </a:ln>
        </p:spPr>
      </p:sp>
      <p:sp>
        <p:nvSpPr>
          <p:cNvPr id="57" name="Text 55"/>
          <p:cNvSpPr/>
          <p:nvPr/>
        </p:nvSpPr>
        <p:spPr>
          <a:xfrm>
            <a:off x="5230368" y="4956048"/>
            <a:ext cx="365760" cy="201168"/>
          </a:xfrm>
          <a:prstGeom prst="rect">
            <a:avLst/>
          </a:prstGeom>
          <a:noFill/>
          <a:ln/>
        </p:spPr>
        <p:txBody>
          <a:bodyPr wrap="square" lIns="0" tIns="0" rIns="0" bIns="0" rtlCol="0" anchor="t">
            <a:normAutofit/>
          </a:bodyPr>
          <a:lstStyle/>
          <a:p>
            <a:pPr marL="0" indent="0" algn="ctr">
              <a:buNone/>
            </a:pPr>
            <a:r>
              <a:rPr lang="en-US" sz="1020" dirty="0">
                <a:solidFill>
                  <a:srgbClr val="606C80"/>
                </a:solidFill>
                <a:latin typeface="Aptos" pitchFamily="34" charset="0"/>
                <a:ea typeface="Aptos" pitchFamily="34" charset="-122"/>
                <a:cs typeface="Aptos" pitchFamily="34" charset="-120"/>
              </a:rPr>
              <a:t>1</a:t>
            </a:r>
            <a:endParaRPr lang="en-US" sz="1020" dirty="0"/>
          </a:p>
        </p:txBody>
      </p:sp>
      <p:sp>
        <p:nvSpPr>
          <p:cNvPr id="58" name="Text 56"/>
          <p:cNvSpPr/>
          <p:nvPr/>
        </p:nvSpPr>
        <p:spPr>
          <a:xfrm>
            <a:off x="758952" y="5193792"/>
            <a:ext cx="713232" cy="182880"/>
          </a:xfrm>
          <a:prstGeom prst="rect">
            <a:avLst/>
          </a:prstGeom>
          <a:noFill/>
          <a:ln/>
        </p:spPr>
        <p:txBody>
          <a:bodyPr wrap="square" lIns="0" tIns="0" rIns="0" bIns="0" rtlCol="0" anchor="t">
            <a:normAutofit/>
          </a:bodyPr>
          <a:lstStyle/>
          <a:p>
            <a:pPr marL="0" indent="0" algn="ctr">
              <a:buNone/>
            </a:pPr>
            <a:r>
              <a:rPr lang="en-US" sz="960" dirty="0">
                <a:solidFill>
                  <a:srgbClr val="7A8797"/>
                </a:solidFill>
                <a:latin typeface="Aptos" pitchFamily="34" charset="0"/>
                <a:ea typeface="Aptos" pitchFamily="34" charset="-122"/>
                <a:cs typeface="Aptos" pitchFamily="34" charset="-120"/>
              </a:rPr>
              <a:t>minimum</a:t>
            </a:r>
            <a:endParaRPr lang="en-US" sz="960" dirty="0"/>
          </a:p>
        </p:txBody>
      </p:sp>
      <p:sp>
        <p:nvSpPr>
          <p:cNvPr id="59" name="Text 57"/>
          <p:cNvSpPr/>
          <p:nvPr/>
        </p:nvSpPr>
        <p:spPr>
          <a:xfrm>
            <a:off x="5029200" y="5193792"/>
            <a:ext cx="713232" cy="182880"/>
          </a:xfrm>
          <a:prstGeom prst="rect">
            <a:avLst/>
          </a:prstGeom>
          <a:noFill/>
          <a:ln/>
        </p:spPr>
        <p:txBody>
          <a:bodyPr wrap="square" lIns="0" tIns="0" rIns="0" bIns="0" rtlCol="0" anchor="t">
            <a:normAutofit/>
          </a:bodyPr>
          <a:lstStyle/>
          <a:p>
            <a:pPr marL="0" indent="0" algn="ctr">
              <a:buNone/>
            </a:pPr>
            <a:r>
              <a:rPr lang="en-US" sz="960" dirty="0">
                <a:solidFill>
                  <a:srgbClr val="7A8797"/>
                </a:solidFill>
                <a:latin typeface="Aptos" pitchFamily="34" charset="0"/>
                <a:ea typeface="Aptos" pitchFamily="34" charset="-122"/>
                <a:cs typeface="Aptos" pitchFamily="34" charset="-120"/>
              </a:rPr>
              <a:t>maximum</a:t>
            </a:r>
            <a:endParaRPr lang="en-US" sz="960" dirty="0"/>
          </a:p>
        </p:txBody>
      </p:sp>
      <p:sp>
        <p:nvSpPr>
          <p:cNvPr id="60" name="Shape 58"/>
          <p:cNvSpPr/>
          <p:nvPr/>
        </p:nvSpPr>
        <p:spPr>
          <a:xfrm>
            <a:off x="6272784" y="3913632"/>
            <a:ext cx="5413248" cy="1627632"/>
          </a:xfrm>
          <a:prstGeom prst="roundRect">
            <a:avLst>
              <a:gd name="adj" fmla="val 4494"/>
            </a:avLst>
          </a:prstGeom>
          <a:solidFill>
            <a:srgbClr val="FCECEC"/>
          </a:solidFill>
          <a:ln w="12700">
            <a:solidFill>
              <a:srgbClr val="E35454"/>
            </a:solidFill>
            <a:prstDash val="solid"/>
          </a:ln>
        </p:spPr>
      </p:sp>
      <p:sp>
        <p:nvSpPr>
          <p:cNvPr id="61" name="Text 59"/>
          <p:cNvSpPr/>
          <p:nvPr/>
        </p:nvSpPr>
        <p:spPr>
          <a:xfrm>
            <a:off x="6492240" y="4114800"/>
            <a:ext cx="2011680" cy="256032"/>
          </a:xfrm>
          <a:prstGeom prst="rect">
            <a:avLst/>
          </a:prstGeom>
          <a:noFill/>
          <a:ln/>
        </p:spPr>
        <p:txBody>
          <a:bodyPr wrap="square" lIns="0" tIns="0" rIns="0" bIns="0" rtlCol="0" anchor="t">
            <a:normAutofit/>
          </a:bodyPr>
          <a:lstStyle/>
          <a:p>
            <a:pPr marL="0" indent="0" algn="l">
              <a:buNone/>
            </a:pPr>
            <a:r>
              <a:rPr lang="en-US" sz="1520" b="1" dirty="0">
                <a:solidFill>
                  <a:srgbClr val="162841"/>
                </a:solidFill>
                <a:latin typeface="Aptos" pitchFamily="34" charset="0"/>
                <a:ea typeface="Aptos" pitchFamily="34" charset="-122"/>
                <a:cs typeface="Aptos" pitchFamily="34" charset="-120"/>
              </a:rPr>
              <a:t>Watch out for outliers</a:t>
            </a:r>
            <a:endParaRPr lang="en-US" sz="1520" dirty="0"/>
          </a:p>
        </p:txBody>
      </p:sp>
      <p:sp>
        <p:nvSpPr>
          <p:cNvPr id="62" name="Text 60"/>
          <p:cNvSpPr/>
          <p:nvPr/>
        </p:nvSpPr>
        <p:spPr>
          <a:xfrm>
            <a:off x="6492240" y="4453128"/>
            <a:ext cx="4892040" cy="749808"/>
          </a:xfrm>
          <a:prstGeom prst="rect">
            <a:avLst/>
          </a:prstGeom>
          <a:noFill/>
          <a:ln/>
        </p:spPr>
        <p:txBody>
          <a:bodyPr wrap="square" lIns="0" tIns="0" rIns="0" bIns="0" rtlCol="0" anchor="t">
            <a:normAutofit/>
          </a:bodyPr>
          <a:lstStyle/>
          <a:p>
            <a:pPr marL="0" indent="0" algn="l">
              <a:buNone/>
            </a:pPr>
            <a:r>
              <a:rPr lang="en-US" sz="1220" dirty="0">
                <a:solidFill>
                  <a:srgbClr val="606C80"/>
                </a:solidFill>
                <a:latin typeface="Aptos" pitchFamily="34" charset="0"/>
                <a:ea typeface="Aptos" pitchFamily="34" charset="-122"/>
                <a:cs typeface="Aptos" pitchFamily="34" charset="-120"/>
              </a:rPr>
              <a:t>Min–Max normalisation is highly sensitive to extreme minimum or maximum values. One outlier can compress most observations into a very narrow part of the 0–1 interval.</a:t>
            </a:r>
            <a:endParaRPr lang="en-US" sz="1220" dirty="0"/>
          </a:p>
        </p:txBody>
      </p:sp>
      <p:sp>
        <p:nvSpPr>
          <p:cNvPr id="63" name="Shape 61"/>
          <p:cNvSpPr/>
          <p:nvPr/>
        </p:nvSpPr>
        <p:spPr>
          <a:xfrm>
            <a:off x="1938528" y="5760720"/>
            <a:ext cx="8321040" cy="475488"/>
          </a:xfrm>
          <a:prstGeom prst="roundRect">
            <a:avLst>
              <a:gd name="adj" fmla="val 15385"/>
            </a:avLst>
          </a:prstGeom>
          <a:solidFill>
            <a:srgbClr val="FFFFFF"/>
          </a:solidFill>
          <a:ln w="12700">
            <a:solidFill>
              <a:srgbClr val="80C7E8"/>
            </a:solidFill>
            <a:prstDash val="solid"/>
          </a:ln>
        </p:spPr>
      </p:sp>
      <p:sp>
        <p:nvSpPr>
          <p:cNvPr id="64" name="Text 62"/>
          <p:cNvSpPr/>
          <p:nvPr/>
        </p:nvSpPr>
        <p:spPr>
          <a:xfrm>
            <a:off x="2121408" y="5888736"/>
            <a:ext cx="7955280" cy="201168"/>
          </a:xfrm>
          <a:prstGeom prst="rect">
            <a:avLst/>
          </a:prstGeom>
          <a:noFill/>
          <a:ln/>
        </p:spPr>
        <p:txBody>
          <a:bodyPr wrap="square" lIns="0" tIns="0" rIns="0" bIns="0" rtlCol="0" anchor="t">
            <a:normAutofit fontScale="92500"/>
          </a:bodyPr>
          <a:lstStyle/>
          <a:p>
            <a:pPr marL="0" indent="0" algn="ctr">
              <a:buNone/>
            </a:pPr>
            <a:r>
              <a:rPr lang="en-US" sz="1280" dirty="0">
                <a:solidFill>
                  <a:srgbClr val="162841"/>
                </a:solidFill>
                <a:latin typeface="Aptos" pitchFamily="34" charset="0"/>
                <a:ea typeface="Aptos" pitchFamily="34" charset="-122"/>
                <a:cs typeface="Aptos" pitchFamily="34" charset="-120"/>
              </a:rPr>
              <a:t>Takeaway: normalisation maps values to a chosen range; standardisation centres and scales them around the mean.</a:t>
            </a:r>
            <a:endParaRPr lang="en-US" sz="1280" dirty="0"/>
          </a:p>
        </p:txBody>
      </p:sp>
      <p:sp>
        <p:nvSpPr>
          <p:cNvPr id="67" name="Text 0">
            <a:extLst>
              <a:ext uri="{FF2B5EF4-FFF2-40B4-BE49-F238E27FC236}">
                <a16:creationId xmlns:a16="http://schemas.microsoft.com/office/drawing/2014/main" id="{5C47BAE4-F711-EC69-5FC5-23CA4EAE84D0}"/>
              </a:ext>
            </a:extLst>
          </p:cNvPr>
          <p:cNvSpPr/>
          <p:nvPr/>
        </p:nvSpPr>
        <p:spPr>
          <a:xfrm>
            <a:off x="297988" y="176605"/>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69" name="Slide Number Placeholder 0">
            <a:extLst>
              <a:ext uri="{FF2B5EF4-FFF2-40B4-BE49-F238E27FC236}">
                <a16:creationId xmlns:a16="http://schemas.microsoft.com/office/drawing/2014/main" id="{2C5802E7-29C6-F139-50B4-0357A33498B7}"/>
              </a:ext>
            </a:extLst>
          </p:cNvPr>
          <p:cNvSpPr txBox="1">
            <a:spLocks/>
          </p:cNvSpPr>
          <p:nvPr/>
        </p:nvSpPr>
        <p:spPr>
          <a:xfrm>
            <a:off x="11475720" y="6473952"/>
            <a:ext cx="411480" cy="201168"/>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6B728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Scatter plot: the essential chart for relationships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Every point is one observation positioned by two numeric variables.</a:t>
            </a:r>
            <a:endParaRPr lang="en-US" sz="1300" dirty="0"/>
          </a:p>
        </p:txBody>
      </p:sp>
      <p:sp>
        <p:nvSpPr>
          <p:cNvPr id="7" name="Shape 5"/>
          <p:cNvSpPr/>
          <p:nvPr/>
        </p:nvSpPr>
        <p:spPr>
          <a:xfrm>
            <a:off x="859536" y="4983480"/>
            <a:ext cx="5532120" cy="0"/>
          </a:xfrm>
          <a:prstGeom prst="line">
            <a:avLst/>
          </a:prstGeom>
          <a:noFill/>
          <a:ln w="12700">
            <a:solidFill>
              <a:srgbClr val="AEB8C5"/>
            </a:solidFill>
            <a:prstDash val="solid"/>
          </a:ln>
        </p:spPr>
      </p:sp>
      <p:sp>
        <p:nvSpPr>
          <p:cNvPr id="8" name="Shape 6"/>
          <p:cNvSpPr/>
          <p:nvPr/>
        </p:nvSpPr>
        <p:spPr>
          <a:xfrm>
            <a:off x="859536" y="1600200"/>
            <a:ext cx="0" cy="3383280"/>
          </a:xfrm>
          <a:prstGeom prst="line">
            <a:avLst/>
          </a:prstGeom>
          <a:noFill/>
          <a:ln w="12700">
            <a:solidFill>
              <a:srgbClr val="AEB8C5"/>
            </a:solidFill>
            <a:prstDash val="solid"/>
          </a:ln>
        </p:spPr>
      </p:sp>
      <p:sp>
        <p:nvSpPr>
          <p:cNvPr id="9" name="Text 7"/>
          <p:cNvSpPr/>
          <p:nvPr/>
        </p:nvSpPr>
        <p:spPr>
          <a:xfrm>
            <a:off x="859536" y="1325880"/>
            <a:ext cx="5532120" cy="201168"/>
          </a:xfrm>
          <a:prstGeom prst="rect">
            <a:avLst/>
          </a:prstGeom>
          <a:noFill/>
          <a:ln/>
        </p:spPr>
        <p:txBody>
          <a:bodyPr wrap="square" lIns="0" tIns="0" rIns="0" bIns="0" rtlCol="0" anchor="ctr"/>
          <a:lstStyle/>
          <a:p>
            <a:pPr marL="0" indent="0" algn="ctr">
              <a:buNone/>
            </a:pPr>
            <a:r>
              <a:rPr lang="en-US" sz="1000" b="1" dirty="0">
                <a:solidFill>
                  <a:srgbClr val="0B1F33"/>
                </a:solidFill>
              </a:rPr>
              <a:t>Income vs Balance</a:t>
            </a:r>
            <a:endParaRPr lang="en-US" sz="1000" dirty="0"/>
          </a:p>
        </p:txBody>
      </p:sp>
      <p:sp>
        <p:nvSpPr>
          <p:cNvPr id="10" name="Shape 8"/>
          <p:cNvSpPr/>
          <p:nvPr/>
        </p:nvSpPr>
        <p:spPr>
          <a:xfrm>
            <a:off x="1270102" y="4545482"/>
            <a:ext cx="64008" cy="64008"/>
          </a:xfrm>
          <a:prstGeom prst="ellipse">
            <a:avLst/>
          </a:prstGeom>
          <a:solidFill>
            <a:srgbClr val="009E9A"/>
          </a:solidFill>
          <a:ln w="12700">
            <a:solidFill>
              <a:srgbClr val="009E9A"/>
            </a:solidFill>
            <a:prstDash val="solid"/>
          </a:ln>
        </p:spPr>
      </p:sp>
      <p:sp>
        <p:nvSpPr>
          <p:cNvPr id="11" name="Shape 9"/>
          <p:cNvSpPr/>
          <p:nvPr/>
        </p:nvSpPr>
        <p:spPr>
          <a:xfrm>
            <a:off x="1491386" y="4477817"/>
            <a:ext cx="64008" cy="64008"/>
          </a:xfrm>
          <a:prstGeom prst="ellipse">
            <a:avLst/>
          </a:prstGeom>
          <a:solidFill>
            <a:srgbClr val="009E9A"/>
          </a:solidFill>
          <a:ln w="12700">
            <a:solidFill>
              <a:srgbClr val="009E9A"/>
            </a:solidFill>
            <a:prstDash val="solid"/>
          </a:ln>
        </p:spPr>
      </p:sp>
      <p:sp>
        <p:nvSpPr>
          <p:cNvPr id="12" name="Shape 10"/>
          <p:cNvSpPr/>
          <p:nvPr/>
        </p:nvSpPr>
        <p:spPr>
          <a:xfrm>
            <a:off x="1933956" y="4274820"/>
            <a:ext cx="64008" cy="64008"/>
          </a:xfrm>
          <a:prstGeom prst="ellipse">
            <a:avLst/>
          </a:prstGeom>
          <a:solidFill>
            <a:srgbClr val="009E9A"/>
          </a:solidFill>
          <a:ln w="12700">
            <a:solidFill>
              <a:srgbClr val="009E9A"/>
            </a:solidFill>
            <a:prstDash val="solid"/>
          </a:ln>
        </p:spPr>
      </p:sp>
      <p:sp>
        <p:nvSpPr>
          <p:cNvPr id="13" name="Shape 11"/>
          <p:cNvSpPr/>
          <p:nvPr/>
        </p:nvSpPr>
        <p:spPr>
          <a:xfrm>
            <a:off x="2210562" y="4139489"/>
            <a:ext cx="64008" cy="64008"/>
          </a:xfrm>
          <a:prstGeom prst="ellipse">
            <a:avLst/>
          </a:prstGeom>
          <a:solidFill>
            <a:srgbClr val="009E9A"/>
          </a:solidFill>
          <a:ln w="12700">
            <a:solidFill>
              <a:srgbClr val="009E9A"/>
            </a:solidFill>
            <a:prstDash val="solid"/>
          </a:ln>
        </p:spPr>
      </p:sp>
      <p:sp>
        <p:nvSpPr>
          <p:cNvPr id="14" name="Shape 12"/>
          <p:cNvSpPr/>
          <p:nvPr/>
        </p:nvSpPr>
        <p:spPr>
          <a:xfrm>
            <a:off x="2542489" y="3767328"/>
            <a:ext cx="64008" cy="64008"/>
          </a:xfrm>
          <a:prstGeom prst="ellipse">
            <a:avLst/>
          </a:prstGeom>
          <a:solidFill>
            <a:srgbClr val="009E9A"/>
          </a:solidFill>
          <a:ln w="12700">
            <a:solidFill>
              <a:srgbClr val="009E9A"/>
            </a:solidFill>
            <a:prstDash val="solid"/>
          </a:ln>
        </p:spPr>
      </p:sp>
      <p:sp>
        <p:nvSpPr>
          <p:cNvPr id="15" name="Shape 13"/>
          <p:cNvSpPr/>
          <p:nvPr/>
        </p:nvSpPr>
        <p:spPr>
          <a:xfrm>
            <a:off x="2929738" y="3868826"/>
            <a:ext cx="64008" cy="64008"/>
          </a:xfrm>
          <a:prstGeom prst="ellipse">
            <a:avLst/>
          </a:prstGeom>
          <a:solidFill>
            <a:srgbClr val="009E9A"/>
          </a:solidFill>
          <a:ln w="12700">
            <a:solidFill>
              <a:srgbClr val="009E9A"/>
            </a:solidFill>
            <a:prstDash val="solid"/>
          </a:ln>
        </p:spPr>
      </p:sp>
      <p:sp>
        <p:nvSpPr>
          <p:cNvPr id="16" name="Shape 14"/>
          <p:cNvSpPr/>
          <p:nvPr/>
        </p:nvSpPr>
        <p:spPr>
          <a:xfrm>
            <a:off x="3372307" y="3327502"/>
            <a:ext cx="64008" cy="64008"/>
          </a:xfrm>
          <a:prstGeom prst="ellipse">
            <a:avLst/>
          </a:prstGeom>
          <a:solidFill>
            <a:srgbClr val="009E9A"/>
          </a:solidFill>
          <a:ln w="12700">
            <a:solidFill>
              <a:srgbClr val="009E9A"/>
            </a:solidFill>
            <a:prstDash val="solid"/>
          </a:ln>
        </p:spPr>
      </p:sp>
      <p:sp>
        <p:nvSpPr>
          <p:cNvPr id="17" name="Shape 15"/>
          <p:cNvSpPr/>
          <p:nvPr/>
        </p:nvSpPr>
        <p:spPr>
          <a:xfrm>
            <a:off x="3704234" y="3259836"/>
            <a:ext cx="64008" cy="64008"/>
          </a:xfrm>
          <a:prstGeom prst="ellipse">
            <a:avLst/>
          </a:prstGeom>
          <a:solidFill>
            <a:srgbClr val="009E9A"/>
          </a:solidFill>
          <a:ln w="12700">
            <a:solidFill>
              <a:srgbClr val="009E9A"/>
            </a:solidFill>
            <a:prstDash val="solid"/>
          </a:ln>
        </p:spPr>
      </p:sp>
      <p:sp>
        <p:nvSpPr>
          <p:cNvPr id="18" name="Shape 16"/>
          <p:cNvSpPr/>
          <p:nvPr/>
        </p:nvSpPr>
        <p:spPr>
          <a:xfrm>
            <a:off x="4146804" y="3056839"/>
            <a:ext cx="64008" cy="64008"/>
          </a:xfrm>
          <a:prstGeom prst="ellipse">
            <a:avLst/>
          </a:prstGeom>
          <a:solidFill>
            <a:srgbClr val="009E9A"/>
          </a:solidFill>
          <a:ln w="12700">
            <a:solidFill>
              <a:srgbClr val="009E9A"/>
            </a:solidFill>
            <a:prstDash val="solid"/>
          </a:ln>
        </p:spPr>
      </p:sp>
      <p:sp>
        <p:nvSpPr>
          <p:cNvPr id="19" name="Shape 17"/>
          <p:cNvSpPr/>
          <p:nvPr/>
        </p:nvSpPr>
        <p:spPr>
          <a:xfrm>
            <a:off x="4644695" y="2786177"/>
            <a:ext cx="64008" cy="64008"/>
          </a:xfrm>
          <a:prstGeom prst="ellipse">
            <a:avLst/>
          </a:prstGeom>
          <a:solidFill>
            <a:srgbClr val="009E9A"/>
          </a:solidFill>
          <a:ln w="12700">
            <a:solidFill>
              <a:srgbClr val="009E9A"/>
            </a:solidFill>
            <a:prstDash val="solid"/>
          </a:ln>
        </p:spPr>
      </p:sp>
      <p:sp>
        <p:nvSpPr>
          <p:cNvPr id="20" name="Shape 18"/>
          <p:cNvSpPr/>
          <p:nvPr/>
        </p:nvSpPr>
        <p:spPr>
          <a:xfrm>
            <a:off x="5087264" y="2583180"/>
            <a:ext cx="64008" cy="64008"/>
          </a:xfrm>
          <a:prstGeom prst="ellipse">
            <a:avLst/>
          </a:prstGeom>
          <a:solidFill>
            <a:srgbClr val="009E9A"/>
          </a:solidFill>
          <a:ln w="12700">
            <a:solidFill>
              <a:srgbClr val="009E9A"/>
            </a:solidFill>
            <a:prstDash val="solid"/>
          </a:ln>
        </p:spPr>
      </p:sp>
      <p:sp>
        <p:nvSpPr>
          <p:cNvPr id="21" name="Shape 19"/>
          <p:cNvSpPr/>
          <p:nvPr/>
        </p:nvSpPr>
        <p:spPr>
          <a:xfrm>
            <a:off x="5474513" y="2312518"/>
            <a:ext cx="64008" cy="64008"/>
          </a:xfrm>
          <a:prstGeom prst="ellipse">
            <a:avLst/>
          </a:prstGeom>
          <a:solidFill>
            <a:srgbClr val="009E9A"/>
          </a:solidFill>
          <a:ln w="12700">
            <a:solidFill>
              <a:srgbClr val="009E9A"/>
            </a:solidFill>
            <a:prstDash val="solid"/>
          </a:ln>
        </p:spPr>
      </p:sp>
      <p:sp>
        <p:nvSpPr>
          <p:cNvPr id="22" name="Shape 20"/>
          <p:cNvSpPr/>
          <p:nvPr/>
        </p:nvSpPr>
        <p:spPr>
          <a:xfrm>
            <a:off x="5806440" y="2008022"/>
            <a:ext cx="64008" cy="64008"/>
          </a:xfrm>
          <a:prstGeom prst="ellipse">
            <a:avLst/>
          </a:prstGeom>
          <a:solidFill>
            <a:srgbClr val="009E9A"/>
          </a:solidFill>
          <a:ln w="12700">
            <a:solidFill>
              <a:srgbClr val="009E9A"/>
            </a:solidFill>
            <a:prstDash val="solid"/>
          </a:ln>
        </p:spPr>
      </p:sp>
      <p:sp>
        <p:nvSpPr>
          <p:cNvPr id="23" name="Shape 21"/>
          <p:cNvSpPr/>
          <p:nvPr/>
        </p:nvSpPr>
        <p:spPr>
          <a:xfrm>
            <a:off x="6931152" y="1600200"/>
            <a:ext cx="4096512" cy="1033272"/>
          </a:xfrm>
          <a:prstGeom prst="roundRect">
            <a:avLst>
              <a:gd name="adj" fmla="val 7080"/>
            </a:avLst>
          </a:prstGeom>
          <a:solidFill>
            <a:srgbClr val="EAF1FF"/>
          </a:solidFill>
          <a:ln w="10160">
            <a:solidFill>
              <a:srgbClr val="E9EEF5"/>
            </a:solidFill>
            <a:prstDash val="solid"/>
          </a:ln>
        </p:spPr>
      </p:sp>
      <p:sp>
        <p:nvSpPr>
          <p:cNvPr id="24" name="Text 22"/>
          <p:cNvSpPr/>
          <p:nvPr/>
        </p:nvSpPr>
        <p:spPr>
          <a:xfrm>
            <a:off x="7095744" y="1737360"/>
            <a:ext cx="376732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Look for</a:t>
            </a:r>
            <a:endParaRPr lang="en-US" sz="1500" dirty="0"/>
          </a:p>
        </p:txBody>
      </p:sp>
      <p:sp>
        <p:nvSpPr>
          <p:cNvPr id="25" name="Text 23"/>
          <p:cNvSpPr/>
          <p:nvPr/>
        </p:nvSpPr>
        <p:spPr>
          <a:xfrm>
            <a:off x="7095744" y="2075688"/>
            <a:ext cx="3767328"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Direction · strength · curvature · groups · isolated points.</a:t>
            </a:r>
            <a:endParaRPr lang="en-US" sz="1150" dirty="0"/>
          </a:p>
        </p:txBody>
      </p:sp>
      <p:sp>
        <p:nvSpPr>
          <p:cNvPr id="26" name="Shape 24"/>
          <p:cNvSpPr/>
          <p:nvPr/>
        </p:nvSpPr>
        <p:spPr>
          <a:xfrm>
            <a:off x="6931152" y="2807208"/>
            <a:ext cx="4096512" cy="1033272"/>
          </a:xfrm>
          <a:prstGeom prst="roundRect">
            <a:avLst>
              <a:gd name="adj" fmla="val 7080"/>
            </a:avLst>
          </a:prstGeom>
          <a:solidFill>
            <a:srgbClr val="F1EDFF"/>
          </a:solidFill>
          <a:ln w="10160">
            <a:solidFill>
              <a:srgbClr val="E9EEF5"/>
            </a:solidFill>
            <a:prstDash val="solid"/>
          </a:ln>
        </p:spPr>
      </p:sp>
      <p:sp>
        <p:nvSpPr>
          <p:cNvPr id="27" name="Text 25"/>
          <p:cNvSpPr/>
          <p:nvPr/>
        </p:nvSpPr>
        <p:spPr>
          <a:xfrm>
            <a:off x="7095744" y="2944368"/>
            <a:ext cx="376732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Add meaning</a:t>
            </a:r>
            <a:endParaRPr lang="en-US" sz="1500" dirty="0"/>
          </a:p>
        </p:txBody>
      </p:sp>
      <p:sp>
        <p:nvSpPr>
          <p:cNvPr id="28" name="Text 26"/>
          <p:cNvSpPr/>
          <p:nvPr/>
        </p:nvSpPr>
        <p:spPr>
          <a:xfrm>
            <a:off x="7095744" y="3282696"/>
            <a:ext cx="3767328"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Colour points by segment or branch; use labels only for key exceptions.</a:t>
            </a:r>
            <a:endParaRPr lang="en-US" sz="1150" dirty="0"/>
          </a:p>
        </p:txBody>
      </p:sp>
      <p:sp>
        <p:nvSpPr>
          <p:cNvPr id="29" name="Shape 27"/>
          <p:cNvSpPr/>
          <p:nvPr/>
        </p:nvSpPr>
        <p:spPr>
          <a:xfrm>
            <a:off x="6931152" y="4014216"/>
            <a:ext cx="4096512" cy="1033272"/>
          </a:xfrm>
          <a:prstGeom prst="roundRect">
            <a:avLst>
              <a:gd name="adj" fmla="val 7080"/>
            </a:avLst>
          </a:prstGeom>
          <a:solidFill>
            <a:srgbClr val="E6F7F5"/>
          </a:solidFill>
          <a:ln w="10160">
            <a:solidFill>
              <a:srgbClr val="E9EEF5"/>
            </a:solidFill>
            <a:prstDash val="solid"/>
          </a:ln>
        </p:spPr>
      </p:sp>
      <p:sp>
        <p:nvSpPr>
          <p:cNvPr id="30" name="Text 28"/>
          <p:cNvSpPr/>
          <p:nvPr/>
        </p:nvSpPr>
        <p:spPr>
          <a:xfrm>
            <a:off x="7095744" y="4151376"/>
            <a:ext cx="376732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Excel</a:t>
            </a:r>
            <a:endParaRPr lang="en-US" sz="1500" dirty="0"/>
          </a:p>
        </p:txBody>
      </p:sp>
      <p:sp>
        <p:nvSpPr>
          <p:cNvPr id="31" name="Text 29"/>
          <p:cNvSpPr/>
          <p:nvPr/>
        </p:nvSpPr>
        <p:spPr>
          <a:xfrm>
            <a:off x="7095744" y="4489704"/>
            <a:ext cx="3767328"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Insert → Scatter. Add a trendline only when it supports the question.</a:t>
            </a:r>
            <a:endParaRPr lang="en-US" sz="1150" dirty="0"/>
          </a:p>
        </p:txBody>
      </p:sp>
      <p:sp>
        <p:nvSpPr>
          <p:cNvPr id="32" name="Shape 30"/>
          <p:cNvSpPr/>
          <p:nvPr/>
        </p:nvSpPr>
        <p:spPr>
          <a:xfrm>
            <a:off x="1828800" y="5742432"/>
            <a:ext cx="8458200" cy="420624"/>
          </a:xfrm>
          <a:prstGeom prst="roundRect">
            <a:avLst>
              <a:gd name="adj" fmla="val 10870"/>
            </a:avLst>
          </a:prstGeom>
          <a:solidFill>
            <a:srgbClr val="F8FBF9"/>
          </a:solidFill>
          <a:ln w="12700">
            <a:solidFill>
              <a:srgbClr val="217346"/>
            </a:solidFill>
            <a:prstDash val="solid"/>
          </a:ln>
        </p:spPr>
      </p:sp>
      <p:sp>
        <p:nvSpPr>
          <p:cNvPr id="33" name="Text 31"/>
          <p:cNvSpPr/>
          <p:nvPr/>
        </p:nvSpPr>
        <p:spPr>
          <a:xfrm>
            <a:off x="1938528" y="5824728"/>
            <a:ext cx="823874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Pair with =CORREL(...) — never interpret the coefficient without seeing the points.</a:t>
            </a:r>
            <a:endParaRPr lang="en-US" sz="1050" dirty="0"/>
          </a:p>
        </p:txBody>
      </p:sp>
      <p:sp>
        <p:nvSpPr>
          <p:cNvPr id="3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Line chart: patterns across time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Use line charts when order matters — especially for time series.</a:t>
            </a:r>
            <a:endParaRPr lang="en-US" sz="1300" dirty="0"/>
          </a:p>
        </p:txBody>
      </p:sp>
      <p:sp>
        <p:nvSpPr>
          <p:cNvPr id="7" name="Shape 5"/>
          <p:cNvSpPr/>
          <p:nvPr/>
        </p:nvSpPr>
        <p:spPr>
          <a:xfrm>
            <a:off x="868680" y="4846320"/>
            <a:ext cx="6446520" cy="0"/>
          </a:xfrm>
          <a:prstGeom prst="line">
            <a:avLst/>
          </a:prstGeom>
          <a:noFill/>
          <a:ln w="12700">
            <a:solidFill>
              <a:srgbClr val="AEB8C5"/>
            </a:solidFill>
            <a:prstDash val="solid"/>
          </a:ln>
        </p:spPr>
      </p:sp>
      <p:sp>
        <p:nvSpPr>
          <p:cNvPr id="8" name="Shape 6"/>
          <p:cNvSpPr/>
          <p:nvPr/>
        </p:nvSpPr>
        <p:spPr>
          <a:xfrm>
            <a:off x="868680" y="1691640"/>
            <a:ext cx="0" cy="3154680"/>
          </a:xfrm>
          <a:prstGeom prst="line">
            <a:avLst/>
          </a:prstGeom>
          <a:noFill/>
          <a:ln w="12700">
            <a:solidFill>
              <a:srgbClr val="AEB8C5"/>
            </a:solidFill>
            <a:prstDash val="solid"/>
          </a:ln>
        </p:spPr>
      </p:sp>
      <p:sp>
        <p:nvSpPr>
          <p:cNvPr id="9" name="Shape 7"/>
          <p:cNvSpPr/>
          <p:nvPr/>
        </p:nvSpPr>
        <p:spPr>
          <a:xfrm>
            <a:off x="868680" y="4846320"/>
            <a:ext cx="429768" cy="0"/>
          </a:xfrm>
          <a:prstGeom prst="line">
            <a:avLst/>
          </a:prstGeom>
          <a:noFill/>
          <a:ln w="25400">
            <a:solidFill>
              <a:srgbClr val="7A5AF8"/>
            </a:solidFill>
            <a:prstDash val="solid"/>
          </a:ln>
        </p:spPr>
      </p:sp>
      <p:sp>
        <p:nvSpPr>
          <p:cNvPr id="10" name="Shape 8"/>
          <p:cNvSpPr/>
          <p:nvPr/>
        </p:nvSpPr>
        <p:spPr>
          <a:xfrm>
            <a:off x="1298448" y="4727275"/>
            <a:ext cx="429768" cy="0"/>
          </a:xfrm>
          <a:prstGeom prst="line">
            <a:avLst/>
          </a:prstGeom>
          <a:noFill/>
          <a:ln w="25400">
            <a:solidFill>
              <a:srgbClr val="7A5AF8"/>
            </a:solidFill>
            <a:prstDash val="solid"/>
          </a:ln>
        </p:spPr>
      </p:sp>
      <p:sp>
        <p:nvSpPr>
          <p:cNvPr id="11" name="Shape 9"/>
          <p:cNvSpPr/>
          <p:nvPr/>
        </p:nvSpPr>
        <p:spPr>
          <a:xfrm>
            <a:off x="1728216" y="4608231"/>
            <a:ext cx="429768" cy="0"/>
          </a:xfrm>
          <a:prstGeom prst="line">
            <a:avLst/>
          </a:prstGeom>
          <a:noFill/>
          <a:ln w="25400">
            <a:solidFill>
              <a:srgbClr val="7A5AF8"/>
            </a:solidFill>
            <a:prstDash val="solid"/>
          </a:ln>
        </p:spPr>
      </p:sp>
      <p:sp>
        <p:nvSpPr>
          <p:cNvPr id="12" name="Shape 10"/>
          <p:cNvSpPr/>
          <p:nvPr/>
        </p:nvSpPr>
        <p:spPr>
          <a:xfrm>
            <a:off x="2157984" y="4370142"/>
            <a:ext cx="429768" cy="59522"/>
          </a:xfrm>
          <a:prstGeom prst="line">
            <a:avLst/>
          </a:prstGeom>
          <a:noFill/>
          <a:ln w="25400">
            <a:solidFill>
              <a:srgbClr val="7A5AF8"/>
            </a:solidFill>
            <a:prstDash val="solid"/>
          </a:ln>
        </p:spPr>
      </p:sp>
      <p:sp>
        <p:nvSpPr>
          <p:cNvPr id="13" name="Shape 11"/>
          <p:cNvSpPr/>
          <p:nvPr/>
        </p:nvSpPr>
        <p:spPr>
          <a:xfrm>
            <a:off x="2587752" y="4429664"/>
            <a:ext cx="429768" cy="0"/>
          </a:xfrm>
          <a:prstGeom prst="line">
            <a:avLst/>
          </a:prstGeom>
          <a:noFill/>
          <a:ln w="25400">
            <a:solidFill>
              <a:srgbClr val="7A5AF8"/>
            </a:solidFill>
            <a:prstDash val="solid"/>
          </a:ln>
        </p:spPr>
      </p:sp>
      <p:sp>
        <p:nvSpPr>
          <p:cNvPr id="14" name="Shape 12"/>
          <p:cNvSpPr/>
          <p:nvPr/>
        </p:nvSpPr>
        <p:spPr>
          <a:xfrm>
            <a:off x="3017520" y="4132053"/>
            <a:ext cx="429768" cy="0"/>
          </a:xfrm>
          <a:prstGeom prst="line">
            <a:avLst/>
          </a:prstGeom>
          <a:noFill/>
          <a:ln w="25400">
            <a:solidFill>
              <a:srgbClr val="7A5AF8"/>
            </a:solidFill>
            <a:prstDash val="solid"/>
          </a:ln>
        </p:spPr>
      </p:sp>
      <p:sp>
        <p:nvSpPr>
          <p:cNvPr id="15" name="Shape 13"/>
          <p:cNvSpPr/>
          <p:nvPr/>
        </p:nvSpPr>
        <p:spPr>
          <a:xfrm>
            <a:off x="3447288" y="3774919"/>
            <a:ext cx="429768" cy="59522"/>
          </a:xfrm>
          <a:prstGeom prst="line">
            <a:avLst/>
          </a:prstGeom>
          <a:noFill/>
          <a:ln w="25400">
            <a:solidFill>
              <a:srgbClr val="7A5AF8"/>
            </a:solidFill>
            <a:prstDash val="solid"/>
          </a:ln>
        </p:spPr>
      </p:sp>
      <p:sp>
        <p:nvSpPr>
          <p:cNvPr id="16" name="Shape 14"/>
          <p:cNvSpPr/>
          <p:nvPr/>
        </p:nvSpPr>
        <p:spPr>
          <a:xfrm>
            <a:off x="3877056" y="3834442"/>
            <a:ext cx="429768" cy="0"/>
          </a:xfrm>
          <a:prstGeom prst="line">
            <a:avLst/>
          </a:prstGeom>
          <a:noFill/>
          <a:ln w="25400">
            <a:solidFill>
              <a:srgbClr val="7A5AF8"/>
            </a:solidFill>
            <a:prstDash val="solid"/>
          </a:ln>
        </p:spPr>
      </p:sp>
      <p:sp>
        <p:nvSpPr>
          <p:cNvPr id="17" name="Shape 15"/>
          <p:cNvSpPr/>
          <p:nvPr/>
        </p:nvSpPr>
        <p:spPr>
          <a:xfrm>
            <a:off x="4306824" y="3417786"/>
            <a:ext cx="429768" cy="0"/>
          </a:xfrm>
          <a:prstGeom prst="line">
            <a:avLst/>
          </a:prstGeom>
          <a:noFill/>
          <a:ln w="25400">
            <a:solidFill>
              <a:srgbClr val="7A5AF8"/>
            </a:solidFill>
            <a:prstDash val="solid"/>
          </a:ln>
        </p:spPr>
      </p:sp>
      <p:sp>
        <p:nvSpPr>
          <p:cNvPr id="18" name="Shape 16"/>
          <p:cNvSpPr/>
          <p:nvPr/>
        </p:nvSpPr>
        <p:spPr>
          <a:xfrm>
            <a:off x="4736592" y="3120174"/>
            <a:ext cx="429768" cy="119045"/>
          </a:xfrm>
          <a:prstGeom prst="line">
            <a:avLst/>
          </a:prstGeom>
          <a:noFill/>
          <a:ln w="25400">
            <a:solidFill>
              <a:srgbClr val="7A5AF8"/>
            </a:solidFill>
            <a:prstDash val="solid"/>
          </a:ln>
        </p:spPr>
      </p:sp>
      <p:sp>
        <p:nvSpPr>
          <p:cNvPr id="19" name="Shape 17"/>
          <p:cNvSpPr/>
          <p:nvPr/>
        </p:nvSpPr>
        <p:spPr>
          <a:xfrm>
            <a:off x="5166360" y="3239219"/>
            <a:ext cx="429768" cy="0"/>
          </a:xfrm>
          <a:prstGeom prst="line">
            <a:avLst/>
          </a:prstGeom>
          <a:noFill/>
          <a:ln w="25400">
            <a:solidFill>
              <a:srgbClr val="7A5AF8"/>
            </a:solidFill>
            <a:prstDash val="solid"/>
          </a:ln>
        </p:spPr>
      </p:sp>
      <p:sp>
        <p:nvSpPr>
          <p:cNvPr id="20" name="Shape 18"/>
          <p:cNvSpPr/>
          <p:nvPr/>
        </p:nvSpPr>
        <p:spPr>
          <a:xfrm>
            <a:off x="5596128" y="2763041"/>
            <a:ext cx="429768" cy="0"/>
          </a:xfrm>
          <a:prstGeom prst="line">
            <a:avLst/>
          </a:prstGeom>
          <a:noFill/>
          <a:ln w="25400">
            <a:solidFill>
              <a:srgbClr val="7A5AF8"/>
            </a:solidFill>
            <a:prstDash val="solid"/>
          </a:ln>
        </p:spPr>
      </p:sp>
      <p:sp>
        <p:nvSpPr>
          <p:cNvPr id="21" name="Shape 19"/>
          <p:cNvSpPr/>
          <p:nvPr/>
        </p:nvSpPr>
        <p:spPr>
          <a:xfrm>
            <a:off x="6025896" y="2346385"/>
            <a:ext cx="429768" cy="178567"/>
          </a:xfrm>
          <a:prstGeom prst="line">
            <a:avLst/>
          </a:prstGeom>
          <a:noFill/>
          <a:ln w="25400">
            <a:solidFill>
              <a:srgbClr val="7A5AF8"/>
            </a:solidFill>
            <a:prstDash val="solid"/>
          </a:ln>
        </p:spPr>
      </p:sp>
      <p:sp>
        <p:nvSpPr>
          <p:cNvPr id="22" name="Shape 20"/>
          <p:cNvSpPr/>
          <p:nvPr/>
        </p:nvSpPr>
        <p:spPr>
          <a:xfrm>
            <a:off x="6455664" y="2524952"/>
            <a:ext cx="429768" cy="0"/>
          </a:xfrm>
          <a:prstGeom prst="line">
            <a:avLst/>
          </a:prstGeom>
          <a:noFill/>
          <a:ln w="25400">
            <a:solidFill>
              <a:srgbClr val="7A5AF8"/>
            </a:solidFill>
            <a:prstDash val="solid"/>
          </a:ln>
        </p:spPr>
      </p:sp>
      <p:sp>
        <p:nvSpPr>
          <p:cNvPr id="23" name="Shape 21"/>
          <p:cNvSpPr/>
          <p:nvPr/>
        </p:nvSpPr>
        <p:spPr>
          <a:xfrm>
            <a:off x="6885432" y="1989251"/>
            <a:ext cx="429768" cy="0"/>
          </a:xfrm>
          <a:prstGeom prst="line">
            <a:avLst/>
          </a:prstGeom>
          <a:noFill/>
          <a:ln w="25400">
            <a:solidFill>
              <a:srgbClr val="7A5AF8"/>
            </a:solidFill>
            <a:prstDash val="solid"/>
          </a:ln>
        </p:spPr>
      </p:sp>
      <p:sp>
        <p:nvSpPr>
          <p:cNvPr id="24" name="Shape 22"/>
          <p:cNvSpPr/>
          <p:nvPr/>
        </p:nvSpPr>
        <p:spPr>
          <a:xfrm>
            <a:off x="832104" y="4809744"/>
            <a:ext cx="73152" cy="73152"/>
          </a:xfrm>
          <a:prstGeom prst="ellipse">
            <a:avLst/>
          </a:prstGeom>
          <a:solidFill>
            <a:srgbClr val="7A5AF8"/>
          </a:solidFill>
          <a:ln w="12700">
            <a:solidFill>
              <a:srgbClr val="7A5AF8"/>
            </a:solidFill>
            <a:prstDash val="solid"/>
          </a:ln>
        </p:spPr>
      </p:sp>
      <p:sp>
        <p:nvSpPr>
          <p:cNvPr id="25" name="Shape 23"/>
          <p:cNvSpPr/>
          <p:nvPr/>
        </p:nvSpPr>
        <p:spPr>
          <a:xfrm>
            <a:off x="1261872" y="4690699"/>
            <a:ext cx="73152" cy="73152"/>
          </a:xfrm>
          <a:prstGeom prst="ellipse">
            <a:avLst/>
          </a:prstGeom>
          <a:solidFill>
            <a:srgbClr val="7A5AF8"/>
          </a:solidFill>
          <a:ln w="12700">
            <a:solidFill>
              <a:srgbClr val="7A5AF8"/>
            </a:solidFill>
            <a:prstDash val="solid"/>
          </a:ln>
        </p:spPr>
      </p:sp>
      <p:sp>
        <p:nvSpPr>
          <p:cNvPr id="26" name="Shape 24"/>
          <p:cNvSpPr/>
          <p:nvPr/>
        </p:nvSpPr>
        <p:spPr>
          <a:xfrm>
            <a:off x="1691640" y="4571655"/>
            <a:ext cx="73152" cy="73152"/>
          </a:xfrm>
          <a:prstGeom prst="ellipse">
            <a:avLst/>
          </a:prstGeom>
          <a:solidFill>
            <a:srgbClr val="7A5AF8"/>
          </a:solidFill>
          <a:ln w="12700">
            <a:solidFill>
              <a:srgbClr val="7A5AF8"/>
            </a:solidFill>
            <a:prstDash val="solid"/>
          </a:ln>
        </p:spPr>
      </p:sp>
      <p:sp>
        <p:nvSpPr>
          <p:cNvPr id="27" name="Shape 25"/>
          <p:cNvSpPr/>
          <p:nvPr/>
        </p:nvSpPr>
        <p:spPr>
          <a:xfrm>
            <a:off x="2121408" y="4333566"/>
            <a:ext cx="73152" cy="73152"/>
          </a:xfrm>
          <a:prstGeom prst="ellipse">
            <a:avLst/>
          </a:prstGeom>
          <a:solidFill>
            <a:srgbClr val="7A5AF8"/>
          </a:solidFill>
          <a:ln w="12700">
            <a:solidFill>
              <a:srgbClr val="7A5AF8"/>
            </a:solidFill>
            <a:prstDash val="solid"/>
          </a:ln>
        </p:spPr>
      </p:sp>
      <p:sp>
        <p:nvSpPr>
          <p:cNvPr id="28" name="Shape 26"/>
          <p:cNvSpPr/>
          <p:nvPr/>
        </p:nvSpPr>
        <p:spPr>
          <a:xfrm>
            <a:off x="2551176" y="4393088"/>
            <a:ext cx="73152" cy="73152"/>
          </a:xfrm>
          <a:prstGeom prst="ellipse">
            <a:avLst/>
          </a:prstGeom>
          <a:solidFill>
            <a:srgbClr val="7A5AF8"/>
          </a:solidFill>
          <a:ln w="12700">
            <a:solidFill>
              <a:srgbClr val="7A5AF8"/>
            </a:solidFill>
            <a:prstDash val="solid"/>
          </a:ln>
        </p:spPr>
      </p:sp>
      <p:sp>
        <p:nvSpPr>
          <p:cNvPr id="29" name="Shape 27"/>
          <p:cNvSpPr/>
          <p:nvPr/>
        </p:nvSpPr>
        <p:spPr>
          <a:xfrm>
            <a:off x="2980944" y="4095477"/>
            <a:ext cx="73152" cy="73152"/>
          </a:xfrm>
          <a:prstGeom prst="ellipse">
            <a:avLst/>
          </a:prstGeom>
          <a:solidFill>
            <a:srgbClr val="7A5AF8"/>
          </a:solidFill>
          <a:ln w="12700">
            <a:solidFill>
              <a:srgbClr val="7A5AF8"/>
            </a:solidFill>
            <a:prstDash val="solid"/>
          </a:ln>
        </p:spPr>
      </p:sp>
      <p:sp>
        <p:nvSpPr>
          <p:cNvPr id="30" name="Shape 28"/>
          <p:cNvSpPr/>
          <p:nvPr/>
        </p:nvSpPr>
        <p:spPr>
          <a:xfrm>
            <a:off x="3410712" y="3738343"/>
            <a:ext cx="73152" cy="73152"/>
          </a:xfrm>
          <a:prstGeom prst="ellipse">
            <a:avLst/>
          </a:prstGeom>
          <a:solidFill>
            <a:srgbClr val="7A5AF8"/>
          </a:solidFill>
          <a:ln w="12700">
            <a:solidFill>
              <a:srgbClr val="7A5AF8"/>
            </a:solidFill>
            <a:prstDash val="solid"/>
          </a:ln>
        </p:spPr>
      </p:sp>
      <p:sp>
        <p:nvSpPr>
          <p:cNvPr id="31" name="Shape 29"/>
          <p:cNvSpPr/>
          <p:nvPr/>
        </p:nvSpPr>
        <p:spPr>
          <a:xfrm>
            <a:off x="3840480" y="3797866"/>
            <a:ext cx="73152" cy="73152"/>
          </a:xfrm>
          <a:prstGeom prst="ellipse">
            <a:avLst/>
          </a:prstGeom>
          <a:solidFill>
            <a:srgbClr val="7A5AF8"/>
          </a:solidFill>
          <a:ln w="12700">
            <a:solidFill>
              <a:srgbClr val="7A5AF8"/>
            </a:solidFill>
            <a:prstDash val="solid"/>
          </a:ln>
        </p:spPr>
      </p:sp>
      <p:sp>
        <p:nvSpPr>
          <p:cNvPr id="32" name="Shape 30"/>
          <p:cNvSpPr/>
          <p:nvPr/>
        </p:nvSpPr>
        <p:spPr>
          <a:xfrm>
            <a:off x="4270248" y="3381210"/>
            <a:ext cx="73152" cy="73152"/>
          </a:xfrm>
          <a:prstGeom prst="ellipse">
            <a:avLst/>
          </a:prstGeom>
          <a:solidFill>
            <a:srgbClr val="7A5AF8"/>
          </a:solidFill>
          <a:ln w="12700">
            <a:solidFill>
              <a:srgbClr val="7A5AF8"/>
            </a:solidFill>
            <a:prstDash val="solid"/>
          </a:ln>
        </p:spPr>
      </p:sp>
      <p:sp>
        <p:nvSpPr>
          <p:cNvPr id="33" name="Shape 31"/>
          <p:cNvSpPr/>
          <p:nvPr/>
        </p:nvSpPr>
        <p:spPr>
          <a:xfrm>
            <a:off x="4700016" y="3083598"/>
            <a:ext cx="73152" cy="73152"/>
          </a:xfrm>
          <a:prstGeom prst="ellipse">
            <a:avLst/>
          </a:prstGeom>
          <a:solidFill>
            <a:srgbClr val="7A5AF8"/>
          </a:solidFill>
          <a:ln w="12700">
            <a:solidFill>
              <a:srgbClr val="7A5AF8"/>
            </a:solidFill>
            <a:prstDash val="solid"/>
          </a:ln>
        </p:spPr>
      </p:sp>
      <p:sp>
        <p:nvSpPr>
          <p:cNvPr id="34" name="Shape 32"/>
          <p:cNvSpPr/>
          <p:nvPr/>
        </p:nvSpPr>
        <p:spPr>
          <a:xfrm>
            <a:off x="5129784" y="3202643"/>
            <a:ext cx="73152" cy="73152"/>
          </a:xfrm>
          <a:prstGeom prst="ellipse">
            <a:avLst/>
          </a:prstGeom>
          <a:solidFill>
            <a:srgbClr val="7A5AF8"/>
          </a:solidFill>
          <a:ln w="12700">
            <a:solidFill>
              <a:srgbClr val="7A5AF8"/>
            </a:solidFill>
            <a:prstDash val="solid"/>
          </a:ln>
        </p:spPr>
      </p:sp>
      <p:sp>
        <p:nvSpPr>
          <p:cNvPr id="35" name="Shape 33"/>
          <p:cNvSpPr/>
          <p:nvPr/>
        </p:nvSpPr>
        <p:spPr>
          <a:xfrm>
            <a:off x="5559552" y="2726465"/>
            <a:ext cx="73152" cy="73152"/>
          </a:xfrm>
          <a:prstGeom prst="ellipse">
            <a:avLst/>
          </a:prstGeom>
          <a:solidFill>
            <a:srgbClr val="7A5AF8"/>
          </a:solidFill>
          <a:ln w="12700">
            <a:solidFill>
              <a:srgbClr val="7A5AF8"/>
            </a:solidFill>
            <a:prstDash val="solid"/>
          </a:ln>
        </p:spPr>
      </p:sp>
      <p:sp>
        <p:nvSpPr>
          <p:cNvPr id="36" name="Shape 34"/>
          <p:cNvSpPr/>
          <p:nvPr/>
        </p:nvSpPr>
        <p:spPr>
          <a:xfrm>
            <a:off x="5989320" y="2309809"/>
            <a:ext cx="73152" cy="73152"/>
          </a:xfrm>
          <a:prstGeom prst="ellipse">
            <a:avLst/>
          </a:prstGeom>
          <a:solidFill>
            <a:srgbClr val="7A5AF8"/>
          </a:solidFill>
          <a:ln w="12700">
            <a:solidFill>
              <a:srgbClr val="7A5AF8"/>
            </a:solidFill>
            <a:prstDash val="solid"/>
          </a:ln>
        </p:spPr>
      </p:sp>
      <p:sp>
        <p:nvSpPr>
          <p:cNvPr id="37" name="Shape 35"/>
          <p:cNvSpPr/>
          <p:nvPr/>
        </p:nvSpPr>
        <p:spPr>
          <a:xfrm>
            <a:off x="6419088" y="2488376"/>
            <a:ext cx="73152" cy="73152"/>
          </a:xfrm>
          <a:prstGeom prst="ellipse">
            <a:avLst/>
          </a:prstGeom>
          <a:solidFill>
            <a:srgbClr val="7A5AF8"/>
          </a:solidFill>
          <a:ln w="12700">
            <a:solidFill>
              <a:srgbClr val="7A5AF8"/>
            </a:solidFill>
            <a:prstDash val="solid"/>
          </a:ln>
        </p:spPr>
      </p:sp>
      <p:sp>
        <p:nvSpPr>
          <p:cNvPr id="38" name="Shape 36"/>
          <p:cNvSpPr/>
          <p:nvPr/>
        </p:nvSpPr>
        <p:spPr>
          <a:xfrm>
            <a:off x="6848856" y="1952675"/>
            <a:ext cx="73152" cy="73152"/>
          </a:xfrm>
          <a:prstGeom prst="ellipse">
            <a:avLst/>
          </a:prstGeom>
          <a:solidFill>
            <a:srgbClr val="7A5AF8"/>
          </a:solidFill>
          <a:ln w="12700">
            <a:solidFill>
              <a:srgbClr val="7A5AF8"/>
            </a:solidFill>
            <a:prstDash val="solid"/>
          </a:ln>
        </p:spPr>
      </p:sp>
      <p:sp>
        <p:nvSpPr>
          <p:cNvPr id="39" name="Shape 37"/>
          <p:cNvSpPr/>
          <p:nvPr/>
        </p:nvSpPr>
        <p:spPr>
          <a:xfrm>
            <a:off x="7278624" y="1655064"/>
            <a:ext cx="73152" cy="73152"/>
          </a:xfrm>
          <a:prstGeom prst="ellipse">
            <a:avLst/>
          </a:prstGeom>
          <a:solidFill>
            <a:srgbClr val="7A5AF8"/>
          </a:solidFill>
          <a:ln w="12700">
            <a:solidFill>
              <a:srgbClr val="7A5AF8"/>
            </a:solidFill>
            <a:prstDash val="solid"/>
          </a:ln>
        </p:spPr>
      </p:sp>
      <p:sp>
        <p:nvSpPr>
          <p:cNvPr id="40" name="Text 38"/>
          <p:cNvSpPr/>
          <p:nvPr/>
        </p:nvSpPr>
        <p:spPr>
          <a:xfrm>
            <a:off x="6263640" y="4736592"/>
            <a:ext cx="914400" cy="228600"/>
          </a:xfrm>
          <a:prstGeom prst="rect">
            <a:avLst/>
          </a:prstGeom>
          <a:noFill/>
          <a:ln/>
        </p:spPr>
        <p:txBody>
          <a:bodyPr wrap="square" lIns="0" tIns="0" rIns="0" bIns="0" rtlCol="0" anchor="ctr"/>
          <a:lstStyle/>
          <a:p>
            <a:pPr marL="0" indent="0">
              <a:buNone/>
            </a:pPr>
            <a:r>
              <a:rPr lang="en-US" sz="950" dirty="0">
                <a:solidFill>
                  <a:srgbClr val="667085"/>
                </a:solidFill>
              </a:rPr>
              <a:t>Month →</a:t>
            </a:r>
            <a:endParaRPr lang="en-US" sz="950" dirty="0"/>
          </a:p>
        </p:txBody>
      </p:sp>
      <p:sp>
        <p:nvSpPr>
          <p:cNvPr id="41" name="Shape 39"/>
          <p:cNvSpPr/>
          <p:nvPr/>
        </p:nvSpPr>
        <p:spPr>
          <a:xfrm>
            <a:off x="7662672" y="1645920"/>
            <a:ext cx="3520440" cy="1033272"/>
          </a:xfrm>
          <a:prstGeom prst="roundRect">
            <a:avLst>
              <a:gd name="adj" fmla="val 7080"/>
            </a:avLst>
          </a:prstGeom>
          <a:solidFill>
            <a:srgbClr val="F1EDFF"/>
          </a:solidFill>
          <a:ln w="10160">
            <a:solidFill>
              <a:srgbClr val="E9EEF5"/>
            </a:solidFill>
            <a:prstDash val="solid"/>
          </a:ln>
        </p:spPr>
      </p:sp>
      <p:sp>
        <p:nvSpPr>
          <p:cNvPr id="42" name="Text 40"/>
          <p:cNvSpPr/>
          <p:nvPr/>
        </p:nvSpPr>
        <p:spPr>
          <a:xfrm>
            <a:off x="7827264" y="1783080"/>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Best for</a:t>
            </a:r>
            <a:endParaRPr lang="en-US" sz="1500" dirty="0"/>
          </a:p>
        </p:txBody>
      </p:sp>
      <p:sp>
        <p:nvSpPr>
          <p:cNvPr id="43" name="Text 41"/>
          <p:cNvSpPr/>
          <p:nvPr/>
        </p:nvSpPr>
        <p:spPr>
          <a:xfrm>
            <a:off x="7827264" y="2121408"/>
            <a:ext cx="3191256"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Trend · seasonality · regime shifts · before/after comparisons.</a:t>
            </a:r>
            <a:endParaRPr lang="en-US" sz="1150" dirty="0"/>
          </a:p>
        </p:txBody>
      </p:sp>
      <p:sp>
        <p:nvSpPr>
          <p:cNvPr id="44" name="Shape 42"/>
          <p:cNvSpPr/>
          <p:nvPr/>
        </p:nvSpPr>
        <p:spPr>
          <a:xfrm>
            <a:off x="7662672" y="2862072"/>
            <a:ext cx="3520440" cy="1033272"/>
          </a:xfrm>
          <a:prstGeom prst="roundRect">
            <a:avLst>
              <a:gd name="adj" fmla="val 7080"/>
            </a:avLst>
          </a:prstGeom>
          <a:solidFill>
            <a:srgbClr val="EAF1FF"/>
          </a:solidFill>
          <a:ln w="10160">
            <a:solidFill>
              <a:srgbClr val="E9EEF5"/>
            </a:solidFill>
            <a:prstDash val="solid"/>
          </a:ln>
        </p:spPr>
      </p:sp>
      <p:sp>
        <p:nvSpPr>
          <p:cNvPr id="45" name="Text 43"/>
          <p:cNvSpPr/>
          <p:nvPr/>
        </p:nvSpPr>
        <p:spPr>
          <a:xfrm>
            <a:off x="7827264" y="2999232"/>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Banking example</a:t>
            </a:r>
            <a:endParaRPr lang="en-US" sz="1500" dirty="0"/>
          </a:p>
        </p:txBody>
      </p:sp>
      <p:sp>
        <p:nvSpPr>
          <p:cNvPr id="46" name="Text 44"/>
          <p:cNvSpPr/>
          <p:nvPr/>
        </p:nvSpPr>
        <p:spPr>
          <a:xfrm>
            <a:off x="7827264" y="3337560"/>
            <a:ext cx="3191256"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Monthly deposits, delinquency rate, call volume or transaction counts.</a:t>
            </a:r>
            <a:endParaRPr lang="en-US" sz="1150" dirty="0"/>
          </a:p>
        </p:txBody>
      </p:sp>
      <p:sp>
        <p:nvSpPr>
          <p:cNvPr id="47" name="Shape 45"/>
          <p:cNvSpPr/>
          <p:nvPr/>
        </p:nvSpPr>
        <p:spPr>
          <a:xfrm>
            <a:off x="7662672" y="4078224"/>
            <a:ext cx="3520440" cy="1033272"/>
          </a:xfrm>
          <a:prstGeom prst="roundRect">
            <a:avLst>
              <a:gd name="adj" fmla="val 7080"/>
            </a:avLst>
          </a:prstGeom>
          <a:solidFill>
            <a:srgbClr val="FDECEC"/>
          </a:solidFill>
          <a:ln w="10160">
            <a:solidFill>
              <a:srgbClr val="E9EEF5"/>
            </a:solidFill>
            <a:prstDash val="solid"/>
          </a:ln>
        </p:spPr>
      </p:sp>
      <p:sp>
        <p:nvSpPr>
          <p:cNvPr id="48" name="Text 46"/>
          <p:cNvSpPr/>
          <p:nvPr/>
        </p:nvSpPr>
        <p:spPr>
          <a:xfrm>
            <a:off x="7827264" y="4215384"/>
            <a:ext cx="319125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Caution</a:t>
            </a:r>
            <a:endParaRPr lang="en-US" sz="1500" dirty="0"/>
          </a:p>
        </p:txBody>
      </p:sp>
      <p:sp>
        <p:nvSpPr>
          <p:cNvPr id="49" name="Text 47"/>
          <p:cNvSpPr/>
          <p:nvPr/>
        </p:nvSpPr>
        <p:spPr>
          <a:xfrm>
            <a:off x="7827264" y="4553712"/>
            <a:ext cx="3191256" cy="42976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Do not connect unordered categories with a line.</a:t>
            </a:r>
            <a:endParaRPr lang="en-US" sz="1150" dirty="0"/>
          </a:p>
        </p:txBody>
      </p:sp>
      <p:sp>
        <p:nvSpPr>
          <p:cNvPr id="50" name="Shape 48"/>
          <p:cNvSpPr/>
          <p:nvPr/>
        </p:nvSpPr>
        <p:spPr>
          <a:xfrm>
            <a:off x="2880360" y="5715000"/>
            <a:ext cx="6537960" cy="420624"/>
          </a:xfrm>
          <a:prstGeom prst="roundRect">
            <a:avLst>
              <a:gd name="adj" fmla="val 10870"/>
            </a:avLst>
          </a:prstGeom>
          <a:solidFill>
            <a:srgbClr val="F8FBF9"/>
          </a:solidFill>
          <a:ln w="12700">
            <a:solidFill>
              <a:srgbClr val="009E9A"/>
            </a:solidFill>
            <a:prstDash val="solid"/>
          </a:ln>
        </p:spPr>
      </p:sp>
      <p:sp>
        <p:nvSpPr>
          <p:cNvPr id="51" name="Text 49"/>
          <p:cNvSpPr/>
          <p:nvPr/>
        </p:nvSpPr>
        <p:spPr>
          <a:xfrm>
            <a:off x="2990088" y="5797296"/>
            <a:ext cx="631850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Excel: put a real date in the X-axis whenever possible.</a:t>
            </a:r>
            <a:endParaRPr lang="en-US" sz="1050" dirty="0"/>
          </a:p>
        </p:txBody>
      </p:sp>
      <p:sp>
        <p:nvSpPr>
          <p:cNvPr id="52"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06 · VISUALISATION</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Bar and column charts: compare categories clearly</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 baseline should normally start at zero because bar length encodes magnitude.</a:t>
            </a:r>
            <a:endParaRPr lang="en-US" sz="1300" dirty="0"/>
          </a:p>
        </p:txBody>
      </p:sp>
      <p:sp>
        <p:nvSpPr>
          <p:cNvPr id="7" name="Shape 5"/>
          <p:cNvSpPr/>
          <p:nvPr/>
        </p:nvSpPr>
        <p:spPr>
          <a:xfrm>
            <a:off x="868680" y="4800600"/>
            <a:ext cx="5486400" cy="0"/>
          </a:xfrm>
          <a:prstGeom prst="line">
            <a:avLst/>
          </a:prstGeom>
          <a:noFill/>
          <a:ln w="12700">
            <a:solidFill>
              <a:srgbClr val="AEB8C5"/>
            </a:solidFill>
            <a:prstDash val="solid"/>
          </a:ln>
        </p:spPr>
      </p:sp>
      <p:sp>
        <p:nvSpPr>
          <p:cNvPr id="8" name="Shape 6"/>
          <p:cNvSpPr/>
          <p:nvPr/>
        </p:nvSpPr>
        <p:spPr>
          <a:xfrm>
            <a:off x="978408" y="3583363"/>
            <a:ext cx="1152144" cy="1217237"/>
          </a:xfrm>
          <a:prstGeom prst="rect">
            <a:avLst/>
          </a:prstGeom>
          <a:solidFill>
            <a:srgbClr val="F59E0B">
              <a:alpha val="90000"/>
            </a:srgbClr>
          </a:solidFill>
          <a:ln w="6350">
            <a:solidFill>
              <a:srgbClr val="F59E0B"/>
            </a:solidFill>
            <a:prstDash val="solid"/>
          </a:ln>
        </p:spPr>
      </p:sp>
      <p:sp>
        <p:nvSpPr>
          <p:cNvPr id="9" name="Text 7"/>
          <p:cNvSpPr/>
          <p:nvPr/>
        </p:nvSpPr>
        <p:spPr>
          <a:xfrm>
            <a:off x="868680" y="4855464"/>
            <a:ext cx="137160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Affluent</a:t>
            </a:r>
            <a:endParaRPr lang="en-US" sz="820" dirty="0"/>
          </a:p>
        </p:txBody>
      </p:sp>
      <p:sp>
        <p:nvSpPr>
          <p:cNvPr id="10" name="Shape 8"/>
          <p:cNvSpPr/>
          <p:nvPr/>
        </p:nvSpPr>
        <p:spPr>
          <a:xfrm>
            <a:off x="2350008" y="4584554"/>
            <a:ext cx="1152144" cy="216046"/>
          </a:xfrm>
          <a:prstGeom prst="rect">
            <a:avLst/>
          </a:prstGeom>
          <a:solidFill>
            <a:srgbClr val="F59E0B">
              <a:alpha val="90000"/>
            </a:srgbClr>
          </a:solidFill>
          <a:ln w="6350">
            <a:solidFill>
              <a:srgbClr val="F59E0B"/>
            </a:solidFill>
            <a:prstDash val="solid"/>
          </a:ln>
        </p:spPr>
      </p:sp>
      <p:sp>
        <p:nvSpPr>
          <p:cNvPr id="11" name="Text 9"/>
          <p:cNvSpPr/>
          <p:nvPr/>
        </p:nvSpPr>
        <p:spPr>
          <a:xfrm>
            <a:off x="2240280" y="4855464"/>
            <a:ext cx="137160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Mass</a:t>
            </a:r>
            <a:endParaRPr lang="en-US" sz="820" dirty="0"/>
          </a:p>
        </p:txBody>
      </p:sp>
      <p:sp>
        <p:nvSpPr>
          <p:cNvPr id="12" name="Shape 10"/>
          <p:cNvSpPr/>
          <p:nvPr/>
        </p:nvSpPr>
        <p:spPr>
          <a:xfrm>
            <a:off x="3721608" y="3997013"/>
            <a:ext cx="1152144" cy="803587"/>
          </a:xfrm>
          <a:prstGeom prst="rect">
            <a:avLst/>
          </a:prstGeom>
          <a:solidFill>
            <a:srgbClr val="F59E0B">
              <a:alpha val="90000"/>
            </a:srgbClr>
          </a:solidFill>
          <a:ln w="6350">
            <a:solidFill>
              <a:srgbClr val="F59E0B"/>
            </a:solidFill>
            <a:prstDash val="solid"/>
          </a:ln>
        </p:spPr>
      </p:sp>
      <p:sp>
        <p:nvSpPr>
          <p:cNvPr id="13" name="Text 11"/>
          <p:cNvSpPr/>
          <p:nvPr/>
        </p:nvSpPr>
        <p:spPr>
          <a:xfrm>
            <a:off x="3611880" y="4855464"/>
            <a:ext cx="137160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SME</a:t>
            </a:r>
            <a:endParaRPr lang="en-US" sz="820" dirty="0"/>
          </a:p>
        </p:txBody>
      </p:sp>
      <p:sp>
        <p:nvSpPr>
          <p:cNvPr id="14" name="Shape 12"/>
          <p:cNvSpPr/>
          <p:nvPr/>
        </p:nvSpPr>
        <p:spPr>
          <a:xfrm>
            <a:off x="5093208" y="1691640"/>
            <a:ext cx="1152144" cy="3108960"/>
          </a:xfrm>
          <a:prstGeom prst="rect">
            <a:avLst/>
          </a:prstGeom>
          <a:solidFill>
            <a:srgbClr val="F59E0B">
              <a:alpha val="90000"/>
            </a:srgbClr>
          </a:solidFill>
          <a:ln w="6350">
            <a:solidFill>
              <a:srgbClr val="F59E0B"/>
            </a:solidFill>
            <a:prstDash val="solid"/>
          </a:ln>
        </p:spPr>
      </p:sp>
      <p:sp>
        <p:nvSpPr>
          <p:cNvPr id="15" name="Text 13"/>
          <p:cNvSpPr/>
          <p:nvPr/>
        </p:nvSpPr>
        <p:spPr>
          <a:xfrm>
            <a:off x="4983480" y="4855464"/>
            <a:ext cx="1371600" cy="201168"/>
          </a:xfrm>
          <a:prstGeom prst="rect">
            <a:avLst/>
          </a:prstGeom>
          <a:noFill/>
          <a:ln/>
        </p:spPr>
        <p:txBody>
          <a:bodyPr wrap="square" lIns="0" tIns="0" rIns="0" bIns="0" rtlCol="0" anchor="ctr">
            <a:normAutofit/>
          </a:bodyPr>
          <a:lstStyle/>
          <a:p>
            <a:pPr marL="0" indent="0" algn="ctr">
              <a:buNone/>
            </a:pPr>
            <a:r>
              <a:rPr lang="en-US" sz="820" dirty="0">
                <a:solidFill>
                  <a:srgbClr val="667085"/>
                </a:solidFill>
              </a:rPr>
              <a:t>Private</a:t>
            </a:r>
            <a:endParaRPr lang="en-US" sz="820" dirty="0"/>
          </a:p>
        </p:txBody>
      </p:sp>
      <p:sp>
        <p:nvSpPr>
          <p:cNvPr id="16" name="Shape 14"/>
          <p:cNvSpPr/>
          <p:nvPr/>
        </p:nvSpPr>
        <p:spPr>
          <a:xfrm>
            <a:off x="6949440" y="1664208"/>
            <a:ext cx="4114800" cy="987552"/>
          </a:xfrm>
          <a:prstGeom prst="roundRect">
            <a:avLst>
              <a:gd name="adj" fmla="val 7407"/>
            </a:avLst>
          </a:prstGeom>
          <a:solidFill>
            <a:srgbClr val="FFF4E2"/>
          </a:solidFill>
          <a:ln w="10160">
            <a:solidFill>
              <a:srgbClr val="E9EEF5"/>
            </a:solidFill>
            <a:prstDash val="solid"/>
          </a:ln>
        </p:spPr>
      </p:sp>
      <p:sp>
        <p:nvSpPr>
          <p:cNvPr id="17" name="Text 15"/>
          <p:cNvSpPr/>
          <p:nvPr/>
        </p:nvSpPr>
        <p:spPr>
          <a:xfrm>
            <a:off x="7114032" y="1801368"/>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Use for</a:t>
            </a:r>
            <a:endParaRPr lang="en-US" sz="1500" dirty="0"/>
          </a:p>
        </p:txBody>
      </p:sp>
      <p:sp>
        <p:nvSpPr>
          <p:cNvPr id="18" name="Text 16"/>
          <p:cNvSpPr/>
          <p:nvPr/>
        </p:nvSpPr>
        <p:spPr>
          <a:xfrm>
            <a:off x="7114032" y="2139696"/>
            <a:ext cx="3785616"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Counts, averages, totals and rates by category.</a:t>
            </a:r>
            <a:endParaRPr lang="en-US" sz="1150" dirty="0"/>
          </a:p>
        </p:txBody>
      </p:sp>
      <p:sp>
        <p:nvSpPr>
          <p:cNvPr id="19" name="Shape 17"/>
          <p:cNvSpPr/>
          <p:nvPr/>
        </p:nvSpPr>
        <p:spPr>
          <a:xfrm>
            <a:off x="6949440" y="2816352"/>
            <a:ext cx="4114800" cy="987552"/>
          </a:xfrm>
          <a:prstGeom prst="roundRect">
            <a:avLst>
              <a:gd name="adj" fmla="val 7407"/>
            </a:avLst>
          </a:prstGeom>
          <a:solidFill>
            <a:srgbClr val="EAF1FF"/>
          </a:solidFill>
          <a:ln w="10160">
            <a:solidFill>
              <a:srgbClr val="E9EEF5"/>
            </a:solidFill>
            <a:prstDash val="solid"/>
          </a:ln>
        </p:spPr>
      </p:sp>
      <p:sp>
        <p:nvSpPr>
          <p:cNvPr id="20" name="Text 18"/>
          <p:cNvSpPr/>
          <p:nvPr/>
        </p:nvSpPr>
        <p:spPr>
          <a:xfrm>
            <a:off x="7114032" y="2953512"/>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Good practice</a:t>
            </a:r>
            <a:endParaRPr lang="en-US" sz="1500" dirty="0"/>
          </a:p>
        </p:txBody>
      </p:sp>
      <p:sp>
        <p:nvSpPr>
          <p:cNvPr id="21" name="Text 19"/>
          <p:cNvSpPr/>
          <p:nvPr/>
        </p:nvSpPr>
        <p:spPr>
          <a:xfrm>
            <a:off x="7114032" y="3291840"/>
            <a:ext cx="3785616"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Sort bars when ranking matters; keep category labels readable.</a:t>
            </a:r>
            <a:endParaRPr lang="en-US" sz="1150" dirty="0"/>
          </a:p>
        </p:txBody>
      </p:sp>
      <p:sp>
        <p:nvSpPr>
          <p:cNvPr id="22" name="Shape 20"/>
          <p:cNvSpPr/>
          <p:nvPr/>
        </p:nvSpPr>
        <p:spPr>
          <a:xfrm>
            <a:off x="6949440" y="3968496"/>
            <a:ext cx="4114800" cy="987552"/>
          </a:xfrm>
          <a:prstGeom prst="roundRect">
            <a:avLst>
              <a:gd name="adj" fmla="val 7407"/>
            </a:avLst>
          </a:prstGeom>
          <a:solidFill>
            <a:srgbClr val="FDECEC"/>
          </a:solidFill>
          <a:ln w="10160">
            <a:solidFill>
              <a:srgbClr val="E9EEF5"/>
            </a:solidFill>
            <a:prstDash val="solid"/>
          </a:ln>
        </p:spPr>
      </p:sp>
      <p:sp>
        <p:nvSpPr>
          <p:cNvPr id="23" name="Text 21"/>
          <p:cNvSpPr/>
          <p:nvPr/>
        </p:nvSpPr>
        <p:spPr>
          <a:xfrm>
            <a:off x="7114032" y="4105656"/>
            <a:ext cx="378561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Avoid</a:t>
            </a:r>
            <a:endParaRPr lang="en-US" sz="1500" dirty="0"/>
          </a:p>
        </p:txBody>
      </p:sp>
      <p:sp>
        <p:nvSpPr>
          <p:cNvPr id="24" name="Text 22"/>
          <p:cNvSpPr/>
          <p:nvPr/>
        </p:nvSpPr>
        <p:spPr>
          <a:xfrm>
            <a:off x="7114032" y="4443984"/>
            <a:ext cx="3785616"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3D bars, too many categories and truncated baselines.</a:t>
            </a:r>
            <a:endParaRPr lang="en-US" sz="1150" dirty="0"/>
          </a:p>
        </p:txBody>
      </p:sp>
      <p:sp>
        <p:nvSpPr>
          <p:cNvPr id="25" name="Shape 23"/>
          <p:cNvSpPr/>
          <p:nvPr/>
        </p:nvSpPr>
        <p:spPr>
          <a:xfrm>
            <a:off x="1828800" y="5650992"/>
            <a:ext cx="8412480" cy="420624"/>
          </a:xfrm>
          <a:prstGeom prst="roundRect">
            <a:avLst>
              <a:gd name="adj" fmla="val 10870"/>
            </a:avLst>
          </a:prstGeom>
          <a:solidFill>
            <a:srgbClr val="F8FBF9"/>
          </a:solidFill>
          <a:ln w="12700">
            <a:solidFill>
              <a:srgbClr val="F59E0B"/>
            </a:solidFill>
            <a:prstDash val="solid"/>
          </a:ln>
        </p:spPr>
      </p:sp>
      <p:sp>
        <p:nvSpPr>
          <p:cNvPr id="26" name="Text 24"/>
          <p:cNvSpPr/>
          <p:nvPr/>
        </p:nvSpPr>
        <p:spPr>
          <a:xfrm>
            <a:off x="1938528" y="5733288"/>
            <a:ext cx="819302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Question: “Which customer segment has the highest average balance?”</a:t>
            </a:r>
            <a:endParaRPr lang="en-US" sz="1050" dirty="0"/>
          </a:p>
        </p:txBody>
      </p:sp>
      <p:sp>
        <p:nvSpPr>
          <p:cNvPr id="27"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Outliers: extreme observations that deserve investigation</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An outlier may be an error, a rare valid case, a new regime — or the most interesting observation in the dataset.</a:t>
            </a:r>
            <a:endParaRPr lang="en-US" sz="1300" dirty="0"/>
          </a:p>
        </p:txBody>
      </p:sp>
      <p:sp>
        <p:nvSpPr>
          <p:cNvPr id="7" name="Shape 5"/>
          <p:cNvSpPr/>
          <p:nvPr/>
        </p:nvSpPr>
        <p:spPr>
          <a:xfrm>
            <a:off x="868680" y="4983480"/>
            <a:ext cx="5303520" cy="0"/>
          </a:xfrm>
          <a:prstGeom prst="line">
            <a:avLst/>
          </a:prstGeom>
          <a:noFill/>
          <a:ln w="12700">
            <a:solidFill>
              <a:srgbClr val="AEB8C5"/>
            </a:solidFill>
            <a:prstDash val="solid"/>
          </a:ln>
        </p:spPr>
      </p:sp>
      <p:sp>
        <p:nvSpPr>
          <p:cNvPr id="8" name="Shape 6"/>
          <p:cNvSpPr/>
          <p:nvPr/>
        </p:nvSpPr>
        <p:spPr>
          <a:xfrm>
            <a:off x="868680" y="1645920"/>
            <a:ext cx="0" cy="3337560"/>
          </a:xfrm>
          <a:prstGeom prst="line">
            <a:avLst/>
          </a:prstGeom>
          <a:noFill/>
          <a:ln w="12700">
            <a:solidFill>
              <a:srgbClr val="AEB8C5"/>
            </a:solidFill>
            <a:prstDash val="solid"/>
          </a:ln>
        </p:spPr>
      </p:sp>
      <p:sp>
        <p:nvSpPr>
          <p:cNvPr id="9" name="Text 7"/>
          <p:cNvSpPr/>
          <p:nvPr/>
        </p:nvSpPr>
        <p:spPr>
          <a:xfrm>
            <a:off x="868680" y="1371600"/>
            <a:ext cx="5303520" cy="201168"/>
          </a:xfrm>
          <a:prstGeom prst="rect">
            <a:avLst/>
          </a:prstGeom>
          <a:noFill/>
          <a:ln/>
        </p:spPr>
        <p:txBody>
          <a:bodyPr wrap="square" lIns="0" tIns="0" rIns="0" bIns="0" rtlCol="0" anchor="ctr"/>
          <a:lstStyle/>
          <a:p>
            <a:pPr marL="0" indent="0" algn="ctr">
              <a:buNone/>
            </a:pPr>
            <a:r>
              <a:rPr lang="en-US" sz="1000" b="1" dirty="0">
                <a:solidFill>
                  <a:srgbClr val="0B1F33"/>
                </a:solidFill>
              </a:rPr>
              <a:t>Mostly regular pattern</a:t>
            </a:r>
            <a:endParaRPr lang="en-US" sz="1000" dirty="0"/>
          </a:p>
        </p:txBody>
      </p:sp>
      <p:sp>
        <p:nvSpPr>
          <p:cNvPr id="10" name="Shape 8"/>
          <p:cNvSpPr/>
          <p:nvPr/>
        </p:nvSpPr>
        <p:spPr>
          <a:xfrm>
            <a:off x="1367028" y="4550969"/>
            <a:ext cx="64008" cy="64008"/>
          </a:xfrm>
          <a:prstGeom prst="ellipse">
            <a:avLst/>
          </a:prstGeom>
          <a:solidFill>
            <a:srgbClr val="2F6BFF"/>
          </a:solidFill>
          <a:ln w="12700">
            <a:solidFill>
              <a:srgbClr val="2F6BFF"/>
            </a:solidFill>
            <a:prstDash val="solid"/>
          </a:ln>
        </p:spPr>
      </p:sp>
      <p:sp>
        <p:nvSpPr>
          <p:cNvPr id="11" name="Shape 9"/>
          <p:cNvSpPr/>
          <p:nvPr/>
        </p:nvSpPr>
        <p:spPr>
          <a:xfrm>
            <a:off x="1685239" y="4350715"/>
            <a:ext cx="64008" cy="64008"/>
          </a:xfrm>
          <a:prstGeom prst="ellipse">
            <a:avLst/>
          </a:prstGeom>
          <a:solidFill>
            <a:srgbClr val="2F6BFF"/>
          </a:solidFill>
          <a:ln w="12700">
            <a:solidFill>
              <a:srgbClr val="2F6BFF"/>
            </a:solidFill>
            <a:prstDash val="solid"/>
          </a:ln>
        </p:spPr>
      </p:sp>
      <p:sp>
        <p:nvSpPr>
          <p:cNvPr id="12" name="Shape 10"/>
          <p:cNvSpPr/>
          <p:nvPr/>
        </p:nvSpPr>
        <p:spPr>
          <a:xfrm>
            <a:off x="2109521" y="4217213"/>
            <a:ext cx="64008" cy="64008"/>
          </a:xfrm>
          <a:prstGeom prst="ellipse">
            <a:avLst/>
          </a:prstGeom>
          <a:solidFill>
            <a:srgbClr val="2F6BFF"/>
          </a:solidFill>
          <a:ln w="12700">
            <a:solidFill>
              <a:srgbClr val="2F6BFF"/>
            </a:solidFill>
            <a:prstDash val="solid"/>
          </a:ln>
        </p:spPr>
      </p:sp>
      <p:sp>
        <p:nvSpPr>
          <p:cNvPr id="13" name="Shape 11"/>
          <p:cNvSpPr/>
          <p:nvPr/>
        </p:nvSpPr>
        <p:spPr>
          <a:xfrm>
            <a:off x="2427732" y="4016959"/>
            <a:ext cx="64008" cy="64008"/>
          </a:xfrm>
          <a:prstGeom prst="ellipse">
            <a:avLst/>
          </a:prstGeom>
          <a:solidFill>
            <a:srgbClr val="2F6BFF"/>
          </a:solidFill>
          <a:ln w="12700">
            <a:solidFill>
              <a:srgbClr val="2F6BFF"/>
            </a:solidFill>
            <a:prstDash val="solid"/>
          </a:ln>
        </p:spPr>
      </p:sp>
      <p:sp>
        <p:nvSpPr>
          <p:cNvPr id="14" name="Shape 12"/>
          <p:cNvSpPr/>
          <p:nvPr/>
        </p:nvSpPr>
        <p:spPr>
          <a:xfrm>
            <a:off x="2798978" y="3850081"/>
            <a:ext cx="64008" cy="64008"/>
          </a:xfrm>
          <a:prstGeom prst="ellipse">
            <a:avLst/>
          </a:prstGeom>
          <a:solidFill>
            <a:srgbClr val="2F6BFF"/>
          </a:solidFill>
          <a:ln w="12700">
            <a:solidFill>
              <a:srgbClr val="2F6BFF"/>
            </a:solidFill>
            <a:prstDash val="solid"/>
          </a:ln>
        </p:spPr>
      </p:sp>
      <p:sp>
        <p:nvSpPr>
          <p:cNvPr id="15" name="Shape 13"/>
          <p:cNvSpPr/>
          <p:nvPr/>
        </p:nvSpPr>
        <p:spPr>
          <a:xfrm>
            <a:off x="3223260" y="3549701"/>
            <a:ext cx="64008" cy="64008"/>
          </a:xfrm>
          <a:prstGeom prst="ellipse">
            <a:avLst/>
          </a:prstGeom>
          <a:solidFill>
            <a:srgbClr val="2F6BFF"/>
          </a:solidFill>
          <a:ln w="12700">
            <a:solidFill>
              <a:srgbClr val="2F6BFF"/>
            </a:solidFill>
            <a:prstDash val="solid"/>
          </a:ln>
        </p:spPr>
      </p:sp>
      <p:sp>
        <p:nvSpPr>
          <p:cNvPr id="16" name="Shape 14"/>
          <p:cNvSpPr/>
          <p:nvPr/>
        </p:nvSpPr>
        <p:spPr>
          <a:xfrm>
            <a:off x="3594506" y="3382823"/>
            <a:ext cx="64008" cy="64008"/>
          </a:xfrm>
          <a:prstGeom prst="ellipse">
            <a:avLst/>
          </a:prstGeom>
          <a:solidFill>
            <a:srgbClr val="2F6BFF"/>
          </a:solidFill>
          <a:ln w="12700">
            <a:solidFill>
              <a:srgbClr val="2F6BFF"/>
            </a:solidFill>
            <a:prstDash val="solid"/>
          </a:ln>
        </p:spPr>
      </p:sp>
      <p:sp>
        <p:nvSpPr>
          <p:cNvPr id="17" name="Shape 15"/>
          <p:cNvSpPr/>
          <p:nvPr/>
        </p:nvSpPr>
        <p:spPr>
          <a:xfrm>
            <a:off x="4018788" y="3149194"/>
            <a:ext cx="64008" cy="64008"/>
          </a:xfrm>
          <a:prstGeom prst="ellipse">
            <a:avLst/>
          </a:prstGeom>
          <a:solidFill>
            <a:srgbClr val="2F6BFF"/>
          </a:solidFill>
          <a:ln w="12700">
            <a:solidFill>
              <a:srgbClr val="2F6BFF"/>
            </a:solidFill>
            <a:prstDash val="solid"/>
          </a:ln>
        </p:spPr>
      </p:sp>
      <p:sp>
        <p:nvSpPr>
          <p:cNvPr id="18" name="Shape 16"/>
          <p:cNvSpPr/>
          <p:nvPr/>
        </p:nvSpPr>
        <p:spPr>
          <a:xfrm>
            <a:off x="4443070" y="2948940"/>
            <a:ext cx="64008" cy="64008"/>
          </a:xfrm>
          <a:prstGeom prst="ellipse">
            <a:avLst/>
          </a:prstGeom>
          <a:solidFill>
            <a:srgbClr val="2F6BFF"/>
          </a:solidFill>
          <a:ln w="12700">
            <a:solidFill>
              <a:srgbClr val="2F6BFF"/>
            </a:solidFill>
            <a:prstDash val="solid"/>
          </a:ln>
        </p:spPr>
      </p:sp>
      <p:sp>
        <p:nvSpPr>
          <p:cNvPr id="19" name="Shape 17"/>
          <p:cNvSpPr/>
          <p:nvPr/>
        </p:nvSpPr>
        <p:spPr>
          <a:xfrm>
            <a:off x="4814316" y="2715311"/>
            <a:ext cx="64008" cy="64008"/>
          </a:xfrm>
          <a:prstGeom prst="ellipse">
            <a:avLst/>
          </a:prstGeom>
          <a:solidFill>
            <a:srgbClr val="2F6BFF"/>
          </a:solidFill>
          <a:ln w="12700">
            <a:solidFill>
              <a:srgbClr val="2F6BFF"/>
            </a:solidFill>
            <a:prstDash val="solid"/>
          </a:ln>
        </p:spPr>
      </p:sp>
      <p:sp>
        <p:nvSpPr>
          <p:cNvPr id="20" name="Shape 18"/>
          <p:cNvSpPr/>
          <p:nvPr/>
        </p:nvSpPr>
        <p:spPr>
          <a:xfrm>
            <a:off x="5185562" y="2548433"/>
            <a:ext cx="64008" cy="64008"/>
          </a:xfrm>
          <a:prstGeom prst="ellipse">
            <a:avLst/>
          </a:prstGeom>
          <a:solidFill>
            <a:srgbClr val="2F6BFF"/>
          </a:solidFill>
          <a:ln w="12700">
            <a:solidFill>
              <a:srgbClr val="2F6BFF"/>
            </a:solidFill>
            <a:prstDash val="solid"/>
          </a:ln>
        </p:spPr>
      </p:sp>
      <p:sp>
        <p:nvSpPr>
          <p:cNvPr id="21" name="Shape 19"/>
          <p:cNvSpPr/>
          <p:nvPr/>
        </p:nvSpPr>
        <p:spPr>
          <a:xfrm>
            <a:off x="5768950" y="1714043"/>
            <a:ext cx="64008" cy="64008"/>
          </a:xfrm>
          <a:prstGeom prst="ellipse">
            <a:avLst/>
          </a:prstGeom>
          <a:solidFill>
            <a:srgbClr val="2F6BFF"/>
          </a:solidFill>
          <a:ln w="12700">
            <a:solidFill>
              <a:srgbClr val="2F6BFF"/>
            </a:solidFill>
            <a:prstDash val="solid"/>
          </a:ln>
        </p:spPr>
      </p:sp>
      <p:sp>
        <p:nvSpPr>
          <p:cNvPr id="22" name="Shape 20"/>
          <p:cNvSpPr/>
          <p:nvPr/>
        </p:nvSpPr>
        <p:spPr>
          <a:xfrm>
            <a:off x="5550408" y="4224528"/>
            <a:ext cx="182880" cy="182880"/>
          </a:xfrm>
          <a:prstGeom prst="ellipse">
            <a:avLst/>
          </a:prstGeom>
          <a:solidFill>
            <a:srgbClr val="D94F4F"/>
          </a:solidFill>
          <a:ln w="13970">
            <a:solidFill>
              <a:srgbClr val="D94F4F"/>
            </a:solidFill>
            <a:prstDash val="solid"/>
          </a:ln>
        </p:spPr>
      </p:sp>
      <p:sp>
        <p:nvSpPr>
          <p:cNvPr id="23" name="Text 21"/>
          <p:cNvSpPr/>
          <p:nvPr/>
        </p:nvSpPr>
        <p:spPr>
          <a:xfrm>
            <a:off x="5212080" y="4023360"/>
            <a:ext cx="868680" cy="228600"/>
          </a:xfrm>
          <a:prstGeom prst="rect">
            <a:avLst/>
          </a:prstGeom>
          <a:noFill/>
          <a:ln/>
        </p:spPr>
        <p:txBody>
          <a:bodyPr wrap="square" lIns="0" tIns="0" rIns="0" bIns="0" rtlCol="0" anchor="ctr"/>
          <a:lstStyle/>
          <a:p>
            <a:pPr marL="0" indent="0">
              <a:buNone/>
            </a:pPr>
            <a:r>
              <a:rPr lang="en-US" sz="1000" b="1" dirty="0">
                <a:solidFill>
                  <a:srgbClr val="D94F4F"/>
                </a:solidFill>
              </a:rPr>
              <a:t>outlier</a:t>
            </a:r>
            <a:endParaRPr lang="en-US" sz="1000" dirty="0"/>
          </a:p>
        </p:txBody>
      </p:sp>
      <p:sp>
        <p:nvSpPr>
          <p:cNvPr id="24" name="Shape 22"/>
          <p:cNvSpPr/>
          <p:nvPr/>
        </p:nvSpPr>
        <p:spPr>
          <a:xfrm>
            <a:off x="6720840" y="1591056"/>
            <a:ext cx="4370832" cy="768096"/>
          </a:xfrm>
          <a:prstGeom prst="roundRect">
            <a:avLst>
              <a:gd name="adj" fmla="val 9524"/>
            </a:avLst>
          </a:prstGeom>
          <a:solidFill>
            <a:srgbClr val="FDECEC"/>
          </a:solidFill>
          <a:ln w="10160">
            <a:solidFill>
              <a:srgbClr val="E9EEF5"/>
            </a:solidFill>
            <a:prstDash val="solid"/>
          </a:ln>
        </p:spPr>
      </p:sp>
      <p:sp>
        <p:nvSpPr>
          <p:cNvPr id="25" name="Text 23"/>
          <p:cNvSpPr/>
          <p:nvPr/>
        </p:nvSpPr>
        <p:spPr>
          <a:xfrm>
            <a:off x="6885432" y="1728216"/>
            <a:ext cx="4041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Data error</a:t>
            </a:r>
            <a:endParaRPr lang="en-US" sz="1500" dirty="0"/>
          </a:p>
        </p:txBody>
      </p:sp>
      <p:sp>
        <p:nvSpPr>
          <p:cNvPr id="26" name="Text 24"/>
          <p:cNvSpPr/>
          <p:nvPr/>
        </p:nvSpPr>
        <p:spPr>
          <a:xfrm>
            <a:off x="6885432" y="2066544"/>
            <a:ext cx="4041648" cy="164592"/>
          </a:xfrm>
          <a:prstGeom prst="rect">
            <a:avLst/>
          </a:prstGeom>
          <a:noFill/>
          <a:ln/>
        </p:spPr>
        <p:txBody>
          <a:bodyPr wrap="square" lIns="381" tIns="381" rIns="381" bIns="381" rtlCol="0" anchor="ctr">
            <a:normAutofit lnSpcReduction="10000"/>
          </a:bodyPr>
          <a:lstStyle/>
          <a:p>
            <a:pPr marL="0" indent="0">
              <a:buNone/>
            </a:pPr>
            <a:r>
              <a:rPr lang="en-US" sz="1150" dirty="0">
                <a:solidFill>
                  <a:srgbClr val="26364A"/>
                </a:solidFill>
              </a:rPr>
              <a:t>Extra zero, wrong sign, wrong unit, duplicate record.</a:t>
            </a:r>
            <a:endParaRPr lang="en-US" sz="1150" dirty="0"/>
          </a:p>
        </p:txBody>
      </p:sp>
      <p:sp>
        <p:nvSpPr>
          <p:cNvPr id="27" name="Shape 25"/>
          <p:cNvSpPr/>
          <p:nvPr/>
        </p:nvSpPr>
        <p:spPr>
          <a:xfrm>
            <a:off x="6720840" y="2560320"/>
            <a:ext cx="4370832" cy="768096"/>
          </a:xfrm>
          <a:prstGeom prst="roundRect">
            <a:avLst>
              <a:gd name="adj" fmla="val 9524"/>
            </a:avLst>
          </a:prstGeom>
          <a:solidFill>
            <a:srgbClr val="EAF1FF"/>
          </a:solidFill>
          <a:ln w="10160">
            <a:solidFill>
              <a:srgbClr val="E9EEF5"/>
            </a:solidFill>
            <a:prstDash val="solid"/>
          </a:ln>
        </p:spPr>
      </p:sp>
      <p:sp>
        <p:nvSpPr>
          <p:cNvPr id="28" name="Text 26"/>
          <p:cNvSpPr/>
          <p:nvPr/>
        </p:nvSpPr>
        <p:spPr>
          <a:xfrm>
            <a:off x="6885432" y="2697480"/>
            <a:ext cx="4041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Valid rare case</a:t>
            </a:r>
            <a:endParaRPr lang="en-US" sz="1500" dirty="0"/>
          </a:p>
        </p:txBody>
      </p:sp>
      <p:sp>
        <p:nvSpPr>
          <p:cNvPr id="29" name="Text 27"/>
          <p:cNvSpPr/>
          <p:nvPr/>
        </p:nvSpPr>
        <p:spPr>
          <a:xfrm>
            <a:off x="6885432" y="3035808"/>
            <a:ext cx="4041648" cy="164592"/>
          </a:xfrm>
          <a:prstGeom prst="rect">
            <a:avLst/>
          </a:prstGeom>
          <a:noFill/>
          <a:ln/>
        </p:spPr>
        <p:txBody>
          <a:bodyPr wrap="square" lIns="381" tIns="381" rIns="381" bIns="381" rtlCol="0" anchor="ctr">
            <a:normAutofit lnSpcReduction="10000"/>
          </a:bodyPr>
          <a:lstStyle/>
          <a:p>
            <a:pPr marL="0" indent="0">
              <a:buNone/>
            </a:pPr>
            <a:r>
              <a:rPr lang="en-US" sz="1150" dirty="0">
                <a:solidFill>
                  <a:srgbClr val="26364A"/>
                </a:solidFill>
              </a:rPr>
              <a:t>Very wealthy customer, large transaction, unusual product.</a:t>
            </a:r>
            <a:endParaRPr lang="en-US" sz="1150" dirty="0"/>
          </a:p>
        </p:txBody>
      </p:sp>
      <p:sp>
        <p:nvSpPr>
          <p:cNvPr id="30" name="Shape 28"/>
          <p:cNvSpPr/>
          <p:nvPr/>
        </p:nvSpPr>
        <p:spPr>
          <a:xfrm>
            <a:off x="6720840" y="3529584"/>
            <a:ext cx="4370832" cy="768096"/>
          </a:xfrm>
          <a:prstGeom prst="roundRect">
            <a:avLst>
              <a:gd name="adj" fmla="val 9524"/>
            </a:avLst>
          </a:prstGeom>
          <a:solidFill>
            <a:srgbClr val="FFF4E2"/>
          </a:solidFill>
          <a:ln w="10160">
            <a:solidFill>
              <a:srgbClr val="E9EEF5"/>
            </a:solidFill>
            <a:prstDash val="solid"/>
          </a:ln>
        </p:spPr>
      </p:sp>
      <p:sp>
        <p:nvSpPr>
          <p:cNvPr id="31" name="Text 29"/>
          <p:cNvSpPr/>
          <p:nvPr/>
        </p:nvSpPr>
        <p:spPr>
          <a:xfrm>
            <a:off x="6885432" y="3666744"/>
            <a:ext cx="4041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Process change</a:t>
            </a:r>
            <a:endParaRPr lang="en-US" sz="1500" dirty="0"/>
          </a:p>
        </p:txBody>
      </p:sp>
      <p:sp>
        <p:nvSpPr>
          <p:cNvPr id="32" name="Text 30"/>
          <p:cNvSpPr/>
          <p:nvPr/>
        </p:nvSpPr>
        <p:spPr>
          <a:xfrm>
            <a:off x="6885432" y="4005072"/>
            <a:ext cx="4041648" cy="164592"/>
          </a:xfrm>
          <a:prstGeom prst="rect">
            <a:avLst/>
          </a:prstGeom>
          <a:noFill/>
          <a:ln/>
        </p:spPr>
        <p:txBody>
          <a:bodyPr wrap="square" lIns="381" tIns="381" rIns="381" bIns="381" rtlCol="0" anchor="ctr">
            <a:normAutofit lnSpcReduction="10000"/>
          </a:bodyPr>
          <a:lstStyle/>
          <a:p>
            <a:pPr marL="0" indent="0">
              <a:buNone/>
            </a:pPr>
            <a:r>
              <a:rPr lang="en-US" sz="1150" dirty="0">
                <a:solidFill>
                  <a:srgbClr val="26364A"/>
                </a:solidFill>
              </a:rPr>
              <a:t>System migration, policy change, new branch behaviour.</a:t>
            </a:r>
            <a:endParaRPr lang="en-US" sz="1150" dirty="0"/>
          </a:p>
        </p:txBody>
      </p:sp>
      <p:sp>
        <p:nvSpPr>
          <p:cNvPr id="33" name="Shape 31"/>
          <p:cNvSpPr/>
          <p:nvPr/>
        </p:nvSpPr>
        <p:spPr>
          <a:xfrm>
            <a:off x="6720840" y="4498848"/>
            <a:ext cx="4370832" cy="768096"/>
          </a:xfrm>
          <a:prstGeom prst="roundRect">
            <a:avLst>
              <a:gd name="adj" fmla="val 9524"/>
            </a:avLst>
          </a:prstGeom>
          <a:solidFill>
            <a:srgbClr val="EAF7EF"/>
          </a:solidFill>
          <a:ln w="10160">
            <a:solidFill>
              <a:srgbClr val="E9EEF5"/>
            </a:solidFill>
            <a:prstDash val="solid"/>
          </a:ln>
        </p:spPr>
      </p:sp>
      <p:sp>
        <p:nvSpPr>
          <p:cNvPr id="34" name="Text 32"/>
          <p:cNvSpPr/>
          <p:nvPr/>
        </p:nvSpPr>
        <p:spPr>
          <a:xfrm>
            <a:off x="6885432" y="4636008"/>
            <a:ext cx="4041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Interesting signal</a:t>
            </a:r>
            <a:endParaRPr lang="en-US" sz="1500" dirty="0"/>
          </a:p>
        </p:txBody>
      </p:sp>
      <p:sp>
        <p:nvSpPr>
          <p:cNvPr id="35" name="Text 33"/>
          <p:cNvSpPr/>
          <p:nvPr/>
        </p:nvSpPr>
        <p:spPr>
          <a:xfrm>
            <a:off x="6885432" y="4974336"/>
            <a:ext cx="4041648" cy="164592"/>
          </a:xfrm>
          <a:prstGeom prst="rect">
            <a:avLst/>
          </a:prstGeom>
          <a:noFill/>
          <a:ln/>
        </p:spPr>
        <p:txBody>
          <a:bodyPr wrap="square" lIns="381" tIns="381" rIns="381" bIns="381" rtlCol="0" anchor="ctr">
            <a:normAutofit lnSpcReduction="10000"/>
          </a:bodyPr>
          <a:lstStyle/>
          <a:p>
            <a:pPr marL="0" indent="0">
              <a:buNone/>
            </a:pPr>
            <a:r>
              <a:rPr lang="en-US" sz="1150" dirty="0">
                <a:solidFill>
                  <a:srgbClr val="26364A"/>
                </a:solidFill>
              </a:rPr>
              <a:t>Potential fraud, stress event or operational exception.</a:t>
            </a:r>
            <a:endParaRPr lang="en-US" sz="1150" dirty="0"/>
          </a:p>
        </p:txBody>
      </p:sp>
      <p:sp>
        <p:nvSpPr>
          <p:cNvPr id="36" name="Shape 34"/>
          <p:cNvSpPr/>
          <p:nvPr/>
        </p:nvSpPr>
        <p:spPr>
          <a:xfrm>
            <a:off x="2724912" y="5687568"/>
            <a:ext cx="6537960" cy="502920"/>
          </a:xfrm>
          <a:prstGeom prst="roundRect">
            <a:avLst>
              <a:gd name="adj" fmla="val 9091"/>
            </a:avLst>
          </a:prstGeom>
          <a:solidFill>
            <a:srgbClr val="FFFFFF"/>
          </a:solidFill>
          <a:ln w="15240">
            <a:solidFill>
              <a:srgbClr val="D94F4F"/>
            </a:solidFill>
            <a:prstDash val="solid"/>
          </a:ln>
        </p:spPr>
      </p:sp>
      <p:sp>
        <p:nvSpPr>
          <p:cNvPr id="37" name="Shape 35"/>
          <p:cNvSpPr/>
          <p:nvPr/>
        </p:nvSpPr>
        <p:spPr>
          <a:xfrm>
            <a:off x="2724912" y="5687568"/>
            <a:ext cx="73152" cy="502920"/>
          </a:xfrm>
          <a:prstGeom prst="rect">
            <a:avLst/>
          </a:prstGeom>
          <a:solidFill>
            <a:srgbClr val="D94F4F"/>
          </a:solidFill>
          <a:ln w="12700">
            <a:solidFill>
              <a:srgbClr val="D94F4F"/>
            </a:solidFill>
            <a:prstDash val="solid"/>
          </a:ln>
        </p:spPr>
      </p:sp>
      <p:sp>
        <p:nvSpPr>
          <p:cNvPr id="38" name="Text 36"/>
          <p:cNvSpPr/>
          <p:nvPr/>
        </p:nvSpPr>
        <p:spPr>
          <a:xfrm>
            <a:off x="2889504" y="5797296"/>
            <a:ext cx="6281928" cy="283464"/>
          </a:xfrm>
          <a:prstGeom prst="rect">
            <a:avLst/>
          </a:prstGeom>
          <a:noFill/>
          <a:ln/>
        </p:spPr>
        <p:txBody>
          <a:bodyPr wrap="square" lIns="0" tIns="0" rIns="0" bIns="0" rtlCol="0" anchor="ctr">
            <a:normAutofit/>
          </a:bodyPr>
          <a:lstStyle/>
          <a:p>
            <a:pPr marL="0" indent="0">
              <a:buNone/>
            </a:pPr>
            <a:r>
              <a:rPr lang="en-US" sz="1150" b="1" dirty="0">
                <a:solidFill>
                  <a:srgbClr val="0B1F33"/>
                </a:solidFill>
              </a:rPr>
              <a:t>Never delete an outlier just because it is inconvenient.</a:t>
            </a:r>
            <a:endParaRPr lang="en-US" sz="1150" dirty="0"/>
          </a:p>
        </p:txBody>
      </p:sp>
      <p:sp>
        <p:nvSpPr>
          <p:cNvPr id="39"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Detecting outliers with the IQR rule</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 interquartile range is robust and works well as a first-pass rule.</a:t>
            </a:r>
            <a:endParaRPr lang="en-US" sz="1300" dirty="0"/>
          </a:p>
        </p:txBody>
      </p:sp>
      <p:sp>
        <p:nvSpPr>
          <p:cNvPr id="7" name="Shape 5"/>
          <p:cNvSpPr/>
          <p:nvPr/>
        </p:nvSpPr>
        <p:spPr>
          <a:xfrm>
            <a:off x="1305763" y="2125980"/>
            <a:ext cx="4462272" cy="0"/>
          </a:xfrm>
          <a:prstGeom prst="line">
            <a:avLst/>
          </a:prstGeom>
          <a:noFill/>
          <a:ln w="20320">
            <a:solidFill>
              <a:srgbClr val="173B57"/>
            </a:solidFill>
            <a:prstDash val="solid"/>
          </a:ln>
        </p:spPr>
      </p:sp>
      <p:sp>
        <p:nvSpPr>
          <p:cNvPr id="8" name="Shape 6"/>
          <p:cNvSpPr/>
          <p:nvPr/>
        </p:nvSpPr>
        <p:spPr>
          <a:xfrm>
            <a:off x="1305763" y="1979676"/>
            <a:ext cx="0" cy="292608"/>
          </a:xfrm>
          <a:prstGeom prst="line">
            <a:avLst/>
          </a:prstGeom>
          <a:noFill/>
          <a:ln w="20320">
            <a:solidFill>
              <a:srgbClr val="173B57"/>
            </a:solidFill>
            <a:prstDash val="solid"/>
          </a:ln>
        </p:spPr>
      </p:sp>
      <p:sp>
        <p:nvSpPr>
          <p:cNvPr id="9" name="Shape 7"/>
          <p:cNvSpPr/>
          <p:nvPr/>
        </p:nvSpPr>
        <p:spPr>
          <a:xfrm>
            <a:off x="5768035" y="1979676"/>
            <a:ext cx="0" cy="292608"/>
          </a:xfrm>
          <a:prstGeom prst="line">
            <a:avLst/>
          </a:prstGeom>
          <a:noFill/>
          <a:ln w="20320">
            <a:solidFill>
              <a:srgbClr val="173B57"/>
            </a:solidFill>
            <a:prstDash val="solid"/>
          </a:ln>
        </p:spPr>
      </p:sp>
      <p:sp>
        <p:nvSpPr>
          <p:cNvPr id="10" name="Shape 8"/>
          <p:cNvSpPr/>
          <p:nvPr/>
        </p:nvSpPr>
        <p:spPr>
          <a:xfrm>
            <a:off x="2532888" y="1869948"/>
            <a:ext cx="2119579" cy="512064"/>
          </a:xfrm>
          <a:prstGeom prst="rect">
            <a:avLst/>
          </a:prstGeom>
          <a:solidFill>
            <a:srgbClr val="EAF1FF"/>
          </a:solidFill>
          <a:ln w="16510">
            <a:solidFill>
              <a:srgbClr val="2F6BFF"/>
            </a:solidFill>
            <a:prstDash val="solid"/>
          </a:ln>
        </p:spPr>
      </p:sp>
      <p:sp>
        <p:nvSpPr>
          <p:cNvPr id="11" name="Shape 9"/>
          <p:cNvSpPr/>
          <p:nvPr/>
        </p:nvSpPr>
        <p:spPr>
          <a:xfrm>
            <a:off x="3536899" y="1869948"/>
            <a:ext cx="0" cy="512064"/>
          </a:xfrm>
          <a:prstGeom prst="line">
            <a:avLst/>
          </a:prstGeom>
          <a:noFill/>
          <a:ln w="25400">
            <a:solidFill>
              <a:srgbClr val="F59E0B"/>
            </a:solidFill>
            <a:prstDash val="solid"/>
          </a:ln>
        </p:spPr>
      </p:sp>
      <p:sp>
        <p:nvSpPr>
          <p:cNvPr id="12" name="Shape 10"/>
          <p:cNvSpPr/>
          <p:nvPr/>
        </p:nvSpPr>
        <p:spPr>
          <a:xfrm>
            <a:off x="6177686" y="2089404"/>
            <a:ext cx="73152" cy="73152"/>
          </a:xfrm>
          <a:prstGeom prst="ellipse">
            <a:avLst/>
          </a:prstGeom>
          <a:solidFill>
            <a:srgbClr val="D94F4F"/>
          </a:solidFill>
          <a:ln w="12700">
            <a:solidFill>
              <a:srgbClr val="D94F4F"/>
            </a:solidFill>
            <a:prstDash val="solid"/>
          </a:ln>
        </p:spPr>
      </p:sp>
      <p:sp>
        <p:nvSpPr>
          <p:cNvPr id="13" name="Shape 11"/>
          <p:cNvSpPr/>
          <p:nvPr/>
        </p:nvSpPr>
        <p:spPr>
          <a:xfrm>
            <a:off x="6568135" y="2089404"/>
            <a:ext cx="73152" cy="73152"/>
          </a:xfrm>
          <a:prstGeom prst="ellipse">
            <a:avLst/>
          </a:prstGeom>
          <a:solidFill>
            <a:srgbClr val="D94F4F"/>
          </a:solidFill>
          <a:ln w="12700">
            <a:solidFill>
              <a:srgbClr val="D94F4F"/>
            </a:solidFill>
            <a:prstDash val="solid"/>
          </a:ln>
        </p:spPr>
      </p:sp>
      <p:sp>
        <p:nvSpPr>
          <p:cNvPr id="14" name="Shape 12"/>
          <p:cNvSpPr/>
          <p:nvPr/>
        </p:nvSpPr>
        <p:spPr>
          <a:xfrm>
            <a:off x="841248" y="3090672"/>
            <a:ext cx="5532120" cy="1783080"/>
          </a:xfrm>
          <a:prstGeom prst="roundRect">
            <a:avLst>
              <a:gd name="adj" fmla="val 4103"/>
            </a:avLst>
          </a:prstGeom>
          <a:solidFill>
            <a:srgbClr val="EAF1FF"/>
          </a:solidFill>
          <a:ln w="10160">
            <a:solidFill>
              <a:srgbClr val="E9EEF5"/>
            </a:solidFill>
            <a:prstDash val="solid"/>
          </a:ln>
        </p:spPr>
      </p:sp>
      <p:sp>
        <p:nvSpPr>
          <p:cNvPr id="15" name="Text 13"/>
          <p:cNvSpPr/>
          <p:nvPr/>
        </p:nvSpPr>
        <p:spPr>
          <a:xfrm>
            <a:off x="1005840" y="3227832"/>
            <a:ext cx="52029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IQR rule</a:t>
            </a:r>
            <a:endParaRPr lang="en-US" sz="1500" dirty="0"/>
          </a:p>
        </p:txBody>
      </p:sp>
      <p:sp>
        <p:nvSpPr>
          <p:cNvPr id="16" name="Text 14"/>
          <p:cNvSpPr/>
          <p:nvPr/>
        </p:nvSpPr>
        <p:spPr>
          <a:xfrm>
            <a:off x="1005840" y="3566160"/>
            <a:ext cx="5202936" cy="117957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Q1 = 25th percentile</a:t>
            </a:r>
            <a:endParaRPr lang="en-US" sz="1150" dirty="0"/>
          </a:p>
          <a:p>
            <a:pPr marL="0" indent="0">
              <a:buNone/>
            </a:pPr>
            <a:r>
              <a:rPr lang="en-US" sz="1150" dirty="0">
                <a:solidFill>
                  <a:srgbClr val="26364A"/>
                </a:solidFill>
              </a:rPr>
              <a:t>Q3 = 75th percentile</a:t>
            </a:r>
            <a:endParaRPr lang="en-US" sz="1150" dirty="0"/>
          </a:p>
          <a:p>
            <a:pPr marL="0" indent="0">
              <a:buNone/>
            </a:pPr>
            <a:r>
              <a:rPr lang="en-US" sz="1150" dirty="0">
                <a:solidFill>
                  <a:srgbClr val="26364A"/>
                </a:solidFill>
              </a:rPr>
              <a:t>IQR = Q3 − Q1</a:t>
            </a:r>
            <a:endParaRPr lang="en-US" sz="1150" dirty="0"/>
          </a:p>
          <a:p>
            <a:pPr marL="0" indent="0">
              <a:buNone/>
            </a:pPr>
            <a:r>
              <a:rPr lang="en-US" sz="1150" dirty="0">
                <a:solidFill>
                  <a:srgbClr val="26364A"/>
                </a:solidFill>
              </a:rPr>
              <a:t>Flag values below Q1 − 1.5×IQR or above Q3 + 1.5×IQR.</a:t>
            </a:r>
            <a:endParaRPr lang="en-US" sz="1150" dirty="0"/>
          </a:p>
        </p:txBody>
      </p:sp>
      <p:sp>
        <p:nvSpPr>
          <p:cNvPr id="17" name="Shape 15"/>
          <p:cNvSpPr/>
          <p:nvPr/>
        </p:nvSpPr>
        <p:spPr>
          <a:xfrm>
            <a:off x="6839712" y="1572768"/>
            <a:ext cx="3913632" cy="420624"/>
          </a:xfrm>
          <a:prstGeom prst="roundRect">
            <a:avLst>
              <a:gd name="adj" fmla="val 10870"/>
            </a:avLst>
          </a:prstGeom>
          <a:solidFill>
            <a:srgbClr val="F8FBF9"/>
          </a:solidFill>
          <a:ln w="12700">
            <a:solidFill>
              <a:srgbClr val="217346"/>
            </a:solidFill>
            <a:prstDash val="solid"/>
          </a:ln>
        </p:spPr>
      </p:sp>
      <p:sp>
        <p:nvSpPr>
          <p:cNvPr id="18" name="Text 16"/>
          <p:cNvSpPr/>
          <p:nvPr/>
        </p:nvSpPr>
        <p:spPr>
          <a:xfrm>
            <a:off x="6949440" y="1655064"/>
            <a:ext cx="369417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Q1: =QUARTILE.INC(range,1)</a:t>
            </a:r>
            <a:endParaRPr lang="en-US" sz="1050" dirty="0"/>
          </a:p>
        </p:txBody>
      </p:sp>
      <p:sp>
        <p:nvSpPr>
          <p:cNvPr id="19" name="Shape 17"/>
          <p:cNvSpPr/>
          <p:nvPr/>
        </p:nvSpPr>
        <p:spPr>
          <a:xfrm>
            <a:off x="6839712" y="2157984"/>
            <a:ext cx="3913632" cy="420624"/>
          </a:xfrm>
          <a:prstGeom prst="roundRect">
            <a:avLst>
              <a:gd name="adj" fmla="val 10870"/>
            </a:avLst>
          </a:prstGeom>
          <a:solidFill>
            <a:srgbClr val="F8FBF9"/>
          </a:solidFill>
          <a:ln w="12700">
            <a:solidFill>
              <a:srgbClr val="217346"/>
            </a:solidFill>
            <a:prstDash val="solid"/>
          </a:ln>
        </p:spPr>
      </p:sp>
      <p:sp>
        <p:nvSpPr>
          <p:cNvPr id="20" name="Text 18"/>
          <p:cNvSpPr/>
          <p:nvPr/>
        </p:nvSpPr>
        <p:spPr>
          <a:xfrm>
            <a:off x="6949440" y="2240280"/>
            <a:ext cx="369417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Q3: =QUARTILE.INC(range,3)</a:t>
            </a:r>
            <a:endParaRPr lang="en-US" sz="1050" dirty="0"/>
          </a:p>
        </p:txBody>
      </p:sp>
      <p:sp>
        <p:nvSpPr>
          <p:cNvPr id="21" name="Shape 19"/>
          <p:cNvSpPr/>
          <p:nvPr/>
        </p:nvSpPr>
        <p:spPr>
          <a:xfrm>
            <a:off x="6839712" y="2743200"/>
            <a:ext cx="3913632" cy="420624"/>
          </a:xfrm>
          <a:prstGeom prst="roundRect">
            <a:avLst>
              <a:gd name="adj" fmla="val 10870"/>
            </a:avLst>
          </a:prstGeom>
          <a:solidFill>
            <a:srgbClr val="F8FBF9"/>
          </a:solidFill>
          <a:ln w="12700">
            <a:solidFill>
              <a:srgbClr val="217346"/>
            </a:solidFill>
            <a:prstDash val="solid"/>
          </a:ln>
        </p:spPr>
      </p:sp>
      <p:sp>
        <p:nvSpPr>
          <p:cNvPr id="22" name="Text 20"/>
          <p:cNvSpPr/>
          <p:nvPr/>
        </p:nvSpPr>
        <p:spPr>
          <a:xfrm>
            <a:off x="6949440" y="2825496"/>
            <a:ext cx="369417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IQR: =Q3-Q1</a:t>
            </a:r>
            <a:endParaRPr lang="en-US" sz="1050" dirty="0"/>
          </a:p>
        </p:txBody>
      </p:sp>
      <p:sp>
        <p:nvSpPr>
          <p:cNvPr id="23" name="Shape 21"/>
          <p:cNvSpPr/>
          <p:nvPr/>
        </p:nvSpPr>
        <p:spPr>
          <a:xfrm>
            <a:off x="6839712" y="3328416"/>
            <a:ext cx="3913632" cy="420624"/>
          </a:xfrm>
          <a:prstGeom prst="roundRect">
            <a:avLst>
              <a:gd name="adj" fmla="val 10870"/>
            </a:avLst>
          </a:prstGeom>
          <a:solidFill>
            <a:srgbClr val="F8FBF9"/>
          </a:solidFill>
          <a:ln w="12700">
            <a:solidFill>
              <a:srgbClr val="217346"/>
            </a:solidFill>
            <a:prstDash val="solid"/>
          </a:ln>
        </p:spPr>
      </p:sp>
      <p:sp>
        <p:nvSpPr>
          <p:cNvPr id="24" name="Text 22"/>
          <p:cNvSpPr/>
          <p:nvPr/>
        </p:nvSpPr>
        <p:spPr>
          <a:xfrm>
            <a:off x="6949440" y="3410712"/>
            <a:ext cx="369417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Lower = Q1-1.5*IQR</a:t>
            </a:r>
            <a:endParaRPr lang="en-US" sz="1050" dirty="0"/>
          </a:p>
        </p:txBody>
      </p:sp>
      <p:sp>
        <p:nvSpPr>
          <p:cNvPr id="25" name="Shape 23"/>
          <p:cNvSpPr/>
          <p:nvPr/>
        </p:nvSpPr>
        <p:spPr>
          <a:xfrm>
            <a:off x="6839712" y="3913632"/>
            <a:ext cx="3913632" cy="420624"/>
          </a:xfrm>
          <a:prstGeom prst="roundRect">
            <a:avLst>
              <a:gd name="adj" fmla="val 10870"/>
            </a:avLst>
          </a:prstGeom>
          <a:solidFill>
            <a:srgbClr val="F8FBF9"/>
          </a:solidFill>
          <a:ln w="12700">
            <a:solidFill>
              <a:srgbClr val="217346"/>
            </a:solidFill>
            <a:prstDash val="solid"/>
          </a:ln>
        </p:spPr>
      </p:sp>
      <p:sp>
        <p:nvSpPr>
          <p:cNvPr id="26" name="Text 24"/>
          <p:cNvSpPr/>
          <p:nvPr/>
        </p:nvSpPr>
        <p:spPr>
          <a:xfrm>
            <a:off x="6949440" y="3995928"/>
            <a:ext cx="3694176"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Upper = Q3+1.5*IQR</a:t>
            </a:r>
            <a:endParaRPr lang="en-US" sz="1050" dirty="0"/>
          </a:p>
        </p:txBody>
      </p:sp>
      <p:sp>
        <p:nvSpPr>
          <p:cNvPr id="27" name="Shape 25"/>
          <p:cNvSpPr/>
          <p:nvPr/>
        </p:nvSpPr>
        <p:spPr>
          <a:xfrm>
            <a:off x="6812280" y="4727448"/>
            <a:ext cx="3977640" cy="621792"/>
          </a:xfrm>
          <a:prstGeom prst="roundRect">
            <a:avLst>
              <a:gd name="adj" fmla="val 7353"/>
            </a:avLst>
          </a:prstGeom>
          <a:solidFill>
            <a:srgbClr val="FFFFFF"/>
          </a:solidFill>
          <a:ln w="15240">
            <a:solidFill>
              <a:srgbClr val="F59E0B"/>
            </a:solidFill>
            <a:prstDash val="solid"/>
          </a:ln>
        </p:spPr>
      </p:sp>
      <p:sp>
        <p:nvSpPr>
          <p:cNvPr id="28" name="Shape 26"/>
          <p:cNvSpPr/>
          <p:nvPr/>
        </p:nvSpPr>
        <p:spPr>
          <a:xfrm>
            <a:off x="6812280" y="4727448"/>
            <a:ext cx="73152" cy="621792"/>
          </a:xfrm>
          <a:prstGeom prst="rect">
            <a:avLst/>
          </a:prstGeom>
          <a:solidFill>
            <a:srgbClr val="F59E0B"/>
          </a:solidFill>
          <a:ln w="12700">
            <a:solidFill>
              <a:srgbClr val="F59E0B"/>
            </a:solidFill>
            <a:prstDash val="solid"/>
          </a:ln>
        </p:spPr>
      </p:sp>
      <p:sp>
        <p:nvSpPr>
          <p:cNvPr id="29" name="Text 27"/>
          <p:cNvSpPr/>
          <p:nvPr/>
        </p:nvSpPr>
        <p:spPr>
          <a:xfrm>
            <a:off x="6976872" y="4837176"/>
            <a:ext cx="3721608" cy="402336"/>
          </a:xfrm>
          <a:prstGeom prst="rect">
            <a:avLst/>
          </a:prstGeom>
          <a:noFill/>
          <a:ln/>
        </p:spPr>
        <p:txBody>
          <a:bodyPr wrap="square" lIns="0" tIns="0" rIns="0" bIns="0" rtlCol="0" anchor="ctr">
            <a:normAutofit/>
          </a:bodyPr>
          <a:lstStyle/>
          <a:p>
            <a:pPr marL="0" indent="0">
              <a:buNone/>
            </a:pPr>
            <a:r>
              <a:rPr lang="en-US" sz="1150" b="1" dirty="0">
                <a:solidFill>
                  <a:srgbClr val="0B1F33"/>
                </a:solidFill>
              </a:rPr>
              <a:t>A statistical flag is a prompt to investigate, not a business verdict.</a:t>
            </a:r>
            <a:endParaRPr lang="en-US" sz="1150" dirty="0"/>
          </a:p>
        </p:txBody>
      </p:sp>
      <p:sp>
        <p:nvSpPr>
          <p:cNvPr id="30"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Detecting outliers with z-scores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z-score expresses how many standard deviations an observation lies from the mean.</a:t>
            </a:r>
            <a:endParaRPr lang="en-US" sz="1300" dirty="0"/>
          </a:p>
        </p:txBody>
      </p:sp>
      <p:sp>
        <p:nvSpPr>
          <p:cNvPr id="7" name="Shape 5"/>
          <p:cNvSpPr/>
          <p:nvPr/>
        </p:nvSpPr>
        <p:spPr>
          <a:xfrm>
            <a:off x="868680" y="3931920"/>
            <a:ext cx="5486400" cy="0"/>
          </a:xfrm>
          <a:prstGeom prst="line">
            <a:avLst/>
          </a:prstGeom>
          <a:noFill/>
          <a:ln w="12700">
            <a:solidFill>
              <a:srgbClr val="AEB8C5"/>
            </a:solidFill>
            <a:prstDash val="solid"/>
          </a:ln>
        </p:spPr>
      </p:sp>
      <p:sp>
        <p:nvSpPr>
          <p:cNvPr id="8" name="Shape 6"/>
          <p:cNvSpPr/>
          <p:nvPr/>
        </p:nvSpPr>
        <p:spPr>
          <a:xfrm>
            <a:off x="868680" y="3908089"/>
            <a:ext cx="91440" cy="0"/>
          </a:xfrm>
          <a:prstGeom prst="line">
            <a:avLst/>
          </a:prstGeom>
          <a:noFill/>
          <a:ln w="27940">
            <a:solidFill>
              <a:srgbClr val="2F6BFF"/>
            </a:solidFill>
            <a:prstDash val="solid"/>
          </a:ln>
        </p:spPr>
      </p:sp>
      <p:sp>
        <p:nvSpPr>
          <p:cNvPr id="9" name="Shape 7"/>
          <p:cNvSpPr/>
          <p:nvPr/>
        </p:nvSpPr>
        <p:spPr>
          <a:xfrm>
            <a:off x="960120" y="3899912"/>
            <a:ext cx="91440" cy="0"/>
          </a:xfrm>
          <a:prstGeom prst="line">
            <a:avLst/>
          </a:prstGeom>
          <a:noFill/>
          <a:ln w="27940">
            <a:solidFill>
              <a:srgbClr val="2F6BFF"/>
            </a:solidFill>
            <a:prstDash val="solid"/>
          </a:ln>
        </p:spPr>
      </p:sp>
      <p:sp>
        <p:nvSpPr>
          <p:cNvPr id="10" name="Shape 8"/>
          <p:cNvSpPr/>
          <p:nvPr/>
        </p:nvSpPr>
        <p:spPr>
          <a:xfrm>
            <a:off x="1051560" y="3889357"/>
            <a:ext cx="91440" cy="0"/>
          </a:xfrm>
          <a:prstGeom prst="line">
            <a:avLst/>
          </a:prstGeom>
          <a:noFill/>
          <a:ln w="27940">
            <a:solidFill>
              <a:srgbClr val="2F6BFF"/>
            </a:solidFill>
            <a:prstDash val="solid"/>
          </a:ln>
        </p:spPr>
      </p:sp>
      <p:sp>
        <p:nvSpPr>
          <p:cNvPr id="11" name="Shape 9"/>
          <p:cNvSpPr/>
          <p:nvPr/>
        </p:nvSpPr>
        <p:spPr>
          <a:xfrm>
            <a:off x="1143000" y="3875885"/>
            <a:ext cx="91440" cy="0"/>
          </a:xfrm>
          <a:prstGeom prst="line">
            <a:avLst/>
          </a:prstGeom>
          <a:noFill/>
          <a:ln w="27940">
            <a:solidFill>
              <a:srgbClr val="2F6BFF"/>
            </a:solidFill>
            <a:prstDash val="solid"/>
          </a:ln>
        </p:spPr>
      </p:sp>
      <p:sp>
        <p:nvSpPr>
          <p:cNvPr id="12" name="Shape 10"/>
          <p:cNvSpPr/>
          <p:nvPr/>
        </p:nvSpPr>
        <p:spPr>
          <a:xfrm>
            <a:off x="1234440" y="3858882"/>
            <a:ext cx="91440" cy="0"/>
          </a:xfrm>
          <a:prstGeom prst="line">
            <a:avLst/>
          </a:prstGeom>
          <a:noFill/>
          <a:ln w="27940">
            <a:solidFill>
              <a:srgbClr val="2F6BFF"/>
            </a:solidFill>
            <a:prstDash val="solid"/>
          </a:ln>
        </p:spPr>
      </p:sp>
      <p:sp>
        <p:nvSpPr>
          <p:cNvPr id="13" name="Shape 11"/>
          <p:cNvSpPr/>
          <p:nvPr/>
        </p:nvSpPr>
        <p:spPr>
          <a:xfrm>
            <a:off x="1325880" y="3837667"/>
            <a:ext cx="91440" cy="0"/>
          </a:xfrm>
          <a:prstGeom prst="line">
            <a:avLst/>
          </a:prstGeom>
          <a:noFill/>
          <a:ln w="27940">
            <a:solidFill>
              <a:srgbClr val="2F6BFF"/>
            </a:solidFill>
            <a:prstDash val="solid"/>
          </a:ln>
        </p:spPr>
      </p:sp>
      <p:sp>
        <p:nvSpPr>
          <p:cNvPr id="14" name="Shape 12"/>
          <p:cNvSpPr/>
          <p:nvPr/>
        </p:nvSpPr>
        <p:spPr>
          <a:xfrm>
            <a:off x="1417320" y="3811501"/>
            <a:ext cx="91440" cy="0"/>
          </a:xfrm>
          <a:prstGeom prst="line">
            <a:avLst/>
          </a:prstGeom>
          <a:noFill/>
          <a:ln w="27940">
            <a:solidFill>
              <a:srgbClr val="2F6BFF"/>
            </a:solidFill>
            <a:prstDash val="solid"/>
          </a:ln>
        </p:spPr>
      </p:sp>
      <p:sp>
        <p:nvSpPr>
          <p:cNvPr id="15" name="Shape 13"/>
          <p:cNvSpPr/>
          <p:nvPr/>
        </p:nvSpPr>
        <p:spPr>
          <a:xfrm>
            <a:off x="1508760" y="3779601"/>
            <a:ext cx="91440" cy="0"/>
          </a:xfrm>
          <a:prstGeom prst="line">
            <a:avLst/>
          </a:prstGeom>
          <a:noFill/>
          <a:ln w="27940">
            <a:solidFill>
              <a:srgbClr val="2F6BFF"/>
            </a:solidFill>
            <a:prstDash val="solid"/>
          </a:ln>
        </p:spPr>
      </p:sp>
      <p:sp>
        <p:nvSpPr>
          <p:cNvPr id="16" name="Shape 14"/>
          <p:cNvSpPr/>
          <p:nvPr/>
        </p:nvSpPr>
        <p:spPr>
          <a:xfrm>
            <a:off x="1600200" y="3741167"/>
            <a:ext cx="91440" cy="0"/>
          </a:xfrm>
          <a:prstGeom prst="line">
            <a:avLst/>
          </a:prstGeom>
          <a:noFill/>
          <a:ln w="27940">
            <a:solidFill>
              <a:srgbClr val="2F6BFF"/>
            </a:solidFill>
            <a:prstDash val="solid"/>
          </a:ln>
        </p:spPr>
      </p:sp>
      <p:sp>
        <p:nvSpPr>
          <p:cNvPr id="17" name="Shape 15"/>
          <p:cNvSpPr/>
          <p:nvPr/>
        </p:nvSpPr>
        <p:spPr>
          <a:xfrm>
            <a:off x="1691640" y="3695413"/>
            <a:ext cx="91440" cy="0"/>
          </a:xfrm>
          <a:prstGeom prst="line">
            <a:avLst/>
          </a:prstGeom>
          <a:noFill/>
          <a:ln w="27940">
            <a:solidFill>
              <a:srgbClr val="2F6BFF"/>
            </a:solidFill>
            <a:prstDash val="solid"/>
          </a:ln>
        </p:spPr>
      </p:sp>
      <p:sp>
        <p:nvSpPr>
          <p:cNvPr id="18" name="Shape 16"/>
          <p:cNvSpPr/>
          <p:nvPr/>
        </p:nvSpPr>
        <p:spPr>
          <a:xfrm>
            <a:off x="1783080" y="3641601"/>
            <a:ext cx="91440" cy="0"/>
          </a:xfrm>
          <a:prstGeom prst="line">
            <a:avLst/>
          </a:prstGeom>
          <a:noFill/>
          <a:ln w="27940">
            <a:solidFill>
              <a:srgbClr val="2F6BFF"/>
            </a:solidFill>
            <a:prstDash val="solid"/>
          </a:ln>
        </p:spPr>
      </p:sp>
      <p:sp>
        <p:nvSpPr>
          <p:cNvPr id="19" name="Shape 17"/>
          <p:cNvSpPr/>
          <p:nvPr/>
        </p:nvSpPr>
        <p:spPr>
          <a:xfrm>
            <a:off x="1874520" y="3579092"/>
            <a:ext cx="91440" cy="0"/>
          </a:xfrm>
          <a:prstGeom prst="line">
            <a:avLst/>
          </a:prstGeom>
          <a:noFill/>
          <a:ln w="27940">
            <a:solidFill>
              <a:srgbClr val="2F6BFF"/>
            </a:solidFill>
            <a:prstDash val="solid"/>
          </a:ln>
        </p:spPr>
      </p:sp>
      <p:sp>
        <p:nvSpPr>
          <p:cNvPr id="20" name="Shape 18"/>
          <p:cNvSpPr/>
          <p:nvPr/>
        </p:nvSpPr>
        <p:spPr>
          <a:xfrm>
            <a:off x="1965960" y="3507391"/>
            <a:ext cx="91440" cy="0"/>
          </a:xfrm>
          <a:prstGeom prst="line">
            <a:avLst/>
          </a:prstGeom>
          <a:noFill/>
          <a:ln w="27940">
            <a:solidFill>
              <a:srgbClr val="2F6BFF"/>
            </a:solidFill>
            <a:prstDash val="solid"/>
          </a:ln>
        </p:spPr>
      </p:sp>
      <p:sp>
        <p:nvSpPr>
          <p:cNvPr id="21" name="Shape 19"/>
          <p:cNvSpPr/>
          <p:nvPr/>
        </p:nvSpPr>
        <p:spPr>
          <a:xfrm>
            <a:off x="2057400" y="3426202"/>
            <a:ext cx="91440" cy="0"/>
          </a:xfrm>
          <a:prstGeom prst="line">
            <a:avLst/>
          </a:prstGeom>
          <a:noFill/>
          <a:ln w="27940">
            <a:solidFill>
              <a:srgbClr val="2F6BFF"/>
            </a:solidFill>
            <a:prstDash val="solid"/>
          </a:ln>
        </p:spPr>
      </p:sp>
      <p:sp>
        <p:nvSpPr>
          <p:cNvPr id="22" name="Shape 20"/>
          <p:cNvSpPr/>
          <p:nvPr/>
        </p:nvSpPr>
        <p:spPr>
          <a:xfrm>
            <a:off x="2148840" y="3335479"/>
            <a:ext cx="91440" cy="0"/>
          </a:xfrm>
          <a:prstGeom prst="line">
            <a:avLst/>
          </a:prstGeom>
          <a:noFill/>
          <a:ln w="27940">
            <a:solidFill>
              <a:srgbClr val="2F6BFF"/>
            </a:solidFill>
            <a:prstDash val="solid"/>
          </a:ln>
        </p:spPr>
      </p:sp>
      <p:sp>
        <p:nvSpPr>
          <p:cNvPr id="23" name="Shape 21"/>
          <p:cNvSpPr/>
          <p:nvPr/>
        </p:nvSpPr>
        <p:spPr>
          <a:xfrm>
            <a:off x="2240280" y="3235481"/>
            <a:ext cx="91440" cy="0"/>
          </a:xfrm>
          <a:prstGeom prst="line">
            <a:avLst/>
          </a:prstGeom>
          <a:noFill/>
          <a:ln w="27940">
            <a:solidFill>
              <a:srgbClr val="2F6BFF"/>
            </a:solidFill>
            <a:prstDash val="solid"/>
          </a:ln>
        </p:spPr>
      </p:sp>
      <p:sp>
        <p:nvSpPr>
          <p:cNvPr id="24" name="Shape 22"/>
          <p:cNvSpPr/>
          <p:nvPr/>
        </p:nvSpPr>
        <p:spPr>
          <a:xfrm>
            <a:off x="2331720" y="3126809"/>
            <a:ext cx="91440" cy="0"/>
          </a:xfrm>
          <a:prstGeom prst="line">
            <a:avLst/>
          </a:prstGeom>
          <a:noFill/>
          <a:ln w="27940">
            <a:solidFill>
              <a:srgbClr val="2F6BFF"/>
            </a:solidFill>
            <a:prstDash val="solid"/>
          </a:ln>
        </p:spPr>
      </p:sp>
      <p:sp>
        <p:nvSpPr>
          <p:cNvPr id="25" name="Shape 23"/>
          <p:cNvSpPr/>
          <p:nvPr/>
        </p:nvSpPr>
        <p:spPr>
          <a:xfrm>
            <a:off x="2423160" y="3010441"/>
            <a:ext cx="91440" cy="0"/>
          </a:xfrm>
          <a:prstGeom prst="line">
            <a:avLst/>
          </a:prstGeom>
          <a:noFill/>
          <a:ln w="27940">
            <a:solidFill>
              <a:srgbClr val="2F6BFF"/>
            </a:solidFill>
            <a:prstDash val="solid"/>
          </a:ln>
        </p:spPr>
      </p:sp>
      <p:sp>
        <p:nvSpPr>
          <p:cNvPr id="26" name="Shape 24"/>
          <p:cNvSpPr/>
          <p:nvPr/>
        </p:nvSpPr>
        <p:spPr>
          <a:xfrm>
            <a:off x="2514600" y="2887748"/>
            <a:ext cx="91440" cy="0"/>
          </a:xfrm>
          <a:prstGeom prst="line">
            <a:avLst/>
          </a:prstGeom>
          <a:noFill/>
          <a:ln w="27940">
            <a:solidFill>
              <a:srgbClr val="2F6BFF"/>
            </a:solidFill>
            <a:prstDash val="solid"/>
          </a:ln>
        </p:spPr>
      </p:sp>
      <p:sp>
        <p:nvSpPr>
          <p:cNvPr id="27" name="Shape 25"/>
          <p:cNvSpPr/>
          <p:nvPr/>
        </p:nvSpPr>
        <p:spPr>
          <a:xfrm>
            <a:off x="2606040" y="2760491"/>
            <a:ext cx="91440" cy="0"/>
          </a:xfrm>
          <a:prstGeom prst="line">
            <a:avLst/>
          </a:prstGeom>
          <a:noFill/>
          <a:ln w="27940">
            <a:solidFill>
              <a:srgbClr val="2F6BFF"/>
            </a:solidFill>
            <a:prstDash val="solid"/>
          </a:ln>
        </p:spPr>
      </p:sp>
      <p:sp>
        <p:nvSpPr>
          <p:cNvPr id="28" name="Shape 26"/>
          <p:cNvSpPr/>
          <p:nvPr/>
        </p:nvSpPr>
        <p:spPr>
          <a:xfrm>
            <a:off x="2697480" y="2630801"/>
            <a:ext cx="91440" cy="0"/>
          </a:xfrm>
          <a:prstGeom prst="line">
            <a:avLst/>
          </a:prstGeom>
          <a:noFill/>
          <a:ln w="27940">
            <a:solidFill>
              <a:srgbClr val="2F6BFF"/>
            </a:solidFill>
            <a:prstDash val="solid"/>
          </a:ln>
        </p:spPr>
      </p:sp>
      <p:sp>
        <p:nvSpPr>
          <p:cNvPr id="29" name="Shape 27"/>
          <p:cNvSpPr/>
          <p:nvPr/>
        </p:nvSpPr>
        <p:spPr>
          <a:xfrm>
            <a:off x="2788920" y="2501133"/>
            <a:ext cx="91440" cy="0"/>
          </a:xfrm>
          <a:prstGeom prst="line">
            <a:avLst/>
          </a:prstGeom>
          <a:noFill/>
          <a:ln w="27940">
            <a:solidFill>
              <a:srgbClr val="2F6BFF"/>
            </a:solidFill>
            <a:prstDash val="solid"/>
          </a:ln>
        </p:spPr>
      </p:sp>
      <p:sp>
        <p:nvSpPr>
          <p:cNvPr id="30" name="Shape 28"/>
          <p:cNvSpPr/>
          <p:nvPr/>
        </p:nvSpPr>
        <p:spPr>
          <a:xfrm>
            <a:off x="2880360" y="2374198"/>
            <a:ext cx="91440" cy="0"/>
          </a:xfrm>
          <a:prstGeom prst="line">
            <a:avLst/>
          </a:prstGeom>
          <a:noFill/>
          <a:ln w="27940">
            <a:solidFill>
              <a:srgbClr val="2F6BFF"/>
            </a:solidFill>
            <a:prstDash val="solid"/>
          </a:ln>
        </p:spPr>
      </p:sp>
      <p:sp>
        <p:nvSpPr>
          <p:cNvPr id="31" name="Shape 29"/>
          <p:cNvSpPr/>
          <p:nvPr/>
        </p:nvSpPr>
        <p:spPr>
          <a:xfrm>
            <a:off x="2971800" y="2252876"/>
            <a:ext cx="91440" cy="0"/>
          </a:xfrm>
          <a:prstGeom prst="line">
            <a:avLst/>
          </a:prstGeom>
          <a:noFill/>
          <a:ln w="27940">
            <a:solidFill>
              <a:srgbClr val="2F6BFF"/>
            </a:solidFill>
            <a:prstDash val="solid"/>
          </a:ln>
        </p:spPr>
      </p:sp>
      <p:sp>
        <p:nvSpPr>
          <p:cNvPr id="32" name="Shape 30"/>
          <p:cNvSpPr/>
          <p:nvPr/>
        </p:nvSpPr>
        <p:spPr>
          <a:xfrm>
            <a:off x="3063240" y="2140113"/>
            <a:ext cx="91440" cy="0"/>
          </a:xfrm>
          <a:prstGeom prst="line">
            <a:avLst/>
          </a:prstGeom>
          <a:noFill/>
          <a:ln w="27940">
            <a:solidFill>
              <a:srgbClr val="2F6BFF"/>
            </a:solidFill>
            <a:prstDash val="solid"/>
          </a:ln>
        </p:spPr>
      </p:sp>
      <p:sp>
        <p:nvSpPr>
          <p:cNvPr id="33" name="Shape 31"/>
          <p:cNvSpPr/>
          <p:nvPr/>
        </p:nvSpPr>
        <p:spPr>
          <a:xfrm>
            <a:off x="3154680" y="2038803"/>
            <a:ext cx="91440" cy="0"/>
          </a:xfrm>
          <a:prstGeom prst="line">
            <a:avLst/>
          </a:prstGeom>
          <a:noFill/>
          <a:ln w="27940">
            <a:solidFill>
              <a:srgbClr val="2F6BFF"/>
            </a:solidFill>
            <a:prstDash val="solid"/>
          </a:ln>
        </p:spPr>
      </p:sp>
      <p:sp>
        <p:nvSpPr>
          <p:cNvPr id="34" name="Shape 32"/>
          <p:cNvSpPr/>
          <p:nvPr/>
        </p:nvSpPr>
        <p:spPr>
          <a:xfrm>
            <a:off x="3246120" y="1951667"/>
            <a:ext cx="91440" cy="0"/>
          </a:xfrm>
          <a:prstGeom prst="line">
            <a:avLst/>
          </a:prstGeom>
          <a:noFill/>
          <a:ln w="27940">
            <a:solidFill>
              <a:srgbClr val="2F6BFF"/>
            </a:solidFill>
            <a:prstDash val="solid"/>
          </a:ln>
        </p:spPr>
      </p:sp>
      <p:sp>
        <p:nvSpPr>
          <p:cNvPr id="35" name="Shape 33"/>
          <p:cNvSpPr/>
          <p:nvPr/>
        </p:nvSpPr>
        <p:spPr>
          <a:xfrm>
            <a:off x="3337560" y="1881131"/>
            <a:ext cx="91440" cy="0"/>
          </a:xfrm>
          <a:prstGeom prst="line">
            <a:avLst/>
          </a:prstGeom>
          <a:noFill/>
          <a:ln w="27940">
            <a:solidFill>
              <a:srgbClr val="2F6BFF"/>
            </a:solidFill>
            <a:prstDash val="solid"/>
          </a:ln>
        </p:spPr>
      </p:sp>
      <p:sp>
        <p:nvSpPr>
          <p:cNvPr id="36" name="Shape 34"/>
          <p:cNvSpPr/>
          <p:nvPr/>
        </p:nvSpPr>
        <p:spPr>
          <a:xfrm>
            <a:off x="3429000" y="1829215"/>
            <a:ext cx="91440" cy="0"/>
          </a:xfrm>
          <a:prstGeom prst="line">
            <a:avLst/>
          </a:prstGeom>
          <a:noFill/>
          <a:ln w="27940">
            <a:solidFill>
              <a:srgbClr val="2F6BFF"/>
            </a:solidFill>
            <a:prstDash val="solid"/>
          </a:ln>
        </p:spPr>
      </p:sp>
      <p:sp>
        <p:nvSpPr>
          <p:cNvPr id="37" name="Shape 35"/>
          <p:cNvSpPr/>
          <p:nvPr/>
        </p:nvSpPr>
        <p:spPr>
          <a:xfrm>
            <a:off x="3520440" y="1797437"/>
            <a:ext cx="91440" cy="0"/>
          </a:xfrm>
          <a:prstGeom prst="line">
            <a:avLst/>
          </a:prstGeom>
          <a:noFill/>
          <a:ln w="27940">
            <a:solidFill>
              <a:srgbClr val="2F6BFF"/>
            </a:solidFill>
            <a:prstDash val="solid"/>
          </a:ln>
        </p:spPr>
      </p:sp>
      <p:sp>
        <p:nvSpPr>
          <p:cNvPr id="38" name="Shape 36"/>
          <p:cNvSpPr/>
          <p:nvPr/>
        </p:nvSpPr>
        <p:spPr>
          <a:xfrm>
            <a:off x="3611880" y="1786738"/>
            <a:ext cx="91440" cy="10699"/>
          </a:xfrm>
          <a:prstGeom prst="line">
            <a:avLst/>
          </a:prstGeom>
          <a:noFill/>
          <a:ln w="27940">
            <a:solidFill>
              <a:srgbClr val="2F6BFF"/>
            </a:solidFill>
            <a:prstDash val="solid"/>
          </a:ln>
        </p:spPr>
      </p:sp>
      <p:sp>
        <p:nvSpPr>
          <p:cNvPr id="39" name="Shape 37"/>
          <p:cNvSpPr/>
          <p:nvPr/>
        </p:nvSpPr>
        <p:spPr>
          <a:xfrm>
            <a:off x="3703320" y="1797437"/>
            <a:ext cx="91440" cy="31778"/>
          </a:xfrm>
          <a:prstGeom prst="line">
            <a:avLst/>
          </a:prstGeom>
          <a:noFill/>
          <a:ln w="27940">
            <a:solidFill>
              <a:srgbClr val="2F6BFF"/>
            </a:solidFill>
            <a:prstDash val="solid"/>
          </a:ln>
        </p:spPr>
      </p:sp>
      <p:sp>
        <p:nvSpPr>
          <p:cNvPr id="40" name="Shape 38"/>
          <p:cNvSpPr/>
          <p:nvPr/>
        </p:nvSpPr>
        <p:spPr>
          <a:xfrm>
            <a:off x="3794760" y="1829215"/>
            <a:ext cx="91440" cy="51916"/>
          </a:xfrm>
          <a:prstGeom prst="line">
            <a:avLst/>
          </a:prstGeom>
          <a:noFill/>
          <a:ln w="27940">
            <a:solidFill>
              <a:srgbClr val="2F6BFF"/>
            </a:solidFill>
            <a:prstDash val="solid"/>
          </a:ln>
        </p:spPr>
      </p:sp>
      <p:sp>
        <p:nvSpPr>
          <p:cNvPr id="41" name="Shape 39"/>
          <p:cNvSpPr/>
          <p:nvPr/>
        </p:nvSpPr>
        <p:spPr>
          <a:xfrm>
            <a:off x="3886200" y="1881131"/>
            <a:ext cx="91440" cy="70536"/>
          </a:xfrm>
          <a:prstGeom prst="line">
            <a:avLst/>
          </a:prstGeom>
          <a:noFill/>
          <a:ln w="27940">
            <a:solidFill>
              <a:srgbClr val="2F6BFF"/>
            </a:solidFill>
            <a:prstDash val="solid"/>
          </a:ln>
        </p:spPr>
      </p:sp>
      <p:sp>
        <p:nvSpPr>
          <p:cNvPr id="42" name="Shape 40"/>
          <p:cNvSpPr/>
          <p:nvPr/>
        </p:nvSpPr>
        <p:spPr>
          <a:xfrm>
            <a:off x="3977640" y="1951667"/>
            <a:ext cx="91440" cy="87136"/>
          </a:xfrm>
          <a:prstGeom prst="line">
            <a:avLst/>
          </a:prstGeom>
          <a:noFill/>
          <a:ln w="27940">
            <a:solidFill>
              <a:srgbClr val="2F6BFF"/>
            </a:solidFill>
            <a:prstDash val="solid"/>
          </a:ln>
        </p:spPr>
      </p:sp>
      <p:sp>
        <p:nvSpPr>
          <p:cNvPr id="43" name="Shape 41"/>
          <p:cNvSpPr/>
          <p:nvPr/>
        </p:nvSpPr>
        <p:spPr>
          <a:xfrm>
            <a:off x="4069080" y="2038803"/>
            <a:ext cx="91440" cy="101310"/>
          </a:xfrm>
          <a:prstGeom prst="line">
            <a:avLst/>
          </a:prstGeom>
          <a:noFill/>
          <a:ln w="27940">
            <a:solidFill>
              <a:srgbClr val="2F6BFF"/>
            </a:solidFill>
            <a:prstDash val="solid"/>
          </a:ln>
        </p:spPr>
      </p:sp>
      <p:sp>
        <p:nvSpPr>
          <p:cNvPr id="44" name="Shape 42"/>
          <p:cNvSpPr/>
          <p:nvPr/>
        </p:nvSpPr>
        <p:spPr>
          <a:xfrm>
            <a:off x="4160520" y="2140113"/>
            <a:ext cx="91440" cy="112763"/>
          </a:xfrm>
          <a:prstGeom prst="line">
            <a:avLst/>
          </a:prstGeom>
          <a:noFill/>
          <a:ln w="27940">
            <a:solidFill>
              <a:srgbClr val="2F6BFF"/>
            </a:solidFill>
            <a:prstDash val="solid"/>
          </a:ln>
        </p:spPr>
      </p:sp>
      <p:sp>
        <p:nvSpPr>
          <p:cNvPr id="45" name="Shape 43"/>
          <p:cNvSpPr/>
          <p:nvPr/>
        </p:nvSpPr>
        <p:spPr>
          <a:xfrm>
            <a:off x="4251960" y="2252876"/>
            <a:ext cx="91440" cy="121322"/>
          </a:xfrm>
          <a:prstGeom prst="line">
            <a:avLst/>
          </a:prstGeom>
          <a:noFill/>
          <a:ln w="27940">
            <a:solidFill>
              <a:srgbClr val="2F6BFF"/>
            </a:solidFill>
            <a:prstDash val="solid"/>
          </a:ln>
        </p:spPr>
      </p:sp>
      <p:sp>
        <p:nvSpPr>
          <p:cNvPr id="46" name="Shape 44"/>
          <p:cNvSpPr/>
          <p:nvPr/>
        </p:nvSpPr>
        <p:spPr>
          <a:xfrm>
            <a:off x="4343400" y="2374198"/>
            <a:ext cx="91440" cy="126935"/>
          </a:xfrm>
          <a:prstGeom prst="line">
            <a:avLst/>
          </a:prstGeom>
          <a:noFill/>
          <a:ln w="27940">
            <a:solidFill>
              <a:srgbClr val="2F6BFF"/>
            </a:solidFill>
            <a:prstDash val="solid"/>
          </a:ln>
        </p:spPr>
      </p:sp>
      <p:sp>
        <p:nvSpPr>
          <p:cNvPr id="47" name="Shape 45"/>
          <p:cNvSpPr/>
          <p:nvPr/>
        </p:nvSpPr>
        <p:spPr>
          <a:xfrm>
            <a:off x="4434840" y="2501133"/>
            <a:ext cx="91440" cy="129668"/>
          </a:xfrm>
          <a:prstGeom prst="line">
            <a:avLst/>
          </a:prstGeom>
          <a:noFill/>
          <a:ln w="27940">
            <a:solidFill>
              <a:srgbClr val="2F6BFF"/>
            </a:solidFill>
            <a:prstDash val="solid"/>
          </a:ln>
        </p:spPr>
      </p:sp>
      <p:sp>
        <p:nvSpPr>
          <p:cNvPr id="48" name="Shape 46"/>
          <p:cNvSpPr/>
          <p:nvPr/>
        </p:nvSpPr>
        <p:spPr>
          <a:xfrm>
            <a:off x="4526280" y="2630801"/>
            <a:ext cx="91440" cy="129690"/>
          </a:xfrm>
          <a:prstGeom prst="line">
            <a:avLst/>
          </a:prstGeom>
          <a:noFill/>
          <a:ln w="27940">
            <a:solidFill>
              <a:srgbClr val="2F6BFF"/>
            </a:solidFill>
            <a:prstDash val="solid"/>
          </a:ln>
        </p:spPr>
      </p:sp>
      <p:sp>
        <p:nvSpPr>
          <p:cNvPr id="49" name="Shape 47"/>
          <p:cNvSpPr/>
          <p:nvPr/>
        </p:nvSpPr>
        <p:spPr>
          <a:xfrm>
            <a:off x="4617720" y="2760491"/>
            <a:ext cx="91440" cy="127257"/>
          </a:xfrm>
          <a:prstGeom prst="line">
            <a:avLst/>
          </a:prstGeom>
          <a:noFill/>
          <a:ln w="27940">
            <a:solidFill>
              <a:srgbClr val="2F6BFF"/>
            </a:solidFill>
            <a:prstDash val="solid"/>
          </a:ln>
        </p:spPr>
      </p:sp>
      <p:sp>
        <p:nvSpPr>
          <p:cNvPr id="50" name="Shape 48"/>
          <p:cNvSpPr/>
          <p:nvPr/>
        </p:nvSpPr>
        <p:spPr>
          <a:xfrm>
            <a:off x="4709160" y="2887748"/>
            <a:ext cx="91440" cy="122693"/>
          </a:xfrm>
          <a:prstGeom prst="line">
            <a:avLst/>
          </a:prstGeom>
          <a:noFill/>
          <a:ln w="27940">
            <a:solidFill>
              <a:srgbClr val="2F6BFF"/>
            </a:solidFill>
            <a:prstDash val="solid"/>
          </a:ln>
        </p:spPr>
      </p:sp>
      <p:sp>
        <p:nvSpPr>
          <p:cNvPr id="51" name="Shape 49"/>
          <p:cNvSpPr/>
          <p:nvPr/>
        </p:nvSpPr>
        <p:spPr>
          <a:xfrm>
            <a:off x="4800600" y="3010441"/>
            <a:ext cx="91440" cy="116368"/>
          </a:xfrm>
          <a:prstGeom prst="line">
            <a:avLst/>
          </a:prstGeom>
          <a:noFill/>
          <a:ln w="27940">
            <a:solidFill>
              <a:srgbClr val="2F6BFF"/>
            </a:solidFill>
            <a:prstDash val="solid"/>
          </a:ln>
        </p:spPr>
      </p:sp>
      <p:sp>
        <p:nvSpPr>
          <p:cNvPr id="52" name="Shape 50"/>
          <p:cNvSpPr/>
          <p:nvPr/>
        </p:nvSpPr>
        <p:spPr>
          <a:xfrm>
            <a:off x="4892040" y="3126809"/>
            <a:ext cx="91440" cy="108672"/>
          </a:xfrm>
          <a:prstGeom prst="line">
            <a:avLst/>
          </a:prstGeom>
          <a:noFill/>
          <a:ln w="27940">
            <a:solidFill>
              <a:srgbClr val="2F6BFF"/>
            </a:solidFill>
            <a:prstDash val="solid"/>
          </a:ln>
        </p:spPr>
      </p:sp>
      <p:sp>
        <p:nvSpPr>
          <p:cNvPr id="53" name="Shape 51"/>
          <p:cNvSpPr/>
          <p:nvPr/>
        </p:nvSpPr>
        <p:spPr>
          <a:xfrm>
            <a:off x="4983480" y="3235481"/>
            <a:ext cx="91440" cy="99998"/>
          </a:xfrm>
          <a:prstGeom prst="line">
            <a:avLst/>
          </a:prstGeom>
          <a:noFill/>
          <a:ln w="27940">
            <a:solidFill>
              <a:srgbClr val="2F6BFF"/>
            </a:solidFill>
            <a:prstDash val="solid"/>
          </a:ln>
        </p:spPr>
      </p:sp>
      <p:sp>
        <p:nvSpPr>
          <p:cNvPr id="54" name="Shape 52"/>
          <p:cNvSpPr/>
          <p:nvPr/>
        </p:nvSpPr>
        <p:spPr>
          <a:xfrm>
            <a:off x="5074920" y="3335479"/>
            <a:ext cx="91440" cy="90722"/>
          </a:xfrm>
          <a:prstGeom prst="line">
            <a:avLst/>
          </a:prstGeom>
          <a:noFill/>
          <a:ln w="27940">
            <a:solidFill>
              <a:srgbClr val="2F6BFF"/>
            </a:solidFill>
            <a:prstDash val="solid"/>
          </a:ln>
        </p:spPr>
      </p:sp>
      <p:sp>
        <p:nvSpPr>
          <p:cNvPr id="55" name="Shape 53"/>
          <p:cNvSpPr/>
          <p:nvPr/>
        </p:nvSpPr>
        <p:spPr>
          <a:xfrm>
            <a:off x="5166360" y="3426202"/>
            <a:ext cx="91440" cy="81190"/>
          </a:xfrm>
          <a:prstGeom prst="line">
            <a:avLst/>
          </a:prstGeom>
          <a:noFill/>
          <a:ln w="27940">
            <a:solidFill>
              <a:srgbClr val="2F6BFF"/>
            </a:solidFill>
            <a:prstDash val="solid"/>
          </a:ln>
        </p:spPr>
      </p:sp>
      <p:sp>
        <p:nvSpPr>
          <p:cNvPr id="56" name="Shape 54"/>
          <p:cNvSpPr/>
          <p:nvPr/>
        </p:nvSpPr>
        <p:spPr>
          <a:xfrm>
            <a:off x="5257800" y="3507391"/>
            <a:ext cx="91440" cy="71701"/>
          </a:xfrm>
          <a:prstGeom prst="line">
            <a:avLst/>
          </a:prstGeom>
          <a:noFill/>
          <a:ln w="27940">
            <a:solidFill>
              <a:srgbClr val="2F6BFF"/>
            </a:solidFill>
            <a:prstDash val="solid"/>
          </a:ln>
        </p:spPr>
      </p:sp>
      <p:sp>
        <p:nvSpPr>
          <p:cNvPr id="57" name="Shape 55"/>
          <p:cNvSpPr/>
          <p:nvPr/>
        </p:nvSpPr>
        <p:spPr>
          <a:xfrm>
            <a:off x="5349240" y="3579092"/>
            <a:ext cx="91440" cy="62509"/>
          </a:xfrm>
          <a:prstGeom prst="line">
            <a:avLst/>
          </a:prstGeom>
          <a:noFill/>
          <a:ln w="27940">
            <a:solidFill>
              <a:srgbClr val="2F6BFF"/>
            </a:solidFill>
            <a:prstDash val="solid"/>
          </a:ln>
        </p:spPr>
      </p:sp>
      <p:sp>
        <p:nvSpPr>
          <p:cNvPr id="58" name="Shape 56"/>
          <p:cNvSpPr/>
          <p:nvPr/>
        </p:nvSpPr>
        <p:spPr>
          <a:xfrm>
            <a:off x="5440680" y="3641601"/>
            <a:ext cx="91440" cy="53811"/>
          </a:xfrm>
          <a:prstGeom prst="line">
            <a:avLst/>
          </a:prstGeom>
          <a:noFill/>
          <a:ln w="27940">
            <a:solidFill>
              <a:srgbClr val="2F6BFF"/>
            </a:solidFill>
            <a:prstDash val="solid"/>
          </a:ln>
        </p:spPr>
      </p:sp>
      <p:sp>
        <p:nvSpPr>
          <p:cNvPr id="59" name="Shape 57"/>
          <p:cNvSpPr/>
          <p:nvPr/>
        </p:nvSpPr>
        <p:spPr>
          <a:xfrm>
            <a:off x="5532120" y="3695413"/>
            <a:ext cx="91440" cy="45754"/>
          </a:xfrm>
          <a:prstGeom prst="line">
            <a:avLst/>
          </a:prstGeom>
          <a:noFill/>
          <a:ln w="27940">
            <a:solidFill>
              <a:srgbClr val="2F6BFF"/>
            </a:solidFill>
            <a:prstDash val="solid"/>
          </a:ln>
        </p:spPr>
      </p:sp>
      <p:sp>
        <p:nvSpPr>
          <p:cNvPr id="60" name="Shape 58"/>
          <p:cNvSpPr/>
          <p:nvPr/>
        </p:nvSpPr>
        <p:spPr>
          <a:xfrm>
            <a:off x="5623560" y="3741167"/>
            <a:ext cx="91440" cy="38434"/>
          </a:xfrm>
          <a:prstGeom prst="line">
            <a:avLst/>
          </a:prstGeom>
          <a:noFill/>
          <a:ln w="27940">
            <a:solidFill>
              <a:srgbClr val="2F6BFF"/>
            </a:solidFill>
            <a:prstDash val="solid"/>
          </a:ln>
        </p:spPr>
      </p:sp>
      <p:sp>
        <p:nvSpPr>
          <p:cNvPr id="61" name="Shape 59"/>
          <p:cNvSpPr/>
          <p:nvPr/>
        </p:nvSpPr>
        <p:spPr>
          <a:xfrm>
            <a:off x="5715000" y="3779601"/>
            <a:ext cx="91440" cy="31900"/>
          </a:xfrm>
          <a:prstGeom prst="line">
            <a:avLst/>
          </a:prstGeom>
          <a:noFill/>
          <a:ln w="27940">
            <a:solidFill>
              <a:srgbClr val="2F6BFF"/>
            </a:solidFill>
            <a:prstDash val="solid"/>
          </a:ln>
        </p:spPr>
      </p:sp>
      <p:sp>
        <p:nvSpPr>
          <p:cNvPr id="62" name="Shape 60"/>
          <p:cNvSpPr/>
          <p:nvPr/>
        </p:nvSpPr>
        <p:spPr>
          <a:xfrm>
            <a:off x="5806440" y="3811501"/>
            <a:ext cx="91440" cy="26167"/>
          </a:xfrm>
          <a:prstGeom prst="line">
            <a:avLst/>
          </a:prstGeom>
          <a:noFill/>
          <a:ln w="27940">
            <a:solidFill>
              <a:srgbClr val="2F6BFF"/>
            </a:solidFill>
            <a:prstDash val="solid"/>
          </a:ln>
        </p:spPr>
      </p:sp>
      <p:sp>
        <p:nvSpPr>
          <p:cNvPr id="63" name="Shape 61"/>
          <p:cNvSpPr/>
          <p:nvPr/>
        </p:nvSpPr>
        <p:spPr>
          <a:xfrm>
            <a:off x="5897880" y="3837667"/>
            <a:ext cx="91440" cy="21215"/>
          </a:xfrm>
          <a:prstGeom prst="line">
            <a:avLst/>
          </a:prstGeom>
          <a:noFill/>
          <a:ln w="27940">
            <a:solidFill>
              <a:srgbClr val="2F6BFF"/>
            </a:solidFill>
            <a:prstDash val="solid"/>
          </a:ln>
        </p:spPr>
      </p:sp>
      <p:sp>
        <p:nvSpPr>
          <p:cNvPr id="64" name="Shape 62"/>
          <p:cNvSpPr/>
          <p:nvPr/>
        </p:nvSpPr>
        <p:spPr>
          <a:xfrm>
            <a:off x="5989320" y="3858882"/>
            <a:ext cx="91440" cy="17003"/>
          </a:xfrm>
          <a:prstGeom prst="line">
            <a:avLst/>
          </a:prstGeom>
          <a:noFill/>
          <a:ln w="27940">
            <a:solidFill>
              <a:srgbClr val="2F6BFF"/>
            </a:solidFill>
            <a:prstDash val="solid"/>
          </a:ln>
        </p:spPr>
      </p:sp>
      <p:sp>
        <p:nvSpPr>
          <p:cNvPr id="65" name="Shape 63"/>
          <p:cNvSpPr/>
          <p:nvPr/>
        </p:nvSpPr>
        <p:spPr>
          <a:xfrm>
            <a:off x="6080760" y="3875885"/>
            <a:ext cx="91440" cy="13472"/>
          </a:xfrm>
          <a:prstGeom prst="line">
            <a:avLst/>
          </a:prstGeom>
          <a:noFill/>
          <a:ln w="27940">
            <a:solidFill>
              <a:srgbClr val="2F6BFF"/>
            </a:solidFill>
            <a:prstDash val="solid"/>
          </a:ln>
        </p:spPr>
      </p:sp>
      <p:sp>
        <p:nvSpPr>
          <p:cNvPr id="66" name="Shape 64"/>
          <p:cNvSpPr/>
          <p:nvPr/>
        </p:nvSpPr>
        <p:spPr>
          <a:xfrm>
            <a:off x="6172200" y="3889357"/>
            <a:ext cx="91440" cy="10555"/>
          </a:xfrm>
          <a:prstGeom prst="line">
            <a:avLst/>
          </a:prstGeom>
          <a:noFill/>
          <a:ln w="27940">
            <a:solidFill>
              <a:srgbClr val="2F6BFF"/>
            </a:solidFill>
            <a:prstDash val="solid"/>
          </a:ln>
        </p:spPr>
      </p:sp>
      <p:sp>
        <p:nvSpPr>
          <p:cNvPr id="67" name="Shape 65"/>
          <p:cNvSpPr/>
          <p:nvPr/>
        </p:nvSpPr>
        <p:spPr>
          <a:xfrm>
            <a:off x="6263640" y="3899912"/>
            <a:ext cx="91440" cy="8177"/>
          </a:xfrm>
          <a:prstGeom prst="line">
            <a:avLst/>
          </a:prstGeom>
          <a:noFill/>
          <a:ln w="27940">
            <a:solidFill>
              <a:srgbClr val="2F6BFF"/>
            </a:solidFill>
            <a:prstDash val="solid"/>
          </a:ln>
        </p:spPr>
      </p:sp>
      <p:sp>
        <p:nvSpPr>
          <p:cNvPr id="68" name="Shape 66"/>
          <p:cNvSpPr/>
          <p:nvPr/>
        </p:nvSpPr>
        <p:spPr>
          <a:xfrm>
            <a:off x="3611880" y="1709928"/>
            <a:ext cx="0" cy="2221992"/>
          </a:xfrm>
          <a:prstGeom prst="line">
            <a:avLst/>
          </a:prstGeom>
          <a:noFill/>
          <a:ln w="12700">
            <a:solidFill>
              <a:srgbClr val="F59E0B"/>
            </a:solidFill>
            <a:prstDash val="solid"/>
          </a:ln>
        </p:spPr>
      </p:sp>
      <p:sp>
        <p:nvSpPr>
          <p:cNvPr id="69" name="Shape 67"/>
          <p:cNvSpPr/>
          <p:nvPr/>
        </p:nvSpPr>
        <p:spPr>
          <a:xfrm>
            <a:off x="868680" y="1600200"/>
            <a:ext cx="731520" cy="2331720"/>
          </a:xfrm>
          <a:prstGeom prst="rect">
            <a:avLst/>
          </a:prstGeom>
          <a:solidFill>
            <a:srgbClr val="FDECEC">
              <a:alpha val="65000"/>
            </a:srgbClr>
          </a:solidFill>
          <a:ln w="12700">
            <a:solidFill>
              <a:srgbClr val="FDECEC">
                <a:alpha val="0"/>
              </a:srgbClr>
            </a:solidFill>
            <a:prstDash val="solid"/>
          </a:ln>
        </p:spPr>
      </p:sp>
      <p:sp>
        <p:nvSpPr>
          <p:cNvPr id="70" name="Shape 68"/>
          <p:cNvSpPr/>
          <p:nvPr/>
        </p:nvSpPr>
        <p:spPr>
          <a:xfrm>
            <a:off x="5623560" y="1600200"/>
            <a:ext cx="731520" cy="2331720"/>
          </a:xfrm>
          <a:prstGeom prst="rect">
            <a:avLst/>
          </a:prstGeom>
          <a:solidFill>
            <a:srgbClr val="FDECEC">
              <a:alpha val="65000"/>
            </a:srgbClr>
          </a:solidFill>
          <a:ln w="12700">
            <a:solidFill>
              <a:srgbClr val="FDECEC">
                <a:alpha val="0"/>
              </a:srgbClr>
            </a:solidFill>
            <a:prstDash val="solid"/>
          </a:ln>
        </p:spPr>
      </p:sp>
      <p:sp>
        <p:nvSpPr>
          <p:cNvPr id="71" name="Text 69"/>
          <p:cNvSpPr/>
          <p:nvPr/>
        </p:nvSpPr>
        <p:spPr>
          <a:xfrm>
            <a:off x="868680" y="4059936"/>
            <a:ext cx="731520" cy="256032"/>
          </a:xfrm>
          <a:prstGeom prst="rect">
            <a:avLst/>
          </a:prstGeom>
          <a:noFill/>
          <a:ln/>
        </p:spPr>
        <p:txBody>
          <a:bodyPr wrap="square" lIns="0" tIns="0" rIns="0" bIns="0" rtlCol="0" anchor="ctr"/>
          <a:lstStyle/>
          <a:p>
            <a:pPr marL="0" indent="0" algn="ctr">
              <a:buNone/>
            </a:pPr>
            <a:r>
              <a:rPr lang="en-US" sz="950" dirty="0">
                <a:solidFill>
                  <a:srgbClr val="D94F4F"/>
                </a:solidFill>
              </a:rPr>
              <a:t>≈ −3σ</a:t>
            </a:r>
            <a:endParaRPr lang="en-US" sz="950" dirty="0"/>
          </a:p>
        </p:txBody>
      </p:sp>
      <p:sp>
        <p:nvSpPr>
          <p:cNvPr id="72" name="Text 70"/>
          <p:cNvSpPr/>
          <p:nvPr/>
        </p:nvSpPr>
        <p:spPr>
          <a:xfrm>
            <a:off x="5623560" y="4059936"/>
            <a:ext cx="731520" cy="256032"/>
          </a:xfrm>
          <a:prstGeom prst="rect">
            <a:avLst/>
          </a:prstGeom>
          <a:noFill/>
          <a:ln/>
        </p:spPr>
        <p:txBody>
          <a:bodyPr wrap="square" lIns="0" tIns="0" rIns="0" bIns="0" rtlCol="0" anchor="ctr"/>
          <a:lstStyle/>
          <a:p>
            <a:pPr marL="0" indent="0" algn="ctr">
              <a:buNone/>
            </a:pPr>
            <a:r>
              <a:rPr lang="en-US" sz="950" dirty="0">
                <a:solidFill>
                  <a:srgbClr val="D94F4F"/>
                </a:solidFill>
              </a:rPr>
              <a:t>≈ +3σ</a:t>
            </a:r>
            <a:endParaRPr lang="en-US" sz="950" dirty="0"/>
          </a:p>
        </p:txBody>
      </p:sp>
      <p:sp>
        <p:nvSpPr>
          <p:cNvPr id="73" name="Shape 71"/>
          <p:cNvSpPr/>
          <p:nvPr/>
        </p:nvSpPr>
        <p:spPr>
          <a:xfrm>
            <a:off x="6931152" y="1572768"/>
            <a:ext cx="4160520" cy="1188720"/>
          </a:xfrm>
          <a:prstGeom prst="roundRect">
            <a:avLst>
              <a:gd name="adj" fmla="val 6154"/>
            </a:avLst>
          </a:prstGeom>
          <a:solidFill>
            <a:srgbClr val="EAF1FF"/>
          </a:solidFill>
          <a:ln w="10160">
            <a:solidFill>
              <a:srgbClr val="E9EEF5"/>
            </a:solidFill>
            <a:prstDash val="solid"/>
          </a:ln>
        </p:spPr>
      </p:sp>
      <p:sp>
        <p:nvSpPr>
          <p:cNvPr id="74" name="Text 72"/>
          <p:cNvSpPr/>
          <p:nvPr/>
        </p:nvSpPr>
        <p:spPr>
          <a:xfrm>
            <a:off x="7095744" y="1709928"/>
            <a:ext cx="38313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Formula</a:t>
            </a:r>
            <a:endParaRPr lang="en-US" sz="1500" dirty="0"/>
          </a:p>
        </p:txBody>
      </p:sp>
      <p:sp>
        <p:nvSpPr>
          <p:cNvPr id="75" name="Text 73"/>
          <p:cNvSpPr/>
          <p:nvPr/>
        </p:nvSpPr>
        <p:spPr>
          <a:xfrm>
            <a:off x="7095744" y="2048256"/>
            <a:ext cx="3831336" cy="5852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z = (x − mean) / standard deviation</a:t>
            </a:r>
            <a:endParaRPr lang="en-US" sz="1150" dirty="0"/>
          </a:p>
        </p:txBody>
      </p:sp>
      <p:sp>
        <p:nvSpPr>
          <p:cNvPr id="76" name="Shape 74"/>
          <p:cNvSpPr/>
          <p:nvPr/>
        </p:nvSpPr>
        <p:spPr>
          <a:xfrm>
            <a:off x="6858000" y="2980944"/>
            <a:ext cx="4315968" cy="420624"/>
          </a:xfrm>
          <a:prstGeom prst="roundRect">
            <a:avLst>
              <a:gd name="adj" fmla="val 10870"/>
            </a:avLst>
          </a:prstGeom>
          <a:solidFill>
            <a:srgbClr val="F8FBF9"/>
          </a:solidFill>
          <a:ln w="12700">
            <a:solidFill>
              <a:srgbClr val="217346"/>
            </a:solidFill>
            <a:prstDash val="solid"/>
          </a:ln>
        </p:spPr>
      </p:sp>
      <p:sp>
        <p:nvSpPr>
          <p:cNvPr id="77" name="Text 75"/>
          <p:cNvSpPr/>
          <p:nvPr/>
        </p:nvSpPr>
        <p:spPr>
          <a:xfrm>
            <a:off x="6967728" y="3063240"/>
            <a:ext cx="4096512"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=(B2-AVERAGE($B$2:$B$101))/STDEV.S($B$2:$B$101)</a:t>
            </a:r>
            <a:endParaRPr lang="en-US" sz="1050" dirty="0"/>
          </a:p>
        </p:txBody>
      </p:sp>
      <p:sp>
        <p:nvSpPr>
          <p:cNvPr id="78" name="Shape 76"/>
          <p:cNvSpPr/>
          <p:nvPr/>
        </p:nvSpPr>
        <p:spPr>
          <a:xfrm>
            <a:off x="6931152" y="3703320"/>
            <a:ext cx="4160520" cy="1188720"/>
          </a:xfrm>
          <a:prstGeom prst="roundRect">
            <a:avLst>
              <a:gd name="adj" fmla="val 6154"/>
            </a:avLst>
          </a:prstGeom>
          <a:solidFill>
            <a:srgbClr val="FFF4E2"/>
          </a:solidFill>
          <a:ln w="10160">
            <a:solidFill>
              <a:srgbClr val="E9EEF5"/>
            </a:solidFill>
            <a:prstDash val="solid"/>
          </a:ln>
        </p:spPr>
      </p:sp>
      <p:sp>
        <p:nvSpPr>
          <p:cNvPr id="79" name="Text 77"/>
          <p:cNvSpPr/>
          <p:nvPr/>
        </p:nvSpPr>
        <p:spPr>
          <a:xfrm>
            <a:off x="7095744" y="3840480"/>
            <a:ext cx="38313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Caution</a:t>
            </a:r>
            <a:endParaRPr lang="en-US" sz="1500" dirty="0"/>
          </a:p>
        </p:txBody>
      </p:sp>
      <p:sp>
        <p:nvSpPr>
          <p:cNvPr id="80" name="Text 78"/>
          <p:cNvSpPr/>
          <p:nvPr/>
        </p:nvSpPr>
        <p:spPr>
          <a:xfrm>
            <a:off x="7095744" y="4178808"/>
            <a:ext cx="3831336" cy="5852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z-scores are sensitive to outliers and assume the mean/std are meaningful for the distribution.</a:t>
            </a:r>
            <a:endParaRPr lang="en-US" sz="1150" dirty="0"/>
          </a:p>
        </p:txBody>
      </p:sp>
      <p:sp>
        <p:nvSpPr>
          <p:cNvPr id="81" name="Shape 79"/>
          <p:cNvSpPr/>
          <p:nvPr/>
        </p:nvSpPr>
        <p:spPr>
          <a:xfrm>
            <a:off x="1938528" y="5623560"/>
            <a:ext cx="8366760" cy="530352"/>
          </a:xfrm>
          <a:prstGeom prst="roundRect">
            <a:avLst>
              <a:gd name="adj" fmla="val 8621"/>
            </a:avLst>
          </a:prstGeom>
          <a:solidFill>
            <a:srgbClr val="FFFFFF"/>
          </a:solidFill>
          <a:ln w="15240">
            <a:solidFill>
              <a:srgbClr val="009E9A"/>
            </a:solidFill>
            <a:prstDash val="solid"/>
          </a:ln>
        </p:spPr>
      </p:sp>
      <p:sp>
        <p:nvSpPr>
          <p:cNvPr id="82" name="Shape 80"/>
          <p:cNvSpPr/>
          <p:nvPr/>
        </p:nvSpPr>
        <p:spPr>
          <a:xfrm>
            <a:off x="1938528" y="5623560"/>
            <a:ext cx="73152" cy="530352"/>
          </a:xfrm>
          <a:prstGeom prst="rect">
            <a:avLst/>
          </a:prstGeom>
          <a:solidFill>
            <a:srgbClr val="009E9A"/>
          </a:solidFill>
          <a:ln w="12700">
            <a:solidFill>
              <a:srgbClr val="009E9A"/>
            </a:solidFill>
            <a:prstDash val="solid"/>
          </a:ln>
        </p:spPr>
      </p:sp>
      <p:sp>
        <p:nvSpPr>
          <p:cNvPr id="83" name="Text 81"/>
          <p:cNvSpPr/>
          <p:nvPr/>
        </p:nvSpPr>
        <p:spPr>
          <a:xfrm>
            <a:off x="2103120" y="5733288"/>
            <a:ext cx="8110728" cy="310896"/>
          </a:xfrm>
          <a:prstGeom prst="rect">
            <a:avLst/>
          </a:prstGeom>
          <a:noFill/>
          <a:ln/>
        </p:spPr>
        <p:txBody>
          <a:bodyPr wrap="square" lIns="0" tIns="0" rIns="0" bIns="0" rtlCol="0" anchor="ctr">
            <a:normAutofit/>
          </a:bodyPr>
          <a:lstStyle/>
          <a:p>
            <a:pPr marL="0" indent="0">
              <a:buNone/>
            </a:pPr>
            <a:r>
              <a:rPr lang="en-US" sz="1150" b="1" dirty="0">
                <a:solidFill>
                  <a:srgbClr val="0B1F33"/>
                </a:solidFill>
              </a:rPr>
              <a:t>For strongly skewed banking data, the IQR rule is often safer as a first screen.</a:t>
            </a:r>
            <a:endParaRPr lang="en-US" sz="1150" dirty="0"/>
          </a:p>
        </p:txBody>
      </p:sp>
      <p:sp>
        <p:nvSpPr>
          <p:cNvPr id="8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Handling outliers: preserve information and business meaning</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The right treatment depends on why the value is extreme.</a:t>
            </a:r>
            <a:endParaRPr lang="en-US" sz="1300" dirty="0"/>
          </a:p>
        </p:txBody>
      </p:sp>
      <p:sp>
        <p:nvSpPr>
          <p:cNvPr id="7" name="Shape 5"/>
          <p:cNvSpPr/>
          <p:nvPr/>
        </p:nvSpPr>
        <p:spPr>
          <a:xfrm>
            <a:off x="676656" y="1490472"/>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8" name="Text 6"/>
          <p:cNvSpPr/>
          <p:nvPr/>
        </p:nvSpPr>
        <p:spPr>
          <a:xfrm>
            <a:off x="841248" y="1627632"/>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Validate</a:t>
            </a:r>
            <a:endParaRPr lang="en-US" sz="1500" dirty="0"/>
          </a:p>
        </p:txBody>
      </p:sp>
      <p:sp>
        <p:nvSpPr>
          <p:cNvPr id="9" name="Text 7"/>
          <p:cNvSpPr/>
          <p:nvPr/>
        </p:nvSpPr>
        <p:spPr>
          <a:xfrm>
            <a:off x="841248" y="1965960"/>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Check source system, unit, sign, duplicate and business event.</a:t>
            </a:r>
            <a:endParaRPr lang="en-US" sz="1150" dirty="0"/>
          </a:p>
        </p:txBody>
      </p:sp>
      <p:sp>
        <p:nvSpPr>
          <p:cNvPr id="10" name="Shape 8"/>
          <p:cNvSpPr/>
          <p:nvPr/>
        </p:nvSpPr>
        <p:spPr>
          <a:xfrm>
            <a:off x="676656" y="1490472"/>
            <a:ext cx="73152" cy="1536192"/>
          </a:xfrm>
          <a:prstGeom prst="rect">
            <a:avLst/>
          </a:prstGeom>
          <a:solidFill>
            <a:srgbClr val="2F6BFF"/>
          </a:solidFill>
          <a:ln w="12700">
            <a:solidFill>
              <a:srgbClr val="2F6BFF"/>
            </a:solidFill>
            <a:prstDash val="solid"/>
          </a:ln>
        </p:spPr>
      </p:sp>
      <p:sp>
        <p:nvSpPr>
          <p:cNvPr id="11" name="Shape 9"/>
          <p:cNvSpPr/>
          <p:nvPr/>
        </p:nvSpPr>
        <p:spPr>
          <a:xfrm>
            <a:off x="4425696" y="1490472"/>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2" name="Text 10"/>
          <p:cNvSpPr/>
          <p:nvPr/>
        </p:nvSpPr>
        <p:spPr>
          <a:xfrm>
            <a:off x="4590288" y="1627632"/>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Correct</a:t>
            </a:r>
            <a:endParaRPr lang="en-US" sz="1500" dirty="0"/>
          </a:p>
        </p:txBody>
      </p:sp>
      <p:sp>
        <p:nvSpPr>
          <p:cNvPr id="13" name="Text 11"/>
          <p:cNvSpPr/>
          <p:nvPr/>
        </p:nvSpPr>
        <p:spPr>
          <a:xfrm>
            <a:off x="4590288" y="1965960"/>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Fix confirmed errors using traceable rules.</a:t>
            </a:r>
            <a:endParaRPr lang="en-US" sz="1150" dirty="0"/>
          </a:p>
        </p:txBody>
      </p:sp>
      <p:sp>
        <p:nvSpPr>
          <p:cNvPr id="14" name="Shape 12"/>
          <p:cNvSpPr/>
          <p:nvPr/>
        </p:nvSpPr>
        <p:spPr>
          <a:xfrm>
            <a:off x="4425696" y="1490472"/>
            <a:ext cx="73152" cy="1536192"/>
          </a:xfrm>
          <a:prstGeom prst="rect">
            <a:avLst/>
          </a:prstGeom>
          <a:solidFill>
            <a:srgbClr val="009E9A"/>
          </a:solidFill>
          <a:ln w="12700">
            <a:solidFill>
              <a:srgbClr val="009E9A"/>
            </a:solidFill>
            <a:prstDash val="solid"/>
          </a:ln>
        </p:spPr>
      </p:sp>
      <p:sp>
        <p:nvSpPr>
          <p:cNvPr id="15" name="Shape 13"/>
          <p:cNvSpPr/>
          <p:nvPr/>
        </p:nvSpPr>
        <p:spPr>
          <a:xfrm>
            <a:off x="8174736" y="1490472"/>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16" name="Text 14"/>
          <p:cNvSpPr/>
          <p:nvPr/>
        </p:nvSpPr>
        <p:spPr>
          <a:xfrm>
            <a:off x="8339328" y="1627632"/>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Keep</a:t>
            </a:r>
            <a:endParaRPr lang="en-US" sz="1500" dirty="0"/>
          </a:p>
        </p:txBody>
      </p:sp>
      <p:sp>
        <p:nvSpPr>
          <p:cNvPr id="17" name="Text 15"/>
          <p:cNvSpPr/>
          <p:nvPr/>
        </p:nvSpPr>
        <p:spPr>
          <a:xfrm>
            <a:off x="8339328" y="1965960"/>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Valid extreme cases may be essential to risk analysis.</a:t>
            </a:r>
            <a:endParaRPr lang="en-US" sz="1150" dirty="0"/>
          </a:p>
        </p:txBody>
      </p:sp>
      <p:sp>
        <p:nvSpPr>
          <p:cNvPr id="18" name="Shape 16"/>
          <p:cNvSpPr/>
          <p:nvPr/>
        </p:nvSpPr>
        <p:spPr>
          <a:xfrm>
            <a:off x="8174736" y="1490472"/>
            <a:ext cx="73152" cy="1536192"/>
          </a:xfrm>
          <a:prstGeom prst="rect">
            <a:avLst/>
          </a:prstGeom>
          <a:solidFill>
            <a:srgbClr val="2DAA74"/>
          </a:solidFill>
          <a:ln w="12700">
            <a:solidFill>
              <a:srgbClr val="2DAA74"/>
            </a:solidFill>
            <a:prstDash val="solid"/>
          </a:ln>
        </p:spPr>
      </p:sp>
      <p:sp>
        <p:nvSpPr>
          <p:cNvPr id="19" name="Shape 17"/>
          <p:cNvSpPr/>
          <p:nvPr/>
        </p:nvSpPr>
        <p:spPr>
          <a:xfrm>
            <a:off x="676656" y="3429000"/>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0" name="Text 18"/>
          <p:cNvSpPr/>
          <p:nvPr/>
        </p:nvSpPr>
        <p:spPr>
          <a:xfrm>
            <a:off x="841248" y="35661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Transform</a:t>
            </a:r>
            <a:endParaRPr lang="en-US" sz="1500" dirty="0"/>
          </a:p>
        </p:txBody>
      </p:sp>
      <p:sp>
        <p:nvSpPr>
          <p:cNvPr id="21" name="Text 19"/>
          <p:cNvSpPr/>
          <p:nvPr/>
        </p:nvSpPr>
        <p:spPr>
          <a:xfrm>
            <a:off x="841248" y="3904488"/>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Log scale can reduce skew for positive amounts.</a:t>
            </a:r>
            <a:endParaRPr lang="en-US" sz="1150" dirty="0"/>
          </a:p>
        </p:txBody>
      </p:sp>
      <p:sp>
        <p:nvSpPr>
          <p:cNvPr id="22" name="Shape 20"/>
          <p:cNvSpPr/>
          <p:nvPr/>
        </p:nvSpPr>
        <p:spPr>
          <a:xfrm>
            <a:off x="676656" y="3429000"/>
            <a:ext cx="73152" cy="1536192"/>
          </a:xfrm>
          <a:prstGeom prst="rect">
            <a:avLst/>
          </a:prstGeom>
          <a:solidFill>
            <a:srgbClr val="7A5AF8"/>
          </a:solidFill>
          <a:ln w="12700">
            <a:solidFill>
              <a:srgbClr val="7A5AF8"/>
            </a:solidFill>
            <a:prstDash val="solid"/>
          </a:ln>
        </p:spPr>
      </p:sp>
      <p:sp>
        <p:nvSpPr>
          <p:cNvPr id="23" name="Shape 21"/>
          <p:cNvSpPr/>
          <p:nvPr/>
        </p:nvSpPr>
        <p:spPr>
          <a:xfrm>
            <a:off x="4425696" y="3429000"/>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4" name="Text 22"/>
          <p:cNvSpPr/>
          <p:nvPr/>
        </p:nvSpPr>
        <p:spPr>
          <a:xfrm>
            <a:off x="4590288" y="35661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Cap / Winsorise</a:t>
            </a:r>
            <a:endParaRPr lang="en-US" sz="1500" dirty="0"/>
          </a:p>
        </p:txBody>
      </p:sp>
      <p:sp>
        <p:nvSpPr>
          <p:cNvPr id="25" name="Text 23"/>
          <p:cNvSpPr/>
          <p:nvPr/>
        </p:nvSpPr>
        <p:spPr>
          <a:xfrm>
            <a:off x="4590288" y="3904488"/>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Limit extreme influence when methodologically justified.</a:t>
            </a:r>
            <a:endParaRPr lang="en-US" sz="1150" dirty="0"/>
          </a:p>
        </p:txBody>
      </p:sp>
      <p:sp>
        <p:nvSpPr>
          <p:cNvPr id="26" name="Shape 24"/>
          <p:cNvSpPr/>
          <p:nvPr/>
        </p:nvSpPr>
        <p:spPr>
          <a:xfrm>
            <a:off x="4425696" y="3429000"/>
            <a:ext cx="73152" cy="1536192"/>
          </a:xfrm>
          <a:prstGeom prst="rect">
            <a:avLst/>
          </a:prstGeom>
          <a:solidFill>
            <a:srgbClr val="F59E0B"/>
          </a:solidFill>
          <a:ln w="12700">
            <a:solidFill>
              <a:srgbClr val="F59E0B"/>
            </a:solidFill>
            <a:prstDash val="solid"/>
          </a:ln>
        </p:spPr>
      </p:sp>
      <p:sp>
        <p:nvSpPr>
          <p:cNvPr id="27" name="Shape 25"/>
          <p:cNvSpPr/>
          <p:nvPr/>
        </p:nvSpPr>
        <p:spPr>
          <a:xfrm>
            <a:off x="8174736" y="3429000"/>
            <a:ext cx="3401568" cy="1536192"/>
          </a:xfrm>
          <a:prstGeom prst="roundRect">
            <a:avLst>
              <a:gd name="adj" fmla="val 4762"/>
            </a:avLst>
          </a:prstGeom>
          <a:solidFill>
            <a:srgbClr val="FFFFFF"/>
          </a:solidFill>
          <a:ln w="10160">
            <a:solidFill>
              <a:srgbClr val="E9EEF5"/>
            </a:solidFill>
            <a:prstDash val="solid"/>
          </a:ln>
          <a:effectLst>
            <a:outerShdw blurRad="25400" dist="50800" dir="2700000" algn="bl" rotWithShape="0">
              <a:srgbClr val="B9C4D1">
                <a:alpha val="15000"/>
              </a:srgbClr>
            </a:outerShdw>
          </a:effectLst>
        </p:spPr>
      </p:sp>
      <p:sp>
        <p:nvSpPr>
          <p:cNvPr id="28" name="Text 26"/>
          <p:cNvSpPr/>
          <p:nvPr/>
        </p:nvSpPr>
        <p:spPr>
          <a:xfrm>
            <a:off x="8339328" y="3566160"/>
            <a:ext cx="3072384"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Segment / model separately</a:t>
            </a:r>
            <a:endParaRPr lang="en-US" sz="1500" dirty="0"/>
          </a:p>
        </p:txBody>
      </p:sp>
      <p:sp>
        <p:nvSpPr>
          <p:cNvPr id="29" name="Text 27"/>
          <p:cNvSpPr/>
          <p:nvPr/>
        </p:nvSpPr>
        <p:spPr>
          <a:xfrm>
            <a:off x="8339328" y="3904488"/>
            <a:ext cx="3072384" cy="93268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Different populations may need different treatment.</a:t>
            </a:r>
            <a:endParaRPr lang="en-US" sz="1150" dirty="0"/>
          </a:p>
        </p:txBody>
      </p:sp>
      <p:sp>
        <p:nvSpPr>
          <p:cNvPr id="30" name="Shape 28"/>
          <p:cNvSpPr/>
          <p:nvPr/>
        </p:nvSpPr>
        <p:spPr>
          <a:xfrm>
            <a:off x="8174736" y="3429000"/>
            <a:ext cx="73152" cy="1536192"/>
          </a:xfrm>
          <a:prstGeom prst="rect">
            <a:avLst/>
          </a:prstGeom>
          <a:solidFill>
            <a:srgbClr val="D94F4F"/>
          </a:solidFill>
          <a:ln w="12700">
            <a:solidFill>
              <a:srgbClr val="D94F4F"/>
            </a:solidFill>
            <a:prstDash val="solid"/>
          </a:ln>
        </p:spPr>
      </p:sp>
      <p:sp>
        <p:nvSpPr>
          <p:cNvPr id="31" name="Shape 29"/>
          <p:cNvSpPr/>
          <p:nvPr/>
        </p:nvSpPr>
        <p:spPr>
          <a:xfrm>
            <a:off x="1115568" y="5650992"/>
            <a:ext cx="10012680" cy="548640"/>
          </a:xfrm>
          <a:prstGeom prst="roundRect">
            <a:avLst>
              <a:gd name="adj" fmla="val 8333"/>
            </a:avLst>
          </a:prstGeom>
          <a:solidFill>
            <a:srgbClr val="FFFFFF"/>
          </a:solidFill>
          <a:ln w="15240">
            <a:solidFill>
              <a:srgbClr val="D94F4F"/>
            </a:solidFill>
            <a:prstDash val="solid"/>
          </a:ln>
        </p:spPr>
      </p:sp>
      <p:sp>
        <p:nvSpPr>
          <p:cNvPr id="32" name="Shape 30"/>
          <p:cNvSpPr/>
          <p:nvPr/>
        </p:nvSpPr>
        <p:spPr>
          <a:xfrm>
            <a:off x="1115568" y="5650992"/>
            <a:ext cx="73152" cy="548640"/>
          </a:xfrm>
          <a:prstGeom prst="rect">
            <a:avLst/>
          </a:prstGeom>
          <a:solidFill>
            <a:srgbClr val="D94F4F"/>
          </a:solidFill>
          <a:ln w="12700">
            <a:solidFill>
              <a:srgbClr val="D94F4F"/>
            </a:solidFill>
            <a:prstDash val="solid"/>
          </a:ln>
        </p:spPr>
      </p:sp>
      <p:sp>
        <p:nvSpPr>
          <p:cNvPr id="33" name="Text 31"/>
          <p:cNvSpPr/>
          <p:nvPr/>
        </p:nvSpPr>
        <p:spPr>
          <a:xfrm>
            <a:off x="1280160" y="5760720"/>
            <a:ext cx="9756648" cy="329184"/>
          </a:xfrm>
          <a:prstGeom prst="rect">
            <a:avLst/>
          </a:prstGeom>
          <a:noFill/>
          <a:ln/>
        </p:spPr>
        <p:txBody>
          <a:bodyPr wrap="square" lIns="0" tIns="0" rIns="0" bIns="0" rtlCol="0" anchor="ctr">
            <a:normAutofit/>
          </a:bodyPr>
          <a:lstStyle/>
          <a:p>
            <a:pPr marL="0" indent="0">
              <a:buNone/>
            </a:pPr>
            <a:r>
              <a:rPr lang="en-US" sz="1150" b="1" dirty="0">
                <a:solidFill>
                  <a:srgbClr val="0B1F33"/>
                </a:solidFill>
              </a:rPr>
              <a:t>Document every exclusion or transformation — especially in regulated analytical processes.</a:t>
            </a:r>
            <a:endParaRPr lang="en-US" sz="1150" dirty="0"/>
          </a:p>
        </p:txBody>
      </p:sp>
      <p:sp>
        <p:nvSpPr>
          <p:cNvPr id="3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Missing values: “unknown” is a data state, not a number</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Missingness can distort summaries and models — and may itself contain information.</a:t>
            </a:r>
            <a:endParaRPr lang="en-US" sz="1300" dirty="0"/>
          </a:p>
        </p:txBody>
      </p:sp>
      <p:sp>
        <p:nvSpPr>
          <p:cNvPr id="7" name="Shape 5"/>
          <p:cNvSpPr/>
          <p:nvPr/>
        </p:nvSpPr>
        <p:spPr>
          <a:xfrm>
            <a:off x="658368" y="1426464"/>
            <a:ext cx="5989320" cy="4526280"/>
          </a:xfrm>
          <a:prstGeom prst="roundRect">
            <a:avLst>
              <a:gd name="adj" fmla="val 1010"/>
            </a:avLst>
          </a:prstGeom>
          <a:solidFill>
            <a:srgbClr val="FFFFFF"/>
          </a:solidFill>
          <a:ln w="10160">
            <a:solidFill>
              <a:srgbClr val="AEB8C5"/>
            </a:solidFill>
            <a:prstDash val="solid"/>
          </a:ln>
        </p:spPr>
      </p:sp>
      <p:sp>
        <p:nvSpPr>
          <p:cNvPr id="8" name="Shape 6"/>
          <p:cNvSpPr/>
          <p:nvPr/>
        </p:nvSpPr>
        <p:spPr>
          <a:xfrm>
            <a:off x="658368" y="1426464"/>
            <a:ext cx="5989320" cy="329184"/>
          </a:xfrm>
          <a:prstGeom prst="rect">
            <a:avLst/>
          </a:prstGeom>
          <a:solidFill>
            <a:srgbClr val="217346"/>
          </a:solidFill>
          <a:ln w="12700">
            <a:solidFill>
              <a:srgbClr val="217346"/>
            </a:solidFill>
            <a:prstDash val="solid"/>
          </a:ln>
        </p:spPr>
      </p:sp>
      <p:sp>
        <p:nvSpPr>
          <p:cNvPr id="9" name="Shape 7"/>
          <p:cNvSpPr/>
          <p:nvPr/>
        </p:nvSpPr>
        <p:spPr>
          <a:xfrm>
            <a:off x="768096" y="1472184"/>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68096" y="1481328"/>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78992" y="1499616"/>
            <a:ext cx="5458968" cy="182880"/>
          </a:xfrm>
          <a:prstGeom prst="rect">
            <a:avLst/>
          </a:prstGeom>
          <a:noFill/>
          <a:ln/>
        </p:spPr>
        <p:txBody>
          <a:bodyPr wrap="square" lIns="0" tIns="0" rIns="0" bIns="0" rtlCol="0" anchor="ctr"/>
          <a:lstStyle/>
          <a:p>
            <a:pPr marL="0" indent="0">
              <a:buNone/>
            </a:pPr>
            <a:r>
              <a:rPr lang="en-US" sz="950" b="1" dirty="0">
                <a:solidFill>
                  <a:srgbClr val="FFFFFF"/>
                </a:solidFill>
              </a:rPr>
              <a:t>Missing values</a:t>
            </a:r>
            <a:endParaRPr lang="en-US" sz="950" dirty="0"/>
          </a:p>
        </p:txBody>
      </p:sp>
      <p:sp>
        <p:nvSpPr>
          <p:cNvPr id="12" name="Shape 10"/>
          <p:cNvSpPr/>
          <p:nvPr/>
        </p:nvSpPr>
        <p:spPr>
          <a:xfrm>
            <a:off x="713232" y="1810512"/>
            <a:ext cx="5879592" cy="292608"/>
          </a:xfrm>
          <a:prstGeom prst="rect">
            <a:avLst/>
          </a:prstGeom>
          <a:solidFill>
            <a:srgbClr val="FAFCFD"/>
          </a:solidFill>
          <a:ln w="6350">
            <a:solidFill>
              <a:srgbClr val="D8E0EA"/>
            </a:solidFill>
            <a:prstDash val="solid"/>
          </a:ln>
        </p:spPr>
      </p:sp>
      <p:sp>
        <p:nvSpPr>
          <p:cNvPr id="13" name="Text 11"/>
          <p:cNvSpPr/>
          <p:nvPr/>
        </p:nvSpPr>
        <p:spPr>
          <a:xfrm>
            <a:off x="768096" y="1874520"/>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24128" y="1865376"/>
            <a:ext cx="551383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=COUNTBLANK(Table1[Income])</a:t>
            </a:r>
            <a:endParaRPr lang="en-US" sz="880" dirty="0"/>
          </a:p>
        </p:txBody>
      </p:sp>
      <p:sp>
        <p:nvSpPr>
          <p:cNvPr id="15" name="Shape 13"/>
          <p:cNvSpPr/>
          <p:nvPr/>
        </p:nvSpPr>
        <p:spPr>
          <a:xfrm>
            <a:off x="722376" y="2176272"/>
            <a:ext cx="1465326" cy="617220"/>
          </a:xfrm>
          <a:prstGeom prst="rect">
            <a:avLst/>
          </a:prstGeom>
          <a:solidFill>
            <a:srgbClr val="E8F3EC"/>
          </a:solidFill>
          <a:ln w="5715">
            <a:solidFill>
              <a:srgbClr val="D8E0EA"/>
            </a:solidFill>
            <a:prstDash val="solid"/>
          </a:ln>
        </p:spPr>
      </p:sp>
      <p:sp>
        <p:nvSpPr>
          <p:cNvPr id="16" name="Text 14"/>
          <p:cNvSpPr/>
          <p:nvPr/>
        </p:nvSpPr>
        <p:spPr>
          <a:xfrm>
            <a:off x="740664" y="2203704"/>
            <a:ext cx="1428750"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a:t>
            </a:r>
            <a:endParaRPr lang="en-US" sz="810" dirty="0"/>
          </a:p>
        </p:txBody>
      </p:sp>
      <p:sp>
        <p:nvSpPr>
          <p:cNvPr id="17" name="Shape 15"/>
          <p:cNvSpPr/>
          <p:nvPr/>
        </p:nvSpPr>
        <p:spPr>
          <a:xfrm>
            <a:off x="2187702" y="2176272"/>
            <a:ext cx="1465326" cy="617220"/>
          </a:xfrm>
          <a:prstGeom prst="rect">
            <a:avLst/>
          </a:prstGeom>
          <a:solidFill>
            <a:srgbClr val="E8F3EC"/>
          </a:solidFill>
          <a:ln w="5715">
            <a:solidFill>
              <a:srgbClr val="D8E0EA"/>
            </a:solidFill>
            <a:prstDash val="solid"/>
          </a:ln>
        </p:spPr>
      </p:sp>
      <p:sp>
        <p:nvSpPr>
          <p:cNvPr id="18" name="Text 16"/>
          <p:cNvSpPr/>
          <p:nvPr/>
        </p:nvSpPr>
        <p:spPr>
          <a:xfrm>
            <a:off x="2205990" y="2203704"/>
            <a:ext cx="1428750"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19" name="Shape 17"/>
          <p:cNvSpPr/>
          <p:nvPr/>
        </p:nvSpPr>
        <p:spPr>
          <a:xfrm>
            <a:off x="3653028" y="2176272"/>
            <a:ext cx="1465326" cy="617220"/>
          </a:xfrm>
          <a:prstGeom prst="rect">
            <a:avLst/>
          </a:prstGeom>
          <a:solidFill>
            <a:srgbClr val="E8F3EC"/>
          </a:solidFill>
          <a:ln w="5715">
            <a:solidFill>
              <a:srgbClr val="D8E0EA"/>
            </a:solidFill>
            <a:prstDash val="solid"/>
          </a:ln>
        </p:spPr>
      </p:sp>
      <p:sp>
        <p:nvSpPr>
          <p:cNvPr id="20" name="Text 18"/>
          <p:cNvSpPr/>
          <p:nvPr/>
        </p:nvSpPr>
        <p:spPr>
          <a:xfrm>
            <a:off x="3671316" y="2203704"/>
            <a:ext cx="1428750"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1" name="Shape 19"/>
          <p:cNvSpPr/>
          <p:nvPr/>
        </p:nvSpPr>
        <p:spPr>
          <a:xfrm>
            <a:off x="5118354" y="2176272"/>
            <a:ext cx="1465326" cy="617220"/>
          </a:xfrm>
          <a:prstGeom prst="rect">
            <a:avLst/>
          </a:prstGeom>
          <a:solidFill>
            <a:srgbClr val="E8F3EC"/>
          </a:solidFill>
          <a:ln w="5715">
            <a:solidFill>
              <a:srgbClr val="D8E0EA"/>
            </a:solidFill>
            <a:prstDash val="solid"/>
          </a:ln>
        </p:spPr>
      </p:sp>
      <p:sp>
        <p:nvSpPr>
          <p:cNvPr id="22" name="Text 20"/>
          <p:cNvSpPr/>
          <p:nvPr/>
        </p:nvSpPr>
        <p:spPr>
          <a:xfrm>
            <a:off x="5136642" y="2203704"/>
            <a:ext cx="1428750"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RiskGrade</a:t>
            </a:r>
            <a:endParaRPr lang="en-US" sz="810" dirty="0"/>
          </a:p>
        </p:txBody>
      </p:sp>
      <p:sp>
        <p:nvSpPr>
          <p:cNvPr id="23" name="Shape 21"/>
          <p:cNvSpPr/>
          <p:nvPr/>
        </p:nvSpPr>
        <p:spPr>
          <a:xfrm>
            <a:off x="722376" y="2793492"/>
            <a:ext cx="1465326" cy="617220"/>
          </a:xfrm>
          <a:prstGeom prst="rect">
            <a:avLst/>
          </a:prstGeom>
          <a:solidFill>
            <a:srgbClr val="FFFFFF"/>
          </a:solidFill>
          <a:ln w="5715">
            <a:solidFill>
              <a:srgbClr val="D8E0EA"/>
            </a:solidFill>
            <a:prstDash val="solid"/>
          </a:ln>
        </p:spPr>
      </p:sp>
      <p:sp>
        <p:nvSpPr>
          <p:cNvPr id="24" name="Text 22"/>
          <p:cNvSpPr/>
          <p:nvPr/>
        </p:nvSpPr>
        <p:spPr>
          <a:xfrm>
            <a:off x="740664" y="282092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25" name="Shape 23"/>
          <p:cNvSpPr/>
          <p:nvPr/>
        </p:nvSpPr>
        <p:spPr>
          <a:xfrm>
            <a:off x="2187702" y="2793492"/>
            <a:ext cx="1465326" cy="617220"/>
          </a:xfrm>
          <a:prstGeom prst="rect">
            <a:avLst/>
          </a:prstGeom>
          <a:solidFill>
            <a:srgbClr val="FFFFFF"/>
          </a:solidFill>
          <a:ln w="5715">
            <a:solidFill>
              <a:srgbClr val="D8E0EA"/>
            </a:solidFill>
            <a:prstDash val="solid"/>
          </a:ln>
        </p:spPr>
      </p:sp>
      <p:sp>
        <p:nvSpPr>
          <p:cNvPr id="26" name="Text 24"/>
          <p:cNvSpPr/>
          <p:nvPr/>
        </p:nvSpPr>
        <p:spPr>
          <a:xfrm>
            <a:off x="2205990" y="282092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27" name="Shape 25"/>
          <p:cNvSpPr/>
          <p:nvPr/>
        </p:nvSpPr>
        <p:spPr>
          <a:xfrm>
            <a:off x="3653028" y="2793492"/>
            <a:ext cx="1465326" cy="617220"/>
          </a:xfrm>
          <a:prstGeom prst="rect">
            <a:avLst/>
          </a:prstGeom>
          <a:solidFill>
            <a:srgbClr val="FFFFFF"/>
          </a:solidFill>
          <a:ln w="5715">
            <a:solidFill>
              <a:srgbClr val="D8E0EA"/>
            </a:solidFill>
            <a:prstDash val="solid"/>
          </a:ln>
        </p:spPr>
      </p:sp>
      <p:sp>
        <p:nvSpPr>
          <p:cNvPr id="28" name="Text 26"/>
          <p:cNvSpPr/>
          <p:nvPr/>
        </p:nvSpPr>
        <p:spPr>
          <a:xfrm>
            <a:off x="3671316" y="282092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29" name="Shape 27"/>
          <p:cNvSpPr/>
          <p:nvPr/>
        </p:nvSpPr>
        <p:spPr>
          <a:xfrm>
            <a:off x="5118354" y="2793492"/>
            <a:ext cx="1465326" cy="617220"/>
          </a:xfrm>
          <a:prstGeom prst="rect">
            <a:avLst/>
          </a:prstGeom>
          <a:solidFill>
            <a:srgbClr val="FFFFFF"/>
          </a:solidFill>
          <a:ln w="5715">
            <a:solidFill>
              <a:srgbClr val="D8E0EA"/>
            </a:solidFill>
            <a:prstDash val="solid"/>
          </a:ln>
        </p:spPr>
      </p:sp>
      <p:sp>
        <p:nvSpPr>
          <p:cNvPr id="30" name="Text 28"/>
          <p:cNvSpPr/>
          <p:nvPr/>
        </p:nvSpPr>
        <p:spPr>
          <a:xfrm>
            <a:off x="5136642" y="282092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A</a:t>
            </a:r>
            <a:endParaRPr lang="en-US" sz="780" dirty="0"/>
          </a:p>
        </p:txBody>
      </p:sp>
      <p:sp>
        <p:nvSpPr>
          <p:cNvPr id="31" name="Shape 29"/>
          <p:cNvSpPr/>
          <p:nvPr/>
        </p:nvSpPr>
        <p:spPr>
          <a:xfrm>
            <a:off x="722376" y="3410712"/>
            <a:ext cx="1465326" cy="617220"/>
          </a:xfrm>
          <a:prstGeom prst="rect">
            <a:avLst/>
          </a:prstGeom>
          <a:solidFill>
            <a:srgbClr val="FFFFFF"/>
          </a:solidFill>
          <a:ln w="5715">
            <a:solidFill>
              <a:srgbClr val="D8E0EA"/>
            </a:solidFill>
            <a:prstDash val="solid"/>
          </a:ln>
        </p:spPr>
      </p:sp>
      <p:sp>
        <p:nvSpPr>
          <p:cNvPr id="32" name="Text 30"/>
          <p:cNvSpPr/>
          <p:nvPr/>
        </p:nvSpPr>
        <p:spPr>
          <a:xfrm>
            <a:off x="740664" y="343814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33" name="Shape 31"/>
          <p:cNvSpPr/>
          <p:nvPr/>
        </p:nvSpPr>
        <p:spPr>
          <a:xfrm>
            <a:off x="2187702" y="3410712"/>
            <a:ext cx="1465326" cy="617220"/>
          </a:xfrm>
          <a:prstGeom prst="rect">
            <a:avLst/>
          </a:prstGeom>
          <a:solidFill>
            <a:srgbClr val="FFFFFF"/>
          </a:solidFill>
          <a:ln w="5715">
            <a:solidFill>
              <a:srgbClr val="D8E0EA"/>
            </a:solidFill>
            <a:prstDash val="solid"/>
          </a:ln>
        </p:spPr>
      </p:sp>
      <p:sp>
        <p:nvSpPr>
          <p:cNvPr id="34" name="Text 32"/>
          <p:cNvSpPr/>
          <p:nvPr/>
        </p:nvSpPr>
        <p:spPr>
          <a:xfrm>
            <a:off x="2205990" y="343814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35" name="Shape 33"/>
          <p:cNvSpPr/>
          <p:nvPr/>
        </p:nvSpPr>
        <p:spPr>
          <a:xfrm>
            <a:off x="3653028" y="3410712"/>
            <a:ext cx="1465326" cy="617220"/>
          </a:xfrm>
          <a:prstGeom prst="rect">
            <a:avLst/>
          </a:prstGeom>
          <a:solidFill>
            <a:srgbClr val="FFFFFF"/>
          </a:solidFill>
          <a:ln w="5715">
            <a:solidFill>
              <a:srgbClr val="D8E0EA"/>
            </a:solidFill>
            <a:prstDash val="solid"/>
          </a:ln>
        </p:spPr>
      </p:sp>
      <p:sp>
        <p:nvSpPr>
          <p:cNvPr id="36" name="Text 34"/>
          <p:cNvSpPr/>
          <p:nvPr/>
        </p:nvSpPr>
        <p:spPr>
          <a:xfrm>
            <a:off x="3671316" y="343814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37" name="Shape 35"/>
          <p:cNvSpPr/>
          <p:nvPr/>
        </p:nvSpPr>
        <p:spPr>
          <a:xfrm>
            <a:off x="5118354" y="3410712"/>
            <a:ext cx="1465326" cy="617220"/>
          </a:xfrm>
          <a:prstGeom prst="rect">
            <a:avLst/>
          </a:prstGeom>
          <a:solidFill>
            <a:srgbClr val="FFFFFF"/>
          </a:solidFill>
          <a:ln w="5715">
            <a:solidFill>
              <a:srgbClr val="D8E0EA"/>
            </a:solidFill>
            <a:prstDash val="solid"/>
          </a:ln>
        </p:spPr>
      </p:sp>
      <p:sp>
        <p:nvSpPr>
          <p:cNvPr id="38" name="Text 36"/>
          <p:cNvSpPr/>
          <p:nvPr/>
        </p:nvSpPr>
        <p:spPr>
          <a:xfrm>
            <a:off x="5136642" y="343814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B</a:t>
            </a:r>
            <a:endParaRPr lang="en-US" sz="780" dirty="0"/>
          </a:p>
        </p:txBody>
      </p:sp>
      <p:sp>
        <p:nvSpPr>
          <p:cNvPr id="39" name="Shape 37"/>
          <p:cNvSpPr/>
          <p:nvPr/>
        </p:nvSpPr>
        <p:spPr>
          <a:xfrm>
            <a:off x="722376" y="4027932"/>
            <a:ext cx="1465326" cy="617220"/>
          </a:xfrm>
          <a:prstGeom prst="rect">
            <a:avLst/>
          </a:prstGeom>
          <a:solidFill>
            <a:srgbClr val="FFFFFF"/>
          </a:solidFill>
          <a:ln w="5715">
            <a:solidFill>
              <a:srgbClr val="D8E0EA"/>
            </a:solidFill>
            <a:prstDash val="solid"/>
          </a:ln>
        </p:spPr>
      </p:sp>
      <p:sp>
        <p:nvSpPr>
          <p:cNvPr id="40" name="Text 38"/>
          <p:cNvSpPr/>
          <p:nvPr/>
        </p:nvSpPr>
        <p:spPr>
          <a:xfrm>
            <a:off x="740664" y="405536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41" name="Shape 39"/>
          <p:cNvSpPr/>
          <p:nvPr/>
        </p:nvSpPr>
        <p:spPr>
          <a:xfrm>
            <a:off x="2187702" y="4027932"/>
            <a:ext cx="1465326" cy="617220"/>
          </a:xfrm>
          <a:prstGeom prst="rect">
            <a:avLst/>
          </a:prstGeom>
          <a:solidFill>
            <a:srgbClr val="FDECEC"/>
          </a:solidFill>
          <a:ln w="5715">
            <a:solidFill>
              <a:srgbClr val="D8E0EA"/>
            </a:solidFill>
            <a:prstDash val="solid"/>
          </a:ln>
        </p:spPr>
      </p:sp>
      <p:sp>
        <p:nvSpPr>
          <p:cNvPr id="42" name="Text 40"/>
          <p:cNvSpPr/>
          <p:nvPr/>
        </p:nvSpPr>
        <p:spPr>
          <a:xfrm>
            <a:off x="2205990" y="4055364"/>
            <a:ext cx="1428750" cy="580644"/>
          </a:xfrm>
          <a:prstGeom prst="rect">
            <a:avLst/>
          </a:prstGeom>
          <a:noFill/>
          <a:ln/>
        </p:spPr>
        <p:txBody>
          <a:bodyPr wrap="square" lIns="0" tIns="0" rIns="0" bIns="0" rtlCol="0" anchor="ctr">
            <a:normAutofit/>
          </a:bodyPr>
          <a:lstStyle/>
          <a:p>
            <a:pPr marL="0" indent="0">
              <a:buNone/>
            </a:pPr>
            <a:endParaRPr lang="en-US" sz="780" dirty="0"/>
          </a:p>
        </p:txBody>
      </p:sp>
      <p:sp>
        <p:nvSpPr>
          <p:cNvPr id="43" name="Shape 41"/>
          <p:cNvSpPr/>
          <p:nvPr/>
        </p:nvSpPr>
        <p:spPr>
          <a:xfrm>
            <a:off x="3653028" y="4027932"/>
            <a:ext cx="1465326" cy="617220"/>
          </a:xfrm>
          <a:prstGeom prst="rect">
            <a:avLst/>
          </a:prstGeom>
          <a:solidFill>
            <a:srgbClr val="FFFFFF"/>
          </a:solidFill>
          <a:ln w="5715">
            <a:solidFill>
              <a:srgbClr val="D8E0EA"/>
            </a:solidFill>
            <a:prstDash val="solid"/>
          </a:ln>
        </p:spPr>
      </p:sp>
      <p:sp>
        <p:nvSpPr>
          <p:cNvPr id="44" name="Text 42"/>
          <p:cNvSpPr/>
          <p:nvPr/>
        </p:nvSpPr>
        <p:spPr>
          <a:xfrm>
            <a:off x="3671316" y="405536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45" name="Shape 43"/>
          <p:cNvSpPr/>
          <p:nvPr/>
        </p:nvSpPr>
        <p:spPr>
          <a:xfrm>
            <a:off x="5118354" y="4027932"/>
            <a:ext cx="1465326" cy="617220"/>
          </a:xfrm>
          <a:prstGeom prst="rect">
            <a:avLst/>
          </a:prstGeom>
          <a:solidFill>
            <a:srgbClr val="FFFFFF"/>
          </a:solidFill>
          <a:ln w="5715">
            <a:solidFill>
              <a:srgbClr val="D8E0EA"/>
            </a:solidFill>
            <a:prstDash val="solid"/>
          </a:ln>
        </p:spPr>
      </p:sp>
      <p:sp>
        <p:nvSpPr>
          <p:cNvPr id="46" name="Text 44"/>
          <p:cNvSpPr/>
          <p:nvPr/>
        </p:nvSpPr>
        <p:spPr>
          <a:xfrm>
            <a:off x="5136642" y="405536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A</a:t>
            </a:r>
            <a:endParaRPr lang="en-US" sz="780" dirty="0"/>
          </a:p>
        </p:txBody>
      </p:sp>
      <p:sp>
        <p:nvSpPr>
          <p:cNvPr id="47" name="Shape 45"/>
          <p:cNvSpPr/>
          <p:nvPr/>
        </p:nvSpPr>
        <p:spPr>
          <a:xfrm>
            <a:off x="722376" y="4645152"/>
            <a:ext cx="1465326" cy="617220"/>
          </a:xfrm>
          <a:prstGeom prst="rect">
            <a:avLst/>
          </a:prstGeom>
          <a:solidFill>
            <a:srgbClr val="FFFFFF"/>
          </a:solidFill>
          <a:ln w="5715">
            <a:solidFill>
              <a:srgbClr val="D8E0EA"/>
            </a:solidFill>
            <a:prstDash val="solid"/>
          </a:ln>
        </p:spPr>
      </p:sp>
      <p:sp>
        <p:nvSpPr>
          <p:cNvPr id="48" name="Text 46"/>
          <p:cNvSpPr/>
          <p:nvPr/>
        </p:nvSpPr>
        <p:spPr>
          <a:xfrm>
            <a:off x="740664" y="467258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49" name="Shape 47"/>
          <p:cNvSpPr/>
          <p:nvPr/>
        </p:nvSpPr>
        <p:spPr>
          <a:xfrm>
            <a:off x="2187702" y="4645152"/>
            <a:ext cx="1465326" cy="617220"/>
          </a:xfrm>
          <a:prstGeom prst="rect">
            <a:avLst/>
          </a:prstGeom>
          <a:solidFill>
            <a:srgbClr val="FFFFFF"/>
          </a:solidFill>
          <a:ln w="5715">
            <a:solidFill>
              <a:srgbClr val="D8E0EA"/>
            </a:solidFill>
            <a:prstDash val="solid"/>
          </a:ln>
        </p:spPr>
      </p:sp>
      <p:sp>
        <p:nvSpPr>
          <p:cNvPr id="50" name="Text 48"/>
          <p:cNvSpPr/>
          <p:nvPr/>
        </p:nvSpPr>
        <p:spPr>
          <a:xfrm>
            <a:off x="2205990" y="467258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45,000</a:t>
            </a:r>
            <a:endParaRPr lang="en-US" sz="780" dirty="0"/>
          </a:p>
        </p:txBody>
      </p:sp>
      <p:sp>
        <p:nvSpPr>
          <p:cNvPr id="51" name="Shape 49"/>
          <p:cNvSpPr/>
          <p:nvPr/>
        </p:nvSpPr>
        <p:spPr>
          <a:xfrm>
            <a:off x="3653028" y="4645152"/>
            <a:ext cx="1465326" cy="617220"/>
          </a:xfrm>
          <a:prstGeom prst="rect">
            <a:avLst/>
          </a:prstGeom>
          <a:solidFill>
            <a:srgbClr val="FDECEC"/>
          </a:solidFill>
          <a:ln w="5715">
            <a:solidFill>
              <a:srgbClr val="D8E0EA"/>
            </a:solidFill>
            <a:prstDash val="solid"/>
          </a:ln>
        </p:spPr>
      </p:sp>
      <p:sp>
        <p:nvSpPr>
          <p:cNvPr id="52" name="Text 50"/>
          <p:cNvSpPr/>
          <p:nvPr/>
        </p:nvSpPr>
        <p:spPr>
          <a:xfrm>
            <a:off x="3671316" y="4672584"/>
            <a:ext cx="1428750" cy="580644"/>
          </a:xfrm>
          <a:prstGeom prst="rect">
            <a:avLst/>
          </a:prstGeom>
          <a:noFill/>
          <a:ln/>
        </p:spPr>
        <p:txBody>
          <a:bodyPr wrap="square" lIns="0" tIns="0" rIns="0" bIns="0" rtlCol="0" anchor="ctr">
            <a:normAutofit/>
          </a:bodyPr>
          <a:lstStyle/>
          <a:p>
            <a:pPr marL="0" indent="0">
              <a:buNone/>
            </a:pPr>
            <a:endParaRPr lang="en-US" sz="780" dirty="0"/>
          </a:p>
        </p:txBody>
      </p:sp>
      <p:sp>
        <p:nvSpPr>
          <p:cNvPr id="53" name="Shape 51"/>
          <p:cNvSpPr/>
          <p:nvPr/>
        </p:nvSpPr>
        <p:spPr>
          <a:xfrm>
            <a:off x="5118354" y="4645152"/>
            <a:ext cx="1465326" cy="617220"/>
          </a:xfrm>
          <a:prstGeom prst="rect">
            <a:avLst/>
          </a:prstGeom>
          <a:solidFill>
            <a:srgbClr val="FFFFFF"/>
          </a:solidFill>
          <a:ln w="5715">
            <a:solidFill>
              <a:srgbClr val="D8E0EA"/>
            </a:solidFill>
            <a:prstDash val="solid"/>
          </a:ln>
        </p:spPr>
      </p:sp>
      <p:sp>
        <p:nvSpPr>
          <p:cNvPr id="54" name="Text 52"/>
          <p:cNvSpPr/>
          <p:nvPr/>
        </p:nvSpPr>
        <p:spPr>
          <a:xfrm>
            <a:off x="5136642" y="467258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a:t>
            </a:r>
            <a:endParaRPr lang="en-US" sz="780" dirty="0"/>
          </a:p>
        </p:txBody>
      </p:sp>
      <p:sp>
        <p:nvSpPr>
          <p:cNvPr id="55" name="Shape 53"/>
          <p:cNvSpPr/>
          <p:nvPr/>
        </p:nvSpPr>
        <p:spPr>
          <a:xfrm>
            <a:off x="722376" y="5262372"/>
            <a:ext cx="1465326" cy="617220"/>
          </a:xfrm>
          <a:prstGeom prst="rect">
            <a:avLst/>
          </a:prstGeom>
          <a:solidFill>
            <a:srgbClr val="FFFFFF"/>
          </a:solidFill>
          <a:ln w="5715">
            <a:solidFill>
              <a:srgbClr val="D8E0EA"/>
            </a:solidFill>
            <a:prstDash val="solid"/>
          </a:ln>
        </p:spPr>
      </p:sp>
      <p:sp>
        <p:nvSpPr>
          <p:cNvPr id="56" name="Text 54"/>
          <p:cNvSpPr/>
          <p:nvPr/>
        </p:nvSpPr>
        <p:spPr>
          <a:xfrm>
            <a:off x="740664" y="528980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57" name="Shape 55"/>
          <p:cNvSpPr/>
          <p:nvPr/>
        </p:nvSpPr>
        <p:spPr>
          <a:xfrm>
            <a:off x="2187702" y="5262372"/>
            <a:ext cx="1465326" cy="617220"/>
          </a:xfrm>
          <a:prstGeom prst="rect">
            <a:avLst/>
          </a:prstGeom>
          <a:solidFill>
            <a:srgbClr val="FDECEC"/>
          </a:solidFill>
          <a:ln w="5715">
            <a:solidFill>
              <a:srgbClr val="D8E0EA"/>
            </a:solidFill>
            <a:prstDash val="solid"/>
          </a:ln>
        </p:spPr>
      </p:sp>
      <p:sp>
        <p:nvSpPr>
          <p:cNvPr id="58" name="Text 56"/>
          <p:cNvSpPr/>
          <p:nvPr/>
        </p:nvSpPr>
        <p:spPr>
          <a:xfrm>
            <a:off x="2205990" y="5289804"/>
            <a:ext cx="1428750" cy="580644"/>
          </a:xfrm>
          <a:prstGeom prst="rect">
            <a:avLst/>
          </a:prstGeom>
          <a:noFill/>
          <a:ln/>
        </p:spPr>
        <p:txBody>
          <a:bodyPr wrap="square" lIns="0" tIns="0" rIns="0" bIns="0" rtlCol="0" anchor="ctr">
            <a:normAutofit/>
          </a:bodyPr>
          <a:lstStyle/>
          <a:p>
            <a:pPr marL="0" indent="0">
              <a:buNone/>
            </a:pPr>
            <a:endParaRPr lang="en-US" sz="780" dirty="0"/>
          </a:p>
        </p:txBody>
      </p:sp>
      <p:sp>
        <p:nvSpPr>
          <p:cNvPr id="59" name="Shape 57"/>
          <p:cNvSpPr/>
          <p:nvPr/>
        </p:nvSpPr>
        <p:spPr>
          <a:xfrm>
            <a:off x="3653028" y="5262372"/>
            <a:ext cx="1465326" cy="617220"/>
          </a:xfrm>
          <a:prstGeom prst="rect">
            <a:avLst/>
          </a:prstGeom>
          <a:solidFill>
            <a:srgbClr val="FFFFFF"/>
          </a:solidFill>
          <a:ln w="5715">
            <a:solidFill>
              <a:srgbClr val="D8E0EA"/>
            </a:solidFill>
            <a:prstDash val="solid"/>
          </a:ln>
        </p:spPr>
      </p:sp>
      <p:sp>
        <p:nvSpPr>
          <p:cNvPr id="60" name="Text 58"/>
          <p:cNvSpPr/>
          <p:nvPr/>
        </p:nvSpPr>
        <p:spPr>
          <a:xfrm>
            <a:off x="3671316" y="5289804"/>
            <a:ext cx="1428750"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61" name="Shape 59"/>
          <p:cNvSpPr/>
          <p:nvPr/>
        </p:nvSpPr>
        <p:spPr>
          <a:xfrm>
            <a:off x="5118354" y="5262372"/>
            <a:ext cx="1465326" cy="617220"/>
          </a:xfrm>
          <a:prstGeom prst="rect">
            <a:avLst/>
          </a:prstGeom>
          <a:solidFill>
            <a:srgbClr val="FDECEC"/>
          </a:solidFill>
          <a:ln w="5715">
            <a:solidFill>
              <a:srgbClr val="D8E0EA"/>
            </a:solidFill>
            <a:prstDash val="solid"/>
          </a:ln>
        </p:spPr>
      </p:sp>
      <p:sp>
        <p:nvSpPr>
          <p:cNvPr id="62" name="Text 60"/>
          <p:cNvSpPr/>
          <p:nvPr/>
        </p:nvSpPr>
        <p:spPr>
          <a:xfrm>
            <a:off x="5136642" y="5289804"/>
            <a:ext cx="1428750" cy="580644"/>
          </a:xfrm>
          <a:prstGeom prst="rect">
            <a:avLst/>
          </a:prstGeom>
          <a:noFill/>
          <a:ln/>
        </p:spPr>
        <p:txBody>
          <a:bodyPr wrap="square" lIns="0" tIns="0" rIns="0" bIns="0" rtlCol="0" anchor="ctr">
            <a:normAutofit/>
          </a:bodyPr>
          <a:lstStyle/>
          <a:p>
            <a:pPr marL="0" indent="0">
              <a:buNone/>
            </a:pPr>
            <a:endParaRPr lang="en-US" sz="780" dirty="0"/>
          </a:p>
        </p:txBody>
      </p:sp>
      <p:sp>
        <p:nvSpPr>
          <p:cNvPr id="63" name="Shape 61"/>
          <p:cNvSpPr/>
          <p:nvPr/>
        </p:nvSpPr>
        <p:spPr>
          <a:xfrm>
            <a:off x="7022592" y="1527048"/>
            <a:ext cx="4069080" cy="960120"/>
          </a:xfrm>
          <a:prstGeom prst="roundRect">
            <a:avLst>
              <a:gd name="adj" fmla="val 7619"/>
            </a:avLst>
          </a:prstGeom>
          <a:solidFill>
            <a:srgbClr val="EAF1FF"/>
          </a:solidFill>
          <a:ln w="10160">
            <a:solidFill>
              <a:srgbClr val="E9EEF5"/>
            </a:solidFill>
            <a:prstDash val="solid"/>
          </a:ln>
        </p:spPr>
      </p:sp>
      <p:sp>
        <p:nvSpPr>
          <p:cNvPr id="64" name="Text 62"/>
          <p:cNvSpPr/>
          <p:nvPr/>
        </p:nvSpPr>
        <p:spPr>
          <a:xfrm>
            <a:off x="7187184" y="1664208"/>
            <a:ext cx="37398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MCAR</a:t>
            </a:r>
            <a:endParaRPr lang="en-US" sz="1500" dirty="0"/>
          </a:p>
        </p:txBody>
      </p:sp>
      <p:sp>
        <p:nvSpPr>
          <p:cNvPr id="65" name="Text 63"/>
          <p:cNvSpPr/>
          <p:nvPr/>
        </p:nvSpPr>
        <p:spPr>
          <a:xfrm>
            <a:off x="7187184" y="2002536"/>
            <a:ext cx="373989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Missing Completely At Random — unrelated to observed or unobserved data.</a:t>
            </a:r>
            <a:endParaRPr lang="en-US" sz="1150" dirty="0"/>
          </a:p>
        </p:txBody>
      </p:sp>
      <p:sp>
        <p:nvSpPr>
          <p:cNvPr id="66" name="Shape 64"/>
          <p:cNvSpPr/>
          <p:nvPr/>
        </p:nvSpPr>
        <p:spPr>
          <a:xfrm>
            <a:off x="7022592" y="2660904"/>
            <a:ext cx="4069080" cy="960120"/>
          </a:xfrm>
          <a:prstGeom prst="roundRect">
            <a:avLst>
              <a:gd name="adj" fmla="val 7619"/>
            </a:avLst>
          </a:prstGeom>
          <a:solidFill>
            <a:srgbClr val="E6F7F5"/>
          </a:solidFill>
          <a:ln w="10160">
            <a:solidFill>
              <a:srgbClr val="E9EEF5"/>
            </a:solidFill>
            <a:prstDash val="solid"/>
          </a:ln>
        </p:spPr>
      </p:sp>
      <p:sp>
        <p:nvSpPr>
          <p:cNvPr id="67" name="Text 65"/>
          <p:cNvSpPr/>
          <p:nvPr/>
        </p:nvSpPr>
        <p:spPr>
          <a:xfrm>
            <a:off x="7187184" y="2798064"/>
            <a:ext cx="37398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MAR</a:t>
            </a:r>
            <a:endParaRPr lang="en-US" sz="1500" dirty="0"/>
          </a:p>
        </p:txBody>
      </p:sp>
      <p:sp>
        <p:nvSpPr>
          <p:cNvPr id="68" name="Text 66"/>
          <p:cNvSpPr/>
          <p:nvPr/>
        </p:nvSpPr>
        <p:spPr>
          <a:xfrm>
            <a:off x="7187184" y="3136392"/>
            <a:ext cx="373989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Missing At Random conditional on observed information.</a:t>
            </a:r>
            <a:endParaRPr lang="en-US" sz="1150" dirty="0"/>
          </a:p>
        </p:txBody>
      </p:sp>
      <p:sp>
        <p:nvSpPr>
          <p:cNvPr id="69" name="Shape 67"/>
          <p:cNvSpPr/>
          <p:nvPr/>
        </p:nvSpPr>
        <p:spPr>
          <a:xfrm>
            <a:off x="7022592" y="3794760"/>
            <a:ext cx="4069080" cy="960120"/>
          </a:xfrm>
          <a:prstGeom prst="roundRect">
            <a:avLst>
              <a:gd name="adj" fmla="val 7619"/>
            </a:avLst>
          </a:prstGeom>
          <a:solidFill>
            <a:srgbClr val="FFF4E2"/>
          </a:solidFill>
          <a:ln w="10160">
            <a:solidFill>
              <a:srgbClr val="E9EEF5"/>
            </a:solidFill>
            <a:prstDash val="solid"/>
          </a:ln>
        </p:spPr>
      </p:sp>
      <p:sp>
        <p:nvSpPr>
          <p:cNvPr id="70" name="Text 68"/>
          <p:cNvSpPr/>
          <p:nvPr/>
        </p:nvSpPr>
        <p:spPr>
          <a:xfrm>
            <a:off x="7187184" y="3931920"/>
            <a:ext cx="37398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MNAR</a:t>
            </a:r>
            <a:endParaRPr lang="en-US" sz="1500" dirty="0"/>
          </a:p>
        </p:txBody>
      </p:sp>
      <p:sp>
        <p:nvSpPr>
          <p:cNvPr id="71" name="Text 69"/>
          <p:cNvSpPr/>
          <p:nvPr/>
        </p:nvSpPr>
        <p:spPr>
          <a:xfrm>
            <a:off x="7187184" y="4270248"/>
            <a:ext cx="3739896" cy="356616"/>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Missing Not At Random — missingness depends on the missing value or process.</a:t>
            </a:r>
            <a:endParaRPr lang="en-US" sz="1150" dirty="0"/>
          </a:p>
        </p:txBody>
      </p:sp>
      <p:sp>
        <p:nvSpPr>
          <p:cNvPr id="72" name="Shape 70"/>
          <p:cNvSpPr/>
          <p:nvPr/>
        </p:nvSpPr>
        <p:spPr>
          <a:xfrm>
            <a:off x="7013448" y="5065776"/>
            <a:ext cx="4096512" cy="685800"/>
          </a:xfrm>
          <a:prstGeom prst="roundRect">
            <a:avLst>
              <a:gd name="adj" fmla="val 6667"/>
            </a:avLst>
          </a:prstGeom>
          <a:solidFill>
            <a:srgbClr val="FFFFFF"/>
          </a:solidFill>
          <a:ln w="15240">
            <a:solidFill>
              <a:srgbClr val="D94F4F"/>
            </a:solidFill>
            <a:prstDash val="solid"/>
          </a:ln>
        </p:spPr>
      </p:sp>
      <p:sp>
        <p:nvSpPr>
          <p:cNvPr id="73" name="Shape 71"/>
          <p:cNvSpPr/>
          <p:nvPr/>
        </p:nvSpPr>
        <p:spPr>
          <a:xfrm>
            <a:off x="7013448" y="5065776"/>
            <a:ext cx="73152" cy="685800"/>
          </a:xfrm>
          <a:prstGeom prst="rect">
            <a:avLst/>
          </a:prstGeom>
          <a:solidFill>
            <a:srgbClr val="D94F4F"/>
          </a:solidFill>
          <a:ln w="12700">
            <a:solidFill>
              <a:srgbClr val="D94F4F"/>
            </a:solidFill>
            <a:prstDash val="solid"/>
          </a:ln>
        </p:spPr>
      </p:sp>
      <p:sp>
        <p:nvSpPr>
          <p:cNvPr id="74" name="Text 72"/>
          <p:cNvSpPr/>
          <p:nvPr/>
        </p:nvSpPr>
        <p:spPr>
          <a:xfrm>
            <a:off x="7178040" y="5175504"/>
            <a:ext cx="3840480" cy="466344"/>
          </a:xfrm>
          <a:prstGeom prst="rect">
            <a:avLst/>
          </a:prstGeom>
          <a:noFill/>
          <a:ln/>
        </p:spPr>
        <p:txBody>
          <a:bodyPr wrap="square" lIns="0" tIns="0" rIns="0" bIns="0" rtlCol="0" anchor="ctr">
            <a:normAutofit/>
          </a:bodyPr>
          <a:lstStyle/>
          <a:p>
            <a:pPr marL="0" indent="0">
              <a:buNone/>
            </a:pPr>
            <a:r>
              <a:rPr lang="en-US" sz="1150" b="1" dirty="0">
                <a:solidFill>
                  <a:srgbClr val="0B1F33"/>
                </a:solidFill>
              </a:rPr>
              <a:t>Do not silently replace missing values with zero unless zero is the correct business meaning.</a:t>
            </a:r>
            <a:endParaRPr lang="en-US" sz="1150" dirty="0"/>
          </a:p>
        </p:txBody>
      </p:sp>
      <p:sp>
        <p:nvSpPr>
          <p:cNvPr id="7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Detecting missing values in Excel</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Combine formulas, filters and visual highlighting.</a:t>
            </a:r>
            <a:endParaRPr lang="en-US" sz="1300" dirty="0"/>
          </a:p>
        </p:txBody>
      </p:sp>
      <p:sp>
        <p:nvSpPr>
          <p:cNvPr id="7" name="Shape 5"/>
          <p:cNvSpPr/>
          <p:nvPr/>
        </p:nvSpPr>
        <p:spPr>
          <a:xfrm>
            <a:off x="859536" y="1627632"/>
            <a:ext cx="3063240" cy="420624"/>
          </a:xfrm>
          <a:prstGeom prst="roundRect">
            <a:avLst>
              <a:gd name="adj" fmla="val 10870"/>
            </a:avLst>
          </a:prstGeom>
          <a:solidFill>
            <a:srgbClr val="F8FBF9"/>
          </a:solidFill>
          <a:ln w="12700">
            <a:solidFill>
              <a:srgbClr val="217346"/>
            </a:solidFill>
            <a:prstDash val="solid"/>
          </a:ln>
        </p:spPr>
      </p:sp>
      <p:sp>
        <p:nvSpPr>
          <p:cNvPr id="8" name="Text 6"/>
          <p:cNvSpPr/>
          <p:nvPr/>
        </p:nvSpPr>
        <p:spPr>
          <a:xfrm>
            <a:off x="969264" y="1709928"/>
            <a:ext cx="284378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=COUNTBLANK(Table1[Income])</a:t>
            </a:r>
            <a:endParaRPr lang="en-US" sz="1050" dirty="0"/>
          </a:p>
        </p:txBody>
      </p:sp>
      <p:sp>
        <p:nvSpPr>
          <p:cNvPr id="9" name="Shape 7"/>
          <p:cNvSpPr/>
          <p:nvPr/>
        </p:nvSpPr>
        <p:spPr>
          <a:xfrm>
            <a:off x="859536" y="2267712"/>
            <a:ext cx="3063240" cy="420624"/>
          </a:xfrm>
          <a:prstGeom prst="roundRect">
            <a:avLst>
              <a:gd name="adj" fmla="val 10870"/>
            </a:avLst>
          </a:prstGeom>
          <a:solidFill>
            <a:srgbClr val="F8FBF9"/>
          </a:solidFill>
          <a:ln w="12700">
            <a:solidFill>
              <a:srgbClr val="217346"/>
            </a:solidFill>
            <a:prstDash val="solid"/>
          </a:ln>
        </p:spPr>
      </p:sp>
      <p:sp>
        <p:nvSpPr>
          <p:cNvPr id="10" name="Text 8"/>
          <p:cNvSpPr/>
          <p:nvPr/>
        </p:nvSpPr>
        <p:spPr>
          <a:xfrm>
            <a:off x="969264" y="2350008"/>
            <a:ext cx="284378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=ISBLANK(C2)</a:t>
            </a:r>
            <a:endParaRPr lang="en-US" sz="1050" dirty="0"/>
          </a:p>
        </p:txBody>
      </p:sp>
      <p:sp>
        <p:nvSpPr>
          <p:cNvPr id="11" name="Shape 9"/>
          <p:cNvSpPr/>
          <p:nvPr/>
        </p:nvSpPr>
        <p:spPr>
          <a:xfrm>
            <a:off x="859536" y="2907792"/>
            <a:ext cx="3063240" cy="420624"/>
          </a:xfrm>
          <a:prstGeom prst="roundRect">
            <a:avLst>
              <a:gd name="adj" fmla="val 10870"/>
            </a:avLst>
          </a:prstGeom>
          <a:solidFill>
            <a:srgbClr val="F8FBF9"/>
          </a:solidFill>
          <a:ln w="12700">
            <a:solidFill>
              <a:srgbClr val="217346"/>
            </a:solidFill>
            <a:prstDash val="solid"/>
          </a:ln>
        </p:spPr>
      </p:sp>
      <p:sp>
        <p:nvSpPr>
          <p:cNvPr id="12" name="Text 10"/>
          <p:cNvSpPr/>
          <p:nvPr/>
        </p:nvSpPr>
        <p:spPr>
          <a:xfrm>
            <a:off x="969264" y="2990088"/>
            <a:ext cx="284378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=COUNTIF(C2:C1000,"")</a:t>
            </a:r>
            <a:endParaRPr lang="en-US" sz="1050" dirty="0"/>
          </a:p>
        </p:txBody>
      </p:sp>
      <p:sp>
        <p:nvSpPr>
          <p:cNvPr id="13" name="Shape 11"/>
          <p:cNvSpPr/>
          <p:nvPr/>
        </p:nvSpPr>
        <p:spPr>
          <a:xfrm>
            <a:off x="859536" y="3547872"/>
            <a:ext cx="3063240" cy="420624"/>
          </a:xfrm>
          <a:prstGeom prst="roundRect">
            <a:avLst>
              <a:gd name="adj" fmla="val 10870"/>
            </a:avLst>
          </a:prstGeom>
          <a:solidFill>
            <a:srgbClr val="F8FBF9"/>
          </a:solidFill>
          <a:ln w="12700">
            <a:solidFill>
              <a:srgbClr val="217346"/>
            </a:solidFill>
            <a:prstDash val="solid"/>
          </a:ln>
        </p:spPr>
      </p:sp>
      <p:sp>
        <p:nvSpPr>
          <p:cNvPr id="14" name="Text 12"/>
          <p:cNvSpPr/>
          <p:nvPr/>
        </p:nvSpPr>
        <p:spPr>
          <a:xfrm>
            <a:off x="969264" y="3630168"/>
            <a:ext cx="284378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=IF(ISBLANK(C2),"Missing","OK")</a:t>
            </a:r>
            <a:endParaRPr lang="en-US" sz="1050" dirty="0"/>
          </a:p>
        </p:txBody>
      </p:sp>
      <p:sp>
        <p:nvSpPr>
          <p:cNvPr id="15" name="Shape 13"/>
          <p:cNvSpPr/>
          <p:nvPr/>
        </p:nvSpPr>
        <p:spPr>
          <a:xfrm>
            <a:off x="4370832" y="1417320"/>
            <a:ext cx="6565392" cy="4526280"/>
          </a:xfrm>
          <a:prstGeom prst="roundRect">
            <a:avLst>
              <a:gd name="adj" fmla="val 1010"/>
            </a:avLst>
          </a:prstGeom>
          <a:solidFill>
            <a:srgbClr val="FFFFFF"/>
          </a:solidFill>
          <a:ln w="10160">
            <a:solidFill>
              <a:srgbClr val="AEB8C5"/>
            </a:solidFill>
            <a:prstDash val="solid"/>
          </a:ln>
        </p:spPr>
      </p:sp>
      <p:sp>
        <p:nvSpPr>
          <p:cNvPr id="16" name="Shape 14"/>
          <p:cNvSpPr/>
          <p:nvPr/>
        </p:nvSpPr>
        <p:spPr>
          <a:xfrm>
            <a:off x="4370832" y="1417320"/>
            <a:ext cx="6565392" cy="329184"/>
          </a:xfrm>
          <a:prstGeom prst="rect">
            <a:avLst/>
          </a:prstGeom>
          <a:solidFill>
            <a:srgbClr val="217346"/>
          </a:solidFill>
          <a:ln w="12700">
            <a:solidFill>
              <a:srgbClr val="217346"/>
            </a:solidFill>
            <a:prstDash val="solid"/>
          </a:ln>
        </p:spPr>
      </p:sp>
      <p:sp>
        <p:nvSpPr>
          <p:cNvPr id="17" name="Shape 15"/>
          <p:cNvSpPr/>
          <p:nvPr/>
        </p:nvSpPr>
        <p:spPr>
          <a:xfrm>
            <a:off x="4480560" y="1463040"/>
            <a:ext cx="237744" cy="237744"/>
          </a:xfrm>
          <a:prstGeom prst="roundRect">
            <a:avLst>
              <a:gd name="adj" fmla="val 15385"/>
            </a:avLst>
          </a:prstGeom>
          <a:solidFill>
            <a:srgbClr val="217346"/>
          </a:solidFill>
          <a:ln w="12700">
            <a:solidFill>
              <a:srgbClr val="217346"/>
            </a:solidFill>
            <a:prstDash val="solid"/>
          </a:ln>
        </p:spPr>
      </p:sp>
      <p:sp>
        <p:nvSpPr>
          <p:cNvPr id="18" name="Text 16"/>
          <p:cNvSpPr/>
          <p:nvPr/>
        </p:nvSpPr>
        <p:spPr>
          <a:xfrm>
            <a:off x="4480560" y="1472184"/>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9" name="Text 17"/>
          <p:cNvSpPr/>
          <p:nvPr/>
        </p:nvSpPr>
        <p:spPr>
          <a:xfrm>
            <a:off x="4791456" y="1490472"/>
            <a:ext cx="6035040" cy="182880"/>
          </a:xfrm>
          <a:prstGeom prst="rect">
            <a:avLst/>
          </a:prstGeom>
          <a:noFill/>
          <a:ln/>
        </p:spPr>
        <p:txBody>
          <a:bodyPr wrap="square" lIns="0" tIns="0" rIns="0" bIns="0" rtlCol="0" anchor="ctr"/>
          <a:lstStyle/>
          <a:p>
            <a:pPr marL="0" indent="0">
              <a:buNone/>
            </a:pPr>
            <a:r>
              <a:rPr lang="en-US" sz="950" b="1" dirty="0">
                <a:solidFill>
                  <a:srgbClr val="FFFFFF"/>
                </a:solidFill>
              </a:rPr>
              <a:t>Exception list</a:t>
            </a:r>
            <a:endParaRPr lang="en-US" sz="950" dirty="0"/>
          </a:p>
        </p:txBody>
      </p:sp>
      <p:sp>
        <p:nvSpPr>
          <p:cNvPr id="20" name="Shape 18"/>
          <p:cNvSpPr/>
          <p:nvPr/>
        </p:nvSpPr>
        <p:spPr>
          <a:xfrm>
            <a:off x="4425696" y="1801368"/>
            <a:ext cx="6455664" cy="292608"/>
          </a:xfrm>
          <a:prstGeom prst="rect">
            <a:avLst/>
          </a:prstGeom>
          <a:solidFill>
            <a:srgbClr val="FAFCFD"/>
          </a:solidFill>
          <a:ln w="6350">
            <a:solidFill>
              <a:srgbClr val="D8E0EA"/>
            </a:solidFill>
            <a:prstDash val="solid"/>
          </a:ln>
        </p:spPr>
      </p:sp>
      <p:sp>
        <p:nvSpPr>
          <p:cNvPr id="21" name="Text 19"/>
          <p:cNvSpPr/>
          <p:nvPr/>
        </p:nvSpPr>
        <p:spPr>
          <a:xfrm>
            <a:off x="4480560" y="1865376"/>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22" name="Text 20"/>
          <p:cNvSpPr/>
          <p:nvPr/>
        </p:nvSpPr>
        <p:spPr>
          <a:xfrm>
            <a:off x="4736592" y="1856232"/>
            <a:ext cx="6089904"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=IF(ISBLANK(B4),"Missing","OK")</a:t>
            </a:r>
            <a:endParaRPr lang="en-US" sz="880" dirty="0"/>
          </a:p>
        </p:txBody>
      </p:sp>
      <p:sp>
        <p:nvSpPr>
          <p:cNvPr id="23" name="Shape 21"/>
          <p:cNvSpPr/>
          <p:nvPr/>
        </p:nvSpPr>
        <p:spPr>
          <a:xfrm>
            <a:off x="4434840" y="2167128"/>
            <a:ext cx="1609344" cy="617220"/>
          </a:xfrm>
          <a:prstGeom prst="rect">
            <a:avLst/>
          </a:prstGeom>
          <a:solidFill>
            <a:srgbClr val="E8F3EC"/>
          </a:solidFill>
          <a:ln w="5715">
            <a:solidFill>
              <a:srgbClr val="D8E0EA"/>
            </a:solidFill>
            <a:prstDash val="solid"/>
          </a:ln>
        </p:spPr>
      </p:sp>
      <p:sp>
        <p:nvSpPr>
          <p:cNvPr id="24" name="Text 22"/>
          <p:cNvSpPr/>
          <p:nvPr/>
        </p:nvSpPr>
        <p:spPr>
          <a:xfrm>
            <a:off x="4453128" y="2194560"/>
            <a:ext cx="1572768"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Customer</a:t>
            </a:r>
            <a:endParaRPr lang="en-US" sz="810" dirty="0"/>
          </a:p>
        </p:txBody>
      </p:sp>
      <p:sp>
        <p:nvSpPr>
          <p:cNvPr id="25" name="Shape 23"/>
          <p:cNvSpPr/>
          <p:nvPr/>
        </p:nvSpPr>
        <p:spPr>
          <a:xfrm>
            <a:off x="6044184" y="2167128"/>
            <a:ext cx="1609344" cy="617220"/>
          </a:xfrm>
          <a:prstGeom prst="rect">
            <a:avLst/>
          </a:prstGeom>
          <a:solidFill>
            <a:srgbClr val="E8F3EC"/>
          </a:solidFill>
          <a:ln w="5715">
            <a:solidFill>
              <a:srgbClr val="D8E0EA"/>
            </a:solidFill>
            <a:prstDash val="solid"/>
          </a:ln>
        </p:spPr>
      </p:sp>
      <p:sp>
        <p:nvSpPr>
          <p:cNvPr id="26" name="Text 24"/>
          <p:cNvSpPr/>
          <p:nvPr/>
        </p:nvSpPr>
        <p:spPr>
          <a:xfrm>
            <a:off x="6062472" y="2194560"/>
            <a:ext cx="1572768"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Income</a:t>
            </a:r>
            <a:endParaRPr lang="en-US" sz="810" dirty="0"/>
          </a:p>
        </p:txBody>
      </p:sp>
      <p:sp>
        <p:nvSpPr>
          <p:cNvPr id="27" name="Shape 25"/>
          <p:cNvSpPr/>
          <p:nvPr/>
        </p:nvSpPr>
        <p:spPr>
          <a:xfrm>
            <a:off x="7653528" y="2167128"/>
            <a:ext cx="1609344" cy="617220"/>
          </a:xfrm>
          <a:prstGeom prst="rect">
            <a:avLst/>
          </a:prstGeom>
          <a:solidFill>
            <a:srgbClr val="E8F3EC"/>
          </a:solidFill>
          <a:ln w="5715">
            <a:solidFill>
              <a:srgbClr val="D8E0EA"/>
            </a:solidFill>
            <a:prstDash val="solid"/>
          </a:ln>
        </p:spPr>
      </p:sp>
      <p:sp>
        <p:nvSpPr>
          <p:cNvPr id="28" name="Text 26"/>
          <p:cNvSpPr/>
          <p:nvPr/>
        </p:nvSpPr>
        <p:spPr>
          <a:xfrm>
            <a:off x="7671816" y="2194560"/>
            <a:ext cx="1572768"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Balance</a:t>
            </a:r>
            <a:endParaRPr lang="en-US" sz="810" dirty="0"/>
          </a:p>
        </p:txBody>
      </p:sp>
      <p:sp>
        <p:nvSpPr>
          <p:cNvPr id="29" name="Shape 27"/>
          <p:cNvSpPr/>
          <p:nvPr/>
        </p:nvSpPr>
        <p:spPr>
          <a:xfrm>
            <a:off x="9262872" y="2167128"/>
            <a:ext cx="1609344" cy="617220"/>
          </a:xfrm>
          <a:prstGeom prst="rect">
            <a:avLst/>
          </a:prstGeom>
          <a:solidFill>
            <a:srgbClr val="E8F3EC"/>
          </a:solidFill>
          <a:ln w="5715">
            <a:solidFill>
              <a:srgbClr val="D8E0EA"/>
            </a:solidFill>
            <a:prstDash val="solid"/>
          </a:ln>
        </p:spPr>
      </p:sp>
      <p:sp>
        <p:nvSpPr>
          <p:cNvPr id="30" name="Text 28"/>
          <p:cNvSpPr/>
          <p:nvPr/>
        </p:nvSpPr>
        <p:spPr>
          <a:xfrm>
            <a:off x="9281160" y="2194560"/>
            <a:ext cx="1572768" cy="580644"/>
          </a:xfrm>
          <a:prstGeom prst="rect">
            <a:avLst/>
          </a:prstGeom>
          <a:noFill/>
          <a:ln/>
        </p:spPr>
        <p:txBody>
          <a:bodyPr wrap="square" lIns="0" tIns="0" rIns="0" bIns="0" rtlCol="0" anchor="ctr">
            <a:normAutofit/>
          </a:bodyPr>
          <a:lstStyle/>
          <a:p>
            <a:pPr marL="0" indent="0">
              <a:buNone/>
            </a:pPr>
            <a:r>
              <a:rPr lang="en-US" sz="810" b="1" dirty="0">
                <a:solidFill>
                  <a:srgbClr val="0B1F33"/>
                </a:solidFill>
              </a:rPr>
              <a:t>MissingFlag</a:t>
            </a:r>
            <a:endParaRPr lang="en-US" sz="810" dirty="0"/>
          </a:p>
        </p:txBody>
      </p:sp>
      <p:sp>
        <p:nvSpPr>
          <p:cNvPr id="31" name="Shape 29"/>
          <p:cNvSpPr/>
          <p:nvPr/>
        </p:nvSpPr>
        <p:spPr>
          <a:xfrm>
            <a:off x="4434840" y="2784348"/>
            <a:ext cx="1609344" cy="617220"/>
          </a:xfrm>
          <a:prstGeom prst="rect">
            <a:avLst/>
          </a:prstGeom>
          <a:solidFill>
            <a:srgbClr val="FFFFFF"/>
          </a:solidFill>
          <a:ln w="5715">
            <a:solidFill>
              <a:srgbClr val="D8E0EA"/>
            </a:solidFill>
            <a:prstDash val="solid"/>
          </a:ln>
        </p:spPr>
      </p:sp>
      <p:sp>
        <p:nvSpPr>
          <p:cNvPr id="32" name="Text 30"/>
          <p:cNvSpPr/>
          <p:nvPr/>
        </p:nvSpPr>
        <p:spPr>
          <a:xfrm>
            <a:off x="4453128" y="281178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C1001</a:t>
            </a:r>
            <a:endParaRPr lang="en-US" sz="780" dirty="0"/>
          </a:p>
        </p:txBody>
      </p:sp>
      <p:sp>
        <p:nvSpPr>
          <p:cNvPr id="33" name="Shape 31"/>
          <p:cNvSpPr/>
          <p:nvPr/>
        </p:nvSpPr>
        <p:spPr>
          <a:xfrm>
            <a:off x="6044184" y="2784348"/>
            <a:ext cx="1609344" cy="617220"/>
          </a:xfrm>
          <a:prstGeom prst="rect">
            <a:avLst/>
          </a:prstGeom>
          <a:solidFill>
            <a:srgbClr val="FFFFFF"/>
          </a:solidFill>
          <a:ln w="5715">
            <a:solidFill>
              <a:srgbClr val="D8E0EA"/>
            </a:solidFill>
            <a:prstDash val="solid"/>
          </a:ln>
        </p:spPr>
      </p:sp>
      <p:sp>
        <p:nvSpPr>
          <p:cNvPr id="34" name="Text 32"/>
          <p:cNvSpPr/>
          <p:nvPr/>
        </p:nvSpPr>
        <p:spPr>
          <a:xfrm>
            <a:off x="6062472" y="281178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65,000</a:t>
            </a:r>
            <a:endParaRPr lang="en-US" sz="780" dirty="0"/>
          </a:p>
        </p:txBody>
      </p:sp>
      <p:sp>
        <p:nvSpPr>
          <p:cNvPr id="35" name="Shape 33"/>
          <p:cNvSpPr/>
          <p:nvPr/>
        </p:nvSpPr>
        <p:spPr>
          <a:xfrm>
            <a:off x="7653528" y="2784348"/>
            <a:ext cx="1609344" cy="617220"/>
          </a:xfrm>
          <a:prstGeom prst="rect">
            <a:avLst/>
          </a:prstGeom>
          <a:solidFill>
            <a:srgbClr val="FFFFFF"/>
          </a:solidFill>
          <a:ln w="5715">
            <a:solidFill>
              <a:srgbClr val="D8E0EA"/>
            </a:solidFill>
            <a:prstDash val="solid"/>
          </a:ln>
        </p:spPr>
      </p:sp>
      <p:sp>
        <p:nvSpPr>
          <p:cNvPr id="36" name="Text 34"/>
          <p:cNvSpPr/>
          <p:nvPr/>
        </p:nvSpPr>
        <p:spPr>
          <a:xfrm>
            <a:off x="7671816" y="281178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12,500</a:t>
            </a:r>
            <a:endParaRPr lang="en-US" sz="780" dirty="0"/>
          </a:p>
        </p:txBody>
      </p:sp>
      <p:sp>
        <p:nvSpPr>
          <p:cNvPr id="37" name="Shape 35"/>
          <p:cNvSpPr/>
          <p:nvPr/>
        </p:nvSpPr>
        <p:spPr>
          <a:xfrm>
            <a:off x="9262872" y="2784348"/>
            <a:ext cx="1609344" cy="617220"/>
          </a:xfrm>
          <a:prstGeom prst="rect">
            <a:avLst/>
          </a:prstGeom>
          <a:solidFill>
            <a:srgbClr val="FFFFFF"/>
          </a:solidFill>
          <a:ln w="5715">
            <a:solidFill>
              <a:srgbClr val="D8E0EA"/>
            </a:solidFill>
            <a:prstDash val="solid"/>
          </a:ln>
        </p:spPr>
      </p:sp>
      <p:sp>
        <p:nvSpPr>
          <p:cNvPr id="38" name="Text 36"/>
          <p:cNvSpPr/>
          <p:nvPr/>
        </p:nvSpPr>
        <p:spPr>
          <a:xfrm>
            <a:off x="9281160" y="281178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OK</a:t>
            </a:r>
            <a:endParaRPr lang="en-US" sz="780" dirty="0"/>
          </a:p>
        </p:txBody>
      </p:sp>
      <p:sp>
        <p:nvSpPr>
          <p:cNvPr id="39" name="Shape 37"/>
          <p:cNvSpPr/>
          <p:nvPr/>
        </p:nvSpPr>
        <p:spPr>
          <a:xfrm>
            <a:off x="4434840" y="3401568"/>
            <a:ext cx="1609344" cy="617220"/>
          </a:xfrm>
          <a:prstGeom prst="rect">
            <a:avLst/>
          </a:prstGeom>
          <a:solidFill>
            <a:srgbClr val="FFFFFF"/>
          </a:solidFill>
          <a:ln w="5715">
            <a:solidFill>
              <a:srgbClr val="D8E0EA"/>
            </a:solidFill>
            <a:prstDash val="solid"/>
          </a:ln>
        </p:spPr>
      </p:sp>
      <p:sp>
        <p:nvSpPr>
          <p:cNvPr id="40" name="Text 38"/>
          <p:cNvSpPr/>
          <p:nvPr/>
        </p:nvSpPr>
        <p:spPr>
          <a:xfrm>
            <a:off x="4453128" y="342900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C1002</a:t>
            </a:r>
            <a:endParaRPr lang="en-US" sz="780" dirty="0"/>
          </a:p>
        </p:txBody>
      </p:sp>
      <p:sp>
        <p:nvSpPr>
          <p:cNvPr id="41" name="Shape 39"/>
          <p:cNvSpPr/>
          <p:nvPr/>
        </p:nvSpPr>
        <p:spPr>
          <a:xfrm>
            <a:off x="6044184" y="3401568"/>
            <a:ext cx="1609344" cy="617220"/>
          </a:xfrm>
          <a:prstGeom prst="rect">
            <a:avLst/>
          </a:prstGeom>
          <a:solidFill>
            <a:srgbClr val="FFFFFF"/>
          </a:solidFill>
          <a:ln w="5715">
            <a:solidFill>
              <a:srgbClr val="D8E0EA"/>
            </a:solidFill>
            <a:prstDash val="solid"/>
          </a:ln>
        </p:spPr>
      </p:sp>
      <p:sp>
        <p:nvSpPr>
          <p:cNvPr id="42" name="Text 40"/>
          <p:cNvSpPr/>
          <p:nvPr/>
        </p:nvSpPr>
        <p:spPr>
          <a:xfrm>
            <a:off x="6062472" y="342900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54,000</a:t>
            </a:r>
            <a:endParaRPr lang="en-US" sz="780" dirty="0"/>
          </a:p>
        </p:txBody>
      </p:sp>
      <p:sp>
        <p:nvSpPr>
          <p:cNvPr id="43" name="Shape 41"/>
          <p:cNvSpPr/>
          <p:nvPr/>
        </p:nvSpPr>
        <p:spPr>
          <a:xfrm>
            <a:off x="7653528" y="3401568"/>
            <a:ext cx="1609344" cy="617220"/>
          </a:xfrm>
          <a:prstGeom prst="rect">
            <a:avLst/>
          </a:prstGeom>
          <a:solidFill>
            <a:srgbClr val="FFFFFF"/>
          </a:solidFill>
          <a:ln w="5715">
            <a:solidFill>
              <a:srgbClr val="D8E0EA"/>
            </a:solidFill>
            <a:prstDash val="solid"/>
          </a:ln>
        </p:spPr>
      </p:sp>
      <p:sp>
        <p:nvSpPr>
          <p:cNvPr id="44" name="Text 42"/>
          <p:cNvSpPr/>
          <p:nvPr/>
        </p:nvSpPr>
        <p:spPr>
          <a:xfrm>
            <a:off x="7671816" y="342900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8,200</a:t>
            </a:r>
            <a:endParaRPr lang="en-US" sz="780" dirty="0"/>
          </a:p>
        </p:txBody>
      </p:sp>
      <p:sp>
        <p:nvSpPr>
          <p:cNvPr id="45" name="Shape 43"/>
          <p:cNvSpPr/>
          <p:nvPr/>
        </p:nvSpPr>
        <p:spPr>
          <a:xfrm>
            <a:off x="9262872" y="3401568"/>
            <a:ext cx="1609344" cy="617220"/>
          </a:xfrm>
          <a:prstGeom prst="rect">
            <a:avLst/>
          </a:prstGeom>
          <a:solidFill>
            <a:srgbClr val="FFFFFF"/>
          </a:solidFill>
          <a:ln w="5715">
            <a:solidFill>
              <a:srgbClr val="D8E0EA"/>
            </a:solidFill>
            <a:prstDash val="solid"/>
          </a:ln>
        </p:spPr>
      </p:sp>
      <p:sp>
        <p:nvSpPr>
          <p:cNvPr id="46" name="Text 44"/>
          <p:cNvSpPr/>
          <p:nvPr/>
        </p:nvSpPr>
        <p:spPr>
          <a:xfrm>
            <a:off x="9281160" y="342900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OK</a:t>
            </a:r>
            <a:endParaRPr lang="en-US" sz="780" dirty="0"/>
          </a:p>
        </p:txBody>
      </p:sp>
      <p:sp>
        <p:nvSpPr>
          <p:cNvPr id="47" name="Shape 45"/>
          <p:cNvSpPr/>
          <p:nvPr/>
        </p:nvSpPr>
        <p:spPr>
          <a:xfrm>
            <a:off x="4434840" y="4018788"/>
            <a:ext cx="1609344" cy="617220"/>
          </a:xfrm>
          <a:prstGeom prst="rect">
            <a:avLst/>
          </a:prstGeom>
          <a:solidFill>
            <a:srgbClr val="FFFFFF"/>
          </a:solidFill>
          <a:ln w="5715">
            <a:solidFill>
              <a:srgbClr val="D8E0EA"/>
            </a:solidFill>
            <a:prstDash val="solid"/>
          </a:ln>
        </p:spPr>
      </p:sp>
      <p:sp>
        <p:nvSpPr>
          <p:cNvPr id="48" name="Text 46"/>
          <p:cNvSpPr/>
          <p:nvPr/>
        </p:nvSpPr>
        <p:spPr>
          <a:xfrm>
            <a:off x="4453128" y="404622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C1003</a:t>
            </a:r>
            <a:endParaRPr lang="en-US" sz="780" dirty="0"/>
          </a:p>
        </p:txBody>
      </p:sp>
      <p:sp>
        <p:nvSpPr>
          <p:cNvPr id="49" name="Shape 47"/>
          <p:cNvSpPr/>
          <p:nvPr/>
        </p:nvSpPr>
        <p:spPr>
          <a:xfrm>
            <a:off x="6044184" y="4018788"/>
            <a:ext cx="1609344" cy="617220"/>
          </a:xfrm>
          <a:prstGeom prst="rect">
            <a:avLst/>
          </a:prstGeom>
          <a:solidFill>
            <a:srgbClr val="FDECEC"/>
          </a:solidFill>
          <a:ln w="5715">
            <a:solidFill>
              <a:srgbClr val="D8E0EA"/>
            </a:solidFill>
            <a:prstDash val="solid"/>
          </a:ln>
        </p:spPr>
      </p:sp>
      <p:sp>
        <p:nvSpPr>
          <p:cNvPr id="50" name="Text 48"/>
          <p:cNvSpPr/>
          <p:nvPr/>
        </p:nvSpPr>
        <p:spPr>
          <a:xfrm>
            <a:off x="6062472" y="4046220"/>
            <a:ext cx="1572768" cy="580644"/>
          </a:xfrm>
          <a:prstGeom prst="rect">
            <a:avLst/>
          </a:prstGeom>
          <a:noFill/>
          <a:ln/>
        </p:spPr>
        <p:txBody>
          <a:bodyPr wrap="square" lIns="0" tIns="0" rIns="0" bIns="0" rtlCol="0" anchor="ctr">
            <a:normAutofit/>
          </a:bodyPr>
          <a:lstStyle/>
          <a:p>
            <a:pPr marL="0" indent="0">
              <a:buNone/>
            </a:pPr>
            <a:endParaRPr lang="en-US" sz="780" dirty="0"/>
          </a:p>
        </p:txBody>
      </p:sp>
      <p:sp>
        <p:nvSpPr>
          <p:cNvPr id="51" name="Shape 49"/>
          <p:cNvSpPr/>
          <p:nvPr/>
        </p:nvSpPr>
        <p:spPr>
          <a:xfrm>
            <a:off x="7653528" y="4018788"/>
            <a:ext cx="1609344" cy="617220"/>
          </a:xfrm>
          <a:prstGeom prst="rect">
            <a:avLst/>
          </a:prstGeom>
          <a:solidFill>
            <a:srgbClr val="FFFFFF"/>
          </a:solidFill>
          <a:ln w="5715">
            <a:solidFill>
              <a:srgbClr val="D8E0EA"/>
            </a:solidFill>
            <a:prstDash val="solid"/>
          </a:ln>
        </p:spPr>
      </p:sp>
      <p:sp>
        <p:nvSpPr>
          <p:cNvPr id="52" name="Text 50"/>
          <p:cNvSpPr/>
          <p:nvPr/>
        </p:nvSpPr>
        <p:spPr>
          <a:xfrm>
            <a:off x="7671816" y="404622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45,500</a:t>
            </a:r>
            <a:endParaRPr lang="en-US" sz="780" dirty="0"/>
          </a:p>
        </p:txBody>
      </p:sp>
      <p:sp>
        <p:nvSpPr>
          <p:cNvPr id="53" name="Shape 51"/>
          <p:cNvSpPr/>
          <p:nvPr/>
        </p:nvSpPr>
        <p:spPr>
          <a:xfrm>
            <a:off x="9262872" y="4018788"/>
            <a:ext cx="1609344" cy="617220"/>
          </a:xfrm>
          <a:prstGeom prst="rect">
            <a:avLst/>
          </a:prstGeom>
          <a:solidFill>
            <a:srgbClr val="FFF4E2"/>
          </a:solidFill>
          <a:ln w="5715">
            <a:solidFill>
              <a:srgbClr val="D8E0EA"/>
            </a:solidFill>
            <a:prstDash val="solid"/>
          </a:ln>
        </p:spPr>
      </p:sp>
      <p:sp>
        <p:nvSpPr>
          <p:cNvPr id="54" name="Text 52"/>
          <p:cNvSpPr/>
          <p:nvPr/>
        </p:nvSpPr>
        <p:spPr>
          <a:xfrm>
            <a:off x="9281160" y="404622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Missing</a:t>
            </a:r>
            <a:endParaRPr lang="en-US" sz="780" dirty="0"/>
          </a:p>
        </p:txBody>
      </p:sp>
      <p:sp>
        <p:nvSpPr>
          <p:cNvPr id="55" name="Shape 53"/>
          <p:cNvSpPr/>
          <p:nvPr/>
        </p:nvSpPr>
        <p:spPr>
          <a:xfrm>
            <a:off x="4434840" y="4636008"/>
            <a:ext cx="1609344" cy="617220"/>
          </a:xfrm>
          <a:prstGeom prst="rect">
            <a:avLst/>
          </a:prstGeom>
          <a:solidFill>
            <a:srgbClr val="FFFFFF"/>
          </a:solidFill>
          <a:ln w="5715">
            <a:solidFill>
              <a:srgbClr val="D8E0EA"/>
            </a:solidFill>
            <a:prstDash val="solid"/>
          </a:ln>
        </p:spPr>
      </p:sp>
      <p:sp>
        <p:nvSpPr>
          <p:cNvPr id="56" name="Text 54"/>
          <p:cNvSpPr/>
          <p:nvPr/>
        </p:nvSpPr>
        <p:spPr>
          <a:xfrm>
            <a:off x="4453128" y="466344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C1004</a:t>
            </a:r>
            <a:endParaRPr lang="en-US" sz="780" dirty="0"/>
          </a:p>
        </p:txBody>
      </p:sp>
      <p:sp>
        <p:nvSpPr>
          <p:cNvPr id="57" name="Shape 55"/>
          <p:cNvSpPr/>
          <p:nvPr/>
        </p:nvSpPr>
        <p:spPr>
          <a:xfrm>
            <a:off x="6044184" y="4636008"/>
            <a:ext cx="1609344" cy="617220"/>
          </a:xfrm>
          <a:prstGeom prst="rect">
            <a:avLst/>
          </a:prstGeom>
          <a:solidFill>
            <a:srgbClr val="FFFFFF"/>
          </a:solidFill>
          <a:ln w="5715">
            <a:solidFill>
              <a:srgbClr val="D8E0EA"/>
            </a:solidFill>
            <a:prstDash val="solid"/>
          </a:ln>
        </p:spPr>
      </p:sp>
      <p:sp>
        <p:nvSpPr>
          <p:cNvPr id="58" name="Text 56"/>
          <p:cNvSpPr/>
          <p:nvPr/>
        </p:nvSpPr>
        <p:spPr>
          <a:xfrm>
            <a:off x="6062472" y="466344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45,000</a:t>
            </a:r>
            <a:endParaRPr lang="en-US" sz="780" dirty="0"/>
          </a:p>
        </p:txBody>
      </p:sp>
      <p:sp>
        <p:nvSpPr>
          <p:cNvPr id="59" name="Shape 57"/>
          <p:cNvSpPr/>
          <p:nvPr/>
        </p:nvSpPr>
        <p:spPr>
          <a:xfrm>
            <a:off x="7653528" y="4636008"/>
            <a:ext cx="1609344" cy="617220"/>
          </a:xfrm>
          <a:prstGeom prst="rect">
            <a:avLst/>
          </a:prstGeom>
          <a:solidFill>
            <a:srgbClr val="FDECEC"/>
          </a:solidFill>
          <a:ln w="5715">
            <a:solidFill>
              <a:srgbClr val="D8E0EA"/>
            </a:solidFill>
            <a:prstDash val="solid"/>
          </a:ln>
        </p:spPr>
      </p:sp>
      <p:sp>
        <p:nvSpPr>
          <p:cNvPr id="60" name="Text 58"/>
          <p:cNvSpPr/>
          <p:nvPr/>
        </p:nvSpPr>
        <p:spPr>
          <a:xfrm>
            <a:off x="7671816" y="4663440"/>
            <a:ext cx="1572768" cy="580644"/>
          </a:xfrm>
          <a:prstGeom prst="rect">
            <a:avLst/>
          </a:prstGeom>
          <a:noFill/>
          <a:ln/>
        </p:spPr>
        <p:txBody>
          <a:bodyPr wrap="square" lIns="0" tIns="0" rIns="0" bIns="0" rtlCol="0" anchor="ctr">
            <a:normAutofit/>
          </a:bodyPr>
          <a:lstStyle/>
          <a:p>
            <a:pPr marL="0" indent="0">
              <a:buNone/>
            </a:pPr>
            <a:endParaRPr lang="en-US" sz="780" dirty="0"/>
          </a:p>
        </p:txBody>
      </p:sp>
      <p:sp>
        <p:nvSpPr>
          <p:cNvPr id="61" name="Shape 59"/>
          <p:cNvSpPr/>
          <p:nvPr/>
        </p:nvSpPr>
        <p:spPr>
          <a:xfrm>
            <a:off x="9262872" y="4636008"/>
            <a:ext cx="1609344" cy="617220"/>
          </a:xfrm>
          <a:prstGeom prst="rect">
            <a:avLst/>
          </a:prstGeom>
          <a:solidFill>
            <a:srgbClr val="FFF4E2"/>
          </a:solidFill>
          <a:ln w="5715">
            <a:solidFill>
              <a:srgbClr val="D8E0EA"/>
            </a:solidFill>
            <a:prstDash val="solid"/>
          </a:ln>
        </p:spPr>
      </p:sp>
      <p:sp>
        <p:nvSpPr>
          <p:cNvPr id="62" name="Text 60"/>
          <p:cNvSpPr/>
          <p:nvPr/>
        </p:nvSpPr>
        <p:spPr>
          <a:xfrm>
            <a:off x="9281160" y="466344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Missing</a:t>
            </a:r>
            <a:endParaRPr lang="en-US" sz="780" dirty="0"/>
          </a:p>
        </p:txBody>
      </p:sp>
      <p:sp>
        <p:nvSpPr>
          <p:cNvPr id="63" name="Shape 61"/>
          <p:cNvSpPr/>
          <p:nvPr/>
        </p:nvSpPr>
        <p:spPr>
          <a:xfrm>
            <a:off x="4434840" y="5253228"/>
            <a:ext cx="1609344" cy="617220"/>
          </a:xfrm>
          <a:prstGeom prst="rect">
            <a:avLst/>
          </a:prstGeom>
          <a:solidFill>
            <a:srgbClr val="FFFFFF"/>
          </a:solidFill>
          <a:ln w="5715">
            <a:solidFill>
              <a:srgbClr val="D8E0EA"/>
            </a:solidFill>
            <a:prstDash val="solid"/>
          </a:ln>
        </p:spPr>
      </p:sp>
      <p:sp>
        <p:nvSpPr>
          <p:cNvPr id="64" name="Text 62"/>
          <p:cNvSpPr/>
          <p:nvPr/>
        </p:nvSpPr>
        <p:spPr>
          <a:xfrm>
            <a:off x="4453128" y="528066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C1005</a:t>
            </a:r>
            <a:endParaRPr lang="en-US" sz="780" dirty="0"/>
          </a:p>
        </p:txBody>
      </p:sp>
      <p:sp>
        <p:nvSpPr>
          <p:cNvPr id="65" name="Shape 63"/>
          <p:cNvSpPr/>
          <p:nvPr/>
        </p:nvSpPr>
        <p:spPr>
          <a:xfrm>
            <a:off x="6044184" y="5253228"/>
            <a:ext cx="1609344" cy="617220"/>
          </a:xfrm>
          <a:prstGeom prst="rect">
            <a:avLst/>
          </a:prstGeom>
          <a:solidFill>
            <a:srgbClr val="FDECEC"/>
          </a:solidFill>
          <a:ln w="5715">
            <a:solidFill>
              <a:srgbClr val="D8E0EA"/>
            </a:solidFill>
            <a:prstDash val="solid"/>
          </a:ln>
        </p:spPr>
      </p:sp>
      <p:sp>
        <p:nvSpPr>
          <p:cNvPr id="66" name="Text 64"/>
          <p:cNvSpPr/>
          <p:nvPr/>
        </p:nvSpPr>
        <p:spPr>
          <a:xfrm>
            <a:off x="6062472" y="5280660"/>
            <a:ext cx="1572768" cy="580644"/>
          </a:xfrm>
          <a:prstGeom prst="rect">
            <a:avLst/>
          </a:prstGeom>
          <a:noFill/>
          <a:ln/>
        </p:spPr>
        <p:txBody>
          <a:bodyPr wrap="square" lIns="0" tIns="0" rIns="0" bIns="0" rtlCol="0" anchor="ctr">
            <a:normAutofit/>
          </a:bodyPr>
          <a:lstStyle/>
          <a:p>
            <a:pPr marL="0" indent="0">
              <a:buNone/>
            </a:pPr>
            <a:endParaRPr lang="en-US" sz="780" dirty="0"/>
          </a:p>
        </p:txBody>
      </p:sp>
      <p:sp>
        <p:nvSpPr>
          <p:cNvPr id="67" name="Shape 65"/>
          <p:cNvSpPr/>
          <p:nvPr/>
        </p:nvSpPr>
        <p:spPr>
          <a:xfrm>
            <a:off x="7653528" y="5253228"/>
            <a:ext cx="1609344" cy="617220"/>
          </a:xfrm>
          <a:prstGeom prst="rect">
            <a:avLst/>
          </a:prstGeom>
          <a:solidFill>
            <a:srgbClr val="FFFFFF"/>
          </a:solidFill>
          <a:ln w="5715">
            <a:solidFill>
              <a:srgbClr val="D8E0EA"/>
            </a:solidFill>
            <a:prstDash val="solid"/>
          </a:ln>
        </p:spPr>
      </p:sp>
      <p:sp>
        <p:nvSpPr>
          <p:cNvPr id="68" name="Text 66"/>
          <p:cNvSpPr/>
          <p:nvPr/>
        </p:nvSpPr>
        <p:spPr>
          <a:xfrm>
            <a:off x="7671816" y="528066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165,000</a:t>
            </a:r>
            <a:endParaRPr lang="en-US" sz="780" dirty="0"/>
          </a:p>
        </p:txBody>
      </p:sp>
      <p:sp>
        <p:nvSpPr>
          <p:cNvPr id="69" name="Shape 67"/>
          <p:cNvSpPr/>
          <p:nvPr/>
        </p:nvSpPr>
        <p:spPr>
          <a:xfrm>
            <a:off x="9262872" y="5253228"/>
            <a:ext cx="1609344" cy="617220"/>
          </a:xfrm>
          <a:prstGeom prst="rect">
            <a:avLst/>
          </a:prstGeom>
          <a:solidFill>
            <a:srgbClr val="FFF4E2"/>
          </a:solidFill>
          <a:ln w="5715">
            <a:solidFill>
              <a:srgbClr val="D8E0EA"/>
            </a:solidFill>
            <a:prstDash val="solid"/>
          </a:ln>
        </p:spPr>
      </p:sp>
      <p:sp>
        <p:nvSpPr>
          <p:cNvPr id="70" name="Text 68"/>
          <p:cNvSpPr/>
          <p:nvPr/>
        </p:nvSpPr>
        <p:spPr>
          <a:xfrm>
            <a:off x="9281160" y="5280660"/>
            <a:ext cx="1572768" cy="580644"/>
          </a:xfrm>
          <a:prstGeom prst="rect">
            <a:avLst/>
          </a:prstGeom>
          <a:noFill/>
          <a:ln/>
        </p:spPr>
        <p:txBody>
          <a:bodyPr wrap="square" lIns="0" tIns="0" rIns="0" bIns="0" rtlCol="0" anchor="ctr">
            <a:normAutofit/>
          </a:bodyPr>
          <a:lstStyle/>
          <a:p>
            <a:pPr marL="0" indent="0">
              <a:buNone/>
            </a:pPr>
            <a:r>
              <a:rPr lang="en-US" sz="780" dirty="0">
                <a:solidFill>
                  <a:srgbClr val="26364A"/>
                </a:solidFill>
              </a:rPr>
              <a:t>Missing</a:t>
            </a:r>
            <a:endParaRPr lang="en-US" sz="780" dirty="0"/>
          </a:p>
        </p:txBody>
      </p:sp>
      <p:sp>
        <p:nvSpPr>
          <p:cNvPr id="71" name="Shape 69"/>
          <p:cNvSpPr/>
          <p:nvPr/>
        </p:nvSpPr>
        <p:spPr>
          <a:xfrm>
            <a:off x="941832" y="4892040"/>
            <a:ext cx="2944368" cy="868680"/>
          </a:xfrm>
          <a:prstGeom prst="roundRect">
            <a:avLst>
              <a:gd name="adj" fmla="val 5263"/>
            </a:avLst>
          </a:prstGeom>
          <a:solidFill>
            <a:srgbClr val="FFFFFF"/>
          </a:solidFill>
          <a:ln w="15240">
            <a:solidFill>
              <a:srgbClr val="F59E0B"/>
            </a:solidFill>
            <a:prstDash val="solid"/>
          </a:ln>
        </p:spPr>
      </p:sp>
      <p:sp>
        <p:nvSpPr>
          <p:cNvPr id="72" name="Shape 70"/>
          <p:cNvSpPr/>
          <p:nvPr/>
        </p:nvSpPr>
        <p:spPr>
          <a:xfrm>
            <a:off x="941832" y="4892040"/>
            <a:ext cx="73152" cy="868680"/>
          </a:xfrm>
          <a:prstGeom prst="rect">
            <a:avLst/>
          </a:prstGeom>
          <a:solidFill>
            <a:srgbClr val="F59E0B"/>
          </a:solidFill>
          <a:ln w="12700">
            <a:solidFill>
              <a:srgbClr val="F59E0B"/>
            </a:solidFill>
            <a:prstDash val="solid"/>
          </a:ln>
        </p:spPr>
      </p:sp>
      <p:sp>
        <p:nvSpPr>
          <p:cNvPr id="73" name="Text 71"/>
          <p:cNvSpPr/>
          <p:nvPr/>
        </p:nvSpPr>
        <p:spPr>
          <a:xfrm>
            <a:off x="1106424" y="5001768"/>
            <a:ext cx="2688336" cy="649224"/>
          </a:xfrm>
          <a:prstGeom prst="rect">
            <a:avLst/>
          </a:prstGeom>
          <a:noFill/>
          <a:ln/>
        </p:spPr>
        <p:txBody>
          <a:bodyPr wrap="square" lIns="0" tIns="0" rIns="0" bIns="0" rtlCol="0" anchor="ctr">
            <a:normAutofit/>
          </a:bodyPr>
          <a:lstStyle/>
          <a:p>
            <a:pPr marL="0" indent="0">
              <a:buNone/>
            </a:pPr>
            <a:r>
              <a:rPr lang="en-US" sz="1150" b="1" dirty="0">
                <a:solidFill>
                  <a:srgbClr val="0B1F33"/>
                </a:solidFill>
              </a:rPr>
              <a:t>Be aware: a formula that returns "" may look blank but is not always the same as a truly empty cell.</a:t>
            </a:r>
            <a:endParaRPr lang="en-US" sz="1150" dirty="0"/>
          </a:p>
        </p:txBody>
      </p:sp>
      <p:sp>
        <p:nvSpPr>
          <p:cNvPr id="74"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07 · OUTLIERS &amp; MISSING DATA</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Handling missing data: choose a strategy, do not hide the problem</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Treatment depends on volume, mechanism, business meaning and downstream use.</a:t>
            </a:r>
            <a:endParaRPr lang="en-US" sz="1300" dirty="0"/>
          </a:p>
        </p:txBody>
      </p:sp>
      <p:sp>
        <p:nvSpPr>
          <p:cNvPr id="7" name="Shape 5"/>
          <p:cNvSpPr/>
          <p:nvPr/>
        </p:nvSpPr>
        <p:spPr>
          <a:xfrm>
            <a:off x="786384" y="1490472"/>
            <a:ext cx="10561320" cy="658368"/>
          </a:xfrm>
          <a:prstGeom prst="roundRect">
            <a:avLst>
              <a:gd name="adj" fmla="val 11111"/>
            </a:avLst>
          </a:prstGeom>
          <a:solidFill>
            <a:srgbClr val="EAF1FF"/>
          </a:solidFill>
          <a:ln w="10160">
            <a:solidFill>
              <a:srgbClr val="E9EEF5"/>
            </a:solidFill>
            <a:prstDash val="solid"/>
          </a:ln>
        </p:spPr>
      </p:sp>
      <p:sp>
        <p:nvSpPr>
          <p:cNvPr id="8" name="Text 6"/>
          <p:cNvSpPr/>
          <p:nvPr/>
        </p:nvSpPr>
        <p:spPr>
          <a:xfrm>
            <a:off x="950976" y="1627632"/>
            <a:ext cx="102321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Leave missing</a:t>
            </a:r>
            <a:endParaRPr lang="en-US" sz="1500" dirty="0"/>
          </a:p>
        </p:txBody>
      </p:sp>
      <p:sp>
        <p:nvSpPr>
          <p:cNvPr id="9" name="Text 7"/>
          <p:cNvSpPr/>
          <p:nvPr/>
        </p:nvSpPr>
        <p:spPr>
          <a:xfrm>
            <a:off x="950976" y="1965960"/>
            <a:ext cx="10232136" cy="54864"/>
          </a:xfrm>
          <a:prstGeom prst="rect">
            <a:avLst/>
          </a:prstGeom>
          <a:noFill/>
          <a:ln/>
        </p:spPr>
        <p:txBody>
          <a:bodyPr wrap="square" lIns="381" tIns="381" rIns="381" bIns="381" rtlCol="0" anchor="ctr">
            <a:normAutofit fontScale="32500" lnSpcReduction="20000"/>
          </a:bodyPr>
          <a:lstStyle/>
          <a:p>
            <a:pPr marL="0" indent="0">
              <a:buNone/>
            </a:pPr>
            <a:r>
              <a:rPr lang="en-US" sz="1150" dirty="0">
                <a:solidFill>
                  <a:srgbClr val="26364A"/>
                </a:solidFill>
              </a:rPr>
              <a:t>Best when “unknown” is meaningful and downstream tools can handle it.</a:t>
            </a:r>
            <a:endParaRPr lang="en-US" sz="1150" dirty="0"/>
          </a:p>
        </p:txBody>
      </p:sp>
      <p:sp>
        <p:nvSpPr>
          <p:cNvPr id="10" name="Shape 8"/>
          <p:cNvSpPr/>
          <p:nvPr/>
        </p:nvSpPr>
        <p:spPr>
          <a:xfrm>
            <a:off x="786384" y="2340864"/>
            <a:ext cx="10561320" cy="658368"/>
          </a:xfrm>
          <a:prstGeom prst="roundRect">
            <a:avLst>
              <a:gd name="adj" fmla="val 11111"/>
            </a:avLst>
          </a:prstGeom>
          <a:solidFill>
            <a:srgbClr val="FDECEC"/>
          </a:solidFill>
          <a:ln w="10160">
            <a:solidFill>
              <a:srgbClr val="E9EEF5"/>
            </a:solidFill>
            <a:prstDash val="solid"/>
          </a:ln>
        </p:spPr>
      </p:sp>
      <p:sp>
        <p:nvSpPr>
          <p:cNvPr id="11" name="Text 9"/>
          <p:cNvSpPr/>
          <p:nvPr/>
        </p:nvSpPr>
        <p:spPr>
          <a:xfrm>
            <a:off x="950976" y="2478024"/>
            <a:ext cx="102321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Exclude rows</a:t>
            </a:r>
            <a:endParaRPr lang="en-US" sz="1500" dirty="0"/>
          </a:p>
        </p:txBody>
      </p:sp>
      <p:sp>
        <p:nvSpPr>
          <p:cNvPr id="12" name="Text 10"/>
          <p:cNvSpPr/>
          <p:nvPr/>
        </p:nvSpPr>
        <p:spPr>
          <a:xfrm>
            <a:off x="950976" y="2816352"/>
            <a:ext cx="10232136" cy="54864"/>
          </a:xfrm>
          <a:prstGeom prst="rect">
            <a:avLst/>
          </a:prstGeom>
          <a:noFill/>
          <a:ln/>
        </p:spPr>
        <p:txBody>
          <a:bodyPr wrap="square" lIns="381" tIns="381" rIns="381" bIns="381" rtlCol="0" anchor="ctr">
            <a:normAutofit fontScale="32500" lnSpcReduction="20000"/>
          </a:bodyPr>
          <a:lstStyle/>
          <a:p>
            <a:pPr marL="0" indent="0">
              <a:buNone/>
            </a:pPr>
            <a:r>
              <a:rPr lang="en-US" sz="1150" dirty="0">
                <a:solidFill>
                  <a:srgbClr val="26364A"/>
                </a:solidFill>
              </a:rPr>
              <a:t>Reasonable only when missingness is limited and exclusion does not bias the sample.</a:t>
            </a:r>
            <a:endParaRPr lang="en-US" sz="1150" dirty="0"/>
          </a:p>
        </p:txBody>
      </p:sp>
      <p:sp>
        <p:nvSpPr>
          <p:cNvPr id="13" name="Shape 11"/>
          <p:cNvSpPr/>
          <p:nvPr/>
        </p:nvSpPr>
        <p:spPr>
          <a:xfrm>
            <a:off x="786384" y="3191256"/>
            <a:ext cx="10561320" cy="658368"/>
          </a:xfrm>
          <a:prstGeom prst="roundRect">
            <a:avLst>
              <a:gd name="adj" fmla="val 11111"/>
            </a:avLst>
          </a:prstGeom>
          <a:solidFill>
            <a:srgbClr val="E6F7F5"/>
          </a:solidFill>
          <a:ln w="10160">
            <a:solidFill>
              <a:srgbClr val="E9EEF5"/>
            </a:solidFill>
            <a:prstDash val="solid"/>
          </a:ln>
        </p:spPr>
      </p:sp>
      <p:sp>
        <p:nvSpPr>
          <p:cNvPr id="14" name="Text 12"/>
          <p:cNvSpPr/>
          <p:nvPr/>
        </p:nvSpPr>
        <p:spPr>
          <a:xfrm>
            <a:off x="950976" y="3328416"/>
            <a:ext cx="102321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Impute simple values</a:t>
            </a:r>
            <a:endParaRPr lang="en-US" sz="1500" dirty="0"/>
          </a:p>
        </p:txBody>
      </p:sp>
      <p:sp>
        <p:nvSpPr>
          <p:cNvPr id="15" name="Text 13"/>
          <p:cNvSpPr/>
          <p:nvPr/>
        </p:nvSpPr>
        <p:spPr>
          <a:xfrm>
            <a:off x="950976" y="3666744"/>
            <a:ext cx="10232136" cy="54864"/>
          </a:xfrm>
          <a:prstGeom prst="rect">
            <a:avLst/>
          </a:prstGeom>
          <a:noFill/>
          <a:ln/>
        </p:spPr>
        <p:txBody>
          <a:bodyPr wrap="square" lIns="381" tIns="381" rIns="381" bIns="381" rtlCol="0" anchor="ctr">
            <a:normAutofit fontScale="32500" lnSpcReduction="20000"/>
          </a:bodyPr>
          <a:lstStyle/>
          <a:p>
            <a:pPr marL="0" indent="0">
              <a:buNone/>
            </a:pPr>
            <a:r>
              <a:rPr lang="en-US" sz="1150" dirty="0">
                <a:solidFill>
                  <a:srgbClr val="26364A"/>
                </a:solidFill>
              </a:rPr>
              <a:t>Median for skewed numeric data; mode for categories — document the rule.</a:t>
            </a:r>
            <a:endParaRPr lang="en-US" sz="1150" dirty="0"/>
          </a:p>
        </p:txBody>
      </p:sp>
      <p:sp>
        <p:nvSpPr>
          <p:cNvPr id="16" name="Shape 14"/>
          <p:cNvSpPr/>
          <p:nvPr/>
        </p:nvSpPr>
        <p:spPr>
          <a:xfrm>
            <a:off x="786384" y="4041648"/>
            <a:ext cx="10561320" cy="658368"/>
          </a:xfrm>
          <a:prstGeom prst="roundRect">
            <a:avLst>
              <a:gd name="adj" fmla="val 11111"/>
            </a:avLst>
          </a:prstGeom>
          <a:solidFill>
            <a:srgbClr val="F1EDFF"/>
          </a:solidFill>
          <a:ln w="10160">
            <a:solidFill>
              <a:srgbClr val="E9EEF5"/>
            </a:solidFill>
            <a:prstDash val="solid"/>
          </a:ln>
        </p:spPr>
      </p:sp>
      <p:sp>
        <p:nvSpPr>
          <p:cNvPr id="17" name="Text 15"/>
          <p:cNvSpPr/>
          <p:nvPr/>
        </p:nvSpPr>
        <p:spPr>
          <a:xfrm>
            <a:off x="950976" y="4178808"/>
            <a:ext cx="102321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Create missing indicator</a:t>
            </a:r>
            <a:endParaRPr lang="en-US" sz="1500" dirty="0"/>
          </a:p>
        </p:txBody>
      </p:sp>
      <p:sp>
        <p:nvSpPr>
          <p:cNvPr id="18" name="Text 16"/>
          <p:cNvSpPr/>
          <p:nvPr/>
        </p:nvSpPr>
        <p:spPr>
          <a:xfrm>
            <a:off x="950976" y="4517136"/>
            <a:ext cx="10232136" cy="54864"/>
          </a:xfrm>
          <a:prstGeom prst="rect">
            <a:avLst/>
          </a:prstGeom>
          <a:noFill/>
          <a:ln/>
        </p:spPr>
        <p:txBody>
          <a:bodyPr wrap="square" lIns="381" tIns="381" rIns="381" bIns="381" rtlCol="0" anchor="ctr">
            <a:normAutofit fontScale="32500" lnSpcReduction="20000"/>
          </a:bodyPr>
          <a:lstStyle/>
          <a:p>
            <a:pPr marL="0" indent="0">
              <a:buNone/>
            </a:pPr>
            <a:r>
              <a:rPr lang="en-US" sz="1150" dirty="0">
                <a:solidFill>
                  <a:srgbClr val="26364A"/>
                </a:solidFill>
              </a:rPr>
              <a:t>A separate flag can capture information in the fact that a value is missing.</a:t>
            </a:r>
            <a:endParaRPr lang="en-US" sz="1150" dirty="0"/>
          </a:p>
        </p:txBody>
      </p:sp>
      <p:sp>
        <p:nvSpPr>
          <p:cNvPr id="19" name="Shape 17"/>
          <p:cNvSpPr/>
          <p:nvPr/>
        </p:nvSpPr>
        <p:spPr>
          <a:xfrm>
            <a:off x="786384" y="4892040"/>
            <a:ext cx="10561320" cy="658368"/>
          </a:xfrm>
          <a:prstGeom prst="roundRect">
            <a:avLst>
              <a:gd name="adj" fmla="val 11111"/>
            </a:avLst>
          </a:prstGeom>
          <a:solidFill>
            <a:srgbClr val="FFF4E2"/>
          </a:solidFill>
          <a:ln w="10160">
            <a:solidFill>
              <a:srgbClr val="E9EEF5"/>
            </a:solidFill>
            <a:prstDash val="solid"/>
          </a:ln>
        </p:spPr>
      </p:sp>
      <p:sp>
        <p:nvSpPr>
          <p:cNvPr id="20" name="Text 18"/>
          <p:cNvSpPr/>
          <p:nvPr/>
        </p:nvSpPr>
        <p:spPr>
          <a:xfrm>
            <a:off x="950976" y="5029200"/>
            <a:ext cx="1023213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Impute with a model</a:t>
            </a:r>
            <a:endParaRPr lang="en-US" sz="1500" dirty="0"/>
          </a:p>
        </p:txBody>
      </p:sp>
      <p:sp>
        <p:nvSpPr>
          <p:cNvPr id="21" name="Text 19"/>
          <p:cNvSpPr/>
          <p:nvPr/>
        </p:nvSpPr>
        <p:spPr>
          <a:xfrm>
            <a:off x="950976" y="5367528"/>
            <a:ext cx="10232136" cy="54864"/>
          </a:xfrm>
          <a:prstGeom prst="rect">
            <a:avLst/>
          </a:prstGeom>
          <a:noFill/>
          <a:ln/>
        </p:spPr>
        <p:txBody>
          <a:bodyPr wrap="square" lIns="381" tIns="381" rIns="381" bIns="381" rtlCol="0" anchor="ctr">
            <a:normAutofit fontScale="32500" lnSpcReduction="20000"/>
          </a:bodyPr>
          <a:lstStyle/>
          <a:p>
            <a:pPr marL="0" indent="0">
              <a:buNone/>
            </a:pPr>
            <a:r>
              <a:rPr lang="en-US" sz="1150" dirty="0">
                <a:solidFill>
                  <a:srgbClr val="26364A"/>
                </a:solidFill>
              </a:rPr>
              <a:t>Useful for complex data, but adds assumptions and validation requirements.</a:t>
            </a:r>
            <a:endParaRPr lang="en-US" sz="1150" dirty="0"/>
          </a:p>
        </p:txBody>
      </p:sp>
      <p:sp>
        <p:nvSpPr>
          <p:cNvPr id="22" name="Shape 20"/>
          <p:cNvSpPr/>
          <p:nvPr/>
        </p:nvSpPr>
        <p:spPr>
          <a:xfrm>
            <a:off x="2148840" y="5806440"/>
            <a:ext cx="7909560" cy="420624"/>
          </a:xfrm>
          <a:prstGeom prst="roundRect">
            <a:avLst>
              <a:gd name="adj" fmla="val 10870"/>
            </a:avLst>
          </a:prstGeom>
          <a:solidFill>
            <a:srgbClr val="F8FBF9"/>
          </a:solidFill>
          <a:ln w="12700">
            <a:solidFill>
              <a:srgbClr val="217346"/>
            </a:solidFill>
            <a:prstDash val="solid"/>
          </a:ln>
        </p:spPr>
      </p:sp>
      <p:sp>
        <p:nvSpPr>
          <p:cNvPr id="23" name="Text 21"/>
          <p:cNvSpPr/>
          <p:nvPr/>
        </p:nvSpPr>
        <p:spPr>
          <a:xfrm>
            <a:off x="2258568" y="5888736"/>
            <a:ext cx="769010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Example simple rule: =IF(ISBLANK(C2), MEDIAN($C$2:$C$1000), C2)</a:t>
            </a:r>
            <a:endParaRPr lang="en-US" sz="1050" dirty="0"/>
          </a:p>
        </p:txBody>
      </p:sp>
      <p:sp>
        <p:nvSpPr>
          <p:cNvPr id="25"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08 · PATTERNS &amp; QUALITY</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Patterns in data: what EDA is trying to discover</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pattern is a repeatable structure in the data that helps explain, predict or segment observations.</a:t>
            </a:r>
            <a:endParaRPr lang="en-US" sz="1300" dirty="0"/>
          </a:p>
        </p:txBody>
      </p:sp>
      <p:sp>
        <p:nvSpPr>
          <p:cNvPr id="7" name="Shape 5"/>
          <p:cNvSpPr/>
          <p:nvPr/>
        </p:nvSpPr>
        <p:spPr>
          <a:xfrm>
            <a:off x="640080" y="1444752"/>
            <a:ext cx="2084832" cy="1965960"/>
          </a:xfrm>
          <a:prstGeom prst="roundRect">
            <a:avLst>
              <a:gd name="adj" fmla="val 3721"/>
            </a:avLst>
          </a:prstGeom>
          <a:solidFill>
            <a:srgbClr val="FFFFFF"/>
          </a:solidFill>
          <a:ln w="10160">
            <a:solidFill>
              <a:srgbClr val="E9EEF5"/>
            </a:solidFill>
            <a:prstDash val="solid"/>
          </a:ln>
        </p:spPr>
      </p:sp>
      <p:sp>
        <p:nvSpPr>
          <p:cNvPr id="8" name="Text 6"/>
          <p:cNvSpPr/>
          <p:nvPr/>
        </p:nvSpPr>
        <p:spPr>
          <a:xfrm>
            <a:off x="804672" y="1581912"/>
            <a:ext cx="1755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Trend</a:t>
            </a:r>
            <a:endParaRPr lang="en-US" sz="1500" dirty="0"/>
          </a:p>
        </p:txBody>
      </p:sp>
      <p:sp>
        <p:nvSpPr>
          <p:cNvPr id="9" name="Shape 7"/>
          <p:cNvSpPr/>
          <p:nvPr/>
        </p:nvSpPr>
        <p:spPr>
          <a:xfrm>
            <a:off x="886968" y="2944368"/>
            <a:ext cx="1591056" cy="0"/>
          </a:xfrm>
          <a:prstGeom prst="line">
            <a:avLst/>
          </a:prstGeom>
          <a:noFill/>
          <a:ln w="12700">
            <a:solidFill>
              <a:srgbClr val="AEB8C5"/>
            </a:solidFill>
            <a:prstDash val="solid"/>
          </a:ln>
        </p:spPr>
      </p:sp>
      <p:sp>
        <p:nvSpPr>
          <p:cNvPr id="10" name="Shape 8"/>
          <p:cNvSpPr/>
          <p:nvPr/>
        </p:nvSpPr>
        <p:spPr>
          <a:xfrm>
            <a:off x="886968" y="2194560"/>
            <a:ext cx="0" cy="749808"/>
          </a:xfrm>
          <a:prstGeom prst="line">
            <a:avLst/>
          </a:prstGeom>
          <a:noFill/>
          <a:ln w="12700">
            <a:solidFill>
              <a:srgbClr val="AEB8C5"/>
            </a:solidFill>
            <a:prstDash val="solid"/>
          </a:ln>
        </p:spPr>
      </p:sp>
      <p:sp>
        <p:nvSpPr>
          <p:cNvPr id="11" name="Shape 9"/>
          <p:cNvSpPr/>
          <p:nvPr/>
        </p:nvSpPr>
        <p:spPr>
          <a:xfrm>
            <a:off x="886968" y="2944368"/>
            <a:ext cx="265176" cy="0"/>
          </a:xfrm>
          <a:prstGeom prst="line">
            <a:avLst/>
          </a:prstGeom>
          <a:noFill/>
          <a:ln w="25400">
            <a:solidFill>
              <a:srgbClr val="7A5AF8"/>
            </a:solidFill>
            <a:prstDash val="solid"/>
          </a:ln>
        </p:spPr>
      </p:sp>
      <p:sp>
        <p:nvSpPr>
          <p:cNvPr id="12" name="Shape 10"/>
          <p:cNvSpPr/>
          <p:nvPr/>
        </p:nvSpPr>
        <p:spPr>
          <a:xfrm>
            <a:off x="1152144" y="2808039"/>
            <a:ext cx="265176" cy="0"/>
          </a:xfrm>
          <a:prstGeom prst="line">
            <a:avLst/>
          </a:prstGeom>
          <a:noFill/>
          <a:ln w="25400">
            <a:solidFill>
              <a:srgbClr val="7A5AF8"/>
            </a:solidFill>
            <a:prstDash val="solid"/>
          </a:ln>
        </p:spPr>
      </p:sp>
      <p:sp>
        <p:nvSpPr>
          <p:cNvPr id="13" name="Shape 11"/>
          <p:cNvSpPr/>
          <p:nvPr/>
        </p:nvSpPr>
        <p:spPr>
          <a:xfrm>
            <a:off x="1417320" y="2671711"/>
            <a:ext cx="265176" cy="0"/>
          </a:xfrm>
          <a:prstGeom prst="line">
            <a:avLst/>
          </a:prstGeom>
          <a:noFill/>
          <a:ln w="25400">
            <a:solidFill>
              <a:srgbClr val="7A5AF8"/>
            </a:solidFill>
            <a:prstDash val="solid"/>
          </a:ln>
        </p:spPr>
      </p:sp>
      <p:sp>
        <p:nvSpPr>
          <p:cNvPr id="14" name="Shape 12"/>
          <p:cNvSpPr/>
          <p:nvPr/>
        </p:nvSpPr>
        <p:spPr>
          <a:xfrm>
            <a:off x="1682496" y="2603546"/>
            <a:ext cx="265176" cy="0"/>
          </a:xfrm>
          <a:prstGeom prst="line">
            <a:avLst/>
          </a:prstGeom>
          <a:noFill/>
          <a:ln w="25400">
            <a:solidFill>
              <a:srgbClr val="7A5AF8"/>
            </a:solidFill>
            <a:prstDash val="solid"/>
          </a:ln>
        </p:spPr>
      </p:sp>
      <p:sp>
        <p:nvSpPr>
          <p:cNvPr id="15" name="Shape 13"/>
          <p:cNvSpPr/>
          <p:nvPr/>
        </p:nvSpPr>
        <p:spPr>
          <a:xfrm>
            <a:off x="1947672" y="2467217"/>
            <a:ext cx="265176" cy="0"/>
          </a:xfrm>
          <a:prstGeom prst="line">
            <a:avLst/>
          </a:prstGeom>
          <a:noFill/>
          <a:ln w="25400">
            <a:solidFill>
              <a:srgbClr val="7A5AF8"/>
            </a:solidFill>
            <a:prstDash val="solid"/>
          </a:ln>
        </p:spPr>
      </p:sp>
      <p:sp>
        <p:nvSpPr>
          <p:cNvPr id="16" name="Shape 14"/>
          <p:cNvSpPr/>
          <p:nvPr/>
        </p:nvSpPr>
        <p:spPr>
          <a:xfrm>
            <a:off x="2212848" y="2371787"/>
            <a:ext cx="265176" cy="0"/>
          </a:xfrm>
          <a:prstGeom prst="line">
            <a:avLst/>
          </a:prstGeom>
          <a:noFill/>
          <a:ln w="25400">
            <a:solidFill>
              <a:srgbClr val="7A5AF8"/>
            </a:solidFill>
            <a:prstDash val="solid"/>
          </a:ln>
        </p:spPr>
      </p:sp>
      <p:sp>
        <p:nvSpPr>
          <p:cNvPr id="17" name="Shape 15"/>
          <p:cNvSpPr/>
          <p:nvPr/>
        </p:nvSpPr>
        <p:spPr>
          <a:xfrm>
            <a:off x="850392" y="2907792"/>
            <a:ext cx="73152" cy="73152"/>
          </a:xfrm>
          <a:prstGeom prst="ellipse">
            <a:avLst/>
          </a:prstGeom>
          <a:solidFill>
            <a:srgbClr val="7A5AF8"/>
          </a:solidFill>
          <a:ln w="12700">
            <a:solidFill>
              <a:srgbClr val="7A5AF8"/>
            </a:solidFill>
            <a:prstDash val="solid"/>
          </a:ln>
        </p:spPr>
      </p:sp>
      <p:sp>
        <p:nvSpPr>
          <p:cNvPr id="18" name="Shape 16"/>
          <p:cNvSpPr/>
          <p:nvPr/>
        </p:nvSpPr>
        <p:spPr>
          <a:xfrm>
            <a:off x="1115568" y="2771463"/>
            <a:ext cx="73152" cy="73152"/>
          </a:xfrm>
          <a:prstGeom prst="ellipse">
            <a:avLst/>
          </a:prstGeom>
          <a:solidFill>
            <a:srgbClr val="7A5AF8"/>
          </a:solidFill>
          <a:ln w="12700">
            <a:solidFill>
              <a:srgbClr val="7A5AF8"/>
            </a:solidFill>
            <a:prstDash val="solid"/>
          </a:ln>
        </p:spPr>
      </p:sp>
      <p:sp>
        <p:nvSpPr>
          <p:cNvPr id="19" name="Shape 17"/>
          <p:cNvSpPr/>
          <p:nvPr/>
        </p:nvSpPr>
        <p:spPr>
          <a:xfrm>
            <a:off x="1380744" y="2635135"/>
            <a:ext cx="73152" cy="73152"/>
          </a:xfrm>
          <a:prstGeom prst="ellipse">
            <a:avLst/>
          </a:prstGeom>
          <a:solidFill>
            <a:srgbClr val="7A5AF8"/>
          </a:solidFill>
          <a:ln w="12700">
            <a:solidFill>
              <a:srgbClr val="7A5AF8"/>
            </a:solidFill>
            <a:prstDash val="solid"/>
          </a:ln>
        </p:spPr>
      </p:sp>
      <p:sp>
        <p:nvSpPr>
          <p:cNvPr id="20" name="Shape 18"/>
          <p:cNvSpPr/>
          <p:nvPr/>
        </p:nvSpPr>
        <p:spPr>
          <a:xfrm>
            <a:off x="1645920" y="2566970"/>
            <a:ext cx="73152" cy="73152"/>
          </a:xfrm>
          <a:prstGeom prst="ellipse">
            <a:avLst/>
          </a:prstGeom>
          <a:solidFill>
            <a:srgbClr val="7A5AF8"/>
          </a:solidFill>
          <a:ln w="12700">
            <a:solidFill>
              <a:srgbClr val="7A5AF8"/>
            </a:solidFill>
            <a:prstDash val="solid"/>
          </a:ln>
        </p:spPr>
      </p:sp>
      <p:sp>
        <p:nvSpPr>
          <p:cNvPr id="21" name="Shape 19"/>
          <p:cNvSpPr/>
          <p:nvPr/>
        </p:nvSpPr>
        <p:spPr>
          <a:xfrm>
            <a:off x="1911096" y="2430641"/>
            <a:ext cx="73152" cy="73152"/>
          </a:xfrm>
          <a:prstGeom prst="ellipse">
            <a:avLst/>
          </a:prstGeom>
          <a:solidFill>
            <a:srgbClr val="7A5AF8"/>
          </a:solidFill>
          <a:ln w="12700">
            <a:solidFill>
              <a:srgbClr val="7A5AF8"/>
            </a:solidFill>
            <a:prstDash val="solid"/>
          </a:ln>
        </p:spPr>
      </p:sp>
      <p:sp>
        <p:nvSpPr>
          <p:cNvPr id="22" name="Shape 20"/>
          <p:cNvSpPr/>
          <p:nvPr/>
        </p:nvSpPr>
        <p:spPr>
          <a:xfrm>
            <a:off x="2176272" y="2335211"/>
            <a:ext cx="73152" cy="73152"/>
          </a:xfrm>
          <a:prstGeom prst="ellipse">
            <a:avLst/>
          </a:prstGeom>
          <a:solidFill>
            <a:srgbClr val="7A5AF8"/>
          </a:solidFill>
          <a:ln w="12700">
            <a:solidFill>
              <a:srgbClr val="7A5AF8"/>
            </a:solidFill>
            <a:prstDash val="solid"/>
          </a:ln>
        </p:spPr>
      </p:sp>
      <p:sp>
        <p:nvSpPr>
          <p:cNvPr id="23" name="Shape 21"/>
          <p:cNvSpPr/>
          <p:nvPr/>
        </p:nvSpPr>
        <p:spPr>
          <a:xfrm>
            <a:off x="2441448" y="2157984"/>
            <a:ext cx="73152" cy="73152"/>
          </a:xfrm>
          <a:prstGeom prst="ellipse">
            <a:avLst/>
          </a:prstGeom>
          <a:solidFill>
            <a:srgbClr val="7A5AF8"/>
          </a:solidFill>
          <a:ln w="12700">
            <a:solidFill>
              <a:srgbClr val="7A5AF8"/>
            </a:solidFill>
            <a:prstDash val="solid"/>
          </a:ln>
        </p:spPr>
      </p:sp>
      <p:sp>
        <p:nvSpPr>
          <p:cNvPr id="24" name="Shape 22"/>
          <p:cNvSpPr/>
          <p:nvPr/>
        </p:nvSpPr>
        <p:spPr>
          <a:xfrm>
            <a:off x="2926080" y="1444752"/>
            <a:ext cx="2084832" cy="1965960"/>
          </a:xfrm>
          <a:prstGeom prst="roundRect">
            <a:avLst>
              <a:gd name="adj" fmla="val 3721"/>
            </a:avLst>
          </a:prstGeom>
          <a:solidFill>
            <a:srgbClr val="FFFFFF"/>
          </a:solidFill>
          <a:ln w="10160">
            <a:solidFill>
              <a:srgbClr val="E9EEF5"/>
            </a:solidFill>
            <a:prstDash val="solid"/>
          </a:ln>
        </p:spPr>
      </p:sp>
      <p:sp>
        <p:nvSpPr>
          <p:cNvPr id="25" name="Text 23"/>
          <p:cNvSpPr/>
          <p:nvPr/>
        </p:nvSpPr>
        <p:spPr>
          <a:xfrm>
            <a:off x="3090672" y="1581912"/>
            <a:ext cx="1755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Seasonality</a:t>
            </a:r>
            <a:endParaRPr lang="en-US" sz="1500" dirty="0"/>
          </a:p>
        </p:txBody>
      </p:sp>
      <p:sp>
        <p:nvSpPr>
          <p:cNvPr id="26" name="Shape 24"/>
          <p:cNvSpPr/>
          <p:nvPr/>
        </p:nvSpPr>
        <p:spPr>
          <a:xfrm>
            <a:off x="3172968" y="2944368"/>
            <a:ext cx="1591056" cy="0"/>
          </a:xfrm>
          <a:prstGeom prst="line">
            <a:avLst/>
          </a:prstGeom>
          <a:noFill/>
          <a:ln w="12700">
            <a:solidFill>
              <a:srgbClr val="AEB8C5"/>
            </a:solidFill>
            <a:prstDash val="solid"/>
          </a:ln>
        </p:spPr>
      </p:sp>
      <p:sp>
        <p:nvSpPr>
          <p:cNvPr id="27" name="Shape 25"/>
          <p:cNvSpPr/>
          <p:nvPr/>
        </p:nvSpPr>
        <p:spPr>
          <a:xfrm>
            <a:off x="3172968" y="2194560"/>
            <a:ext cx="0" cy="749808"/>
          </a:xfrm>
          <a:prstGeom prst="line">
            <a:avLst/>
          </a:prstGeom>
          <a:noFill/>
          <a:ln w="12700">
            <a:solidFill>
              <a:srgbClr val="AEB8C5"/>
            </a:solidFill>
            <a:prstDash val="solid"/>
          </a:ln>
        </p:spPr>
      </p:sp>
      <p:sp>
        <p:nvSpPr>
          <p:cNvPr id="28" name="Shape 26"/>
          <p:cNvSpPr/>
          <p:nvPr/>
        </p:nvSpPr>
        <p:spPr>
          <a:xfrm>
            <a:off x="3172968" y="2794406"/>
            <a:ext cx="227294" cy="0"/>
          </a:xfrm>
          <a:prstGeom prst="line">
            <a:avLst/>
          </a:prstGeom>
          <a:noFill/>
          <a:ln w="25400">
            <a:solidFill>
              <a:srgbClr val="009E9A"/>
            </a:solidFill>
            <a:prstDash val="solid"/>
          </a:ln>
        </p:spPr>
      </p:sp>
      <p:sp>
        <p:nvSpPr>
          <p:cNvPr id="29" name="Shape 27"/>
          <p:cNvSpPr/>
          <p:nvPr/>
        </p:nvSpPr>
        <p:spPr>
          <a:xfrm>
            <a:off x="3400262" y="2344522"/>
            <a:ext cx="227294" cy="599846"/>
          </a:xfrm>
          <a:prstGeom prst="line">
            <a:avLst/>
          </a:prstGeom>
          <a:noFill/>
          <a:ln w="25400">
            <a:solidFill>
              <a:srgbClr val="009E9A"/>
            </a:solidFill>
            <a:prstDash val="solid"/>
          </a:ln>
        </p:spPr>
      </p:sp>
      <p:sp>
        <p:nvSpPr>
          <p:cNvPr id="30" name="Shape 28"/>
          <p:cNvSpPr/>
          <p:nvPr/>
        </p:nvSpPr>
        <p:spPr>
          <a:xfrm>
            <a:off x="3627555" y="2944368"/>
            <a:ext cx="227294" cy="0"/>
          </a:xfrm>
          <a:prstGeom prst="line">
            <a:avLst/>
          </a:prstGeom>
          <a:noFill/>
          <a:ln w="25400">
            <a:solidFill>
              <a:srgbClr val="009E9A"/>
            </a:solidFill>
            <a:prstDash val="solid"/>
          </a:ln>
        </p:spPr>
      </p:sp>
      <p:sp>
        <p:nvSpPr>
          <p:cNvPr id="31" name="Shape 29"/>
          <p:cNvSpPr/>
          <p:nvPr/>
        </p:nvSpPr>
        <p:spPr>
          <a:xfrm>
            <a:off x="3854849" y="2194560"/>
            <a:ext cx="227294" cy="599846"/>
          </a:xfrm>
          <a:prstGeom prst="line">
            <a:avLst/>
          </a:prstGeom>
          <a:noFill/>
          <a:ln w="25400">
            <a:solidFill>
              <a:srgbClr val="009E9A"/>
            </a:solidFill>
            <a:prstDash val="solid"/>
          </a:ln>
        </p:spPr>
      </p:sp>
      <p:sp>
        <p:nvSpPr>
          <p:cNvPr id="32" name="Shape 30"/>
          <p:cNvSpPr/>
          <p:nvPr/>
        </p:nvSpPr>
        <p:spPr>
          <a:xfrm>
            <a:off x="4082143" y="2794406"/>
            <a:ext cx="227294" cy="0"/>
          </a:xfrm>
          <a:prstGeom prst="line">
            <a:avLst/>
          </a:prstGeom>
          <a:noFill/>
          <a:ln w="25400">
            <a:solidFill>
              <a:srgbClr val="009E9A"/>
            </a:solidFill>
            <a:prstDash val="solid"/>
          </a:ln>
        </p:spPr>
      </p:sp>
      <p:sp>
        <p:nvSpPr>
          <p:cNvPr id="33" name="Shape 31"/>
          <p:cNvSpPr/>
          <p:nvPr/>
        </p:nvSpPr>
        <p:spPr>
          <a:xfrm>
            <a:off x="4309437" y="2344522"/>
            <a:ext cx="227294" cy="599846"/>
          </a:xfrm>
          <a:prstGeom prst="line">
            <a:avLst/>
          </a:prstGeom>
          <a:noFill/>
          <a:ln w="25400">
            <a:solidFill>
              <a:srgbClr val="009E9A"/>
            </a:solidFill>
            <a:prstDash val="solid"/>
          </a:ln>
        </p:spPr>
      </p:sp>
      <p:sp>
        <p:nvSpPr>
          <p:cNvPr id="34" name="Shape 32"/>
          <p:cNvSpPr/>
          <p:nvPr/>
        </p:nvSpPr>
        <p:spPr>
          <a:xfrm>
            <a:off x="4536730" y="2944368"/>
            <a:ext cx="227294" cy="0"/>
          </a:xfrm>
          <a:prstGeom prst="line">
            <a:avLst/>
          </a:prstGeom>
          <a:noFill/>
          <a:ln w="25400">
            <a:solidFill>
              <a:srgbClr val="009E9A"/>
            </a:solidFill>
            <a:prstDash val="solid"/>
          </a:ln>
        </p:spPr>
      </p:sp>
      <p:sp>
        <p:nvSpPr>
          <p:cNvPr id="35" name="Shape 33"/>
          <p:cNvSpPr/>
          <p:nvPr/>
        </p:nvSpPr>
        <p:spPr>
          <a:xfrm>
            <a:off x="3136392" y="2757830"/>
            <a:ext cx="73152" cy="73152"/>
          </a:xfrm>
          <a:prstGeom prst="ellipse">
            <a:avLst/>
          </a:prstGeom>
          <a:solidFill>
            <a:srgbClr val="009E9A"/>
          </a:solidFill>
          <a:ln w="12700">
            <a:solidFill>
              <a:srgbClr val="009E9A"/>
            </a:solidFill>
            <a:prstDash val="solid"/>
          </a:ln>
        </p:spPr>
      </p:sp>
      <p:sp>
        <p:nvSpPr>
          <p:cNvPr id="36" name="Shape 34"/>
          <p:cNvSpPr/>
          <p:nvPr/>
        </p:nvSpPr>
        <p:spPr>
          <a:xfrm>
            <a:off x="3363686" y="2307946"/>
            <a:ext cx="73152" cy="73152"/>
          </a:xfrm>
          <a:prstGeom prst="ellipse">
            <a:avLst/>
          </a:prstGeom>
          <a:solidFill>
            <a:srgbClr val="009E9A"/>
          </a:solidFill>
          <a:ln w="12700">
            <a:solidFill>
              <a:srgbClr val="009E9A"/>
            </a:solidFill>
            <a:prstDash val="solid"/>
          </a:ln>
        </p:spPr>
      </p:sp>
      <p:sp>
        <p:nvSpPr>
          <p:cNvPr id="37" name="Shape 35"/>
          <p:cNvSpPr/>
          <p:nvPr/>
        </p:nvSpPr>
        <p:spPr>
          <a:xfrm>
            <a:off x="3590979" y="2907792"/>
            <a:ext cx="73152" cy="73152"/>
          </a:xfrm>
          <a:prstGeom prst="ellipse">
            <a:avLst/>
          </a:prstGeom>
          <a:solidFill>
            <a:srgbClr val="009E9A"/>
          </a:solidFill>
          <a:ln w="12700">
            <a:solidFill>
              <a:srgbClr val="009E9A"/>
            </a:solidFill>
            <a:prstDash val="solid"/>
          </a:ln>
        </p:spPr>
      </p:sp>
      <p:sp>
        <p:nvSpPr>
          <p:cNvPr id="38" name="Shape 36"/>
          <p:cNvSpPr/>
          <p:nvPr/>
        </p:nvSpPr>
        <p:spPr>
          <a:xfrm>
            <a:off x="3818273" y="2157984"/>
            <a:ext cx="73152" cy="73152"/>
          </a:xfrm>
          <a:prstGeom prst="ellipse">
            <a:avLst/>
          </a:prstGeom>
          <a:solidFill>
            <a:srgbClr val="009E9A"/>
          </a:solidFill>
          <a:ln w="12700">
            <a:solidFill>
              <a:srgbClr val="009E9A"/>
            </a:solidFill>
            <a:prstDash val="solid"/>
          </a:ln>
        </p:spPr>
      </p:sp>
      <p:sp>
        <p:nvSpPr>
          <p:cNvPr id="39" name="Shape 37"/>
          <p:cNvSpPr/>
          <p:nvPr/>
        </p:nvSpPr>
        <p:spPr>
          <a:xfrm>
            <a:off x="4045567" y="2757830"/>
            <a:ext cx="73152" cy="73152"/>
          </a:xfrm>
          <a:prstGeom prst="ellipse">
            <a:avLst/>
          </a:prstGeom>
          <a:solidFill>
            <a:srgbClr val="009E9A"/>
          </a:solidFill>
          <a:ln w="12700">
            <a:solidFill>
              <a:srgbClr val="009E9A"/>
            </a:solidFill>
            <a:prstDash val="solid"/>
          </a:ln>
        </p:spPr>
      </p:sp>
      <p:sp>
        <p:nvSpPr>
          <p:cNvPr id="40" name="Shape 38"/>
          <p:cNvSpPr/>
          <p:nvPr/>
        </p:nvSpPr>
        <p:spPr>
          <a:xfrm>
            <a:off x="4272861" y="2307946"/>
            <a:ext cx="73152" cy="73152"/>
          </a:xfrm>
          <a:prstGeom prst="ellipse">
            <a:avLst/>
          </a:prstGeom>
          <a:solidFill>
            <a:srgbClr val="009E9A"/>
          </a:solidFill>
          <a:ln w="12700">
            <a:solidFill>
              <a:srgbClr val="009E9A"/>
            </a:solidFill>
            <a:prstDash val="solid"/>
          </a:ln>
        </p:spPr>
      </p:sp>
      <p:sp>
        <p:nvSpPr>
          <p:cNvPr id="41" name="Shape 39"/>
          <p:cNvSpPr/>
          <p:nvPr/>
        </p:nvSpPr>
        <p:spPr>
          <a:xfrm>
            <a:off x="4500154" y="2907792"/>
            <a:ext cx="73152" cy="73152"/>
          </a:xfrm>
          <a:prstGeom prst="ellipse">
            <a:avLst/>
          </a:prstGeom>
          <a:solidFill>
            <a:srgbClr val="009E9A"/>
          </a:solidFill>
          <a:ln w="12700">
            <a:solidFill>
              <a:srgbClr val="009E9A"/>
            </a:solidFill>
            <a:prstDash val="solid"/>
          </a:ln>
        </p:spPr>
      </p:sp>
      <p:sp>
        <p:nvSpPr>
          <p:cNvPr id="42" name="Shape 40"/>
          <p:cNvSpPr/>
          <p:nvPr/>
        </p:nvSpPr>
        <p:spPr>
          <a:xfrm>
            <a:off x="4727448" y="2157984"/>
            <a:ext cx="73152" cy="73152"/>
          </a:xfrm>
          <a:prstGeom prst="ellipse">
            <a:avLst/>
          </a:prstGeom>
          <a:solidFill>
            <a:srgbClr val="009E9A"/>
          </a:solidFill>
          <a:ln w="12700">
            <a:solidFill>
              <a:srgbClr val="009E9A"/>
            </a:solidFill>
            <a:prstDash val="solid"/>
          </a:ln>
        </p:spPr>
      </p:sp>
      <p:sp>
        <p:nvSpPr>
          <p:cNvPr id="43" name="Shape 41"/>
          <p:cNvSpPr/>
          <p:nvPr/>
        </p:nvSpPr>
        <p:spPr>
          <a:xfrm>
            <a:off x="5212080" y="1444752"/>
            <a:ext cx="2084832" cy="1965960"/>
          </a:xfrm>
          <a:prstGeom prst="roundRect">
            <a:avLst>
              <a:gd name="adj" fmla="val 3721"/>
            </a:avLst>
          </a:prstGeom>
          <a:solidFill>
            <a:srgbClr val="FFFFFF"/>
          </a:solidFill>
          <a:ln w="10160">
            <a:solidFill>
              <a:srgbClr val="E9EEF5"/>
            </a:solidFill>
            <a:prstDash val="solid"/>
          </a:ln>
        </p:spPr>
      </p:sp>
      <p:sp>
        <p:nvSpPr>
          <p:cNvPr id="44" name="Text 42"/>
          <p:cNvSpPr/>
          <p:nvPr/>
        </p:nvSpPr>
        <p:spPr>
          <a:xfrm>
            <a:off x="5376672" y="1581912"/>
            <a:ext cx="1755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Clusters</a:t>
            </a:r>
            <a:endParaRPr lang="en-US" sz="1500" dirty="0"/>
          </a:p>
        </p:txBody>
      </p:sp>
      <p:sp>
        <p:nvSpPr>
          <p:cNvPr id="45" name="Shape 43"/>
          <p:cNvSpPr/>
          <p:nvPr/>
        </p:nvSpPr>
        <p:spPr>
          <a:xfrm>
            <a:off x="5468112" y="2999232"/>
            <a:ext cx="1554480" cy="0"/>
          </a:xfrm>
          <a:prstGeom prst="line">
            <a:avLst/>
          </a:prstGeom>
          <a:noFill/>
          <a:ln w="12700">
            <a:solidFill>
              <a:srgbClr val="AEB8C5"/>
            </a:solidFill>
            <a:prstDash val="solid"/>
          </a:ln>
        </p:spPr>
      </p:sp>
      <p:sp>
        <p:nvSpPr>
          <p:cNvPr id="46" name="Shape 44"/>
          <p:cNvSpPr/>
          <p:nvPr/>
        </p:nvSpPr>
        <p:spPr>
          <a:xfrm>
            <a:off x="5468112" y="2103120"/>
            <a:ext cx="0" cy="896112"/>
          </a:xfrm>
          <a:prstGeom prst="line">
            <a:avLst/>
          </a:prstGeom>
          <a:noFill/>
          <a:ln w="12700">
            <a:solidFill>
              <a:srgbClr val="AEB8C5"/>
            </a:solidFill>
            <a:prstDash val="solid"/>
          </a:ln>
        </p:spPr>
      </p:sp>
      <p:sp>
        <p:nvSpPr>
          <p:cNvPr id="47" name="Shape 45"/>
          <p:cNvSpPr/>
          <p:nvPr/>
        </p:nvSpPr>
        <p:spPr>
          <a:xfrm>
            <a:off x="5669280" y="2805928"/>
            <a:ext cx="64008" cy="64008"/>
          </a:xfrm>
          <a:prstGeom prst="ellipse">
            <a:avLst/>
          </a:prstGeom>
          <a:solidFill>
            <a:srgbClr val="2F6BFF"/>
          </a:solidFill>
          <a:ln w="12700">
            <a:solidFill>
              <a:srgbClr val="2F6BFF"/>
            </a:solidFill>
            <a:prstDash val="solid"/>
          </a:ln>
        </p:spPr>
      </p:sp>
      <p:sp>
        <p:nvSpPr>
          <p:cNvPr id="48" name="Shape 46"/>
          <p:cNvSpPr/>
          <p:nvPr/>
        </p:nvSpPr>
        <p:spPr>
          <a:xfrm>
            <a:off x="5747004" y="2761122"/>
            <a:ext cx="64008" cy="64008"/>
          </a:xfrm>
          <a:prstGeom prst="ellipse">
            <a:avLst/>
          </a:prstGeom>
          <a:solidFill>
            <a:srgbClr val="2F6BFF"/>
          </a:solidFill>
          <a:ln w="12700">
            <a:solidFill>
              <a:srgbClr val="2F6BFF"/>
            </a:solidFill>
            <a:prstDash val="solid"/>
          </a:ln>
        </p:spPr>
      </p:sp>
      <p:sp>
        <p:nvSpPr>
          <p:cNvPr id="49" name="Shape 47"/>
          <p:cNvSpPr/>
          <p:nvPr/>
        </p:nvSpPr>
        <p:spPr>
          <a:xfrm>
            <a:off x="5824728" y="2814889"/>
            <a:ext cx="64008" cy="64008"/>
          </a:xfrm>
          <a:prstGeom prst="ellipse">
            <a:avLst/>
          </a:prstGeom>
          <a:solidFill>
            <a:srgbClr val="2F6BFF"/>
          </a:solidFill>
          <a:ln w="12700">
            <a:solidFill>
              <a:srgbClr val="2F6BFF"/>
            </a:solidFill>
            <a:prstDash val="solid"/>
          </a:ln>
        </p:spPr>
      </p:sp>
      <p:sp>
        <p:nvSpPr>
          <p:cNvPr id="50" name="Shape 48"/>
          <p:cNvSpPr/>
          <p:nvPr/>
        </p:nvSpPr>
        <p:spPr>
          <a:xfrm>
            <a:off x="6446520" y="2357872"/>
            <a:ext cx="64008" cy="64008"/>
          </a:xfrm>
          <a:prstGeom prst="ellipse">
            <a:avLst/>
          </a:prstGeom>
          <a:solidFill>
            <a:srgbClr val="2F6BFF"/>
          </a:solidFill>
          <a:ln w="12700">
            <a:solidFill>
              <a:srgbClr val="2F6BFF"/>
            </a:solidFill>
            <a:prstDash val="solid"/>
          </a:ln>
        </p:spPr>
      </p:sp>
      <p:sp>
        <p:nvSpPr>
          <p:cNvPr id="51" name="Shape 49"/>
          <p:cNvSpPr/>
          <p:nvPr/>
        </p:nvSpPr>
        <p:spPr>
          <a:xfrm>
            <a:off x="6555334" y="2304105"/>
            <a:ext cx="64008" cy="64008"/>
          </a:xfrm>
          <a:prstGeom prst="ellipse">
            <a:avLst/>
          </a:prstGeom>
          <a:solidFill>
            <a:srgbClr val="2F6BFF"/>
          </a:solidFill>
          <a:ln w="12700">
            <a:solidFill>
              <a:srgbClr val="2F6BFF"/>
            </a:solidFill>
            <a:prstDash val="solid"/>
          </a:ln>
        </p:spPr>
      </p:sp>
      <p:sp>
        <p:nvSpPr>
          <p:cNvPr id="52" name="Shape 50"/>
          <p:cNvSpPr/>
          <p:nvPr/>
        </p:nvSpPr>
        <p:spPr>
          <a:xfrm>
            <a:off x="6648602" y="2366833"/>
            <a:ext cx="64008" cy="64008"/>
          </a:xfrm>
          <a:prstGeom prst="ellipse">
            <a:avLst/>
          </a:prstGeom>
          <a:solidFill>
            <a:srgbClr val="2F6BFF"/>
          </a:solidFill>
          <a:ln w="12700">
            <a:solidFill>
              <a:srgbClr val="2F6BFF"/>
            </a:solidFill>
            <a:prstDash val="solid"/>
          </a:ln>
        </p:spPr>
      </p:sp>
      <p:sp>
        <p:nvSpPr>
          <p:cNvPr id="53" name="Shape 51"/>
          <p:cNvSpPr/>
          <p:nvPr/>
        </p:nvSpPr>
        <p:spPr>
          <a:xfrm>
            <a:off x="7498080" y="1444752"/>
            <a:ext cx="2084832" cy="1965960"/>
          </a:xfrm>
          <a:prstGeom prst="roundRect">
            <a:avLst>
              <a:gd name="adj" fmla="val 3721"/>
            </a:avLst>
          </a:prstGeom>
          <a:solidFill>
            <a:srgbClr val="FFFFFF"/>
          </a:solidFill>
          <a:ln w="10160">
            <a:solidFill>
              <a:srgbClr val="E9EEF5"/>
            </a:solidFill>
            <a:prstDash val="solid"/>
          </a:ln>
        </p:spPr>
      </p:sp>
      <p:sp>
        <p:nvSpPr>
          <p:cNvPr id="54" name="Text 52"/>
          <p:cNvSpPr/>
          <p:nvPr/>
        </p:nvSpPr>
        <p:spPr>
          <a:xfrm>
            <a:off x="7662672" y="1581912"/>
            <a:ext cx="1755648"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Association</a:t>
            </a:r>
            <a:endParaRPr lang="en-US" sz="1500" dirty="0"/>
          </a:p>
        </p:txBody>
      </p:sp>
      <p:sp>
        <p:nvSpPr>
          <p:cNvPr id="55" name="Shape 53"/>
          <p:cNvSpPr/>
          <p:nvPr/>
        </p:nvSpPr>
        <p:spPr>
          <a:xfrm>
            <a:off x="7754112" y="2999232"/>
            <a:ext cx="1554480" cy="0"/>
          </a:xfrm>
          <a:prstGeom prst="line">
            <a:avLst/>
          </a:prstGeom>
          <a:noFill/>
          <a:ln w="12700">
            <a:solidFill>
              <a:srgbClr val="AEB8C5"/>
            </a:solidFill>
            <a:prstDash val="solid"/>
          </a:ln>
        </p:spPr>
      </p:sp>
      <p:sp>
        <p:nvSpPr>
          <p:cNvPr id="56" name="Shape 54"/>
          <p:cNvSpPr/>
          <p:nvPr/>
        </p:nvSpPr>
        <p:spPr>
          <a:xfrm>
            <a:off x="7754112" y="2103120"/>
            <a:ext cx="0" cy="896112"/>
          </a:xfrm>
          <a:prstGeom prst="line">
            <a:avLst/>
          </a:prstGeom>
          <a:noFill/>
          <a:ln w="12700">
            <a:solidFill>
              <a:srgbClr val="AEB8C5"/>
            </a:solidFill>
            <a:prstDash val="solid"/>
          </a:ln>
        </p:spPr>
      </p:sp>
      <p:sp>
        <p:nvSpPr>
          <p:cNvPr id="57" name="Shape 55"/>
          <p:cNvSpPr/>
          <p:nvPr/>
        </p:nvSpPr>
        <p:spPr>
          <a:xfrm>
            <a:off x="7877556" y="2823850"/>
            <a:ext cx="64008" cy="64008"/>
          </a:xfrm>
          <a:prstGeom prst="ellipse">
            <a:avLst/>
          </a:prstGeom>
          <a:solidFill>
            <a:srgbClr val="2DAA74"/>
          </a:solidFill>
          <a:ln w="12700">
            <a:solidFill>
              <a:srgbClr val="2DAA74"/>
            </a:solidFill>
            <a:prstDash val="solid"/>
          </a:ln>
        </p:spPr>
      </p:sp>
      <p:sp>
        <p:nvSpPr>
          <p:cNvPr id="58" name="Shape 56"/>
          <p:cNvSpPr/>
          <p:nvPr/>
        </p:nvSpPr>
        <p:spPr>
          <a:xfrm>
            <a:off x="8033004" y="2752161"/>
            <a:ext cx="64008" cy="64008"/>
          </a:xfrm>
          <a:prstGeom prst="ellipse">
            <a:avLst/>
          </a:prstGeom>
          <a:solidFill>
            <a:srgbClr val="2DAA74"/>
          </a:solidFill>
          <a:ln w="12700">
            <a:solidFill>
              <a:srgbClr val="2DAA74"/>
            </a:solidFill>
            <a:prstDash val="solid"/>
          </a:ln>
        </p:spPr>
      </p:sp>
      <p:sp>
        <p:nvSpPr>
          <p:cNvPr id="59" name="Shape 57"/>
          <p:cNvSpPr/>
          <p:nvPr/>
        </p:nvSpPr>
        <p:spPr>
          <a:xfrm>
            <a:off x="8266176" y="2698394"/>
            <a:ext cx="64008" cy="64008"/>
          </a:xfrm>
          <a:prstGeom prst="ellipse">
            <a:avLst/>
          </a:prstGeom>
          <a:solidFill>
            <a:srgbClr val="2DAA74"/>
          </a:solidFill>
          <a:ln w="12700">
            <a:solidFill>
              <a:srgbClr val="2DAA74"/>
            </a:solidFill>
            <a:prstDash val="solid"/>
          </a:ln>
        </p:spPr>
      </p:sp>
      <p:sp>
        <p:nvSpPr>
          <p:cNvPr id="60" name="Shape 58"/>
          <p:cNvSpPr/>
          <p:nvPr/>
        </p:nvSpPr>
        <p:spPr>
          <a:xfrm>
            <a:off x="8499348" y="2501250"/>
            <a:ext cx="64008" cy="64008"/>
          </a:xfrm>
          <a:prstGeom prst="ellipse">
            <a:avLst/>
          </a:prstGeom>
          <a:solidFill>
            <a:srgbClr val="2DAA74"/>
          </a:solidFill>
          <a:ln w="12700">
            <a:solidFill>
              <a:srgbClr val="2DAA74"/>
            </a:solidFill>
            <a:prstDash val="solid"/>
          </a:ln>
        </p:spPr>
      </p:sp>
      <p:sp>
        <p:nvSpPr>
          <p:cNvPr id="61" name="Shape 59"/>
          <p:cNvSpPr/>
          <p:nvPr/>
        </p:nvSpPr>
        <p:spPr>
          <a:xfrm>
            <a:off x="8716975" y="2375794"/>
            <a:ext cx="64008" cy="64008"/>
          </a:xfrm>
          <a:prstGeom prst="ellipse">
            <a:avLst/>
          </a:prstGeom>
          <a:solidFill>
            <a:srgbClr val="2DAA74"/>
          </a:solidFill>
          <a:ln w="12700">
            <a:solidFill>
              <a:srgbClr val="2DAA74"/>
            </a:solidFill>
            <a:prstDash val="solid"/>
          </a:ln>
        </p:spPr>
      </p:sp>
      <p:sp>
        <p:nvSpPr>
          <p:cNvPr id="62" name="Shape 60"/>
          <p:cNvSpPr/>
          <p:nvPr/>
        </p:nvSpPr>
        <p:spPr>
          <a:xfrm>
            <a:off x="8996782" y="2205533"/>
            <a:ext cx="64008" cy="64008"/>
          </a:xfrm>
          <a:prstGeom prst="ellipse">
            <a:avLst/>
          </a:prstGeom>
          <a:solidFill>
            <a:srgbClr val="2DAA74"/>
          </a:solidFill>
          <a:ln w="12700">
            <a:solidFill>
              <a:srgbClr val="2DAA74"/>
            </a:solidFill>
            <a:prstDash val="solid"/>
          </a:ln>
        </p:spPr>
      </p:sp>
      <p:sp>
        <p:nvSpPr>
          <p:cNvPr id="63" name="Shape 61"/>
          <p:cNvSpPr/>
          <p:nvPr/>
        </p:nvSpPr>
        <p:spPr>
          <a:xfrm>
            <a:off x="9784080" y="1444752"/>
            <a:ext cx="1783080" cy="1965960"/>
          </a:xfrm>
          <a:prstGeom prst="roundRect">
            <a:avLst>
              <a:gd name="adj" fmla="val 4103"/>
            </a:avLst>
          </a:prstGeom>
          <a:solidFill>
            <a:srgbClr val="FFFFFF"/>
          </a:solidFill>
          <a:ln w="10160">
            <a:solidFill>
              <a:srgbClr val="E9EEF5"/>
            </a:solidFill>
            <a:prstDash val="solid"/>
          </a:ln>
        </p:spPr>
      </p:sp>
      <p:sp>
        <p:nvSpPr>
          <p:cNvPr id="64" name="Text 62"/>
          <p:cNvSpPr/>
          <p:nvPr/>
        </p:nvSpPr>
        <p:spPr>
          <a:xfrm>
            <a:off x="9948672" y="1581912"/>
            <a:ext cx="1453896"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Anomaly</a:t>
            </a:r>
            <a:endParaRPr lang="en-US" sz="1500" dirty="0"/>
          </a:p>
        </p:txBody>
      </p:sp>
      <p:sp>
        <p:nvSpPr>
          <p:cNvPr id="65" name="Shape 63"/>
          <p:cNvSpPr/>
          <p:nvPr/>
        </p:nvSpPr>
        <p:spPr>
          <a:xfrm>
            <a:off x="10012680" y="2999232"/>
            <a:ext cx="1325880" cy="0"/>
          </a:xfrm>
          <a:prstGeom prst="line">
            <a:avLst/>
          </a:prstGeom>
          <a:noFill/>
          <a:ln w="12700">
            <a:solidFill>
              <a:srgbClr val="AEB8C5"/>
            </a:solidFill>
            <a:prstDash val="solid"/>
          </a:ln>
        </p:spPr>
      </p:sp>
      <p:sp>
        <p:nvSpPr>
          <p:cNvPr id="66" name="Shape 64"/>
          <p:cNvSpPr/>
          <p:nvPr/>
        </p:nvSpPr>
        <p:spPr>
          <a:xfrm>
            <a:off x="10012680" y="2103120"/>
            <a:ext cx="0" cy="896112"/>
          </a:xfrm>
          <a:prstGeom prst="line">
            <a:avLst/>
          </a:prstGeom>
          <a:noFill/>
          <a:ln w="12700">
            <a:solidFill>
              <a:srgbClr val="AEB8C5"/>
            </a:solidFill>
            <a:prstDash val="solid"/>
          </a:ln>
        </p:spPr>
      </p:sp>
      <p:sp>
        <p:nvSpPr>
          <p:cNvPr id="67" name="Shape 65"/>
          <p:cNvSpPr/>
          <p:nvPr/>
        </p:nvSpPr>
        <p:spPr>
          <a:xfrm>
            <a:off x="10139782" y="2805928"/>
            <a:ext cx="64008" cy="64008"/>
          </a:xfrm>
          <a:prstGeom prst="ellipse">
            <a:avLst/>
          </a:prstGeom>
          <a:solidFill>
            <a:srgbClr val="F59E0B"/>
          </a:solidFill>
          <a:ln w="12700">
            <a:solidFill>
              <a:srgbClr val="F59E0B"/>
            </a:solidFill>
            <a:prstDash val="solid"/>
          </a:ln>
        </p:spPr>
      </p:sp>
      <p:sp>
        <p:nvSpPr>
          <p:cNvPr id="68" name="Shape 66"/>
          <p:cNvSpPr/>
          <p:nvPr/>
        </p:nvSpPr>
        <p:spPr>
          <a:xfrm>
            <a:off x="10312146" y="2743200"/>
            <a:ext cx="64008" cy="64008"/>
          </a:xfrm>
          <a:prstGeom prst="ellipse">
            <a:avLst/>
          </a:prstGeom>
          <a:solidFill>
            <a:srgbClr val="F59E0B"/>
          </a:solidFill>
          <a:ln w="12700">
            <a:solidFill>
              <a:srgbClr val="F59E0B"/>
            </a:solidFill>
            <a:prstDash val="solid"/>
          </a:ln>
        </p:spPr>
      </p:sp>
      <p:sp>
        <p:nvSpPr>
          <p:cNvPr id="69" name="Shape 67"/>
          <p:cNvSpPr/>
          <p:nvPr/>
        </p:nvSpPr>
        <p:spPr>
          <a:xfrm>
            <a:off x="10457993" y="2698394"/>
            <a:ext cx="64008" cy="64008"/>
          </a:xfrm>
          <a:prstGeom prst="ellipse">
            <a:avLst/>
          </a:prstGeom>
          <a:solidFill>
            <a:srgbClr val="F59E0B"/>
          </a:solidFill>
          <a:ln w="12700">
            <a:solidFill>
              <a:srgbClr val="F59E0B"/>
            </a:solidFill>
            <a:prstDash val="solid"/>
          </a:ln>
        </p:spPr>
      </p:sp>
      <p:sp>
        <p:nvSpPr>
          <p:cNvPr id="70" name="Shape 68"/>
          <p:cNvSpPr/>
          <p:nvPr/>
        </p:nvSpPr>
        <p:spPr>
          <a:xfrm>
            <a:off x="10643616" y="2581900"/>
            <a:ext cx="64008" cy="64008"/>
          </a:xfrm>
          <a:prstGeom prst="ellipse">
            <a:avLst/>
          </a:prstGeom>
          <a:solidFill>
            <a:srgbClr val="F59E0B"/>
          </a:solidFill>
          <a:ln w="12700">
            <a:solidFill>
              <a:srgbClr val="F59E0B"/>
            </a:solidFill>
            <a:prstDash val="solid"/>
          </a:ln>
        </p:spPr>
      </p:sp>
      <p:sp>
        <p:nvSpPr>
          <p:cNvPr id="71" name="Shape 69"/>
          <p:cNvSpPr/>
          <p:nvPr/>
        </p:nvSpPr>
        <p:spPr>
          <a:xfrm>
            <a:off x="10802722" y="2474366"/>
            <a:ext cx="64008" cy="64008"/>
          </a:xfrm>
          <a:prstGeom prst="ellipse">
            <a:avLst/>
          </a:prstGeom>
          <a:solidFill>
            <a:srgbClr val="F59E0B"/>
          </a:solidFill>
          <a:ln w="12700">
            <a:solidFill>
              <a:srgbClr val="F59E0B"/>
            </a:solidFill>
            <a:prstDash val="solid"/>
          </a:ln>
        </p:spPr>
      </p:sp>
      <p:sp>
        <p:nvSpPr>
          <p:cNvPr id="72" name="Shape 70"/>
          <p:cNvSpPr/>
          <p:nvPr/>
        </p:nvSpPr>
        <p:spPr>
          <a:xfrm>
            <a:off x="11067898" y="2788006"/>
            <a:ext cx="64008" cy="64008"/>
          </a:xfrm>
          <a:prstGeom prst="ellipse">
            <a:avLst/>
          </a:prstGeom>
          <a:solidFill>
            <a:srgbClr val="F59E0B"/>
          </a:solidFill>
          <a:ln w="12700">
            <a:solidFill>
              <a:srgbClr val="F59E0B"/>
            </a:solidFill>
            <a:prstDash val="solid"/>
          </a:ln>
        </p:spPr>
      </p:sp>
      <p:sp>
        <p:nvSpPr>
          <p:cNvPr id="73" name="Shape 71"/>
          <p:cNvSpPr/>
          <p:nvPr/>
        </p:nvSpPr>
        <p:spPr>
          <a:xfrm>
            <a:off x="932688" y="4160520"/>
            <a:ext cx="100584" cy="100584"/>
          </a:xfrm>
          <a:prstGeom prst="ellipse">
            <a:avLst/>
          </a:prstGeom>
          <a:solidFill>
            <a:srgbClr val="009E9A"/>
          </a:solidFill>
          <a:ln w="12700">
            <a:solidFill>
              <a:srgbClr val="009E9A"/>
            </a:solidFill>
            <a:prstDash val="solid"/>
          </a:ln>
        </p:spPr>
      </p:sp>
      <p:sp>
        <p:nvSpPr>
          <p:cNvPr id="74" name="Text 72"/>
          <p:cNvSpPr/>
          <p:nvPr/>
        </p:nvSpPr>
        <p:spPr>
          <a:xfrm>
            <a:off x="1133856" y="4069080"/>
            <a:ext cx="1004011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Patterns are hypotheses until validated — they may reflect sampling, missingness or data quality problems.</a:t>
            </a:r>
            <a:endParaRPr lang="en-US" sz="1300" dirty="0"/>
          </a:p>
        </p:txBody>
      </p:sp>
      <p:sp>
        <p:nvSpPr>
          <p:cNvPr id="75" name="Shape 73"/>
          <p:cNvSpPr/>
          <p:nvPr/>
        </p:nvSpPr>
        <p:spPr>
          <a:xfrm>
            <a:off x="932688" y="4581144"/>
            <a:ext cx="100584" cy="100584"/>
          </a:xfrm>
          <a:prstGeom prst="ellipse">
            <a:avLst/>
          </a:prstGeom>
          <a:solidFill>
            <a:srgbClr val="009E9A"/>
          </a:solidFill>
          <a:ln w="12700">
            <a:solidFill>
              <a:srgbClr val="009E9A"/>
            </a:solidFill>
            <a:prstDash val="solid"/>
          </a:ln>
        </p:spPr>
      </p:sp>
      <p:sp>
        <p:nvSpPr>
          <p:cNvPr id="76" name="Text 74"/>
          <p:cNvSpPr/>
          <p:nvPr/>
        </p:nvSpPr>
        <p:spPr>
          <a:xfrm>
            <a:off x="1133856" y="4489704"/>
            <a:ext cx="1004011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In banking, patterns often differ across segments, products, branches and time periods.</a:t>
            </a:r>
            <a:endParaRPr lang="en-US" sz="1300" dirty="0"/>
          </a:p>
        </p:txBody>
      </p:sp>
      <p:sp>
        <p:nvSpPr>
          <p:cNvPr id="77" name="Shape 75"/>
          <p:cNvSpPr/>
          <p:nvPr/>
        </p:nvSpPr>
        <p:spPr>
          <a:xfrm>
            <a:off x="932688" y="5001768"/>
            <a:ext cx="100584" cy="100584"/>
          </a:xfrm>
          <a:prstGeom prst="ellipse">
            <a:avLst/>
          </a:prstGeom>
          <a:solidFill>
            <a:srgbClr val="009E9A"/>
          </a:solidFill>
          <a:ln w="12700">
            <a:solidFill>
              <a:srgbClr val="009E9A"/>
            </a:solidFill>
            <a:prstDash val="solid"/>
          </a:ln>
        </p:spPr>
      </p:sp>
      <p:sp>
        <p:nvSpPr>
          <p:cNvPr id="78" name="Text 76"/>
          <p:cNvSpPr/>
          <p:nvPr/>
        </p:nvSpPr>
        <p:spPr>
          <a:xfrm>
            <a:off x="1133856" y="4910328"/>
            <a:ext cx="10040112" cy="420624"/>
          </a:xfrm>
          <a:prstGeom prst="rect">
            <a:avLst/>
          </a:prstGeom>
          <a:noFill/>
          <a:ln/>
        </p:spPr>
        <p:txBody>
          <a:bodyPr wrap="square" lIns="0" tIns="0" rIns="0" bIns="0" rtlCol="0" anchor="ctr">
            <a:normAutofit/>
          </a:bodyPr>
          <a:lstStyle/>
          <a:p>
            <a:pPr marL="0" indent="0">
              <a:buNone/>
            </a:pPr>
            <a:r>
              <a:rPr lang="en-US" sz="1300" dirty="0">
                <a:solidFill>
                  <a:srgbClr val="26364A"/>
                </a:solidFill>
              </a:rPr>
              <a:t>A useful EDA habit: ask “what would make this pattern disappear?”</a:t>
            </a:r>
            <a:endParaRPr lang="en-US" sz="1300" dirty="0"/>
          </a:p>
        </p:txBody>
      </p:sp>
      <p:sp>
        <p:nvSpPr>
          <p:cNvPr id="79" name="Shape 77"/>
          <p:cNvSpPr/>
          <p:nvPr/>
        </p:nvSpPr>
        <p:spPr>
          <a:xfrm>
            <a:off x="2377440" y="5715000"/>
            <a:ext cx="7452360" cy="420624"/>
          </a:xfrm>
          <a:prstGeom prst="roundRect">
            <a:avLst>
              <a:gd name="adj" fmla="val 10870"/>
            </a:avLst>
          </a:prstGeom>
          <a:solidFill>
            <a:srgbClr val="F8FBF9"/>
          </a:solidFill>
          <a:ln w="12700">
            <a:solidFill>
              <a:srgbClr val="009E9A"/>
            </a:solidFill>
            <a:prstDash val="solid"/>
          </a:ln>
        </p:spPr>
      </p:sp>
      <p:sp>
        <p:nvSpPr>
          <p:cNvPr id="80" name="Text 78"/>
          <p:cNvSpPr/>
          <p:nvPr/>
        </p:nvSpPr>
        <p:spPr>
          <a:xfrm>
            <a:off x="2487168" y="5797296"/>
            <a:ext cx="7232904" cy="219456"/>
          </a:xfrm>
          <a:prstGeom prst="rect">
            <a:avLst/>
          </a:prstGeom>
          <a:noFill/>
          <a:ln/>
        </p:spPr>
        <p:txBody>
          <a:bodyPr wrap="square" lIns="0" tIns="0" rIns="0" bIns="0" rtlCol="0" anchor="ctr">
            <a:normAutofit/>
          </a:bodyPr>
          <a:lstStyle/>
          <a:p>
            <a:pPr marL="0" indent="0">
              <a:buNone/>
            </a:pPr>
            <a:r>
              <a:rPr lang="en-US" sz="1050" dirty="0">
                <a:solidFill>
                  <a:srgbClr val="132238"/>
                </a:solidFill>
                <a:latin typeface="Aptos Mono" pitchFamily="34" charset="0"/>
                <a:ea typeface="Aptos Mono" pitchFamily="34" charset="-122"/>
                <a:cs typeface="Aptos Mono" pitchFamily="34" charset="-120"/>
              </a:rPr>
              <a:t>Pattern ≠ proof. It is a structured clue that guides the next question.</a:t>
            </a:r>
            <a:endParaRPr lang="en-US" sz="1050" dirty="0"/>
          </a:p>
        </p:txBody>
      </p:sp>
      <p:sp>
        <p:nvSpPr>
          <p:cNvPr id="81"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08 · PATTERNS &amp; QUALITY</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Data quality: six dimensions to check before trusting analysis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Quality is fitness for use: “good data” depends on the analytical purpose.</a:t>
            </a:r>
            <a:endParaRPr lang="en-US" sz="1300" dirty="0"/>
          </a:p>
        </p:txBody>
      </p:sp>
      <p:sp>
        <p:nvSpPr>
          <p:cNvPr id="7" name="Shape 5"/>
          <p:cNvSpPr/>
          <p:nvPr/>
        </p:nvSpPr>
        <p:spPr>
          <a:xfrm>
            <a:off x="5513832" y="941832"/>
            <a:ext cx="1133856" cy="1133856"/>
          </a:xfrm>
          <a:prstGeom prst="ellipse">
            <a:avLst/>
          </a:prstGeom>
          <a:solidFill>
            <a:srgbClr val="2F6BFF"/>
          </a:solidFill>
          <a:ln w="12700">
            <a:solidFill>
              <a:srgbClr val="2F6BFF"/>
            </a:solidFill>
            <a:prstDash val="solid"/>
          </a:ln>
        </p:spPr>
      </p:sp>
      <p:sp>
        <p:nvSpPr>
          <p:cNvPr id="8" name="Text 6"/>
          <p:cNvSpPr/>
          <p:nvPr/>
        </p:nvSpPr>
        <p:spPr>
          <a:xfrm>
            <a:off x="5550408" y="14264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Accuracy</a:t>
            </a:r>
            <a:endParaRPr lang="en-US" sz="1040" dirty="0"/>
          </a:p>
        </p:txBody>
      </p:sp>
      <p:sp>
        <p:nvSpPr>
          <p:cNvPr id="9" name="Text 7"/>
          <p:cNvSpPr/>
          <p:nvPr/>
        </p:nvSpPr>
        <p:spPr>
          <a:xfrm>
            <a:off x="5056632" y="21671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Does the value reflect reality?</a:t>
            </a:r>
            <a:endParaRPr lang="en-US" sz="940" dirty="0"/>
          </a:p>
        </p:txBody>
      </p:sp>
      <p:sp>
        <p:nvSpPr>
          <p:cNvPr id="10" name="Shape 8"/>
          <p:cNvSpPr/>
          <p:nvPr/>
        </p:nvSpPr>
        <p:spPr>
          <a:xfrm>
            <a:off x="7889513" y="1856232"/>
            <a:ext cx="1133856" cy="1133856"/>
          </a:xfrm>
          <a:prstGeom prst="ellipse">
            <a:avLst/>
          </a:prstGeom>
          <a:solidFill>
            <a:srgbClr val="009E9A"/>
          </a:solidFill>
          <a:ln w="12700">
            <a:solidFill>
              <a:srgbClr val="009E9A"/>
            </a:solidFill>
            <a:prstDash val="solid"/>
          </a:ln>
        </p:spPr>
      </p:sp>
      <p:sp>
        <p:nvSpPr>
          <p:cNvPr id="11" name="Text 9"/>
          <p:cNvSpPr/>
          <p:nvPr/>
        </p:nvSpPr>
        <p:spPr>
          <a:xfrm>
            <a:off x="7926089" y="23408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Completeness</a:t>
            </a:r>
            <a:endParaRPr lang="en-US" sz="1040" dirty="0"/>
          </a:p>
        </p:txBody>
      </p:sp>
      <p:sp>
        <p:nvSpPr>
          <p:cNvPr id="12" name="Text 10"/>
          <p:cNvSpPr/>
          <p:nvPr/>
        </p:nvSpPr>
        <p:spPr>
          <a:xfrm>
            <a:off x="7432313" y="30815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Are required values present?</a:t>
            </a:r>
            <a:endParaRPr lang="en-US" sz="940" dirty="0"/>
          </a:p>
        </p:txBody>
      </p:sp>
      <p:sp>
        <p:nvSpPr>
          <p:cNvPr id="13" name="Shape 11"/>
          <p:cNvSpPr/>
          <p:nvPr/>
        </p:nvSpPr>
        <p:spPr>
          <a:xfrm>
            <a:off x="7889513" y="3685032"/>
            <a:ext cx="1133856" cy="1133856"/>
          </a:xfrm>
          <a:prstGeom prst="ellipse">
            <a:avLst/>
          </a:prstGeom>
          <a:solidFill>
            <a:srgbClr val="7A5AF8"/>
          </a:solidFill>
          <a:ln w="12700">
            <a:solidFill>
              <a:srgbClr val="7A5AF8"/>
            </a:solidFill>
            <a:prstDash val="solid"/>
          </a:ln>
        </p:spPr>
      </p:sp>
      <p:sp>
        <p:nvSpPr>
          <p:cNvPr id="14" name="Text 12"/>
          <p:cNvSpPr/>
          <p:nvPr/>
        </p:nvSpPr>
        <p:spPr>
          <a:xfrm>
            <a:off x="7926089" y="41696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Consistency</a:t>
            </a:r>
            <a:endParaRPr lang="en-US" sz="1040" dirty="0"/>
          </a:p>
        </p:txBody>
      </p:sp>
      <p:sp>
        <p:nvSpPr>
          <p:cNvPr id="15" name="Text 13"/>
          <p:cNvSpPr/>
          <p:nvPr/>
        </p:nvSpPr>
        <p:spPr>
          <a:xfrm>
            <a:off x="7432313" y="49103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Do systems / fields agree?</a:t>
            </a:r>
            <a:endParaRPr lang="en-US" sz="940" dirty="0"/>
          </a:p>
        </p:txBody>
      </p:sp>
      <p:sp>
        <p:nvSpPr>
          <p:cNvPr id="16" name="Shape 14"/>
          <p:cNvSpPr/>
          <p:nvPr/>
        </p:nvSpPr>
        <p:spPr>
          <a:xfrm>
            <a:off x="5513832" y="4599432"/>
            <a:ext cx="1133856" cy="1133856"/>
          </a:xfrm>
          <a:prstGeom prst="ellipse">
            <a:avLst/>
          </a:prstGeom>
          <a:solidFill>
            <a:srgbClr val="F59E0B"/>
          </a:solidFill>
          <a:ln w="12700">
            <a:solidFill>
              <a:srgbClr val="F59E0B"/>
            </a:solidFill>
            <a:prstDash val="solid"/>
          </a:ln>
        </p:spPr>
      </p:sp>
      <p:sp>
        <p:nvSpPr>
          <p:cNvPr id="17" name="Text 15"/>
          <p:cNvSpPr/>
          <p:nvPr/>
        </p:nvSpPr>
        <p:spPr>
          <a:xfrm>
            <a:off x="5550408" y="50840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Validity</a:t>
            </a:r>
            <a:endParaRPr lang="en-US" sz="1040" dirty="0"/>
          </a:p>
        </p:txBody>
      </p:sp>
      <p:sp>
        <p:nvSpPr>
          <p:cNvPr id="18" name="Text 16"/>
          <p:cNvSpPr/>
          <p:nvPr/>
        </p:nvSpPr>
        <p:spPr>
          <a:xfrm>
            <a:off x="5056632" y="58247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Does the value obey rules and domains?</a:t>
            </a:r>
            <a:endParaRPr lang="en-US" sz="940" dirty="0"/>
          </a:p>
        </p:txBody>
      </p:sp>
      <p:sp>
        <p:nvSpPr>
          <p:cNvPr id="19" name="Shape 17"/>
          <p:cNvSpPr/>
          <p:nvPr/>
        </p:nvSpPr>
        <p:spPr>
          <a:xfrm>
            <a:off x="3138151" y="3685032"/>
            <a:ext cx="1133856" cy="1133856"/>
          </a:xfrm>
          <a:prstGeom prst="ellipse">
            <a:avLst/>
          </a:prstGeom>
          <a:solidFill>
            <a:srgbClr val="2DAA74"/>
          </a:solidFill>
          <a:ln w="12700">
            <a:solidFill>
              <a:srgbClr val="2DAA74"/>
            </a:solidFill>
            <a:prstDash val="solid"/>
          </a:ln>
        </p:spPr>
      </p:sp>
      <p:sp>
        <p:nvSpPr>
          <p:cNvPr id="20" name="Text 18"/>
          <p:cNvSpPr/>
          <p:nvPr/>
        </p:nvSpPr>
        <p:spPr>
          <a:xfrm>
            <a:off x="3174727" y="41696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Uniqueness</a:t>
            </a:r>
            <a:endParaRPr lang="en-US" sz="1040" dirty="0"/>
          </a:p>
        </p:txBody>
      </p:sp>
      <p:sp>
        <p:nvSpPr>
          <p:cNvPr id="21" name="Text 19"/>
          <p:cNvSpPr/>
          <p:nvPr/>
        </p:nvSpPr>
        <p:spPr>
          <a:xfrm>
            <a:off x="2680951" y="49103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Are duplicates controlled?</a:t>
            </a:r>
            <a:endParaRPr lang="en-US" sz="940" dirty="0"/>
          </a:p>
        </p:txBody>
      </p:sp>
      <p:sp>
        <p:nvSpPr>
          <p:cNvPr id="22" name="Shape 20"/>
          <p:cNvSpPr/>
          <p:nvPr/>
        </p:nvSpPr>
        <p:spPr>
          <a:xfrm>
            <a:off x="3138151" y="1856232"/>
            <a:ext cx="1133856" cy="1133856"/>
          </a:xfrm>
          <a:prstGeom prst="ellipse">
            <a:avLst/>
          </a:prstGeom>
          <a:solidFill>
            <a:srgbClr val="D94F4F"/>
          </a:solidFill>
          <a:ln w="12700">
            <a:solidFill>
              <a:srgbClr val="D94F4F"/>
            </a:solidFill>
            <a:prstDash val="solid"/>
          </a:ln>
        </p:spPr>
      </p:sp>
      <p:sp>
        <p:nvSpPr>
          <p:cNvPr id="23" name="Text 21"/>
          <p:cNvSpPr/>
          <p:nvPr/>
        </p:nvSpPr>
        <p:spPr>
          <a:xfrm>
            <a:off x="3174727" y="2340864"/>
            <a:ext cx="1060704" cy="182880"/>
          </a:xfrm>
          <a:prstGeom prst="rect">
            <a:avLst/>
          </a:prstGeom>
          <a:noFill/>
          <a:ln/>
        </p:spPr>
        <p:txBody>
          <a:bodyPr wrap="square" lIns="0" tIns="0" rIns="0" bIns="0" rtlCol="0" anchor="ctr">
            <a:normAutofit/>
          </a:bodyPr>
          <a:lstStyle/>
          <a:p>
            <a:pPr marL="0" indent="0" algn="ctr">
              <a:buNone/>
            </a:pPr>
            <a:r>
              <a:rPr lang="en-US" sz="1040" b="1" dirty="0">
                <a:solidFill>
                  <a:srgbClr val="FFFFFF"/>
                </a:solidFill>
              </a:rPr>
              <a:t>Timeliness</a:t>
            </a:r>
            <a:endParaRPr lang="en-US" sz="1040" dirty="0"/>
          </a:p>
        </p:txBody>
      </p:sp>
      <p:sp>
        <p:nvSpPr>
          <p:cNvPr id="24" name="Text 22"/>
          <p:cNvSpPr/>
          <p:nvPr/>
        </p:nvSpPr>
        <p:spPr>
          <a:xfrm>
            <a:off x="2680951" y="3081528"/>
            <a:ext cx="2048256" cy="420624"/>
          </a:xfrm>
          <a:prstGeom prst="rect">
            <a:avLst/>
          </a:prstGeom>
          <a:noFill/>
          <a:ln/>
        </p:spPr>
        <p:txBody>
          <a:bodyPr wrap="square" lIns="0" tIns="0" rIns="0" bIns="0" rtlCol="0" anchor="ctr">
            <a:normAutofit/>
          </a:bodyPr>
          <a:lstStyle/>
          <a:p>
            <a:pPr marL="0" indent="0" algn="ctr">
              <a:buNone/>
            </a:pPr>
            <a:r>
              <a:rPr lang="en-US" sz="940" dirty="0">
                <a:solidFill>
                  <a:srgbClr val="26364A"/>
                </a:solidFill>
              </a:rPr>
              <a:t>Is the data current enough?</a:t>
            </a:r>
            <a:endParaRPr lang="en-US" sz="940" dirty="0"/>
          </a:p>
        </p:txBody>
      </p:sp>
      <p:sp>
        <p:nvSpPr>
          <p:cNvPr id="25" name="Shape 23"/>
          <p:cNvSpPr/>
          <p:nvPr/>
        </p:nvSpPr>
        <p:spPr>
          <a:xfrm>
            <a:off x="5212080" y="2468880"/>
            <a:ext cx="1737360" cy="1737360"/>
          </a:xfrm>
          <a:prstGeom prst="ellipse">
            <a:avLst/>
          </a:prstGeom>
          <a:solidFill>
            <a:srgbClr val="0B1F33"/>
          </a:solidFill>
          <a:ln w="12700">
            <a:solidFill>
              <a:srgbClr val="0B1F33"/>
            </a:solidFill>
            <a:prstDash val="solid"/>
          </a:ln>
        </p:spPr>
      </p:sp>
      <p:sp>
        <p:nvSpPr>
          <p:cNvPr id="26" name="Text 24"/>
          <p:cNvSpPr/>
          <p:nvPr/>
        </p:nvSpPr>
        <p:spPr>
          <a:xfrm>
            <a:off x="5321808" y="2907792"/>
            <a:ext cx="1517904" cy="68580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DATA</a:t>
            </a:r>
            <a:endParaRPr lang="en-US" sz="1700" dirty="0"/>
          </a:p>
          <a:p>
            <a:pPr marL="0" indent="0" algn="ctr">
              <a:buNone/>
            </a:pPr>
            <a:r>
              <a:rPr lang="en-US" sz="1700" b="1" dirty="0">
                <a:solidFill>
                  <a:srgbClr val="FFFFFF"/>
                </a:solidFill>
              </a:rPr>
              <a:t>QUALITY</a:t>
            </a:r>
            <a:endParaRPr lang="en-US" sz="1700" dirty="0"/>
          </a:p>
        </p:txBody>
      </p:sp>
      <p:sp>
        <p:nvSpPr>
          <p:cNvPr id="27" name="Shape 25"/>
          <p:cNvSpPr/>
          <p:nvPr/>
        </p:nvSpPr>
        <p:spPr>
          <a:xfrm>
            <a:off x="1051560" y="5724144"/>
            <a:ext cx="10104120" cy="530352"/>
          </a:xfrm>
          <a:prstGeom prst="roundRect">
            <a:avLst>
              <a:gd name="adj" fmla="val 8621"/>
            </a:avLst>
          </a:prstGeom>
          <a:solidFill>
            <a:srgbClr val="FFFFFF"/>
          </a:solidFill>
          <a:ln w="15240">
            <a:solidFill>
              <a:srgbClr val="F59E0B"/>
            </a:solidFill>
            <a:prstDash val="solid"/>
          </a:ln>
        </p:spPr>
      </p:sp>
      <p:sp>
        <p:nvSpPr>
          <p:cNvPr id="28" name="Shape 26"/>
          <p:cNvSpPr/>
          <p:nvPr/>
        </p:nvSpPr>
        <p:spPr>
          <a:xfrm>
            <a:off x="1051560" y="5724144"/>
            <a:ext cx="73152" cy="530352"/>
          </a:xfrm>
          <a:prstGeom prst="rect">
            <a:avLst/>
          </a:prstGeom>
          <a:solidFill>
            <a:srgbClr val="F59E0B"/>
          </a:solidFill>
          <a:ln w="12700">
            <a:solidFill>
              <a:srgbClr val="F59E0B"/>
            </a:solidFill>
            <a:prstDash val="solid"/>
          </a:ln>
        </p:spPr>
      </p:sp>
      <p:sp>
        <p:nvSpPr>
          <p:cNvPr id="29" name="Text 27"/>
          <p:cNvSpPr/>
          <p:nvPr/>
        </p:nvSpPr>
        <p:spPr>
          <a:xfrm>
            <a:off x="1216152" y="5833872"/>
            <a:ext cx="9848088" cy="310896"/>
          </a:xfrm>
          <a:prstGeom prst="rect">
            <a:avLst/>
          </a:prstGeom>
          <a:noFill/>
          <a:ln/>
        </p:spPr>
        <p:txBody>
          <a:bodyPr wrap="square" lIns="0" tIns="0" rIns="0" bIns="0" rtlCol="0" anchor="ctr">
            <a:normAutofit/>
          </a:bodyPr>
          <a:lstStyle/>
          <a:p>
            <a:pPr marL="0" indent="0">
              <a:buNone/>
            </a:pPr>
            <a:r>
              <a:rPr lang="en-US" sz="1150" b="1" dirty="0">
                <a:solidFill>
                  <a:srgbClr val="0B1F33"/>
                </a:solidFill>
              </a:rPr>
              <a:t>The same dataset can be “good enough” for one purpose and unacceptable for another.</a:t>
            </a:r>
            <a:endParaRPr lang="en-US" sz="1150" dirty="0"/>
          </a:p>
        </p:txBody>
      </p:sp>
      <p:sp>
        <p:nvSpPr>
          <p:cNvPr id="30"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08 · PATTERNS &amp; QUALITY</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How data quality changes the analysis</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Poor quality can create fake signals, hide real ones and bias decisions.</a:t>
            </a:r>
            <a:endParaRPr lang="en-US" sz="1300" dirty="0"/>
          </a:p>
        </p:txBody>
      </p:sp>
      <p:sp>
        <p:nvSpPr>
          <p:cNvPr id="7" name="Shape 5"/>
          <p:cNvSpPr/>
          <p:nvPr/>
        </p:nvSpPr>
        <p:spPr>
          <a:xfrm>
            <a:off x="640080" y="1389888"/>
            <a:ext cx="5257800" cy="4535424"/>
          </a:xfrm>
          <a:prstGeom prst="roundRect">
            <a:avLst>
              <a:gd name="adj" fmla="val 1008"/>
            </a:avLst>
          </a:prstGeom>
          <a:solidFill>
            <a:srgbClr val="FFFFFF"/>
          </a:solidFill>
          <a:ln w="10160">
            <a:solidFill>
              <a:srgbClr val="AEB8C5"/>
            </a:solidFill>
            <a:prstDash val="solid"/>
          </a:ln>
        </p:spPr>
      </p:sp>
      <p:sp>
        <p:nvSpPr>
          <p:cNvPr id="8" name="Shape 6"/>
          <p:cNvSpPr/>
          <p:nvPr/>
        </p:nvSpPr>
        <p:spPr>
          <a:xfrm>
            <a:off x="640080" y="1389888"/>
            <a:ext cx="5257800" cy="329184"/>
          </a:xfrm>
          <a:prstGeom prst="rect">
            <a:avLst/>
          </a:prstGeom>
          <a:solidFill>
            <a:srgbClr val="217346"/>
          </a:solidFill>
          <a:ln w="12700">
            <a:solidFill>
              <a:srgbClr val="217346"/>
            </a:solidFill>
            <a:prstDash val="solid"/>
          </a:ln>
        </p:spPr>
      </p:sp>
      <p:sp>
        <p:nvSpPr>
          <p:cNvPr id="9" name="Shape 7"/>
          <p:cNvSpPr/>
          <p:nvPr/>
        </p:nvSpPr>
        <p:spPr>
          <a:xfrm>
            <a:off x="749808" y="1435608"/>
            <a:ext cx="237744" cy="237744"/>
          </a:xfrm>
          <a:prstGeom prst="roundRect">
            <a:avLst>
              <a:gd name="adj" fmla="val 15385"/>
            </a:avLst>
          </a:prstGeom>
          <a:solidFill>
            <a:srgbClr val="217346"/>
          </a:solidFill>
          <a:ln w="12700">
            <a:solidFill>
              <a:srgbClr val="217346"/>
            </a:solidFill>
            <a:prstDash val="solid"/>
          </a:ln>
        </p:spPr>
      </p:sp>
      <p:sp>
        <p:nvSpPr>
          <p:cNvPr id="10" name="Text 8"/>
          <p:cNvSpPr/>
          <p:nvPr/>
        </p:nvSpPr>
        <p:spPr>
          <a:xfrm>
            <a:off x="749808" y="1444752"/>
            <a:ext cx="237744" cy="210312"/>
          </a:xfrm>
          <a:prstGeom prst="rect">
            <a:avLst/>
          </a:prstGeom>
          <a:noFill/>
          <a:ln/>
        </p:spPr>
        <p:txBody>
          <a:bodyPr wrap="square" lIns="0" tIns="0" rIns="0" bIns="0" rtlCol="0" anchor="ctr"/>
          <a:lstStyle/>
          <a:p>
            <a:pPr marL="0" indent="0" algn="ctr">
              <a:buNone/>
            </a:pPr>
            <a:r>
              <a:rPr lang="en-US" sz="702" b="1" dirty="0">
                <a:solidFill>
                  <a:srgbClr val="FFFFFF"/>
                </a:solidFill>
              </a:rPr>
              <a:t>X</a:t>
            </a:r>
            <a:endParaRPr lang="en-US" sz="702" dirty="0"/>
          </a:p>
        </p:txBody>
      </p:sp>
      <p:sp>
        <p:nvSpPr>
          <p:cNvPr id="11" name="Text 9"/>
          <p:cNvSpPr/>
          <p:nvPr/>
        </p:nvSpPr>
        <p:spPr>
          <a:xfrm>
            <a:off x="1060704" y="1463040"/>
            <a:ext cx="4727448" cy="182880"/>
          </a:xfrm>
          <a:prstGeom prst="rect">
            <a:avLst/>
          </a:prstGeom>
          <a:noFill/>
          <a:ln/>
        </p:spPr>
        <p:txBody>
          <a:bodyPr wrap="square" lIns="0" tIns="0" rIns="0" bIns="0" rtlCol="0" anchor="ctr"/>
          <a:lstStyle/>
          <a:p>
            <a:pPr marL="0" indent="0">
              <a:buNone/>
            </a:pPr>
            <a:r>
              <a:rPr lang="en-US" sz="950" b="1" dirty="0">
                <a:solidFill>
                  <a:srgbClr val="FFFFFF"/>
                </a:solidFill>
              </a:rPr>
              <a:t>Dirty data → distorted evidence</a:t>
            </a:r>
            <a:endParaRPr lang="en-US" sz="950" dirty="0"/>
          </a:p>
        </p:txBody>
      </p:sp>
      <p:sp>
        <p:nvSpPr>
          <p:cNvPr id="12" name="Shape 10"/>
          <p:cNvSpPr/>
          <p:nvPr/>
        </p:nvSpPr>
        <p:spPr>
          <a:xfrm>
            <a:off x="694944" y="1773936"/>
            <a:ext cx="5148072" cy="292608"/>
          </a:xfrm>
          <a:prstGeom prst="rect">
            <a:avLst/>
          </a:prstGeom>
          <a:solidFill>
            <a:srgbClr val="FAFCFD"/>
          </a:solidFill>
          <a:ln w="6350">
            <a:solidFill>
              <a:srgbClr val="D8E0EA"/>
            </a:solidFill>
            <a:prstDash val="solid"/>
          </a:ln>
        </p:spPr>
      </p:sp>
      <p:sp>
        <p:nvSpPr>
          <p:cNvPr id="13" name="Text 11"/>
          <p:cNvSpPr/>
          <p:nvPr/>
        </p:nvSpPr>
        <p:spPr>
          <a:xfrm>
            <a:off x="749808" y="1837944"/>
            <a:ext cx="219456" cy="155448"/>
          </a:xfrm>
          <a:prstGeom prst="rect">
            <a:avLst/>
          </a:prstGeom>
          <a:noFill/>
          <a:ln/>
        </p:spPr>
        <p:txBody>
          <a:bodyPr wrap="square" lIns="0" tIns="0" rIns="0" bIns="0" rtlCol="0" anchor="ctr"/>
          <a:lstStyle/>
          <a:p>
            <a:pPr marL="0" indent="0">
              <a:buNone/>
            </a:pPr>
            <a:r>
              <a:rPr lang="en-US" sz="900" i="1" dirty="0">
                <a:solidFill>
                  <a:srgbClr val="667085"/>
                </a:solidFill>
              </a:rPr>
              <a:t>fx</a:t>
            </a:r>
            <a:endParaRPr lang="en-US" sz="900" dirty="0"/>
          </a:p>
        </p:txBody>
      </p:sp>
      <p:sp>
        <p:nvSpPr>
          <p:cNvPr id="14" name="Text 12"/>
          <p:cNvSpPr/>
          <p:nvPr/>
        </p:nvSpPr>
        <p:spPr>
          <a:xfrm>
            <a:off x="1005840" y="1828800"/>
            <a:ext cx="4782312" cy="164592"/>
          </a:xfrm>
          <a:prstGeom prst="rect">
            <a:avLst/>
          </a:prstGeom>
          <a:noFill/>
          <a:ln/>
        </p:spPr>
        <p:txBody>
          <a:bodyPr wrap="square" lIns="0" tIns="0" rIns="0" bIns="0" rtlCol="0" anchor="ctr">
            <a:normAutofit/>
          </a:bodyPr>
          <a:lstStyle/>
          <a:p>
            <a:pPr marL="0" indent="0">
              <a:buNone/>
            </a:pPr>
            <a:r>
              <a:rPr lang="en-US" sz="880" dirty="0">
                <a:solidFill>
                  <a:srgbClr val="132238"/>
                </a:solidFill>
                <a:latin typeface="Aptos Mono" pitchFamily="34" charset="0"/>
                <a:ea typeface="Aptos Mono" pitchFamily="34" charset="-122"/>
                <a:cs typeface="Aptos Mono" pitchFamily="34" charset="-120"/>
              </a:rPr>
              <a:t>=COUNTBLANK(Table1[Income])</a:t>
            </a:r>
            <a:endParaRPr lang="en-US" sz="880" dirty="0"/>
          </a:p>
        </p:txBody>
      </p:sp>
      <p:sp>
        <p:nvSpPr>
          <p:cNvPr id="15" name="Shape 13"/>
          <p:cNvSpPr/>
          <p:nvPr/>
        </p:nvSpPr>
        <p:spPr>
          <a:xfrm>
            <a:off x="704088" y="2139696"/>
            <a:ext cx="1709928" cy="618744"/>
          </a:xfrm>
          <a:prstGeom prst="rect">
            <a:avLst/>
          </a:prstGeom>
          <a:solidFill>
            <a:srgbClr val="E8F3EC"/>
          </a:solidFill>
          <a:ln w="5715">
            <a:solidFill>
              <a:srgbClr val="D8E0EA"/>
            </a:solidFill>
            <a:prstDash val="solid"/>
          </a:ln>
        </p:spPr>
      </p:sp>
      <p:sp>
        <p:nvSpPr>
          <p:cNvPr id="16" name="Text 14"/>
          <p:cNvSpPr/>
          <p:nvPr/>
        </p:nvSpPr>
        <p:spPr>
          <a:xfrm>
            <a:off x="722376" y="2167128"/>
            <a:ext cx="1673352" cy="582168"/>
          </a:xfrm>
          <a:prstGeom prst="rect">
            <a:avLst/>
          </a:prstGeom>
          <a:noFill/>
          <a:ln/>
        </p:spPr>
        <p:txBody>
          <a:bodyPr wrap="square" lIns="0" tIns="0" rIns="0" bIns="0" rtlCol="0" anchor="ctr">
            <a:normAutofit/>
          </a:bodyPr>
          <a:lstStyle/>
          <a:p>
            <a:pPr marL="0" indent="0">
              <a:buNone/>
            </a:pPr>
            <a:r>
              <a:rPr lang="en-US" sz="810" b="1" dirty="0">
                <a:solidFill>
                  <a:srgbClr val="0B1F33"/>
                </a:solidFill>
              </a:rPr>
              <a:t>Issue</a:t>
            </a:r>
            <a:endParaRPr lang="en-US" sz="810" dirty="0"/>
          </a:p>
        </p:txBody>
      </p:sp>
      <p:sp>
        <p:nvSpPr>
          <p:cNvPr id="17" name="Shape 15"/>
          <p:cNvSpPr/>
          <p:nvPr/>
        </p:nvSpPr>
        <p:spPr>
          <a:xfrm>
            <a:off x="2414016" y="2139696"/>
            <a:ext cx="1709928" cy="618744"/>
          </a:xfrm>
          <a:prstGeom prst="rect">
            <a:avLst/>
          </a:prstGeom>
          <a:solidFill>
            <a:srgbClr val="E8F3EC"/>
          </a:solidFill>
          <a:ln w="5715">
            <a:solidFill>
              <a:srgbClr val="D8E0EA"/>
            </a:solidFill>
            <a:prstDash val="solid"/>
          </a:ln>
        </p:spPr>
      </p:sp>
      <p:sp>
        <p:nvSpPr>
          <p:cNvPr id="18" name="Text 16"/>
          <p:cNvSpPr/>
          <p:nvPr/>
        </p:nvSpPr>
        <p:spPr>
          <a:xfrm>
            <a:off x="2432304" y="2167128"/>
            <a:ext cx="1673352" cy="582168"/>
          </a:xfrm>
          <a:prstGeom prst="rect">
            <a:avLst/>
          </a:prstGeom>
          <a:noFill/>
          <a:ln/>
        </p:spPr>
        <p:txBody>
          <a:bodyPr wrap="square" lIns="0" tIns="0" rIns="0" bIns="0" rtlCol="0" anchor="ctr">
            <a:normAutofit/>
          </a:bodyPr>
          <a:lstStyle/>
          <a:p>
            <a:pPr marL="0" indent="0">
              <a:buNone/>
            </a:pPr>
            <a:r>
              <a:rPr lang="en-US" sz="810" b="1" dirty="0">
                <a:solidFill>
                  <a:srgbClr val="0B1F33"/>
                </a:solidFill>
              </a:rPr>
              <a:t>Example</a:t>
            </a:r>
            <a:endParaRPr lang="en-US" sz="810" dirty="0"/>
          </a:p>
        </p:txBody>
      </p:sp>
      <p:sp>
        <p:nvSpPr>
          <p:cNvPr id="19" name="Shape 17"/>
          <p:cNvSpPr/>
          <p:nvPr/>
        </p:nvSpPr>
        <p:spPr>
          <a:xfrm>
            <a:off x="4123944" y="2139696"/>
            <a:ext cx="1709928" cy="618744"/>
          </a:xfrm>
          <a:prstGeom prst="rect">
            <a:avLst/>
          </a:prstGeom>
          <a:solidFill>
            <a:srgbClr val="E8F3EC"/>
          </a:solidFill>
          <a:ln w="5715">
            <a:solidFill>
              <a:srgbClr val="D8E0EA"/>
            </a:solidFill>
            <a:prstDash val="solid"/>
          </a:ln>
        </p:spPr>
      </p:sp>
      <p:sp>
        <p:nvSpPr>
          <p:cNvPr id="20" name="Text 18"/>
          <p:cNvSpPr/>
          <p:nvPr/>
        </p:nvSpPr>
        <p:spPr>
          <a:xfrm>
            <a:off x="4142232" y="2167128"/>
            <a:ext cx="1673352" cy="582168"/>
          </a:xfrm>
          <a:prstGeom prst="rect">
            <a:avLst/>
          </a:prstGeom>
          <a:noFill/>
          <a:ln/>
        </p:spPr>
        <p:txBody>
          <a:bodyPr wrap="square" lIns="0" tIns="0" rIns="0" bIns="0" rtlCol="0" anchor="ctr">
            <a:normAutofit/>
          </a:bodyPr>
          <a:lstStyle/>
          <a:p>
            <a:pPr marL="0" indent="0">
              <a:buNone/>
            </a:pPr>
            <a:r>
              <a:rPr lang="en-US" sz="810" b="1" dirty="0">
                <a:solidFill>
                  <a:srgbClr val="0B1F33"/>
                </a:solidFill>
              </a:rPr>
              <a:t>Analytical effect</a:t>
            </a:r>
            <a:endParaRPr lang="en-US" sz="810" dirty="0"/>
          </a:p>
        </p:txBody>
      </p:sp>
      <p:sp>
        <p:nvSpPr>
          <p:cNvPr id="21" name="Shape 19"/>
          <p:cNvSpPr/>
          <p:nvPr/>
        </p:nvSpPr>
        <p:spPr>
          <a:xfrm>
            <a:off x="704088" y="2758440"/>
            <a:ext cx="1709928" cy="618744"/>
          </a:xfrm>
          <a:prstGeom prst="rect">
            <a:avLst/>
          </a:prstGeom>
          <a:solidFill>
            <a:srgbClr val="FFFFFF"/>
          </a:solidFill>
          <a:ln w="5715">
            <a:solidFill>
              <a:srgbClr val="D8E0EA"/>
            </a:solidFill>
            <a:prstDash val="solid"/>
          </a:ln>
        </p:spPr>
      </p:sp>
      <p:sp>
        <p:nvSpPr>
          <p:cNvPr id="22" name="Text 20"/>
          <p:cNvSpPr/>
          <p:nvPr/>
        </p:nvSpPr>
        <p:spPr>
          <a:xfrm>
            <a:off x="722376" y="2785872"/>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Missing</a:t>
            </a:r>
            <a:endParaRPr lang="en-US" sz="780" dirty="0"/>
          </a:p>
        </p:txBody>
      </p:sp>
      <p:sp>
        <p:nvSpPr>
          <p:cNvPr id="23" name="Shape 21"/>
          <p:cNvSpPr/>
          <p:nvPr/>
        </p:nvSpPr>
        <p:spPr>
          <a:xfrm>
            <a:off x="2414016" y="2758440"/>
            <a:ext cx="1709928" cy="618744"/>
          </a:xfrm>
          <a:prstGeom prst="rect">
            <a:avLst/>
          </a:prstGeom>
          <a:solidFill>
            <a:srgbClr val="FFFFFF"/>
          </a:solidFill>
          <a:ln w="5715">
            <a:solidFill>
              <a:srgbClr val="D8E0EA"/>
            </a:solidFill>
            <a:prstDash val="solid"/>
          </a:ln>
        </p:spPr>
      </p:sp>
      <p:sp>
        <p:nvSpPr>
          <p:cNvPr id="24" name="Text 22"/>
          <p:cNvSpPr/>
          <p:nvPr/>
        </p:nvSpPr>
        <p:spPr>
          <a:xfrm>
            <a:off x="2432304" y="2785872"/>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Income absent for some segments</a:t>
            </a:r>
            <a:endParaRPr lang="en-US" sz="780" dirty="0"/>
          </a:p>
        </p:txBody>
      </p:sp>
      <p:sp>
        <p:nvSpPr>
          <p:cNvPr id="25" name="Shape 23"/>
          <p:cNvSpPr/>
          <p:nvPr/>
        </p:nvSpPr>
        <p:spPr>
          <a:xfrm>
            <a:off x="4123944" y="2758440"/>
            <a:ext cx="1709928" cy="618744"/>
          </a:xfrm>
          <a:prstGeom prst="rect">
            <a:avLst/>
          </a:prstGeom>
          <a:solidFill>
            <a:srgbClr val="FFFFFF"/>
          </a:solidFill>
          <a:ln w="5715">
            <a:solidFill>
              <a:srgbClr val="D8E0EA"/>
            </a:solidFill>
            <a:prstDash val="solid"/>
          </a:ln>
        </p:spPr>
      </p:sp>
      <p:sp>
        <p:nvSpPr>
          <p:cNvPr id="26" name="Text 24"/>
          <p:cNvSpPr/>
          <p:nvPr/>
        </p:nvSpPr>
        <p:spPr>
          <a:xfrm>
            <a:off x="4142232" y="2785872"/>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Biased averages</a:t>
            </a:r>
            <a:endParaRPr lang="en-US" sz="780" dirty="0"/>
          </a:p>
        </p:txBody>
      </p:sp>
      <p:sp>
        <p:nvSpPr>
          <p:cNvPr id="27" name="Shape 25"/>
          <p:cNvSpPr/>
          <p:nvPr/>
        </p:nvSpPr>
        <p:spPr>
          <a:xfrm>
            <a:off x="704088" y="3377184"/>
            <a:ext cx="1709928" cy="618744"/>
          </a:xfrm>
          <a:prstGeom prst="rect">
            <a:avLst/>
          </a:prstGeom>
          <a:solidFill>
            <a:srgbClr val="FFFFFF"/>
          </a:solidFill>
          <a:ln w="5715">
            <a:solidFill>
              <a:srgbClr val="D8E0EA"/>
            </a:solidFill>
            <a:prstDash val="solid"/>
          </a:ln>
        </p:spPr>
      </p:sp>
      <p:sp>
        <p:nvSpPr>
          <p:cNvPr id="28" name="Text 26"/>
          <p:cNvSpPr/>
          <p:nvPr/>
        </p:nvSpPr>
        <p:spPr>
          <a:xfrm>
            <a:off x="722376" y="3404616"/>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Wrong type</a:t>
            </a:r>
            <a:endParaRPr lang="en-US" sz="780" dirty="0"/>
          </a:p>
        </p:txBody>
      </p:sp>
      <p:sp>
        <p:nvSpPr>
          <p:cNvPr id="29" name="Shape 27"/>
          <p:cNvSpPr/>
          <p:nvPr/>
        </p:nvSpPr>
        <p:spPr>
          <a:xfrm>
            <a:off x="2414016" y="3377184"/>
            <a:ext cx="1709928" cy="618744"/>
          </a:xfrm>
          <a:prstGeom prst="rect">
            <a:avLst/>
          </a:prstGeom>
          <a:solidFill>
            <a:srgbClr val="FFFFFF"/>
          </a:solidFill>
          <a:ln w="5715">
            <a:solidFill>
              <a:srgbClr val="D8E0EA"/>
            </a:solidFill>
            <a:prstDash val="solid"/>
          </a:ln>
        </p:spPr>
      </p:sp>
      <p:sp>
        <p:nvSpPr>
          <p:cNvPr id="30" name="Text 28"/>
          <p:cNvSpPr/>
          <p:nvPr/>
        </p:nvSpPr>
        <p:spPr>
          <a:xfrm>
            <a:off x="2432304" y="3404616"/>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Amounts imported as text</a:t>
            </a:r>
            <a:endParaRPr lang="en-US" sz="780" dirty="0"/>
          </a:p>
        </p:txBody>
      </p:sp>
      <p:sp>
        <p:nvSpPr>
          <p:cNvPr id="31" name="Shape 29"/>
          <p:cNvSpPr/>
          <p:nvPr/>
        </p:nvSpPr>
        <p:spPr>
          <a:xfrm>
            <a:off x="4123944" y="3377184"/>
            <a:ext cx="1709928" cy="618744"/>
          </a:xfrm>
          <a:prstGeom prst="rect">
            <a:avLst/>
          </a:prstGeom>
          <a:solidFill>
            <a:srgbClr val="FFFFFF"/>
          </a:solidFill>
          <a:ln w="5715">
            <a:solidFill>
              <a:srgbClr val="D8E0EA"/>
            </a:solidFill>
            <a:prstDash val="solid"/>
          </a:ln>
        </p:spPr>
      </p:sp>
      <p:sp>
        <p:nvSpPr>
          <p:cNvPr id="32" name="Text 30"/>
          <p:cNvSpPr/>
          <p:nvPr/>
        </p:nvSpPr>
        <p:spPr>
          <a:xfrm>
            <a:off x="4142232" y="3404616"/>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Rows silently excluded</a:t>
            </a:r>
            <a:endParaRPr lang="en-US" sz="780" dirty="0"/>
          </a:p>
        </p:txBody>
      </p:sp>
      <p:sp>
        <p:nvSpPr>
          <p:cNvPr id="33" name="Shape 31"/>
          <p:cNvSpPr/>
          <p:nvPr/>
        </p:nvSpPr>
        <p:spPr>
          <a:xfrm>
            <a:off x="704088" y="3995928"/>
            <a:ext cx="1709928" cy="618744"/>
          </a:xfrm>
          <a:prstGeom prst="rect">
            <a:avLst/>
          </a:prstGeom>
          <a:solidFill>
            <a:srgbClr val="FFFFFF"/>
          </a:solidFill>
          <a:ln w="5715">
            <a:solidFill>
              <a:srgbClr val="D8E0EA"/>
            </a:solidFill>
            <a:prstDash val="solid"/>
          </a:ln>
        </p:spPr>
      </p:sp>
      <p:sp>
        <p:nvSpPr>
          <p:cNvPr id="34" name="Text 32"/>
          <p:cNvSpPr/>
          <p:nvPr/>
        </p:nvSpPr>
        <p:spPr>
          <a:xfrm>
            <a:off x="722376" y="4023360"/>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Duplicate</a:t>
            </a:r>
            <a:endParaRPr lang="en-US" sz="780" dirty="0"/>
          </a:p>
        </p:txBody>
      </p:sp>
      <p:sp>
        <p:nvSpPr>
          <p:cNvPr id="35" name="Shape 33"/>
          <p:cNvSpPr/>
          <p:nvPr/>
        </p:nvSpPr>
        <p:spPr>
          <a:xfrm>
            <a:off x="2414016" y="3995928"/>
            <a:ext cx="1709928" cy="618744"/>
          </a:xfrm>
          <a:prstGeom prst="rect">
            <a:avLst/>
          </a:prstGeom>
          <a:solidFill>
            <a:srgbClr val="FFFFFF"/>
          </a:solidFill>
          <a:ln w="5715">
            <a:solidFill>
              <a:srgbClr val="D8E0EA"/>
            </a:solidFill>
            <a:prstDash val="solid"/>
          </a:ln>
        </p:spPr>
      </p:sp>
      <p:sp>
        <p:nvSpPr>
          <p:cNvPr id="36" name="Text 34"/>
          <p:cNvSpPr/>
          <p:nvPr/>
        </p:nvSpPr>
        <p:spPr>
          <a:xfrm>
            <a:off x="2432304" y="4023360"/>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Customer repeated twice</a:t>
            </a:r>
            <a:endParaRPr lang="en-US" sz="780" dirty="0"/>
          </a:p>
        </p:txBody>
      </p:sp>
      <p:sp>
        <p:nvSpPr>
          <p:cNvPr id="37" name="Shape 35"/>
          <p:cNvSpPr/>
          <p:nvPr/>
        </p:nvSpPr>
        <p:spPr>
          <a:xfrm>
            <a:off x="4123944" y="3995928"/>
            <a:ext cx="1709928" cy="618744"/>
          </a:xfrm>
          <a:prstGeom prst="rect">
            <a:avLst/>
          </a:prstGeom>
          <a:solidFill>
            <a:srgbClr val="FFFFFF"/>
          </a:solidFill>
          <a:ln w="5715">
            <a:solidFill>
              <a:srgbClr val="D8E0EA"/>
            </a:solidFill>
            <a:prstDash val="solid"/>
          </a:ln>
        </p:spPr>
      </p:sp>
      <p:sp>
        <p:nvSpPr>
          <p:cNvPr id="38" name="Text 36"/>
          <p:cNvSpPr/>
          <p:nvPr/>
        </p:nvSpPr>
        <p:spPr>
          <a:xfrm>
            <a:off x="4142232" y="4023360"/>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Inflated counts / balances</a:t>
            </a:r>
            <a:endParaRPr lang="en-US" sz="780" dirty="0"/>
          </a:p>
        </p:txBody>
      </p:sp>
      <p:sp>
        <p:nvSpPr>
          <p:cNvPr id="39" name="Shape 37"/>
          <p:cNvSpPr/>
          <p:nvPr/>
        </p:nvSpPr>
        <p:spPr>
          <a:xfrm>
            <a:off x="704088" y="4614672"/>
            <a:ext cx="1709928" cy="618744"/>
          </a:xfrm>
          <a:prstGeom prst="rect">
            <a:avLst/>
          </a:prstGeom>
          <a:solidFill>
            <a:srgbClr val="FFFFFF"/>
          </a:solidFill>
          <a:ln w="5715">
            <a:solidFill>
              <a:srgbClr val="D8E0EA"/>
            </a:solidFill>
            <a:prstDash val="solid"/>
          </a:ln>
        </p:spPr>
      </p:sp>
      <p:sp>
        <p:nvSpPr>
          <p:cNvPr id="40" name="Text 38"/>
          <p:cNvSpPr/>
          <p:nvPr/>
        </p:nvSpPr>
        <p:spPr>
          <a:xfrm>
            <a:off x="722376" y="4642104"/>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Outlier error</a:t>
            </a:r>
            <a:endParaRPr lang="en-US" sz="780" dirty="0"/>
          </a:p>
        </p:txBody>
      </p:sp>
      <p:sp>
        <p:nvSpPr>
          <p:cNvPr id="41" name="Shape 39"/>
          <p:cNvSpPr/>
          <p:nvPr/>
        </p:nvSpPr>
        <p:spPr>
          <a:xfrm>
            <a:off x="2414016" y="4614672"/>
            <a:ext cx="1709928" cy="618744"/>
          </a:xfrm>
          <a:prstGeom prst="rect">
            <a:avLst/>
          </a:prstGeom>
          <a:solidFill>
            <a:srgbClr val="FFFFFF"/>
          </a:solidFill>
          <a:ln w="5715">
            <a:solidFill>
              <a:srgbClr val="D8E0EA"/>
            </a:solidFill>
            <a:prstDash val="solid"/>
          </a:ln>
        </p:spPr>
      </p:sp>
      <p:sp>
        <p:nvSpPr>
          <p:cNvPr id="42" name="Text 40"/>
          <p:cNvSpPr/>
          <p:nvPr/>
        </p:nvSpPr>
        <p:spPr>
          <a:xfrm>
            <a:off x="2432304" y="4642104"/>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Balance ×1000</a:t>
            </a:r>
            <a:endParaRPr lang="en-US" sz="780" dirty="0"/>
          </a:p>
        </p:txBody>
      </p:sp>
      <p:sp>
        <p:nvSpPr>
          <p:cNvPr id="43" name="Shape 41"/>
          <p:cNvSpPr/>
          <p:nvPr/>
        </p:nvSpPr>
        <p:spPr>
          <a:xfrm>
            <a:off x="4123944" y="4614672"/>
            <a:ext cx="1709928" cy="618744"/>
          </a:xfrm>
          <a:prstGeom prst="rect">
            <a:avLst/>
          </a:prstGeom>
          <a:solidFill>
            <a:srgbClr val="FFFFFF"/>
          </a:solidFill>
          <a:ln w="5715">
            <a:solidFill>
              <a:srgbClr val="D8E0EA"/>
            </a:solidFill>
            <a:prstDash val="solid"/>
          </a:ln>
        </p:spPr>
      </p:sp>
      <p:sp>
        <p:nvSpPr>
          <p:cNvPr id="44" name="Text 42"/>
          <p:cNvSpPr/>
          <p:nvPr/>
        </p:nvSpPr>
        <p:spPr>
          <a:xfrm>
            <a:off x="4142232" y="4642104"/>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Mean &amp; correlation distorted</a:t>
            </a:r>
            <a:endParaRPr lang="en-US" sz="780" dirty="0"/>
          </a:p>
        </p:txBody>
      </p:sp>
      <p:sp>
        <p:nvSpPr>
          <p:cNvPr id="45" name="Shape 43"/>
          <p:cNvSpPr/>
          <p:nvPr/>
        </p:nvSpPr>
        <p:spPr>
          <a:xfrm>
            <a:off x="704088" y="5233416"/>
            <a:ext cx="1709928" cy="618744"/>
          </a:xfrm>
          <a:prstGeom prst="rect">
            <a:avLst/>
          </a:prstGeom>
          <a:solidFill>
            <a:srgbClr val="FFFFFF"/>
          </a:solidFill>
          <a:ln w="5715">
            <a:solidFill>
              <a:srgbClr val="D8E0EA"/>
            </a:solidFill>
            <a:prstDash val="solid"/>
          </a:ln>
        </p:spPr>
      </p:sp>
      <p:sp>
        <p:nvSpPr>
          <p:cNvPr id="46" name="Text 44"/>
          <p:cNvSpPr/>
          <p:nvPr/>
        </p:nvSpPr>
        <p:spPr>
          <a:xfrm>
            <a:off x="722376" y="5260848"/>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Stale data</a:t>
            </a:r>
            <a:endParaRPr lang="en-US" sz="780" dirty="0"/>
          </a:p>
        </p:txBody>
      </p:sp>
      <p:sp>
        <p:nvSpPr>
          <p:cNvPr id="47" name="Shape 45"/>
          <p:cNvSpPr/>
          <p:nvPr/>
        </p:nvSpPr>
        <p:spPr>
          <a:xfrm>
            <a:off x="2414016" y="5233416"/>
            <a:ext cx="1709928" cy="618744"/>
          </a:xfrm>
          <a:prstGeom prst="rect">
            <a:avLst/>
          </a:prstGeom>
          <a:solidFill>
            <a:srgbClr val="FFFFFF"/>
          </a:solidFill>
          <a:ln w="5715">
            <a:solidFill>
              <a:srgbClr val="D8E0EA"/>
            </a:solidFill>
            <a:prstDash val="solid"/>
          </a:ln>
        </p:spPr>
      </p:sp>
      <p:sp>
        <p:nvSpPr>
          <p:cNvPr id="48" name="Text 46"/>
          <p:cNvSpPr/>
          <p:nvPr/>
        </p:nvSpPr>
        <p:spPr>
          <a:xfrm>
            <a:off x="2432304" y="5260848"/>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Old risk grade</a:t>
            </a:r>
            <a:endParaRPr lang="en-US" sz="780" dirty="0"/>
          </a:p>
        </p:txBody>
      </p:sp>
      <p:sp>
        <p:nvSpPr>
          <p:cNvPr id="49" name="Shape 47"/>
          <p:cNvSpPr/>
          <p:nvPr/>
        </p:nvSpPr>
        <p:spPr>
          <a:xfrm>
            <a:off x="4123944" y="5233416"/>
            <a:ext cx="1709928" cy="618744"/>
          </a:xfrm>
          <a:prstGeom prst="rect">
            <a:avLst/>
          </a:prstGeom>
          <a:solidFill>
            <a:srgbClr val="FFFFFF"/>
          </a:solidFill>
          <a:ln w="5715">
            <a:solidFill>
              <a:srgbClr val="D8E0EA"/>
            </a:solidFill>
            <a:prstDash val="solid"/>
          </a:ln>
        </p:spPr>
      </p:sp>
      <p:sp>
        <p:nvSpPr>
          <p:cNvPr id="50" name="Text 48"/>
          <p:cNvSpPr/>
          <p:nvPr/>
        </p:nvSpPr>
        <p:spPr>
          <a:xfrm>
            <a:off x="4142232" y="5260848"/>
            <a:ext cx="1673352" cy="582168"/>
          </a:xfrm>
          <a:prstGeom prst="rect">
            <a:avLst/>
          </a:prstGeom>
          <a:noFill/>
          <a:ln/>
        </p:spPr>
        <p:txBody>
          <a:bodyPr wrap="square" lIns="0" tIns="0" rIns="0" bIns="0" rtlCol="0" anchor="ctr">
            <a:normAutofit/>
          </a:bodyPr>
          <a:lstStyle/>
          <a:p>
            <a:pPr marL="0" indent="0">
              <a:buNone/>
            </a:pPr>
            <a:r>
              <a:rPr lang="en-US" sz="780" dirty="0">
                <a:solidFill>
                  <a:srgbClr val="26364A"/>
                </a:solidFill>
              </a:rPr>
              <a:t>Wrong segmentation</a:t>
            </a:r>
            <a:endParaRPr lang="en-US" sz="780" dirty="0"/>
          </a:p>
        </p:txBody>
      </p:sp>
      <p:sp>
        <p:nvSpPr>
          <p:cNvPr id="51" name="Shape 49"/>
          <p:cNvSpPr/>
          <p:nvPr/>
        </p:nvSpPr>
        <p:spPr>
          <a:xfrm>
            <a:off x="6153912" y="2743200"/>
            <a:ext cx="475488" cy="914400"/>
          </a:xfrm>
          <a:prstGeom prst="chevron">
            <a:avLst/>
          </a:prstGeom>
          <a:solidFill>
            <a:srgbClr val="AEB8C5"/>
          </a:solidFill>
          <a:ln w="12700">
            <a:solidFill>
              <a:srgbClr val="AEB8C5"/>
            </a:solidFill>
            <a:prstDash val="solid"/>
          </a:ln>
        </p:spPr>
      </p:sp>
      <p:sp>
        <p:nvSpPr>
          <p:cNvPr id="52" name="Shape 50"/>
          <p:cNvSpPr/>
          <p:nvPr/>
        </p:nvSpPr>
        <p:spPr>
          <a:xfrm>
            <a:off x="6903720" y="1499616"/>
            <a:ext cx="4169664" cy="987552"/>
          </a:xfrm>
          <a:prstGeom prst="roundRect">
            <a:avLst>
              <a:gd name="adj" fmla="val 7407"/>
            </a:avLst>
          </a:prstGeom>
          <a:solidFill>
            <a:srgbClr val="FDECEC"/>
          </a:solidFill>
          <a:ln w="10160">
            <a:solidFill>
              <a:srgbClr val="E9EEF5"/>
            </a:solidFill>
            <a:prstDash val="solid"/>
          </a:ln>
        </p:spPr>
      </p:sp>
      <p:sp>
        <p:nvSpPr>
          <p:cNvPr id="53" name="Text 51"/>
          <p:cNvSpPr/>
          <p:nvPr/>
        </p:nvSpPr>
        <p:spPr>
          <a:xfrm>
            <a:off x="7068312" y="1636776"/>
            <a:ext cx="3840480"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Wrong descriptive statistics</a:t>
            </a:r>
            <a:endParaRPr lang="en-US" sz="1500" dirty="0"/>
          </a:p>
        </p:txBody>
      </p:sp>
      <p:sp>
        <p:nvSpPr>
          <p:cNvPr id="54" name="Text 52"/>
          <p:cNvSpPr/>
          <p:nvPr/>
        </p:nvSpPr>
        <p:spPr>
          <a:xfrm>
            <a:off x="7068312" y="1975104"/>
            <a:ext cx="3840480"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Mean, rate, dispersion and counts become misleading.</a:t>
            </a:r>
            <a:endParaRPr lang="en-US" sz="1150" dirty="0"/>
          </a:p>
        </p:txBody>
      </p:sp>
      <p:sp>
        <p:nvSpPr>
          <p:cNvPr id="55" name="Shape 53"/>
          <p:cNvSpPr/>
          <p:nvPr/>
        </p:nvSpPr>
        <p:spPr>
          <a:xfrm>
            <a:off x="6903720" y="2679192"/>
            <a:ext cx="4169664" cy="987552"/>
          </a:xfrm>
          <a:prstGeom prst="roundRect">
            <a:avLst>
              <a:gd name="adj" fmla="val 7407"/>
            </a:avLst>
          </a:prstGeom>
          <a:solidFill>
            <a:srgbClr val="FFF4E2"/>
          </a:solidFill>
          <a:ln w="10160">
            <a:solidFill>
              <a:srgbClr val="E9EEF5"/>
            </a:solidFill>
            <a:prstDash val="solid"/>
          </a:ln>
        </p:spPr>
      </p:sp>
      <p:sp>
        <p:nvSpPr>
          <p:cNvPr id="56" name="Text 54"/>
          <p:cNvSpPr/>
          <p:nvPr/>
        </p:nvSpPr>
        <p:spPr>
          <a:xfrm>
            <a:off x="7068312" y="2816352"/>
            <a:ext cx="3840480"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Wrong relationships</a:t>
            </a:r>
            <a:endParaRPr lang="en-US" sz="1500" dirty="0"/>
          </a:p>
        </p:txBody>
      </p:sp>
      <p:sp>
        <p:nvSpPr>
          <p:cNvPr id="57" name="Text 55"/>
          <p:cNvSpPr/>
          <p:nvPr/>
        </p:nvSpPr>
        <p:spPr>
          <a:xfrm>
            <a:off x="7068312" y="3154680"/>
            <a:ext cx="3840480"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Spurious or suppressed correlations and segment differences.</a:t>
            </a:r>
            <a:endParaRPr lang="en-US" sz="1150" dirty="0"/>
          </a:p>
        </p:txBody>
      </p:sp>
      <p:sp>
        <p:nvSpPr>
          <p:cNvPr id="58" name="Shape 56"/>
          <p:cNvSpPr/>
          <p:nvPr/>
        </p:nvSpPr>
        <p:spPr>
          <a:xfrm>
            <a:off x="6903720" y="3858768"/>
            <a:ext cx="4169664" cy="987552"/>
          </a:xfrm>
          <a:prstGeom prst="roundRect">
            <a:avLst>
              <a:gd name="adj" fmla="val 7407"/>
            </a:avLst>
          </a:prstGeom>
          <a:solidFill>
            <a:srgbClr val="F1EDFF"/>
          </a:solidFill>
          <a:ln w="10160">
            <a:solidFill>
              <a:srgbClr val="E9EEF5"/>
            </a:solidFill>
            <a:prstDash val="solid"/>
          </a:ln>
        </p:spPr>
      </p:sp>
      <p:sp>
        <p:nvSpPr>
          <p:cNvPr id="59" name="Text 57"/>
          <p:cNvSpPr/>
          <p:nvPr/>
        </p:nvSpPr>
        <p:spPr>
          <a:xfrm>
            <a:off x="7068312" y="3995928"/>
            <a:ext cx="3840480" cy="274320"/>
          </a:xfrm>
          <a:prstGeom prst="rect">
            <a:avLst/>
          </a:prstGeom>
          <a:noFill/>
          <a:ln/>
        </p:spPr>
        <p:txBody>
          <a:bodyPr wrap="square" lIns="0" tIns="0" rIns="0" bIns="0" rtlCol="0" anchor="ctr">
            <a:normAutofit/>
          </a:bodyPr>
          <a:lstStyle/>
          <a:p>
            <a:pPr marL="0" indent="0">
              <a:buNone/>
            </a:pPr>
            <a:r>
              <a:rPr lang="en-US" sz="1500" b="1" dirty="0">
                <a:solidFill>
                  <a:srgbClr val="0B1F33"/>
                </a:solidFill>
              </a:rPr>
              <a:t>Wrong decisions</a:t>
            </a:r>
            <a:endParaRPr lang="en-US" sz="1500" dirty="0"/>
          </a:p>
        </p:txBody>
      </p:sp>
      <p:sp>
        <p:nvSpPr>
          <p:cNvPr id="60" name="Text 58"/>
          <p:cNvSpPr/>
          <p:nvPr/>
        </p:nvSpPr>
        <p:spPr>
          <a:xfrm>
            <a:off x="7068312" y="4334256"/>
            <a:ext cx="3840480" cy="384048"/>
          </a:xfrm>
          <a:prstGeom prst="rect">
            <a:avLst/>
          </a:prstGeom>
          <a:noFill/>
          <a:ln/>
        </p:spPr>
        <p:txBody>
          <a:bodyPr wrap="square" lIns="381" tIns="381" rIns="381" bIns="381" rtlCol="0" anchor="ctr">
            <a:normAutofit/>
          </a:bodyPr>
          <a:lstStyle/>
          <a:p>
            <a:pPr marL="0" indent="0">
              <a:buNone/>
            </a:pPr>
            <a:r>
              <a:rPr lang="en-US" sz="1150" dirty="0">
                <a:solidFill>
                  <a:srgbClr val="26364A"/>
                </a:solidFill>
              </a:rPr>
              <a:t>Mis-prioritised customers, risk, operations or controls.</a:t>
            </a:r>
            <a:endParaRPr lang="en-US" sz="1150" dirty="0"/>
          </a:p>
        </p:txBody>
      </p:sp>
      <p:sp>
        <p:nvSpPr>
          <p:cNvPr id="61" name="Shape 59"/>
          <p:cNvSpPr/>
          <p:nvPr/>
        </p:nvSpPr>
        <p:spPr>
          <a:xfrm>
            <a:off x="6912864" y="5212080"/>
            <a:ext cx="4160520" cy="420624"/>
          </a:xfrm>
          <a:prstGeom prst="roundRect">
            <a:avLst>
              <a:gd name="adj" fmla="val 10870"/>
            </a:avLst>
          </a:prstGeom>
          <a:solidFill>
            <a:srgbClr val="F8FBF9"/>
          </a:solidFill>
          <a:ln w="12700">
            <a:solidFill>
              <a:srgbClr val="D94F4F"/>
            </a:solidFill>
            <a:prstDash val="solid"/>
          </a:ln>
        </p:spPr>
      </p:sp>
      <p:sp>
        <p:nvSpPr>
          <p:cNvPr id="62" name="Text 60"/>
          <p:cNvSpPr/>
          <p:nvPr/>
        </p:nvSpPr>
        <p:spPr>
          <a:xfrm>
            <a:off x="7022592" y="5294376"/>
            <a:ext cx="3941064" cy="219456"/>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132238"/>
                </a:solidFill>
                <a:latin typeface="Aptos Mono" pitchFamily="34" charset="0"/>
                <a:ea typeface="Aptos Mono" pitchFamily="34" charset="-122"/>
                <a:cs typeface="Aptos Mono" pitchFamily="34" charset="-120"/>
              </a:rPr>
              <a:t>Data quality is part of the model — not a preprocessing footnote.</a:t>
            </a:r>
            <a:endParaRPr lang="en-US" sz="1050" dirty="0"/>
          </a:p>
        </p:txBody>
      </p:sp>
      <p:sp>
        <p:nvSpPr>
          <p:cNvPr id="63"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320040"/>
            <a:ext cx="2743200" cy="219456"/>
          </a:xfrm>
          <a:prstGeom prst="rect">
            <a:avLst/>
          </a:prstGeom>
          <a:noFill/>
          <a:ln/>
        </p:spPr>
        <p:txBody>
          <a:bodyPr wrap="square" lIns="0" tIns="0" rIns="0" bIns="0" rtlCol="0" anchor="ctr"/>
          <a:lstStyle/>
          <a:p>
            <a:pPr marL="0" indent="0">
              <a:buNone/>
            </a:pPr>
            <a:r>
              <a:rPr lang="en-US" sz="950" b="1" kern="0" spc="140" dirty="0">
                <a:solidFill>
                  <a:srgbClr val="009E9A"/>
                </a:solidFill>
              </a:rPr>
              <a:t>09 · TAKEAWAYS</a:t>
            </a:r>
            <a:endParaRPr lang="en-US" sz="950" dirty="0"/>
          </a:p>
        </p:txBody>
      </p:sp>
      <p:sp>
        <p:nvSpPr>
          <p:cNvPr id="3" name="Text 1"/>
          <p:cNvSpPr/>
          <p:nvPr/>
        </p:nvSpPr>
        <p:spPr>
          <a:xfrm>
            <a:off x="566928" y="557784"/>
            <a:ext cx="1088136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Excel EDA checklist: from raw table to trustworthy insight</a:t>
            </a:r>
            <a:endParaRPr lang="en-US" sz="2600" dirty="0"/>
          </a:p>
        </p:txBody>
      </p:sp>
      <p:sp>
        <p:nvSpPr>
          <p:cNvPr id="4" name="Shape 2"/>
          <p:cNvSpPr/>
          <p:nvPr/>
        </p:nvSpPr>
        <p:spPr>
          <a:xfrm>
            <a:off x="502920" y="6400800"/>
            <a:ext cx="11155680" cy="0"/>
          </a:xfrm>
          <a:prstGeom prst="line">
            <a:avLst/>
          </a:prstGeom>
          <a:noFill/>
          <a:ln w="8890">
            <a:solidFill>
              <a:srgbClr val="D8E0EA"/>
            </a:solidFill>
            <a:prstDash val="solid"/>
          </a:ln>
        </p:spPr>
      </p:sp>
      <p:sp>
        <p:nvSpPr>
          <p:cNvPr id="5" name="Text 3"/>
          <p:cNvSpPr/>
          <p:nvPr/>
        </p:nvSpPr>
        <p:spPr>
          <a:xfrm>
            <a:off x="530352" y="6446520"/>
            <a:ext cx="4114800" cy="164592"/>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Data Science with Excel · Banking Analysts</a:t>
            </a:r>
            <a:endParaRPr lang="en-US" sz="850" dirty="0"/>
          </a:p>
        </p:txBody>
      </p:sp>
      <p:sp>
        <p:nvSpPr>
          <p:cNvPr id="6" name="Text 4"/>
          <p:cNvSpPr/>
          <p:nvPr/>
        </p:nvSpPr>
        <p:spPr>
          <a:xfrm>
            <a:off x="585216" y="1078992"/>
            <a:ext cx="10881360" cy="347472"/>
          </a:xfrm>
          <a:prstGeom prst="rect">
            <a:avLst/>
          </a:prstGeom>
          <a:noFill/>
          <a:ln/>
        </p:spPr>
        <p:txBody>
          <a:bodyPr wrap="square" lIns="0" tIns="0" rIns="0" bIns="0" rtlCol="0" anchor="ctr">
            <a:normAutofit/>
          </a:bodyPr>
          <a:lstStyle/>
          <a:p>
            <a:pPr marL="0" indent="0">
              <a:buNone/>
            </a:pPr>
            <a:r>
              <a:rPr lang="en-US" sz="1300" dirty="0">
                <a:solidFill>
                  <a:srgbClr val="667085"/>
                </a:solidFill>
              </a:rPr>
              <a:t>A compact workflow to use after the course.</a:t>
            </a:r>
            <a:endParaRPr lang="en-US" sz="1300" dirty="0"/>
          </a:p>
        </p:txBody>
      </p:sp>
      <p:sp>
        <p:nvSpPr>
          <p:cNvPr id="7" name="Shape 5"/>
          <p:cNvSpPr/>
          <p:nvPr/>
        </p:nvSpPr>
        <p:spPr>
          <a:xfrm>
            <a:off x="676656" y="1453896"/>
            <a:ext cx="365760" cy="365760"/>
          </a:xfrm>
          <a:prstGeom prst="ellipse">
            <a:avLst/>
          </a:prstGeom>
          <a:solidFill>
            <a:srgbClr val="009E9A"/>
          </a:solidFill>
          <a:ln w="12700">
            <a:solidFill>
              <a:srgbClr val="FFFFFF"/>
            </a:solidFill>
            <a:prstDash val="solid"/>
          </a:ln>
        </p:spPr>
      </p:sp>
      <p:sp>
        <p:nvSpPr>
          <p:cNvPr id="8" name="Text 6"/>
          <p:cNvSpPr/>
          <p:nvPr/>
        </p:nvSpPr>
        <p:spPr>
          <a:xfrm>
            <a:off x="676656" y="1536192"/>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1</a:t>
            </a:r>
            <a:endParaRPr lang="en-US" sz="950" dirty="0"/>
          </a:p>
        </p:txBody>
      </p:sp>
      <p:sp>
        <p:nvSpPr>
          <p:cNvPr id="9" name="Text 7"/>
          <p:cNvSpPr/>
          <p:nvPr/>
        </p:nvSpPr>
        <p:spPr>
          <a:xfrm>
            <a:off x="1188720" y="1389888"/>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Define the question and the unit of analysis.</a:t>
            </a:r>
            <a:endParaRPr lang="en-US" sz="1130" dirty="0"/>
          </a:p>
        </p:txBody>
      </p:sp>
      <p:sp>
        <p:nvSpPr>
          <p:cNvPr id="10" name="Shape 8"/>
          <p:cNvSpPr/>
          <p:nvPr/>
        </p:nvSpPr>
        <p:spPr>
          <a:xfrm>
            <a:off x="676656" y="2267712"/>
            <a:ext cx="365760" cy="365760"/>
          </a:xfrm>
          <a:prstGeom prst="ellipse">
            <a:avLst/>
          </a:prstGeom>
          <a:solidFill>
            <a:srgbClr val="009E9A"/>
          </a:solidFill>
          <a:ln w="12700">
            <a:solidFill>
              <a:srgbClr val="FFFFFF"/>
            </a:solidFill>
            <a:prstDash val="solid"/>
          </a:ln>
        </p:spPr>
      </p:sp>
      <p:sp>
        <p:nvSpPr>
          <p:cNvPr id="11" name="Text 9"/>
          <p:cNvSpPr/>
          <p:nvPr/>
        </p:nvSpPr>
        <p:spPr>
          <a:xfrm>
            <a:off x="676656" y="2350008"/>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2</a:t>
            </a:r>
            <a:endParaRPr lang="en-US" sz="950" dirty="0"/>
          </a:p>
        </p:txBody>
      </p:sp>
      <p:sp>
        <p:nvSpPr>
          <p:cNvPr id="12" name="Text 10"/>
          <p:cNvSpPr/>
          <p:nvPr/>
        </p:nvSpPr>
        <p:spPr>
          <a:xfrm>
            <a:off x="1188720" y="2203704"/>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Convert the data to an Excel Table and preserve the raw extract.</a:t>
            </a:r>
            <a:endParaRPr lang="en-US" sz="1130" dirty="0"/>
          </a:p>
        </p:txBody>
      </p:sp>
      <p:sp>
        <p:nvSpPr>
          <p:cNvPr id="13" name="Shape 11"/>
          <p:cNvSpPr/>
          <p:nvPr/>
        </p:nvSpPr>
        <p:spPr>
          <a:xfrm>
            <a:off x="676656" y="3081528"/>
            <a:ext cx="365760" cy="365760"/>
          </a:xfrm>
          <a:prstGeom prst="ellipse">
            <a:avLst/>
          </a:prstGeom>
          <a:solidFill>
            <a:srgbClr val="009E9A"/>
          </a:solidFill>
          <a:ln w="12700">
            <a:solidFill>
              <a:srgbClr val="FFFFFF"/>
            </a:solidFill>
            <a:prstDash val="solid"/>
          </a:ln>
        </p:spPr>
      </p:sp>
      <p:sp>
        <p:nvSpPr>
          <p:cNvPr id="14" name="Text 12"/>
          <p:cNvSpPr/>
          <p:nvPr/>
        </p:nvSpPr>
        <p:spPr>
          <a:xfrm>
            <a:off x="676656" y="3163824"/>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3</a:t>
            </a:r>
            <a:endParaRPr lang="en-US" sz="950" dirty="0"/>
          </a:p>
        </p:txBody>
      </p:sp>
      <p:sp>
        <p:nvSpPr>
          <p:cNvPr id="15" name="Text 13"/>
          <p:cNvSpPr/>
          <p:nvPr/>
        </p:nvSpPr>
        <p:spPr>
          <a:xfrm>
            <a:off x="1188720" y="3017520"/>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Check types, units, keys and valid categories.</a:t>
            </a:r>
            <a:endParaRPr lang="en-US" sz="1130" dirty="0"/>
          </a:p>
        </p:txBody>
      </p:sp>
      <p:sp>
        <p:nvSpPr>
          <p:cNvPr id="16" name="Shape 14"/>
          <p:cNvSpPr/>
          <p:nvPr/>
        </p:nvSpPr>
        <p:spPr>
          <a:xfrm>
            <a:off x="676656" y="3895344"/>
            <a:ext cx="365760" cy="365760"/>
          </a:xfrm>
          <a:prstGeom prst="ellipse">
            <a:avLst/>
          </a:prstGeom>
          <a:solidFill>
            <a:srgbClr val="009E9A"/>
          </a:solidFill>
          <a:ln w="12700">
            <a:solidFill>
              <a:srgbClr val="FFFFFF"/>
            </a:solidFill>
            <a:prstDash val="solid"/>
          </a:ln>
        </p:spPr>
      </p:sp>
      <p:sp>
        <p:nvSpPr>
          <p:cNvPr id="17" name="Text 15"/>
          <p:cNvSpPr/>
          <p:nvPr/>
        </p:nvSpPr>
        <p:spPr>
          <a:xfrm>
            <a:off x="676656" y="3977640"/>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4</a:t>
            </a:r>
            <a:endParaRPr lang="en-US" sz="950" dirty="0"/>
          </a:p>
        </p:txBody>
      </p:sp>
      <p:sp>
        <p:nvSpPr>
          <p:cNvPr id="18" name="Text 16"/>
          <p:cNvSpPr/>
          <p:nvPr/>
        </p:nvSpPr>
        <p:spPr>
          <a:xfrm>
            <a:off x="1188720" y="3831336"/>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Profile rows, unique values, ranges and missingness.</a:t>
            </a:r>
            <a:endParaRPr lang="en-US" sz="1130" dirty="0"/>
          </a:p>
        </p:txBody>
      </p:sp>
      <p:sp>
        <p:nvSpPr>
          <p:cNvPr id="19" name="Shape 17"/>
          <p:cNvSpPr/>
          <p:nvPr/>
        </p:nvSpPr>
        <p:spPr>
          <a:xfrm>
            <a:off x="676656" y="4709160"/>
            <a:ext cx="365760" cy="365760"/>
          </a:xfrm>
          <a:prstGeom prst="ellipse">
            <a:avLst/>
          </a:prstGeom>
          <a:solidFill>
            <a:srgbClr val="009E9A"/>
          </a:solidFill>
          <a:ln w="12700">
            <a:solidFill>
              <a:srgbClr val="FFFFFF"/>
            </a:solidFill>
            <a:prstDash val="solid"/>
          </a:ln>
        </p:spPr>
      </p:sp>
      <p:sp>
        <p:nvSpPr>
          <p:cNvPr id="20" name="Text 18"/>
          <p:cNvSpPr/>
          <p:nvPr/>
        </p:nvSpPr>
        <p:spPr>
          <a:xfrm>
            <a:off x="676656" y="4791456"/>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5</a:t>
            </a:r>
            <a:endParaRPr lang="en-US" sz="950" dirty="0"/>
          </a:p>
        </p:txBody>
      </p:sp>
      <p:sp>
        <p:nvSpPr>
          <p:cNvPr id="21" name="Text 19"/>
          <p:cNvSpPr/>
          <p:nvPr/>
        </p:nvSpPr>
        <p:spPr>
          <a:xfrm>
            <a:off x="1188720" y="4645152"/>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Summarise numeric and categorical variables.</a:t>
            </a:r>
            <a:endParaRPr lang="en-US" sz="1130" dirty="0"/>
          </a:p>
        </p:txBody>
      </p:sp>
      <p:sp>
        <p:nvSpPr>
          <p:cNvPr id="22" name="Shape 20"/>
          <p:cNvSpPr/>
          <p:nvPr/>
        </p:nvSpPr>
        <p:spPr>
          <a:xfrm>
            <a:off x="6208776" y="1453896"/>
            <a:ext cx="365760" cy="365760"/>
          </a:xfrm>
          <a:prstGeom prst="ellipse">
            <a:avLst/>
          </a:prstGeom>
          <a:solidFill>
            <a:srgbClr val="2F6BFF"/>
          </a:solidFill>
          <a:ln w="12700">
            <a:solidFill>
              <a:srgbClr val="FFFFFF"/>
            </a:solidFill>
            <a:prstDash val="solid"/>
          </a:ln>
        </p:spPr>
      </p:sp>
      <p:sp>
        <p:nvSpPr>
          <p:cNvPr id="23" name="Text 21"/>
          <p:cNvSpPr/>
          <p:nvPr/>
        </p:nvSpPr>
        <p:spPr>
          <a:xfrm>
            <a:off x="6208776" y="1536192"/>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6</a:t>
            </a:r>
            <a:endParaRPr lang="en-US" sz="950" dirty="0"/>
          </a:p>
        </p:txBody>
      </p:sp>
      <p:sp>
        <p:nvSpPr>
          <p:cNvPr id="24" name="Text 22"/>
          <p:cNvSpPr/>
          <p:nvPr/>
        </p:nvSpPr>
        <p:spPr>
          <a:xfrm>
            <a:off x="6720840" y="1389888"/>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Visualise distributions, relationships and time patterns.</a:t>
            </a:r>
            <a:endParaRPr lang="en-US" sz="1130" dirty="0"/>
          </a:p>
        </p:txBody>
      </p:sp>
      <p:sp>
        <p:nvSpPr>
          <p:cNvPr id="25" name="Shape 23"/>
          <p:cNvSpPr/>
          <p:nvPr/>
        </p:nvSpPr>
        <p:spPr>
          <a:xfrm>
            <a:off x="6208776" y="2267712"/>
            <a:ext cx="365760" cy="365760"/>
          </a:xfrm>
          <a:prstGeom prst="ellipse">
            <a:avLst/>
          </a:prstGeom>
          <a:solidFill>
            <a:srgbClr val="2F6BFF"/>
          </a:solidFill>
          <a:ln w="12700">
            <a:solidFill>
              <a:srgbClr val="FFFFFF"/>
            </a:solidFill>
            <a:prstDash val="solid"/>
          </a:ln>
        </p:spPr>
      </p:sp>
      <p:sp>
        <p:nvSpPr>
          <p:cNvPr id="26" name="Text 24"/>
          <p:cNvSpPr/>
          <p:nvPr/>
        </p:nvSpPr>
        <p:spPr>
          <a:xfrm>
            <a:off x="6208776" y="2350008"/>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7</a:t>
            </a:r>
            <a:endParaRPr lang="en-US" sz="950" dirty="0"/>
          </a:p>
        </p:txBody>
      </p:sp>
      <p:sp>
        <p:nvSpPr>
          <p:cNvPr id="27" name="Text 25"/>
          <p:cNvSpPr/>
          <p:nvPr/>
        </p:nvSpPr>
        <p:spPr>
          <a:xfrm>
            <a:off x="6720840" y="2203704"/>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Investigate outliers and missing values before changing them.</a:t>
            </a:r>
            <a:endParaRPr lang="en-US" sz="1130" dirty="0"/>
          </a:p>
        </p:txBody>
      </p:sp>
      <p:sp>
        <p:nvSpPr>
          <p:cNvPr id="28" name="Shape 26"/>
          <p:cNvSpPr/>
          <p:nvPr/>
        </p:nvSpPr>
        <p:spPr>
          <a:xfrm>
            <a:off x="6208776" y="3081528"/>
            <a:ext cx="365760" cy="365760"/>
          </a:xfrm>
          <a:prstGeom prst="ellipse">
            <a:avLst/>
          </a:prstGeom>
          <a:solidFill>
            <a:srgbClr val="2F6BFF"/>
          </a:solidFill>
          <a:ln w="12700">
            <a:solidFill>
              <a:srgbClr val="FFFFFF"/>
            </a:solidFill>
            <a:prstDash val="solid"/>
          </a:ln>
        </p:spPr>
      </p:sp>
      <p:sp>
        <p:nvSpPr>
          <p:cNvPr id="29" name="Text 27"/>
          <p:cNvSpPr/>
          <p:nvPr/>
        </p:nvSpPr>
        <p:spPr>
          <a:xfrm>
            <a:off x="6208776" y="3163824"/>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8</a:t>
            </a:r>
            <a:endParaRPr lang="en-US" sz="950" dirty="0"/>
          </a:p>
        </p:txBody>
      </p:sp>
      <p:sp>
        <p:nvSpPr>
          <p:cNvPr id="30" name="Text 28"/>
          <p:cNvSpPr/>
          <p:nvPr/>
        </p:nvSpPr>
        <p:spPr>
          <a:xfrm>
            <a:off x="6720840" y="3017520"/>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Use correlation with scatter plots — not as proof of causality.</a:t>
            </a:r>
            <a:endParaRPr lang="en-US" sz="1130" dirty="0"/>
          </a:p>
        </p:txBody>
      </p:sp>
      <p:sp>
        <p:nvSpPr>
          <p:cNvPr id="31" name="Shape 29"/>
          <p:cNvSpPr/>
          <p:nvPr/>
        </p:nvSpPr>
        <p:spPr>
          <a:xfrm>
            <a:off x="6208776" y="3895344"/>
            <a:ext cx="365760" cy="365760"/>
          </a:xfrm>
          <a:prstGeom prst="ellipse">
            <a:avLst/>
          </a:prstGeom>
          <a:solidFill>
            <a:srgbClr val="2F6BFF"/>
          </a:solidFill>
          <a:ln w="12700">
            <a:solidFill>
              <a:srgbClr val="FFFFFF"/>
            </a:solidFill>
            <a:prstDash val="solid"/>
          </a:ln>
        </p:spPr>
      </p:sp>
      <p:sp>
        <p:nvSpPr>
          <p:cNvPr id="32" name="Text 30"/>
          <p:cNvSpPr/>
          <p:nvPr/>
        </p:nvSpPr>
        <p:spPr>
          <a:xfrm>
            <a:off x="6208776" y="3977640"/>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9</a:t>
            </a:r>
            <a:endParaRPr lang="en-US" sz="950" dirty="0"/>
          </a:p>
        </p:txBody>
      </p:sp>
      <p:sp>
        <p:nvSpPr>
          <p:cNvPr id="33" name="Text 31"/>
          <p:cNvSpPr/>
          <p:nvPr/>
        </p:nvSpPr>
        <p:spPr>
          <a:xfrm>
            <a:off x="6720840" y="3831336"/>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Assess data quality and document every transformation.</a:t>
            </a:r>
            <a:endParaRPr lang="en-US" sz="1130" dirty="0"/>
          </a:p>
        </p:txBody>
      </p:sp>
      <p:sp>
        <p:nvSpPr>
          <p:cNvPr id="34" name="Shape 32"/>
          <p:cNvSpPr/>
          <p:nvPr/>
        </p:nvSpPr>
        <p:spPr>
          <a:xfrm>
            <a:off x="6208776" y="4709160"/>
            <a:ext cx="365760" cy="365760"/>
          </a:xfrm>
          <a:prstGeom prst="ellipse">
            <a:avLst/>
          </a:prstGeom>
          <a:solidFill>
            <a:srgbClr val="2F6BFF"/>
          </a:solidFill>
          <a:ln w="12700">
            <a:solidFill>
              <a:srgbClr val="FFFFFF"/>
            </a:solidFill>
            <a:prstDash val="solid"/>
          </a:ln>
        </p:spPr>
      </p:sp>
      <p:sp>
        <p:nvSpPr>
          <p:cNvPr id="35" name="Text 33"/>
          <p:cNvSpPr/>
          <p:nvPr/>
        </p:nvSpPr>
        <p:spPr>
          <a:xfrm>
            <a:off x="6208776" y="4791456"/>
            <a:ext cx="365760" cy="164592"/>
          </a:xfrm>
          <a:prstGeom prst="rect">
            <a:avLst/>
          </a:prstGeom>
          <a:noFill/>
          <a:ln/>
        </p:spPr>
        <p:txBody>
          <a:bodyPr wrap="square" lIns="0" tIns="0" rIns="0" bIns="0" rtlCol="0" anchor="ctr"/>
          <a:lstStyle/>
          <a:p>
            <a:pPr marL="0" indent="0" algn="ctr">
              <a:buNone/>
            </a:pPr>
            <a:r>
              <a:rPr lang="en-US" sz="950" b="1" dirty="0">
                <a:solidFill>
                  <a:srgbClr val="FFFFFF"/>
                </a:solidFill>
              </a:rPr>
              <a:t>10</a:t>
            </a:r>
            <a:endParaRPr lang="en-US" sz="950" dirty="0"/>
          </a:p>
        </p:txBody>
      </p:sp>
      <p:sp>
        <p:nvSpPr>
          <p:cNvPr id="36" name="Text 34"/>
          <p:cNvSpPr/>
          <p:nvPr/>
        </p:nvSpPr>
        <p:spPr>
          <a:xfrm>
            <a:off x="6720840" y="4645152"/>
            <a:ext cx="4754880" cy="530352"/>
          </a:xfrm>
          <a:prstGeom prst="rect">
            <a:avLst/>
          </a:prstGeom>
          <a:noFill/>
          <a:ln/>
        </p:spPr>
        <p:txBody>
          <a:bodyPr wrap="square" lIns="0" tIns="0" rIns="0" bIns="0" rtlCol="0" anchor="ctr">
            <a:normAutofit/>
          </a:bodyPr>
          <a:lstStyle/>
          <a:p>
            <a:pPr marL="0" indent="0">
              <a:buNone/>
            </a:pPr>
            <a:r>
              <a:rPr lang="en-US" sz="1130" dirty="0">
                <a:solidFill>
                  <a:srgbClr val="26364A"/>
                </a:solidFill>
              </a:rPr>
              <a:t>Communicate findings, limitations and next questions.</a:t>
            </a:r>
            <a:endParaRPr lang="en-US" sz="1130" dirty="0"/>
          </a:p>
        </p:txBody>
      </p:sp>
      <p:sp>
        <p:nvSpPr>
          <p:cNvPr id="37" name="Shape 35"/>
          <p:cNvSpPr/>
          <p:nvPr/>
        </p:nvSpPr>
        <p:spPr>
          <a:xfrm>
            <a:off x="1069848" y="5623560"/>
            <a:ext cx="10058400" cy="566928"/>
          </a:xfrm>
          <a:prstGeom prst="roundRect">
            <a:avLst>
              <a:gd name="adj" fmla="val 9677"/>
            </a:avLst>
          </a:prstGeom>
          <a:solidFill>
            <a:srgbClr val="0B1F33"/>
          </a:solidFill>
          <a:ln w="12700">
            <a:solidFill>
              <a:srgbClr val="0B1F33"/>
            </a:solidFill>
            <a:prstDash val="solid"/>
          </a:ln>
        </p:spPr>
      </p:sp>
      <p:sp>
        <p:nvSpPr>
          <p:cNvPr id="38" name="Text 36"/>
          <p:cNvSpPr/>
          <p:nvPr/>
        </p:nvSpPr>
        <p:spPr>
          <a:xfrm>
            <a:off x="1261872" y="5779008"/>
            <a:ext cx="9646920" cy="237744"/>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rPr>
              <a:t>Good Data Science in Excel = clear question + clean structure + statistical thinking + visual evidence + data quality discipline</a:t>
            </a:r>
            <a:endParaRPr lang="en-US" sz="1270" dirty="0"/>
          </a:p>
        </p:txBody>
      </p:sp>
      <p:sp>
        <p:nvSpPr>
          <p:cNvPr id="39" name="Slide Number Placeholder 0"/>
          <p:cNvSpPr>
            <a:spLocks noGrp="1"/>
          </p:cNvSpPr>
          <p:nvPr>
            <p:ph type="sldNum" sz="quarter" idx="4294967295"/>
          </p:nvPr>
        </p:nvSpPr>
        <p:spPr>
          <a:xfrm>
            <a:off x="11475720" y="6473952"/>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r"/>
            <a:fld id="{F7021451-1387-4CA6-816F-3879F97B5CBC}" type="slidenum">
              <a:rPr lang="en-US" b="0"/>
              <a:t>78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TotalTime>
  <Words>9542</Words>
  <Application>Microsoft Office PowerPoint</Application>
  <PresentationFormat>Widescreen</PresentationFormat>
  <Paragraphs>1952</Paragraphs>
  <Slides>78</Slides>
  <Notes>61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Aptos</vt:lpstr>
      <vt:lpstr>Aptos Display</vt:lpstr>
      <vt:lpstr>Aptos Mono</vt:lpstr>
      <vt:lpstr>Arial</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with Excel</dc:title>
  <dc:subject>Data Science with Excel for Banking Analysts</dc:subject>
  <dc:creator>OpenAI</dc:creator>
  <cp:lastModifiedBy>Antonio Piemontese</cp:lastModifiedBy>
  <cp:revision>7</cp:revision>
  <dcterms:created xsi:type="dcterms:W3CDTF">2026-09-13T13:59:42Z</dcterms:created>
  <dcterms:modified xsi:type="dcterms:W3CDTF">2026-09-14T08:03:01Z</dcterms:modified>
</cp:coreProperties>
</file>